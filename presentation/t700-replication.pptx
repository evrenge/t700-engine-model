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Ballin's report is a NASA Technical Memorandum, public domain (17 U.S.C. 105). Every 'Ballin, Figure N' image in this deck is cropped from its scanned pages. Numbers about our model are computed when the deck is built: read from the project's results file, the one its README quotes, or from the model itself. The few typed by hand are quoted from the decision 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plus a short backup section. Parts 1-3 build the common baseline; parts 4-6 are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11-15 run the engine inside the Gen Hel helicopter simulation, which the report uses and does not contain. Gen Hel stays out of scope; Figures 11-15 are compared by running our closed loop on what it prints, his rotor speed imposed or our rotor free under his torque (decision log #39, #81). Hardware: 'It has been executed successfully in conjunction with the Gen Hel UH-60A simulation using a CDC 7600 computer' [pdf p.36]. Appendix A: pdf pp.55-66; Appendix B: pdf pp.67-76; Appendix C: pdf pp.77-101.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shows which modal frequencies matter to which party (helicopter manufacturer, engine manufacturer). The engine/fuel-control/drive-train interaction ('hunting', rotor/drive-system torsion) sits at the low end. 10 ms: 'a restriction on time step to a maximum value of 10 msec was established based on a maximum allowable error of 0.1 percent between time steps' [pdf p.38]. The report's errata sheet [pdf p.5] corrects one label of Figure 1: 'GAS INDUCED FLAP REGRESSIVE should be CONTROL-SYSTEM-INDUCED FLAP REGRESSIVE'.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pdf p.17: 'It consists of a five-stage axial and a single-stage centrifugal flow compressor; a low-fuel-pressure, flowthrough annular combustion chamber; a two-stage axial flow gas generator turbine; and a two-stage independent power turbine (ref. 5). The first two stages of the compressor use variable-geometry inlet guide vanes and stator vanes, and air is bled from the compressor exit to cool the gas generator turbine. The power turbine, which is uncooled, has a coaxial driveshaft which extends forward through the front of the engine where it is connected to the output shaft assembly.'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Station definitions are the report's own words, pdf p.20. Worth stressing to a performance audience: T45 here is not the T4.5 of another engine's convention.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 log mentioned later is a file in the project where every question about the report is recorded with its evidence and outcome. Ledger numbers (#NN) appear only in these notes,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Ballin's model descends from the NASA Lewis hybrid model, 'a greatly simplified version of the nonreal-time component-type digital simulation developed by GE' [pdf p.20]. GE's own models enter the report only as comparison data (the GE series of Figures 6-8): the status-81 model, 'a comprehensive analysis-oriented model which is used for detailed representation of the engine thermodynamic cycle', and the unbalanced torque model, 'a simplified model which is optimized to reproduce engine dynamics for control system design purposes' [pdf pp.38-39]. Ballin himself calls Eqs. 1-53 'the complete nonlinear digital simulation' [pdf p.27]: complete beside his real-time reduction, not beside GE's models. The simple nonlinear model (Eqs. 42-44) carries the three pressures as integrator states. The real-time model sets their derivatives to zero (Eqs. 72, 73, 79) and solves them algebraically each frame. The linear models are central differences of the nonlinear models at three trims. Equal equilibria: checked below flight idle too, where the printed P45 iteration needed our exact solve (#57).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Eigenvalues are Ballin's printed Table 1 values (5-DOF, hover). UNITS. Table 1 prints no unit. The eigenvalues are per second: the A matrices are derivatives with respect to time (Eq. 54), and our linear models, built with time in seconds, land within 4.7 % of every printed value (hover NG: ours -2.69 against -2.66; P41: ours -5,007 against -4,900). A per-minute or per-cycle reading would be 60 or 2π times off and could not match. Radians: every Table 1 eigenvalue is real ('five stable, nonoscillatory modes', pdf p.29), so each mode is a pure decay e^(λt) with time constant τ = 1/|λ|; no 2π enters the table. The 2π lives in the spool equations, which turn torque over inertia (rad/s²) into rpm/s with 60/2π (Eqs. 39-41, 45, 47, pdf p.25); our code carries those factors, and the matching NG and NP eigenvalues confirm it. Eigenvalues do not depend on the units of the states (rpm, psia), only on the time unit. The table's last column sets each mode against a frequency axis in Hz, such as Figure 1's (slide 4): a first-order mode's corner frequency is |λ|/2π. NG at 0.42 Hz sits beside Figure 1's drive-system/fuel-control 'hunting' bar (about 0.37 Hz, read off the figure) and NP at 0.09 Hz at its left edge (0.1 Hz): the band the simulator must keep. P45 and P41, at 487 and 780 Hz, are far beyond its right edge (50 Hz). STABILITY LIMIT. Take one mode alone: dx/dt = λx with λ &lt; 0, whose exact solution decays. One Euler step of length Δt multiplies x by (1 + λΔt). The step is stable only while that factor lies between -1 and +1, that is Δt &lt; 2/|λ|. Between 1/|λ| and 2/|λ| it still decays but flips sign every step, so an accurate step must sit well below 1/|λ|. P41 (λ = -4,900 /s): limit 0.41 ms; at 7 ms the factor is -33.3, so a disturbance in P41 grows 33-fold every frame, about 10^15 in ten frames (70 ms). P45 (λ = -3,060 /s): limit 0.65 ms, factor -20.4 at 7 ms. P3 (λ = -51.6 /s) is different: its limit is 39 ms, so a 7 ms Euler step is stable (factor 0.64 against the exact 0.70). The case for dropping P3 is bandwidth, not stability: the three pressure modes 'are outside the bandwidth of interest for the modeling of rotor and propulsion system dynamics. These modes are well above the second drive-train torsional mode and the rotor blade first in-plane elastic mode of a typical helicopter' [pdf p.29]. On Figure 1's axis that holds for P41 and P45 but not for P3: its 8.2 Hz corner lies below the rotor/drive system second torsion (about 25 Hz) and the rotor blade first elastic edgewise mode (about 28 Hz), both read off Figure 1. Figure 1 is a generic chart (ref. 3), not the UH-60A's, so this is a caution, not an error; the direct evidence is Figure 4, where the 2-DOF model, without P3, tracks the 5-DOF. P3 is also tied to P41 across the combustor, so the two are solved together (Eqs. 75-78). NG at 7 ms (factor 0.9814 against the exact 0.9816) and NP at 14 ms (factor 0.9921) step accurately. The other trims are no easier: the fastest pressure mode gives 0.43 ms in 80 kt level flight and 0.44 ms in the descent. Higher-order explicit methods move the limit only by a constant factor: classical Runge-Kutta (RK4) to 2.79/|λ| = 0.57 ms. Every explicit method has a bounded stability region, so none reaches 7 ms. Integrating the volumes would take at least 18 Euler sub-steps per frame just to stay stable, or an implicit method that iterates every step. Ballin's own words: 'The discrete modeling of such high-frequency dynamics necessitates stepping forward in time in extremely small increments, resulting in a high computation overhead which is unacceptable for real-time simulation' [pdf p.26]. The 2/|λ| figures are ours; the report gives no number. They hold for small motions about a trim; in a large transient the local eigenvalues move with the operating point. Figure 4: fuel-flow pulses at a high-power condition; the 5-DOF, 2-DOF and reduced-order linear models lie on top of each other, and the Gen Hel nonlinear simulation with them in NG. In NP the Gen Hel line parts from them by up to 0.17 % of trim: rotor-blade lag dynamics, which the linear rotor load leaves out (pdf p.29).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forward pass of Eqs. 1-41 gives every station value and the three torques from the five states and the fuel flow. Every constant is in Table A.1, pdf p.55 (33 values). The thermodynamic fits use the report's K_H/K_T constants; nothing else in the model computes a gas property.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on the picture is our model at Table B.1's hover trim, computed when the deck is built. Specific heat per station, Btu/lbm·°R: 0.239 at the inlet, 0.250 after the compressor, 0.301 at the combustor exit, 0.284 through the turbines. θ is the 'squared critical velocity ratio' of his ref. 7 [pdf p.24]. Torque is 778.12·W·ΔH/speed with the 60/2π of rpm (Eqs. 39-41). The straight-line fits: H2 = K_H2·T2 (Eq. 3), H3 (Eq. 11) and H41 (Eq. 24) from temperature, T41 (Eq. 22), T45 (Eq. 30) and T49 (Eq. 36) from enthalpy; each fit has its own intercept, so the stations do not share one enthalpy datum. Station 4.4 has no temperature: the report computes none. The compressor torque (Eq. 39) charges all the inlet air up to 0.71·H3 and only the air past the stage-4 bleed the remaining 0.29·H3: 'Effects of the compressor interstage bleed flows are accounted for with an empirically determined function' [pdf p.25]. The power turbine torque carries a speed-damping term, zero at design speed. The station 4.5 energy shortfall is decision log #52.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K_V units: psia per (lbm·°R). K_V3 is smallest, consistent with the diffuser being the largest volume, but the report never states a volume. Eq. 43 is shown with +W_f: the page prints -W_f, and Eq. 73 and Eq. 77 both use +W_f, which mass conservation needs (misprints slide, 62; decision log #29).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J_load = 9.25 × J_PT, consistent to about 0.2 % across the three trims (the three ratios are on slide 33); the load-torque slope dQreq/dNP is recovered per trim from Appendix B's NP diagonal (decision log #6). Consequence: the NP row of every linear comparison is supplied rather than predicted. The damping term is proportional to the displacement NP − NP_des, not to dNP/dt, despite the prose calling it 'a damping factor based on change of power turbine speed' [pdf p.25].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 50 collapses Eqs. 48-49 into a lead-lag T41/T41_ns. That collapse holds for constant coefficients only; Eqs. 51 and 53 make them functions of T41 and W41, so a lead-lag memory carries a stale high-frequency gain through a fuel step. Integrating the metal temperature is what closed our T41 overshoot gap (decision log #47). DC gain is exactly 1, so the heat sink cannot move a trim. Ballin's limits: p.47 and p.50 (same constants for increasing and decreasing power; 'A small effective lag may be added with the inclusion of a T45 heat-sink model', p.50).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Ames rules shaped this: 'Present implementation restrictions at Ames require a minimum amount of multiple-pass coding or iteration and the use of the Ames simulation-standard function table processor routines as much as possible' [pdf p.35]. 'up to ten iterations may be required for convergence with less than 0.1 percent error' (inner loop) and 'Eight iterations resulted in an error equal to less than 0.1 percent of the steady-state value' (P45) [pdf p.37]. The order of steps is ours where the report is silent: e.g. step 6 uses the previous frame's P45, decided by Ballin's own Figure 9 (decision log #75). Step 7's exact solve: decision log #45, #57.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 left by opening the loop is of order (dWA3/dt)·Δt: halving Δt halves it, so changing Δt changes the transient. That is a modelling error, not a truncation error. The p.35 phrase is from Ballin's list of 'Typical restrictions that have been used in previous real-time models'. The integrator choice is decision log #26. Frame cost, measured on a 2019 laptop core in plain Python: a few tens of microseconds per frame, held at trim or in the middle of a fuel step, so about two orders of magnitude inside 7 ms; compiled code would be faster again. The cost has no bearing on the results: the frame is fixed at 7 ms whatever the hardware, and the same input gives the same output on any machine.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WFPTP is the topping line, the ceiling; everything else subtracts from it. Idle floor, then acceleration ceiling, then deceleration floor: the drawn order means the deceleration floor outranks the acceleration ceiling. Appendix C has no equations at all; these were read off the block diagrams summing junction by summing junction, because a misread sign inverts the control and still gives plausible numbers.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 trap: SPDER is positive when sensed NP exceeds the reference and drives SPDG up, and more SPDG means less fuel (the HMU subtracts TMRU). The P+I integrator limits are Fig. C8. Figure C3's rate-gain switching is in the model too.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NG sensor's hysteresis band CH = 0.05 %NG is what makes the closed loop settle into a small limit cycle rather than a point (decision log #61). Whether a printed hysteresis constant is the whole band or the half band is not stated; we take the whole band (decision log #54). The torque motor (C10) and the load-demand dynamics (C12) are further lags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Validity ceiling: 'the maximum gas generator speed for which the model is valid is 100 percent' [pdf p.39], set by the extent of the supplied function tables. Below flight idle the report eliminated fuel control [pdf p.38]. The clutch: 'power from each engine must also pass through a clutch which disengages the engine from the gearbox if transmission speed exceeds that of the engine shaft' [pdf p.19], not represented in any equation. 'clearance' appears nowhere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Defects the pipeline caught, if asked: pages scanned slightly rotated (a ramp of up to 4.2 % of panel height on Figures 9-10, decision log #63); a 'sloped' combustor efficiency that was the page's tilt (#62); an apparent conflict between Table B.1 and Figures 6-7 that was our own digitizer (#46). Held-out check example: Figure A2's markers are printed at the integers 1-20 and the extraction, never told so, recovers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functions have physics that must hold exactly (a bleed that reaches zero is zero; a monotone ratio does not wobble); that is enforced when the table is loaded, and the files keep the ink as measured. The last panel compares the 89 % speed line drawn two ways (see the compressor-map decision in Part 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each file's uncertainty is measured is written in its header: the frame edges fitted sub-pixel, the axis model chosen by a held-out test (a calibration must predict a printed value it was never shown), and the estimator checked against printed ground truths such as construction lines. Appendix C's schedules are read the same way. f6 is drawn as a constant, so its value error is given against the value itself.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core has no SciPy because Ballin's real-time constraint is the point: fixed-step explicit integration only, so the behaviour being reproduced is not hidden by an adaptive solver.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slides that follow take these one at a time,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trim solves the simple nonlinear model with its derivatives set to zero, so the same equilibria hold for the real-time model. Table B.1's printed torque is 'Engine torque (ref. shaft)' [pdf p.67]. Best specific fuel consumption 0.451 lbm/hp/hr at 100.0 %NG.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Figures 9 and 10 are the 775 and 125 lbm/hr steps. The NP hold and its value (design speed, sea-level standard) are decision log #36.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controls start in equilibrium with their held inputs: the report states no initial condition for the block diagrams (decision log #55). The limit cycle is the printed 0.05 %NG sensor band, not numerics: refining the frame from 7 to 1.75 ms leaves it unchanged, and removing that one band collapses it (decision log #61).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Fuel flow is an output in every panel. The figure's rows are the three manoeuvres; columns NP, Wf, NG and the ECU torque-motor demand. Gen Hel itself is out of scope (decision log #39); Figures 11-15 are compared in Part 5 (#81).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trims: decision log #3. With exact derivatives the 2-DOF and the reduced 5-DOF would be the same model (implicit differentiation gives the Schur complement); at the ±2 % step they part, Ballin's and ours alike (decision log #49). The ±2 % step itself: decision log #56. Matching by dominant state: participation factors.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read a cell: A(NG,NG) = −4.82 /s means that if NG sits 1 rpm above trim with everything else frozen, the compressor takes more torque than the turbine gives and NG starts falling at 4.82 rpm/s. A positive cell pushes the row's state up. The eigenvalues are then computed from the finished matrix; each is a mode's decay rate, e.g. the NG mode, −2.69 /s, is a time constant of 0.37 s. The 2-DOF is made the same way, but after each push the three pressures are re-solved to balance before the derivatives are read (Ballin's second simulation, pdf p.27). The ±2 % step is Ballin's own; a tiny step gives different numbers, because the maps are piecewise linear and the step averages across their kinks (decision log #56). The numbers on this slide are computed by our model when the deck is built.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Q_req depends only on NP (and its rate), so pushing NG, P3, P41, P45 or the fuel flow moves only the engine's own torque Q_PT; Q_req stays at its trim value. Pushing NP moves both: the turbine torque falls with speed and the rotor's required torque rises with it. The second derivative in Eq. 55, with respect to NP acceleration, is the rotor blades' inertia; Eqs. 59–62 [pdf pp.28–29] fold it into the denominator of every NP-row cell, so it acts exactly like extra inertia. That is why J here means the power turbine, drive train, hub and blade effect together. Table B.1 prints the NP these trims use, 20,895 rpm [pdf p.67].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 here is an effective inertia: Eq. 46's J_load (drive train and hub) plus the rotor blades' inertia term, which Eqs. 59–62 add to J in every NP-row cell. Appendix B cannot separate the two, and the linear model does not need them separated. The project keeps J_load = 9.25 × J_PT = 0.5735 ft·lbf·s², from hover; with it, b(NP) lands within 0.13 % at all three trims. Step 2 is the real test of the inertia: those four cells are the engine's own torque derivatives divided by J, so their misses are the engine model's (map slopes), not the load's. The load slope falls with power. Decision log #6. Numbers computed by our model when the deck is built.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 is scored in %NG points because its ordinate is already a percentage. For the transients, 'whole curve' is the rms of the gap between our trace and Ballin's over his printed window, as a percent of each panel's own excursion. Appendix B spans eight decades of magnitude; its worst elements are explained on slide 57. Excluded as supplied, not tested: Table 1's NP modes, Appendix B's NP-diagonal elements and the hover b(NP), which set the load (slide 33).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B.1 is the report's most precise steady-state reference: no digitizing error of ours, and Appendix B and Table 1 come from the same three trims. Full 21-row table in the backup.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marker we read is scored, including the top points, which need the compressor map a tenth of a point above 100 %NG (Part 6). The report's sharpest steady-state claim, a fuel overestimate of 'as much as five percent' against GE in the 81-86 %NG band [pdf p.39], is reproduced: ours peaks at 6.43 % against Ballin's 6.05 % (decision log #67). Figure 7 is scored in shaft horsepower; the hidden slide after this one shows why (decision log #83).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blue circle is one of Ballin's printed real-time markers: our model at his abscissa, minus his value. Top row in the figure's own units, bottom row in percent of his value. The read error is the axis calibration's, the held-out error with which the digitizer's axis maps predict printed ticks; it is the number each file's header publishes. Scored units: Figure 6 in %NG points, Figure 7 in shp, Figure 8 in percent (decision log #83).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7 prints 25 real-time markers, many of them touching a GE glyph or each other at low power; all are read. On its steep low-power end the curve climbs about 3 shp per lbm/hr, so the nearest printed marker matters when reading a row.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sits far below the power-turbine speeds the model is valid for, as Ballin says [pdf p.39], and is not bounded. The table is the report's own Table 3 with our row added (shaded); his column cannot be reproduced without the prototype's maps. Exhaust: the printed P49 is met through Eq. 38; reading it as the back pressure instead moves cases 2–6 by under 1 % on the gas generator and 1.4–2.9 % on NP (decision log #34, #79). Against Figures 6–8, where Ballin's model ran the standard maps, ours agrees to a fraction of a percent: that is why the Table 3 gap is the maps.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 open loop, NP held, heat sink on, 7 ms frame. The step instant is not printed anywhere; it is read off the figure's own fuel-flow panel (0.5232 s on Figure 9, 0.5217 s on Figure 10; decision log #37). Whole-curve comparisons exclude the reference's own sampling hole on the vertical edge (#66) and use Ballin's printed window (#68).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 open loop, NP held, heat sink on, 7 ms frame. The step instant is not printed anywhere; it is read off the figure's own fuel-flow panel (0.5232 s on Figure 9, 0.5217 s on Figure 10; decision log #37). Whole-curve comparisons exclude the reference's own sampling hole on the vertical edge (#66) and use Ballin's printed window (#68).</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phase plane removes timing from the comparison, so a residual here is a shape difference, not a delay.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PS3/P2 is the compressor static pressure ratio Figure A1 uses; at sea-level standard WA2c equals WA2. The paths are the same 7 ms open-loop runs as Figures 9-10, NP held. 'Runs off the data' is measured by the model's map clamp counter: a read outside a table's printed range is counted, never silently extrapolated. Drawn by our model when the deck is built.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choice is ours, made where the report prints nothing, logged as decision log #81 and confirmed by the project owner. The collective scale is the one that moves Figure 13 most: its settled torque is 3 % low at our proportional reading, and would match at a scale a little below 8.8 % per inch, the bottom of the 8.8–13.5 % per inch range our readings span.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lines go into our closed loop as digitized: the 17 Hz ripple in his rotor speed and every kink included, nothing smoothed. Rotor free integrates rather than differentiates: our rotor speed is his plus what the difference between our engine torque and his accelerates through the rotor's inertia (Appendix B, decision log #6). Every cause named here was measured inside our fuel control during the run (its load-demand term, governor trim and limits), with no constant changed. Fuel and torque are in % of their own trim, because his day was not standard (decision log #82).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Ballin's Gen Hel line. Blue solid: ours with his rotor speed imposed. Blue dashed: ours with the rotor free under his torque. The flight test is left out here; it is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lines go into our closed loop as digitized: the 17 Hz ripple in his rotor speed and every kink included, nothing smoothed. Rotor free integrates rather than differentiates: our rotor speed is his plus what the difference between our engine torque and his accelerates through the rotor's inertia (Appendix B, decision log #6). Every cause named here was measured inside our fuel control during the run (its load-demand term, governor trim and limits), with no constant changed. Fuel and torque are in % of their own trim, because his day was not standard (decision log #82).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Ballin's Gen Hel line. Blue solid: ours with his rotor speed imposed. Blue dashed: ours with the rotor free under his torque. The flight test is left out here; it is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lines go into our closed loop as digitized: the 17 Hz ripple in his rotor speed and every kink included, nothing smoothed. Rotor free integrates rather than differentiates: our rotor speed is his plus what the difference between our engine torque and his accelerates through the rotor's inertia (Appendix B, decision log #6). Every cause named here was measured inside our fuel control during the run (its load-demand term, governor trim and limits), with no constant changed. Fuel and torque are in % of their own trim, because his day was not standard (decision log #82).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Ballin's Gen Hel line. Blue solid: ours with his rotor speed imposed. Blue dashed: ours with the rotor free under his torque. The flight test is left out here; it is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lines go into our closed loop as digitized: the 17 Hz ripple in his rotor speed and every kink included, nothing smoothed. Rotor free integrates rather than differentiates: our rotor speed is his plus what the difference between our engine torque and his accelerates through the rotor's inertia (Appendix B, decision log #6). Every cause named here was measured inside our fuel control during the run (its load-demand term, governor trim and limits), with no constant changed. Fuel and torque are in % of their own trim, because his day was not standard (decision log #82).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Ballin's Gen Hel line. Blue solid: ours with his rotor speed imposed. Blue dashed: ours with the rotor free under his torque. The flight test is left out here; it is on the slide before.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lines go into our closed loop as digitized: the 17 Hz ripple in his rotor speed and every kink included, nothing smoothed. Rotor free integrates rather than differentiates: our rotor speed is his plus what the difference between our engine torque and his accelerates through the rotor's inertia (Appendix B, decision log #6). Every cause named here was measured inside our fuel control during the run (its load-demand term, governor trim and limits), with no constant changed. Fuel and torque are in % of their own trim, because his day was not standard (decision log #82).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 by least squares on our trims at his NG: his fuel directly, his torque through one ratio for all four figures (validation/test_flight_test_day.py). These are estimates of his boundary conditions, never constants of the model. Decision log #82 closes on a standard day.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Worst row: 2-DOF hover NG: printed −2.69, ours −2.816. Table 1's descent P41/P45 labels disagree with B6; that is on the misprints slide (62). 2-DOF against reduced 5-DOF: decision log #49. The NG mode, the one a pilot feels, matches within 1.5 % (5-DOF), 4.7 % (2-DOF) and 2.1 % (reduced 5-DOF) at the three trims (decision log #49). The 6-DOF matrices cannot be compared by eigenvalue: row 6 differences large terms, so the printed rounding makes B8 look unstable; they are compared element by element instead.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counts tested elements only. With the heat-sink time constants Appendix B implies, four of the five printed rows of the 6-DOF fuel column match within 0.2 % at all three trims; b(T41) goes from −5.8…−3.7 % to +5.5…+6.6 %, so the constant explains the uniform offset but not that element (decision log #31). The 3-DOF fuel column is the same constant's: next slide. The largest misses are on the next slide; the descent A(T41,NG) miss once logged against the compressor map (#73) is mostly the heat-sink constant (#31).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Hover A(T41,NG) goes the other way under Appendix B's time constants (0.8 → 13.2 %): that element is built through the NG column and also carries the compressor-map slope. The 6-DOF A(P45,P3) is excluded from the project's bounds for the cancellation reason. Decision log #31, #73. The build fails if a new miss beyond 10 % has no recorded cause.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but the last is computed by our model when the deck is built. The tangent step is what an analyst would normally use for a Jacobian; Ballin's 'plus or minus two percent of equilibruim [sic] conditions ... considered to be adequate based on the rotor speed deviations' [pdf p.28] is an amplitude matched to real excursions (decision log #56). Interpolation: linear is what the report's own numbers show (#43). The compressor-table choice is the open question #60.</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+5 %, −5 %, back to trim, then +2.5 % fuel, read off his fuel panel; the plateaus sit on printed tick values. Figure 5's curves are separated from the ink: where both are inked and apart, the outer is the 5-DOF and the inner the 6-DOF, damped by the heat sink. Scores allow the figure's time read error, 0.03–0.04 s. The nonlinear run is our real-time engine at hover with Appendix B's inertia and load slope, heat sink off. His 6-DOF curve cannot be recomputed: B8 is unstable as printed. His two lines in each figure are told apart on the scan by following each by its own slope, started where they are farthest apart and labelled there by his own B2, and restarted at a fuel step where they touch (Figure 4's NP lines cross at the first peak); drawn back onto the page, every point sits on its own line. Appendix B's own heat-sink constants barely change our 6-DOF. Swapping the pairs scores 1.9–18 times worse, so the comparison can fail (decision log #31, #80). Figure 4's linear line against his B2: 0.006 / 0.009.</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τ1/τ2 and TC_T41 #31; load #6; standard day #15; NP per comparison #35, #36; step instants #37. The TC_T41 finding explains our 6-DOF fuel column running about 5 % low against Appendix B in four of its five rows; b(T41) does not follow (slide 56).</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Eq. 80 #45, #57 (false equilibria between about 125 and 175 lbm/hr, up to 7.07 %NG); heat sink #47; ±2 % step #56 (rms over the 18 tested eigenvalues, as on the slopes slide); station 4.5 energy #52 (overall balance −1.52 % at hover, everything else closes to 1e-13); limit cycle #61.</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Eq. 43 #29; B4 #30; Eq. 74 #22; p.32 label #76; TC_T41 units #4; Fig. A10 #5; Fig. A3 #42; Table 1 labels #78: B6's P45 column is zero in the P3 and P41 rows, so its P45 mode is its P45 diagonal, −4431; under B6's labels our descent P41/P45 would miss by +2.07/+0.34 % instead of +4.38/−1.87 %, so scoring as printed is harder on us. Also logged: Figure A6's axis reads 'FUEL-TO-RATIO' (#7) and p.38 prints 'GF' for 'GE' (#41). Appendix C does define a B4, an unrelated ECU switch in the NP loop (Fig. C3, pdf pp.77, 86).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P45 #45, #57; compressor map #60 (kept open on purpose); top line #77; integrators #59. Each is measured: the model can run the printed alternative, so the cost of each departure is a number, not an opinion.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heat sink #47 (and the configuration note); Q_GT order #75 (Figure 9 whole-curve mean 0.85 % as coded against 1.40 % re-evaluated); Eq. 74 #22; f6 #62; hysteresis #54; integrator #26; interpolation #43; initial state #55.</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log: #60 (interpolation) and #74 (speed-line family). 'Settled' covers questions closed by the report itself, by measurement, or by a recorded decision.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github.com/evrenge/t700-engine-model; report.json and every figure are in its results/ folder.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are single curves; F_HM7 (acceleration limit) and F_EC1 (thermocouple time constant) are two-dimensional families, traced column by column.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loop: fuel flow prescribed at the printed value, NP held at 20,895 rpm.</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 modes are supplied (the load comes from Appendix B), so their near-zero deviations are not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NG_des = 44,700 rpm and NP_des = 20,900 rpm are Table A.1 rows [pdf p.55].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3246120"/>
            <a:ext cx="1280160" cy="64008"/>
          </a:xfrm>
          <a:prstGeom prst="rect">
            <a:avLst/>
          </a:prstGeom>
          <a:solidFill>
            <a:srgbClr val="D5DA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10515600" cy="45720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D5DAE1"/>
                </a:solidFill>
                <a:latin typeface="Calibri"/>
              </a:rPr>
              <a:t>NASA TM-100991  ·  BALLIN, 1988</a:t>
            </a:r>
          </a:p>
        </p:txBody>
      </p:sp>
      <p:sp>
        <p:nvSpPr>
          <p:cNvPr id="5" name="TextBox 4"/>
          <p:cNvSpPr txBox="1"/>
          <p:nvPr/>
        </p:nvSpPr>
        <p:spPr>
          <a:xfrm>
            <a:off x="822960" y="1874519"/>
            <a:ext cx="10515600" cy="1280160"/>
          </a:xfrm>
          <a:prstGeom prst="rect">
            <a:avLst/>
          </a:prstGeom>
          <a:noFill/>
        </p:spPr>
        <p:txBody>
          <a:bodyPr wrap="square" anchor="t" lIns="36576" rIns="36576" tIns="27432" bIns="27432">
            <a:noAutofit/>
          </a:bodyPr>
          <a:lstStyle/>
          <a:p>
            <a:pPr>
              <a:lnSpc>
                <a:spcPct val="105000"/>
              </a:lnSpc>
              <a:spcBef>
                <a:spcPts val="0"/>
              </a:spcBef>
            </a:pPr>
            <a:r>
              <a:rPr sz="4000" b="0" i="0">
                <a:solidFill>
                  <a:srgbClr val="FFFFFF"/>
                </a:solidFill>
                <a:latin typeface="Calibri"/>
              </a:rPr>
              <a:t>Replicating a real-time turboshaft engine model</a:t>
            </a:r>
          </a:p>
        </p:txBody>
      </p:sp>
      <p:sp>
        <p:nvSpPr>
          <p:cNvPr id="6" name="TextBox 5"/>
          <p:cNvSpPr txBox="1"/>
          <p:nvPr/>
        </p:nvSpPr>
        <p:spPr>
          <a:xfrm>
            <a:off x="822960" y="3520440"/>
            <a:ext cx="10058400" cy="1097280"/>
          </a:xfrm>
          <a:prstGeom prst="rect">
            <a:avLst/>
          </a:prstGeom>
          <a:noFill/>
        </p:spPr>
        <p:txBody>
          <a:bodyPr wrap="square" anchor="t" lIns="36576" rIns="36576" tIns="27432" bIns="27432">
            <a:noAutofit/>
          </a:bodyPr>
          <a:lstStyle/>
          <a:p>
            <a:pPr>
              <a:lnSpc>
                <a:spcPct val="105000"/>
              </a:lnSpc>
              <a:spcBef>
                <a:spcPts val="0"/>
              </a:spcBef>
            </a:pPr>
            <a:r>
              <a:rPr sz="2000" b="0" i="0">
                <a:solidFill>
                  <a:srgbClr val="D5DAE1"/>
                </a:solidFill>
                <a:latin typeface="Calibri"/>
              </a:rPr>
              <a:t>The T700-GE-700 engine and its fuel control, rebuilt from the report and checked against every comparison it prints</a:t>
            </a:r>
          </a:p>
        </p:txBody>
      </p:sp>
      <p:sp>
        <p:nvSpPr>
          <p:cNvPr id="7" name="TextBox 6"/>
          <p:cNvSpPr txBox="1"/>
          <p:nvPr/>
        </p:nvSpPr>
        <p:spPr>
          <a:xfrm>
            <a:off x="822960" y="5760720"/>
            <a:ext cx="5486400" cy="36576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D5DAE1"/>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OVERVIEW</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What this presentation covers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a:t>
            </a:r>
          </a:p>
        </p:txBody>
      </p:sp>
      <p:sp>
        <p:nvSpPr>
          <p:cNvPr id="7" name="TextBox 6"/>
          <p:cNvSpPr txBox="1"/>
          <p:nvPr/>
        </p:nvSpPr>
        <p:spPr>
          <a:xfrm>
            <a:off x="502920" y="1417320"/>
            <a:ext cx="11185855" cy="4754880"/>
          </a:xfrm>
          <a:prstGeom prst="rect">
            <a:avLst/>
          </a:prstGeom>
          <a:noFill/>
        </p:spPr>
        <p:txBody>
          <a:bodyPr wrap="square" anchor="t" lIns="36576" rIns="36576" tIns="27432" bIns="27432">
            <a:noAutofit/>
          </a:bodyPr>
          <a:lstStyle/>
          <a:p>
            <a:pPr marL="411480" indent="-411480">
              <a:lnSpc>
                <a:spcPct val="105000"/>
              </a:lnSpc>
              <a:spcBef>
                <a:spcPts val="0"/>
              </a:spcBef>
              <a:buAutoNum type="arabicPeriod"/>
            </a:pPr>
            <a:r>
              <a:rPr sz="2000" b="1" i="0">
                <a:solidFill>
                  <a:srgbClr val="14171C"/>
                </a:solidFill>
                <a:latin typeface="Calibri"/>
              </a:rPr>
              <a:t>The source and the engine</a:t>
            </a:r>
          </a:p>
          <a:p>
            <a:pPr marL="411480" lvl="1" indent="0">
              <a:lnSpc>
                <a:spcPct val="105000"/>
              </a:lnSpc>
              <a:spcBef>
                <a:spcPts val="200"/>
              </a:spcBef>
              <a:buNone/>
            </a:pPr>
            <a:r>
              <a:rPr sz="1400" b="0" i="0">
                <a:solidFill>
                  <a:srgbClr val="4D5563"/>
                </a:solidFill>
                <a:latin typeface="Calibri"/>
              </a:rPr>
              <a:t>Ballin's report, the T700, and what replication means</a:t>
            </a:r>
          </a:p>
          <a:p>
            <a:pPr marL="411480" indent="-411480">
              <a:lnSpc>
                <a:spcPct val="105000"/>
              </a:lnSpc>
              <a:spcBef>
                <a:spcPts val="1600"/>
              </a:spcBef>
              <a:buAutoNum type="arabicPeriod"/>
            </a:pPr>
            <a:r>
              <a:rPr sz="2000" b="1" i="0">
                <a:solidFill>
                  <a:srgbClr val="14171C"/>
                </a:solidFill>
                <a:latin typeface="Calibri"/>
              </a:rPr>
              <a:t>One engine, three models</a:t>
            </a:r>
          </a:p>
          <a:p>
            <a:pPr marL="411480" lvl="1" indent="0">
              <a:lnSpc>
                <a:spcPct val="105000"/>
              </a:lnSpc>
              <a:spcBef>
                <a:spcPts val="200"/>
              </a:spcBef>
              <a:buNone/>
            </a:pPr>
            <a:r>
              <a:rPr sz="1400" b="0" i="0">
                <a:solidFill>
                  <a:srgbClr val="4D5563"/>
                </a:solidFill>
                <a:latin typeface="Calibri"/>
              </a:rPr>
              <a:t>Simple nonlinear, real-time and linear, and how they relate</a:t>
            </a:r>
          </a:p>
          <a:p>
            <a:pPr marL="411480" indent="-411480">
              <a:lnSpc>
                <a:spcPct val="105000"/>
              </a:lnSpc>
              <a:spcBef>
                <a:spcPts val="1600"/>
              </a:spcBef>
              <a:buAutoNum type="arabicPeriod"/>
            </a:pPr>
            <a:r>
              <a:rPr sz="2000" b="1" i="0">
                <a:solidFill>
                  <a:srgbClr val="14171C"/>
                </a:solidFill>
                <a:latin typeface="Calibri"/>
              </a:rPr>
              <a:t>How the model is built</a:t>
            </a:r>
          </a:p>
          <a:p>
            <a:pPr marL="411480" lvl="1" indent="0">
              <a:lnSpc>
                <a:spcPct val="105000"/>
              </a:lnSpc>
              <a:spcBef>
                <a:spcPts val="200"/>
              </a:spcBef>
              <a:buNone/>
            </a:pPr>
            <a:r>
              <a:rPr sz="1400" b="0" i="0">
                <a:solidFill>
                  <a:srgbClr val="4D5563"/>
                </a:solidFill>
                <a:latin typeface="Calibri"/>
              </a:rPr>
              <a:t>Gas path and its thermodynamics, volumes, spools, heat soakage, the real-time frame, fuel control, sensors, data from a scan</a:t>
            </a:r>
          </a:p>
          <a:p>
            <a:pPr marL="411480" indent="-411480">
              <a:lnSpc>
                <a:spcPct val="105000"/>
              </a:lnSpc>
              <a:spcBef>
                <a:spcPts val="1600"/>
              </a:spcBef>
              <a:buAutoNum type="arabicPeriod"/>
            </a:pPr>
            <a:r>
              <a:rPr sz="2000" b="1" i="0">
                <a:solidFill>
                  <a:srgbClr val="14171C"/>
                </a:solidFill>
                <a:latin typeface="Calibri"/>
              </a:rPr>
              <a:t>How the engine is run</a:t>
            </a:r>
          </a:p>
          <a:p>
            <a:pPr marL="411480" lvl="1" indent="0">
              <a:lnSpc>
                <a:spcPct val="105000"/>
              </a:lnSpc>
              <a:spcBef>
                <a:spcPts val="200"/>
              </a:spcBef>
              <a:buNone/>
            </a:pPr>
            <a:r>
              <a:rPr sz="1400" b="0" i="0">
                <a:solidFill>
                  <a:srgbClr val="4D5563"/>
                </a:solidFill>
                <a:latin typeface="Calibri"/>
              </a:rPr>
              <a:t>Steady state, open loop, closed loop, manoeuvres, linearization</a:t>
            </a:r>
          </a:p>
          <a:p>
            <a:pPr marL="411480" indent="-411480">
              <a:lnSpc>
                <a:spcPct val="105000"/>
              </a:lnSpc>
              <a:spcBef>
                <a:spcPts val="1600"/>
              </a:spcBef>
              <a:buAutoNum type="arabicPeriod"/>
            </a:pPr>
            <a:r>
              <a:rPr sz="2000" b="1" i="0">
                <a:solidFill>
                  <a:srgbClr val="14171C"/>
                </a:solidFill>
                <a:latin typeface="Calibri"/>
              </a:rPr>
              <a:t>How closely it matches</a:t>
            </a:r>
          </a:p>
          <a:p>
            <a:pPr marL="411480" lvl="1" indent="0">
              <a:lnSpc>
                <a:spcPct val="105000"/>
              </a:lnSpc>
              <a:spcBef>
                <a:spcPts val="200"/>
              </a:spcBef>
              <a:buNone/>
            </a:pPr>
            <a:r>
              <a:rPr sz="1400" b="0" i="0">
                <a:solidFill>
                  <a:srgbClr val="4D5563"/>
                </a:solidFill>
                <a:latin typeface="Calibri"/>
              </a:rPr>
              <a:t>Every comparison the report prints</a:t>
            </a:r>
          </a:p>
          <a:p>
            <a:pPr marL="411480" indent="-411480">
              <a:lnSpc>
                <a:spcPct val="105000"/>
              </a:lnSpc>
              <a:spcBef>
                <a:spcPts val="1600"/>
              </a:spcBef>
              <a:buAutoNum type="arabicPeriod"/>
            </a:pPr>
            <a:r>
              <a:rPr sz="2000" b="1" i="0">
                <a:solidFill>
                  <a:srgbClr val="14171C"/>
                </a:solidFill>
                <a:latin typeface="Calibri"/>
              </a:rPr>
              <a:t>Findings, decisions and limits</a:t>
            </a:r>
          </a:p>
          <a:p>
            <a:pPr marL="411480" lvl="1" indent="0">
              <a:lnSpc>
                <a:spcPct val="105000"/>
              </a:lnSpc>
              <a:spcBef>
                <a:spcPts val="200"/>
              </a:spcBef>
              <a:buNone/>
            </a:pPr>
            <a:r>
              <a:rPr sz="1400" b="0" i="0">
                <a:solidFill>
                  <a:srgbClr val="4D5563"/>
                </a:solidFill>
                <a:latin typeface="Calibri"/>
              </a:rPr>
              <a:t>What the report never printed, where it is wrong, and where we differ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 · THE SOURCE AND THE ENGINE</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source: NASA TM-100991 (Ballin, 1988)</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a:t>
            </a:r>
          </a:p>
        </p:txBody>
      </p:sp>
      <p:sp>
        <p:nvSpPr>
          <p:cNvPr id="7" name="TextBox 6"/>
          <p:cNvSpPr txBox="1"/>
          <p:nvPr/>
        </p:nvSpPr>
        <p:spPr>
          <a:xfrm>
            <a:off x="502920" y="1325880"/>
            <a:ext cx="11155680"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800" b="1" i="0">
                <a:solidFill>
                  <a:srgbClr val="14171C"/>
                </a:solidFill>
                <a:latin typeface="Calibri"/>
              </a:rPr>
              <a:t>Ballin, M. G.</a:t>
            </a:r>
            <a:r>
              <a:rPr sz="1800" b="0" i="0">
                <a:solidFill>
                  <a:srgbClr val="14171C"/>
                </a:solidFill>
                <a:latin typeface="Calibri"/>
              </a:rPr>
              <a:t>, </a:t>
            </a:r>
            <a:r>
              <a:rPr sz="1800" b="0" i="1">
                <a:solidFill>
                  <a:srgbClr val="14171C"/>
                </a:solidFill>
                <a:latin typeface="Calibri"/>
              </a:rPr>
              <a:t>A High Fidelity Real-Time Simulation of a Small Turboshaft Engine</a:t>
            </a:r>
            <a:r>
              <a:rPr sz="1800" b="0" i="0">
                <a:solidFill>
                  <a:srgbClr val="14171C"/>
                </a:solidFill>
                <a:latin typeface="Calibri"/>
              </a:rPr>
              <a:t>, NASA TM-100991, NASA Ames Research Center, July 1988.</a:t>
            </a:r>
          </a:p>
          <a:p>
            <a:pPr marL="201168" indent="-201168">
              <a:lnSpc>
                <a:spcPct val="105000"/>
              </a:lnSpc>
              <a:spcBef>
                <a:spcPts val="600"/>
              </a:spcBef>
              <a:buFont typeface="Arial"/>
              <a:buChar char="•"/>
            </a:pPr>
            <a:r>
              <a:rPr sz="1800" b="1" i="0">
                <a:solidFill>
                  <a:srgbClr val="14171C"/>
                </a:solidFill>
                <a:latin typeface="Calibri"/>
              </a:rPr>
              <a:t>Purpose:</a:t>
            </a:r>
            <a:r>
              <a:rPr sz="1800" b="0" i="0">
                <a:solidFill>
                  <a:srgbClr val="14171C"/>
                </a:solidFill>
                <a:latin typeface="Calibri"/>
              </a:rPr>
              <a:t> an engine model fast enough for a piloted helicopter simulator. It flew with the Gen Hel UH-60A blade-element rotor simulation on a CDC 7600 [pdf p.36].</a:t>
            </a:r>
          </a:p>
          <a:p>
            <a:pPr marL="201168" indent="-201168">
              <a:lnSpc>
                <a:spcPct val="105000"/>
              </a:lnSpc>
              <a:spcBef>
                <a:spcPts val="600"/>
              </a:spcBef>
              <a:buFont typeface="Arial"/>
              <a:buChar char="•"/>
            </a:pPr>
            <a:r>
              <a:rPr sz="1800" b="1" i="0">
                <a:solidFill>
                  <a:srgbClr val="14171C"/>
                </a:solidFill>
                <a:latin typeface="Calibri"/>
              </a:rPr>
              <a:t>What it gives us:</a:t>
            </a:r>
          </a:p>
          <a:p>
            <a:pPr marL="512064" indent="-237744">
              <a:lnSpc>
                <a:spcPct val="105000"/>
              </a:lnSpc>
              <a:spcBef>
                <a:spcPts val="600"/>
              </a:spcBef>
              <a:buFont typeface="Arial"/>
              <a:buChar char="–"/>
            </a:pPr>
            <a:r>
              <a:rPr sz="1600" b="0" i="0">
                <a:solidFill>
                  <a:srgbClr val="14171C"/>
                </a:solidFill>
                <a:latin typeface="Calibri"/>
              </a:rPr>
              <a:t>Eqs. 1–80: the engine model and its real-time solution</a:t>
            </a:r>
          </a:p>
          <a:p>
            <a:pPr marL="512064" indent="-237744">
              <a:lnSpc>
                <a:spcPct val="105000"/>
              </a:lnSpc>
              <a:spcBef>
                <a:spcPts val="600"/>
              </a:spcBef>
              <a:buFont typeface="Arial"/>
              <a:buChar char="–"/>
            </a:pPr>
            <a:r>
              <a:rPr sz="1600" b="0" i="0">
                <a:solidFill>
                  <a:srgbClr val="14171C"/>
                </a:solidFill>
                <a:latin typeface="Calibri"/>
              </a:rPr>
              <a:t>Appendix A: 33 constants and 11 engine functions (the maps), printed as plots</a:t>
            </a:r>
          </a:p>
          <a:p>
            <a:pPr marL="512064" indent="-237744">
              <a:lnSpc>
                <a:spcPct val="105000"/>
              </a:lnSpc>
              <a:spcBef>
                <a:spcPts val="600"/>
              </a:spcBef>
              <a:buFont typeface="Arial"/>
              <a:buChar char="–"/>
            </a:pPr>
            <a:r>
              <a:rPr sz="1600" b="0" i="0">
                <a:solidFill>
                  <a:srgbClr val="14171C"/>
                </a:solidFill>
                <a:latin typeface="Calibri"/>
              </a:rPr>
              <a:t>Appendix B: 12 linear models (A and b matrices) at three flight conditions</a:t>
            </a:r>
          </a:p>
          <a:p>
            <a:pPr marL="512064" indent="-237744">
              <a:lnSpc>
                <a:spcPct val="105000"/>
              </a:lnSpc>
              <a:spcBef>
                <a:spcPts val="600"/>
              </a:spcBef>
              <a:buFont typeface="Arial"/>
              <a:buChar char="–"/>
            </a:pPr>
            <a:r>
              <a:rPr sz="1600" b="0" i="0">
                <a:solidFill>
                  <a:srgbClr val="14171C"/>
                </a:solidFill>
                <a:latin typeface="Calibri"/>
              </a:rPr>
              <a:t>Appendix C: the complete fuel control: 22 block diagrams and 8 schedules, no equations</a:t>
            </a:r>
          </a:p>
          <a:p>
            <a:pPr marL="512064" indent="-237744">
              <a:lnSpc>
                <a:spcPct val="105000"/>
              </a:lnSpc>
              <a:spcBef>
                <a:spcPts val="600"/>
              </a:spcBef>
              <a:buFont typeface="Arial"/>
              <a:buChar char="–"/>
            </a:pPr>
            <a:r>
              <a:rPr sz="1600" b="0" i="0">
                <a:solidFill>
                  <a:srgbClr val="14171C"/>
                </a:solidFill>
                <a:latin typeface="Calibri"/>
              </a:rPr>
              <a:t>Validation: Table B.1 (trim states), Table 1 (eigenvalues), Figures 6–10 (steady sweeps, fuel transients), Figures 4–5 (linear responses), Table 3 (a prototype test engine), Figures 11–15 (the closed loop inside the helicopter)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 · THE SOURCE AND THE ENGINE</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Why the engine matters to a flight simulator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 1 (from his ref. 3), pdf p.16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a:t>
            </a:r>
          </a:p>
        </p:txBody>
      </p:sp>
      <p:pic>
        <p:nvPicPr>
          <p:cNvPr id="8" name="Picture 7" descr="fig1.png"/>
          <p:cNvPicPr>
            <a:picLocks noChangeAspect="1"/>
          </p:cNvPicPr>
          <p:nvPr/>
        </p:nvPicPr>
        <p:blipFill>
          <a:blip r:embed="rId2"/>
          <a:stretch>
            <a:fillRect/>
          </a:stretch>
        </p:blipFill>
        <p:spPr>
          <a:xfrm>
            <a:off x="5925206" y="1325880"/>
            <a:ext cx="5340307" cy="4754880"/>
          </a:xfrm>
          <a:prstGeom prst="rect">
            <a:avLst/>
          </a:prstGeom>
        </p:spPr>
      </p:pic>
      <p:sp>
        <p:nvSpPr>
          <p:cNvPr id="9" name="TextBox 8"/>
          <p:cNvSpPr txBox="1"/>
          <p:nvPr/>
        </p:nvSpPr>
        <p:spPr>
          <a:xfrm>
            <a:off x="502920" y="1417320"/>
            <a:ext cx="4754880" cy="45720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800" b="0" i="0">
                <a:solidFill>
                  <a:srgbClr val="14171C"/>
                </a:solidFill>
                <a:latin typeface="Calibri"/>
              </a:rPr>
              <a:t>The pilot feels the engine through </a:t>
            </a:r>
            <a:r>
              <a:rPr sz="1800" b="1" i="0">
                <a:solidFill>
                  <a:srgbClr val="14171C"/>
                </a:solidFill>
                <a:latin typeface="Calibri"/>
              </a:rPr>
              <a:t>rotor speed</a:t>
            </a:r>
            <a:r>
              <a:rPr sz="1800" b="0" i="0">
                <a:solidFill>
                  <a:srgbClr val="14171C"/>
                </a:solidFill>
                <a:latin typeface="Calibri"/>
              </a:rPr>
              <a:t>. Fuel control, drive train and rotor interact at low frequency (Figure 1, right).</a:t>
            </a:r>
          </a:p>
          <a:p>
            <a:pPr marL="201168" indent="-201168">
              <a:lnSpc>
                <a:spcPct val="105000"/>
              </a:lnSpc>
              <a:spcBef>
                <a:spcPts val="1000"/>
              </a:spcBef>
              <a:buFont typeface="Arial"/>
              <a:buChar char="•"/>
            </a:pPr>
            <a:r>
              <a:rPr sz="1800" b="0" i="0">
                <a:solidFill>
                  <a:srgbClr val="14171C"/>
                </a:solidFill>
                <a:latin typeface="Calibri"/>
              </a:rPr>
              <a:t>A simulator must keep that band right, </a:t>
            </a:r>
            <a:r>
              <a:rPr sz="1800" b="1" i="0">
                <a:solidFill>
                  <a:srgbClr val="14171C"/>
                </a:solidFill>
                <a:latin typeface="Calibri"/>
              </a:rPr>
              <a:t>in real time</a:t>
            </a:r>
            <a:r>
              <a:rPr sz="1800" b="0" i="0">
                <a:solidFill>
                  <a:srgbClr val="14171C"/>
                </a:solidFill>
                <a:latin typeface="Calibri"/>
              </a:rPr>
              <a:t>: Ballin's frame limit was 10 ms [pdf p.38].</a:t>
            </a:r>
          </a:p>
          <a:p>
            <a:pPr marL="201168" indent="-201168">
              <a:lnSpc>
                <a:spcPct val="105000"/>
              </a:lnSpc>
              <a:spcBef>
                <a:spcPts val="1000"/>
              </a:spcBef>
              <a:buFont typeface="Arial"/>
              <a:buChar char="•"/>
            </a:pPr>
            <a:r>
              <a:rPr sz="1800" b="0" i="0">
                <a:solidFill>
                  <a:srgbClr val="14171C"/>
                </a:solidFill>
                <a:latin typeface="Calibri"/>
              </a:rPr>
              <a:t>Faster physics, such as gas filling and emptying the engine's internal volumes, can be approximated as long as that band survives.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 · THE SOURCE AND THE ENGINE</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engine: General Electric T700-GE-700</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 2 (from his ref. 6), pdf p.18; description pdf p.17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a:t>
            </a:r>
          </a:p>
        </p:txBody>
      </p:sp>
      <p:pic>
        <p:nvPicPr>
          <p:cNvPr id="8" name="Picture 7" descr="fig2.png"/>
          <p:cNvPicPr>
            <a:picLocks noChangeAspect="1"/>
          </p:cNvPicPr>
          <p:nvPr/>
        </p:nvPicPr>
        <p:blipFill>
          <a:blip r:embed="rId2"/>
          <a:stretch>
            <a:fillRect/>
          </a:stretch>
        </p:blipFill>
        <p:spPr>
          <a:xfrm>
            <a:off x="6800305" y="1280160"/>
            <a:ext cx="3864428" cy="4846320"/>
          </a:xfrm>
          <a:prstGeom prst="rect">
            <a:avLst/>
          </a:prstGeom>
        </p:spPr>
      </p:pic>
      <p:sp>
        <p:nvSpPr>
          <p:cNvPr id="9" name="TextBox 8"/>
          <p:cNvSpPr txBox="1"/>
          <p:nvPr/>
        </p:nvSpPr>
        <p:spPr>
          <a:xfrm>
            <a:off x="502920" y="1417320"/>
            <a:ext cx="5120640" cy="45720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800" b="0" i="0">
                <a:solidFill>
                  <a:srgbClr val="14171C"/>
                </a:solidFill>
                <a:latin typeface="Calibri"/>
              </a:rPr>
              <a:t>A small turboshaft of the </a:t>
            </a:r>
            <a:r>
              <a:rPr sz="1800" b="1" i="0">
                <a:solidFill>
                  <a:srgbClr val="14171C"/>
                </a:solidFill>
                <a:latin typeface="Calibri"/>
              </a:rPr>
              <a:t>1600-hp class</a:t>
            </a:r>
            <a:r>
              <a:rPr sz="1800" b="0" i="0">
                <a:solidFill>
                  <a:srgbClr val="14171C"/>
                </a:solidFill>
                <a:latin typeface="Calibri"/>
              </a:rPr>
              <a:t> that powers the UH-60A Black Hawk; the model is one engine.</a:t>
            </a:r>
          </a:p>
          <a:p>
            <a:pPr marL="201168" indent="-201168">
              <a:lnSpc>
                <a:spcPct val="105000"/>
              </a:lnSpc>
              <a:spcBef>
                <a:spcPts val="1000"/>
              </a:spcBef>
              <a:buFont typeface="Arial"/>
              <a:buChar char="•"/>
            </a:pPr>
            <a:r>
              <a:rPr sz="1800" b="1" i="0">
                <a:solidFill>
                  <a:srgbClr val="14171C"/>
                </a:solidFill>
                <a:latin typeface="Calibri"/>
              </a:rPr>
              <a:t>Compressor:</a:t>
            </a:r>
            <a:r>
              <a:rPr sz="1800" b="0" i="0">
                <a:solidFill>
                  <a:srgbClr val="14171C"/>
                </a:solidFill>
                <a:latin typeface="Calibri"/>
              </a:rPr>
              <a:t> five axial stages and one centrifugal stage, with variable inlet guide vanes and stator vanes on the first two stages.</a:t>
            </a:r>
          </a:p>
          <a:p>
            <a:pPr marL="201168" indent="-201168">
              <a:lnSpc>
                <a:spcPct val="105000"/>
              </a:lnSpc>
              <a:spcBef>
                <a:spcPts val="1000"/>
              </a:spcBef>
              <a:buFont typeface="Arial"/>
              <a:buChar char="•"/>
            </a:pPr>
            <a:r>
              <a:rPr sz="1800" b="1" i="0">
                <a:solidFill>
                  <a:srgbClr val="14171C"/>
                </a:solidFill>
                <a:latin typeface="Calibri"/>
              </a:rPr>
              <a:t>Combustion chamber:</a:t>
            </a:r>
            <a:r>
              <a:rPr sz="1800" b="0" i="0">
                <a:solidFill>
                  <a:srgbClr val="14171C"/>
                </a:solidFill>
                <a:latin typeface="Calibri"/>
              </a:rPr>
              <a:t> annular and flow-through, at low fuel pressure.</a:t>
            </a:r>
          </a:p>
          <a:p>
            <a:pPr marL="201168" indent="-201168">
              <a:lnSpc>
                <a:spcPct val="105000"/>
              </a:lnSpc>
              <a:spcBef>
                <a:spcPts val="1000"/>
              </a:spcBef>
              <a:buFont typeface="Arial"/>
              <a:buChar char="•"/>
            </a:pPr>
            <a:r>
              <a:rPr sz="1800" b="1" i="0">
                <a:solidFill>
                  <a:srgbClr val="14171C"/>
                </a:solidFill>
                <a:latin typeface="Calibri"/>
              </a:rPr>
              <a:t>High-pressure turbine</a:t>
            </a:r>
            <a:r>
              <a:rPr sz="1800" b="0" i="0">
                <a:solidFill>
                  <a:srgbClr val="14171C"/>
                </a:solidFill>
                <a:latin typeface="Calibri"/>
              </a:rPr>
              <a:t> (the report's gas-generator turbine): two axial stages, cooled by air bled from the compressor exit; drives the compressor at speed </a:t>
            </a:r>
            <a:r>
              <a:rPr sz="1800" b="1" i="0">
                <a:solidFill>
                  <a:srgbClr val="14171C"/>
                </a:solidFill>
                <a:latin typeface="Calibri"/>
              </a:rPr>
              <a:t>NG</a:t>
            </a:r>
            <a:r>
              <a:rPr sz="1800" b="0" i="0">
                <a:solidFill>
                  <a:srgbClr val="14171C"/>
                </a:solidFill>
                <a:latin typeface="Calibri"/>
              </a:rPr>
              <a:t>.</a:t>
            </a:r>
          </a:p>
          <a:p>
            <a:pPr marL="201168" indent="-201168">
              <a:lnSpc>
                <a:spcPct val="105000"/>
              </a:lnSpc>
              <a:spcBef>
                <a:spcPts val="1000"/>
              </a:spcBef>
              <a:buFont typeface="Arial"/>
              <a:buChar char="•"/>
            </a:pPr>
            <a:r>
              <a:rPr sz="1800" b="1" i="0">
                <a:solidFill>
                  <a:srgbClr val="14171C"/>
                </a:solidFill>
                <a:latin typeface="Calibri"/>
              </a:rPr>
              <a:t>Power turbine:</a:t>
            </a:r>
            <a:r>
              <a:rPr sz="1800" b="0" i="0">
                <a:solidFill>
                  <a:srgbClr val="14171C"/>
                </a:solidFill>
                <a:latin typeface="Calibri"/>
              </a:rPr>
              <a:t> two stages, independent and uncooled; its coaxial shaft runs forward through the engine to the output, at speed </a:t>
            </a:r>
            <a:r>
              <a:rPr sz="1800" b="1" i="0">
                <a:solidFill>
                  <a:srgbClr val="14171C"/>
                </a:solidFill>
                <a:latin typeface="Calibri"/>
              </a:rPr>
              <a:t>NP</a:t>
            </a:r>
            <a:r>
              <a:rPr sz="1800" b="0" i="0">
                <a:solidFill>
                  <a:srgbClr val="14171C"/>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 · THE SOURCE AND THE ENGINE</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Stations and components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 3 and text, pdf pp.20–21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a:t>
            </a:r>
          </a:p>
        </p:txBody>
      </p:sp>
      <p:pic>
        <p:nvPicPr>
          <p:cNvPr id="8" name="Picture 7" descr="fig3.png"/>
          <p:cNvPicPr>
            <a:picLocks noChangeAspect="1"/>
          </p:cNvPicPr>
          <p:nvPr/>
        </p:nvPicPr>
        <p:blipFill>
          <a:blip r:embed="rId2"/>
          <a:stretch>
            <a:fillRect/>
          </a:stretch>
        </p:blipFill>
        <p:spPr>
          <a:xfrm>
            <a:off x="594360" y="1325880"/>
            <a:ext cx="5577840" cy="3931920"/>
          </a:xfrm>
          <a:prstGeom prst="rect">
            <a:avLst/>
          </a:prstGeom>
        </p:spPr>
      </p:pic>
      <p:sp>
        <p:nvSpPr>
          <p:cNvPr id="9" name="TextBox 8"/>
          <p:cNvSpPr txBox="1"/>
          <p:nvPr/>
        </p:nvSpPr>
        <p:spPr>
          <a:xfrm>
            <a:off x="502920" y="5349240"/>
            <a:ext cx="5760720" cy="45720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Ballin's Figure 3: primary components of a small turboshaft engine. WF marks the fuel entering the combustor.</a:t>
            </a:r>
          </a:p>
        </p:txBody>
      </p:sp>
      <p:graphicFrame>
        <p:nvGraphicFramePr>
          <p:cNvPr id="10" name="Table 9"/>
          <p:cNvGraphicFramePr>
            <a:graphicFrameLocks noGrp="1"/>
          </p:cNvGraphicFramePr>
          <p:nvPr/>
        </p:nvGraphicFramePr>
        <p:xfrm>
          <a:off x="6537960" y="1325880"/>
          <a:ext cx="5166359" cy="3840480"/>
        </p:xfrm>
        <a:graphic>
          <a:graphicData uri="http://schemas.openxmlformats.org/drawingml/2006/table">
            <a:tbl>
              <a:tblPr firstRow="1">
                <a:tableStyleId>{5C22544A-7EE6-4342-B048-85BDC9FD1C3A}</a:tableStyleId>
              </a:tblPr>
              <a:tblGrid>
                <a:gridCol w="765386"/>
                <a:gridCol w="4400973"/>
              </a:tblGrid>
              <a:tr h="384048">
                <a:tc>
                  <a:txBody>
                    <a:bodyPr wrap="square"/>
                    <a:lstStyle/>
                    <a:p>
                      <a:pPr algn="ctr"/>
                      <a:r>
                        <a:rPr sz="1200" b="1" i="0">
                          <a:solidFill>
                            <a:srgbClr val="FFFFFF"/>
                          </a:solidFill>
                          <a:latin typeface="Calibri"/>
                        </a:rPr>
                        <a:t>Station</a:t>
                      </a:r>
                    </a:p>
                  </a:txBody>
                  <a:tcPr marL="54864" marR="54864" marT="22860" marB="22860" anchor="ctr">
                    <a:solidFill>
                      <a:srgbClr val="4D5563"/>
                    </a:solidFill>
                  </a:tcPr>
                </a:tc>
                <a:tc>
                  <a:txBody>
                    <a:bodyPr wrap="square"/>
                    <a:lstStyle/>
                    <a:p>
                      <a:pPr algn="l"/>
                      <a:r>
                        <a:rPr sz="1200" b="1" i="0">
                          <a:solidFill>
                            <a:srgbClr val="FFFFFF"/>
                          </a:solidFill>
                          <a:latin typeface="Calibri"/>
                        </a:rPr>
                        <a:t>Where</a:t>
                      </a:r>
                    </a:p>
                  </a:txBody>
                  <a:tcPr marL="54864" marR="54864" marT="22860" marB="22860" anchor="ctr">
                    <a:solidFill>
                      <a:srgbClr val="4D5563"/>
                    </a:solidFill>
                  </a:tcPr>
                </a:tc>
              </a:tr>
              <a:tr h="384048">
                <a:tc>
                  <a:txBody>
                    <a:bodyPr wrap="square"/>
                    <a:lstStyle/>
                    <a:p>
                      <a:pPr algn="ctr"/>
                      <a:r>
                        <a:rPr sz="1200" b="0" i="0">
                          <a:solidFill>
                            <a:srgbClr val="14171C"/>
                          </a:solidFill>
                          <a:latin typeface="Calibri"/>
                        </a:rPr>
                        <a:t>2</a:t>
                      </a:r>
                    </a:p>
                  </a:txBody>
                  <a:tcPr marL="54864" marR="54864" marT="22860" marB="22860" anchor="ctr">
                    <a:solidFill>
                      <a:srgbClr val="FFFFFF"/>
                    </a:solidFill>
                  </a:tcPr>
                </a:tc>
                <a:tc>
                  <a:txBody>
                    <a:bodyPr wrap="square"/>
                    <a:lstStyle/>
                    <a:p>
                      <a:pPr algn="l"/>
                      <a:r>
                        <a:rPr sz="1200" b="0" i="0">
                          <a:solidFill>
                            <a:srgbClr val="14171C"/>
                          </a:solidFill>
                          <a:latin typeface="Calibri"/>
                        </a:rPr>
                        <a:t>compressor face</a:t>
                      </a:r>
                    </a:p>
                  </a:txBody>
                  <a:tcPr marL="54864" marR="54864" marT="22860" marB="22860" anchor="ctr">
                    <a:solidFill>
                      <a:srgbClr val="FFFFFF"/>
                    </a:solidFill>
                  </a:tcPr>
                </a:tc>
              </a:tr>
              <a:tr h="384048">
                <a:tc>
                  <a:txBody>
                    <a:bodyPr wrap="square"/>
                    <a:lstStyle/>
                    <a:p>
                      <a:pPr algn="ctr"/>
                      <a:r>
                        <a:rPr sz="1200" b="0" i="0">
                          <a:solidFill>
                            <a:srgbClr val="14171C"/>
                          </a:solidFill>
                          <a:latin typeface="Calibri"/>
                        </a:rPr>
                        <a:t>2.4</a:t>
                      </a:r>
                    </a:p>
                  </a:txBody>
                  <a:tcPr marL="54864" marR="54864" marT="22860" marB="22860" anchor="ctr">
                    <a:solidFill>
                      <a:srgbClr val="F2F3F5"/>
                    </a:solidFill>
                  </a:tcPr>
                </a:tc>
                <a:tc>
                  <a:txBody>
                    <a:bodyPr wrap="square"/>
                    <a:lstStyle/>
                    <a:p>
                      <a:pPr algn="l"/>
                      <a:r>
                        <a:rPr sz="1200" b="0" i="0">
                          <a:solidFill>
                            <a:srgbClr val="14171C"/>
                          </a:solidFill>
                          <a:latin typeface="Calibri"/>
                        </a:rPr>
                        <a:t>stage-4 bleed: seal pressurization, power-turbine balance</a:t>
                      </a:r>
                    </a:p>
                  </a:txBody>
                  <a:tcPr marL="54864" marR="54864" marT="22860" marB="22860" anchor="ctr">
                    <a:solidFill>
                      <a:srgbClr val="F2F3F5"/>
                    </a:solidFill>
                  </a:tcPr>
                </a:tc>
              </a:tr>
              <a:tr h="384048">
                <a:tc>
                  <a:txBody>
                    <a:bodyPr wrap="square"/>
                    <a:lstStyle/>
                    <a:p>
                      <a:pPr algn="ctr"/>
                      <a:r>
                        <a:rPr sz="1200" b="0" i="0">
                          <a:solidFill>
                            <a:srgbClr val="14171C"/>
                          </a:solidFill>
                          <a:latin typeface="Calibri"/>
                        </a:rPr>
                        <a:t>3</a:t>
                      </a:r>
                    </a:p>
                  </a:txBody>
                  <a:tcPr marL="54864" marR="54864" marT="22860" marB="22860" anchor="ctr">
                    <a:solidFill>
                      <a:srgbClr val="FFFFFF"/>
                    </a:solidFill>
                  </a:tcPr>
                </a:tc>
                <a:tc>
                  <a:txBody>
                    <a:bodyPr wrap="square"/>
                    <a:lstStyle/>
                    <a:p>
                      <a:pPr algn="l"/>
                      <a:r>
                        <a:rPr sz="1200" b="0" i="0">
                          <a:solidFill>
                            <a:srgbClr val="14171C"/>
                          </a:solidFill>
                          <a:latin typeface="Calibri"/>
                        </a:rPr>
                        <a:t>compressor diffuser exit; bleed to cool combustor and turbine</a:t>
                      </a:r>
                    </a:p>
                  </a:txBody>
                  <a:tcPr marL="54864" marR="54864" marT="22860" marB="22860" anchor="ctr">
                    <a:solidFill>
                      <a:srgbClr val="FFFFFF"/>
                    </a:solidFill>
                  </a:tcPr>
                </a:tc>
              </a:tr>
              <a:tr h="384048">
                <a:tc>
                  <a:txBody>
                    <a:bodyPr wrap="square"/>
                    <a:lstStyle/>
                    <a:p>
                      <a:pPr algn="ctr"/>
                      <a:r>
                        <a:rPr sz="1200" b="0" i="0">
                          <a:solidFill>
                            <a:srgbClr val="14171C"/>
                          </a:solidFill>
                          <a:latin typeface="Calibri"/>
                        </a:rPr>
                        <a:t>3.1</a:t>
                      </a:r>
                    </a:p>
                  </a:txBody>
                  <a:tcPr marL="54864" marR="54864" marT="22860" marB="22860" anchor="ctr">
                    <a:solidFill>
                      <a:srgbClr val="F2F3F5"/>
                    </a:solidFill>
                  </a:tcPr>
                </a:tc>
                <a:tc>
                  <a:txBody>
                    <a:bodyPr wrap="square"/>
                    <a:lstStyle/>
                    <a:p>
                      <a:pPr algn="l"/>
                      <a:r>
                        <a:rPr sz="1200" b="0" i="0">
                          <a:solidFill>
                            <a:srgbClr val="14171C"/>
                          </a:solidFill>
                          <a:latin typeface="Calibri"/>
                        </a:rPr>
                        <a:t>combustor</a:t>
                      </a:r>
                    </a:p>
                  </a:txBody>
                  <a:tcPr marL="54864" marR="54864" marT="22860" marB="22860" anchor="ctr">
                    <a:solidFill>
                      <a:srgbClr val="F2F3F5"/>
                    </a:solidFill>
                  </a:tcPr>
                </a:tc>
              </a:tr>
              <a:tr h="384048">
                <a:tc>
                  <a:txBody>
                    <a:bodyPr wrap="square"/>
                    <a:lstStyle/>
                    <a:p>
                      <a:pPr algn="ctr"/>
                      <a:r>
                        <a:rPr sz="1200" b="0" i="0">
                          <a:solidFill>
                            <a:srgbClr val="14171C"/>
                          </a:solidFill>
                          <a:latin typeface="Calibri"/>
                        </a:rPr>
                        <a:t>4.1</a:t>
                      </a:r>
                    </a:p>
                  </a:txBody>
                  <a:tcPr marL="54864" marR="54864" marT="22860" marB="22860" anchor="ctr">
                    <a:solidFill>
                      <a:srgbClr val="FFFFFF"/>
                    </a:solidFill>
                  </a:tcPr>
                </a:tc>
                <a:tc>
                  <a:txBody>
                    <a:bodyPr wrap="square"/>
                    <a:lstStyle/>
                    <a:p>
                      <a:pPr algn="l"/>
                      <a:r>
                        <a:rPr sz="1200" b="0" i="0">
                          <a:solidFill>
                            <a:srgbClr val="14171C"/>
                          </a:solidFill>
                          <a:latin typeface="Calibri"/>
                        </a:rPr>
                        <a:t>combustor exit = gas-generator turbine inlet (a mixing volume)</a:t>
                      </a:r>
                    </a:p>
                  </a:txBody>
                  <a:tcPr marL="54864" marR="54864" marT="22860" marB="22860" anchor="ctr">
                    <a:solidFill>
                      <a:srgbClr val="FFFFFF"/>
                    </a:solidFill>
                  </a:tcPr>
                </a:tc>
              </a:tr>
              <a:tr h="384048">
                <a:tc>
                  <a:txBody>
                    <a:bodyPr wrap="square"/>
                    <a:lstStyle/>
                    <a:p>
                      <a:pPr algn="ctr"/>
                      <a:r>
                        <a:rPr sz="1200" b="0" i="0">
                          <a:solidFill>
                            <a:srgbClr val="14171C"/>
                          </a:solidFill>
                          <a:latin typeface="Calibri"/>
                        </a:rPr>
                        <a:t>4.4</a:t>
                      </a:r>
                    </a:p>
                  </a:txBody>
                  <a:tcPr marL="54864" marR="54864" marT="22860" marB="22860" anchor="ctr">
                    <a:solidFill>
                      <a:srgbClr val="F2F3F5"/>
                    </a:solidFill>
                  </a:tcPr>
                </a:tc>
                <a:tc>
                  <a:txBody>
                    <a:bodyPr wrap="square"/>
                    <a:lstStyle/>
                    <a:p>
                      <a:pPr algn="l"/>
                      <a:r>
                        <a:rPr sz="1200" b="0" i="0">
                          <a:solidFill>
                            <a:srgbClr val="14171C"/>
                          </a:solidFill>
                          <a:latin typeface="Calibri"/>
                        </a:rPr>
                        <a:t>gas-generator turbine exit, before the cooling air returns</a:t>
                      </a:r>
                    </a:p>
                  </a:txBody>
                  <a:tcPr marL="54864" marR="54864" marT="22860" marB="22860" anchor="ctr">
                    <a:solidFill>
                      <a:srgbClr val="F2F3F5"/>
                    </a:solidFill>
                  </a:tcPr>
                </a:tc>
              </a:tr>
              <a:tr h="384048">
                <a:tc>
                  <a:txBody>
                    <a:bodyPr wrap="square"/>
                    <a:lstStyle/>
                    <a:p>
                      <a:pPr algn="ctr"/>
                      <a:r>
                        <a:rPr sz="1200" b="0" i="0">
                          <a:solidFill>
                            <a:srgbClr val="14171C"/>
                          </a:solidFill>
                          <a:latin typeface="Calibri"/>
                        </a:rPr>
                        <a:t>4.5</a:t>
                      </a:r>
                    </a:p>
                  </a:txBody>
                  <a:tcPr marL="54864" marR="54864" marT="22860" marB="22860" anchor="ctr">
                    <a:solidFill>
                      <a:srgbClr val="FFFFFF"/>
                    </a:solidFill>
                  </a:tcPr>
                </a:tc>
                <a:tc>
                  <a:txBody>
                    <a:bodyPr wrap="square"/>
                    <a:lstStyle/>
                    <a:p>
                      <a:pPr algn="l"/>
                      <a:r>
                        <a:rPr sz="1200" b="0" i="0">
                          <a:solidFill>
                            <a:srgbClr val="14171C"/>
                          </a:solidFill>
                          <a:latin typeface="Calibri"/>
                        </a:rPr>
                        <a:t>power-turbine inlet, cooling air mixed back in</a:t>
                      </a:r>
                    </a:p>
                  </a:txBody>
                  <a:tcPr marL="54864" marR="54864" marT="22860" marB="22860" anchor="ctr">
                    <a:solidFill>
                      <a:srgbClr val="FFFFFF"/>
                    </a:solidFill>
                  </a:tcPr>
                </a:tc>
              </a:tr>
              <a:tr h="384048">
                <a:tc>
                  <a:txBody>
                    <a:bodyPr wrap="square"/>
                    <a:lstStyle/>
                    <a:p>
                      <a:pPr algn="ctr"/>
                      <a:r>
                        <a:rPr sz="1200" b="0" i="0">
                          <a:solidFill>
                            <a:srgbClr val="14171C"/>
                          </a:solidFill>
                          <a:latin typeface="Calibri"/>
                        </a:rPr>
                        <a:t>4.9</a:t>
                      </a:r>
                    </a:p>
                  </a:txBody>
                  <a:tcPr marL="54864" marR="54864" marT="22860" marB="22860" anchor="ctr">
                    <a:solidFill>
                      <a:srgbClr val="F2F3F5"/>
                    </a:solidFill>
                  </a:tcPr>
                </a:tc>
                <a:tc>
                  <a:txBody>
                    <a:bodyPr wrap="square"/>
                    <a:lstStyle/>
                    <a:p>
                      <a:pPr algn="l"/>
                      <a:r>
                        <a:rPr sz="1200" b="0" i="0">
                          <a:solidFill>
                            <a:srgbClr val="14171C"/>
                          </a:solidFill>
                          <a:latin typeface="Calibri"/>
                        </a:rPr>
                        <a:t>power-turbine exit</a:t>
                      </a:r>
                    </a:p>
                  </a:txBody>
                  <a:tcPr marL="54864" marR="54864" marT="22860" marB="22860" anchor="ctr">
                    <a:solidFill>
                      <a:srgbClr val="F2F3F5"/>
                    </a:solidFill>
                  </a:tcPr>
                </a:tc>
              </a:tr>
              <a:tr h="384048">
                <a:tc>
                  <a:txBody>
                    <a:bodyPr wrap="square"/>
                    <a:lstStyle/>
                    <a:p>
                      <a:pPr algn="ctr"/>
                      <a:r>
                        <a:rPr sz="1200" b="0" i="0">
                          <a:solidFill>
                            <a:srgbClr val="14171C"/>
                          </a:solidFill>
                          <a:latin typeface="Calibri"/>
                        </a:rPr>
                        <a:t>9</a:t>
                      </a:r>
                    </a:p>
                  </a:txBody>
                  <a:tcPr marL="54864" marR="54864" marT="22860" marB="22860" anchor="ctr">
                    <a:solidFill>
                      <a:srgbClr val="FFFFFF"/>
                    </a:solidFill>
                  </a:tcPr>
                </a:tc>
                <a:tc>
                  <a:txBody>
                    <a:bodyPr wrap="square"/>
                    <a:lstStyle/>
                    <a:p>
                      <a:pPr algn="l"/>
                      <a:r>
                        <a:rPr sz="1200" b="0" i="0">
                          <a:solidFill>
                            <a:srgbClr val="14171C"/>
                          </a:solidFill>
                          <a:latin typeface="Calibri"/>
                        </a:rPr>
                        <a:t>exhaust</a:t>
                      </a:r>
                    </a:p>
                  </a:txBody>
                  <a:tcPr marL="54864" marR="54864" marT="22860" marB="22860" anchor="ctr">
                    <a:solidFill>
                      <a:srgbClr val="FFFFFF"/>
                    </a:solidFill>
                  </a:tcPr>
                </a:tc>
              </a:tr>
            </a:tbl>
          </a:graphicData>
        </a:graphic>
      </p:graphicFrame>
      <p:sp>
        <p:nvSpPr>
          <p:cNvPr id="11" name="TextBox 10"/>
          <p:cNvSpPr txBox="1"/>
          <p:nvPr/>
        </p:nvSpPr>
        <p:spPr>
          <a:xfrm>
            <a:off x="6537960" y="5303520"/>
            <a:ext cx="5166360" cy="731520"/>
          </a:xfrm>
          <a:prstGeom prst="rect">
            <a:avLst/>
          </a:prstGeom>
          <a:noFill/>
        </p:spPr>
        <p:txBody>
          <a:bodyPr wrap="square" anchor="t" lIns="36576" rIns="36576" tIns="27432" bIns="27432">
            <a:noAutofit/>
          </a:bodyPr>
          <a:lstStyle/>
          <a:p>
            <a:pPr>
              <a:lnSpc>
                <a:spcPct val="105000"/>
              </a:lnSpc>
              <a:spcBef>
                <a:spcPts val="0"/>
              </a:spcBef>
            </a:pPr>
            <a:r>
              <a:rPr sz="1300" b="0" i="0">
                <a:solidFill>
                  <a:srgbClr val="4D5563"/>
                </a:solidFill>
                <a:latin typeface="Calibri"/>
              </a:rPr>
              <a:t>There is no station 4 or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 · THE SOURCE AND THE ENGINE</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What “replication” means here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7</a:t>
            </a:r>
          </a:p>
        </p:txBody>
      </p:sp>
      <p:sp>
        <p:nvSpPr>
          <p:cNvPr id="8" name="TextBox 7"/>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800" b="1" i="0">
                <a:solidFill>
                  <a:srgbClr val="14171C"/>
                </a:solidFill>
                <a:latin typeface="Calibri"/>
              </a:rPr>
              <a:t>Reproduce the report as written</a:t>
            </a:r>
            <a:r>
              <a:rPr sz="1800" b="0" i="0">
                <a:solidFill>
                  <a:srgbClr val="14171C"/>
                </a:solidFill>
                <a:latin typeface="Calibri"/>
              </a:rPr>
              <a:t>, including its simplifications and its admitted biases. Not an improvement.</a:t>
            </a:r>
          </a:p>
          <a:p>
            <a:pPr marL="201168" indent="-201168">
              <a:lnSpc>
                <a:spcPct val="105000"/>
              </a:lnSpc>
              <a:spcBef>
                <a:spcPts val="900"/>
              </a:spcBef>
              <a:buFont typeface="Arial"/>
              <a:buChar char="•"/>
            </a:pPr>
            <a:r>
              <a:rPr sz="1800" b="1" i="0">
                <a:solidFill>
                  <a:srgbClr val="14171C"/>
                </a:solidFill>
                <a:latin typeface="Calibri"/>
              </a:rPr>
              <a:t>Every number is traced to a page</a:t>
            </a:r>
            <a:r>
              <a:rPr sz="1800" b="0" i="0">
                <a:solidFill>
                  <a:srgbClr val="14171C"/>
                </a:solidFill>
                <a:latin typeface="Calibri"/>
              </a:rPr>
              <a:t> of the report and read from the page image; the scan's text layer corrupts digits and symbols.</a:t>
            </a:r>
          </a:p>
          <a:p>
            <a:pPr marL="201168" indent="-201168">
              <a:lnSpc>
                <a:spcPct val="105000"/>
              </a:lnSpc>
              <a:spcBef>
                <a:spcPts val="900"/>
              </a:spcBef>
              <a:buFont typeface="Arial"/>
              <a:buChar char="•"/>
            </a:pPr>
            <a:r>
              <a:rPr sz="1800" b="1" i="0">
                <a:solidFill>
                  <a:srgbClr val="14171C"/>
                </a:solidFill>
                <a:latin typeface="Calibri"/>
              </a:rPr>
              <a:t>Where the report is silent</a:t>
            </a:r>
            <a:r>
              <a:rPr sz="1800" b="0" i="0">
                <a:solidFill>
                  <a:srgbClr val="14171C"/>
                </a:solidFill>
                <a:latin typeface="Calibri"/>
              </a:rPr>
              <a:t>, we decide, record why, and measure what the choice changes.</a:t>
            </a:r>
          </a:p>
          <a:p>
            <a:pPr marL="201168" indent="-201168">
              <a:lnSpc>
                <a:spcPct val="105000"/>
              </a:lnSpc>
              <a:spcBef>
                <a:spcPts val="900"/>
              </a:spcBef>
              <a:buFont typeface="Arial"/>
              <a:buChar char="•"/>
            </a:pPr>
            <a:r>
              <a:rPr sz="1800" b="1" i="0">
                <a:solidFill>
                  <a:srgbClr val="14171C"/>
                </a:solidFill>
                <a:latin typeface="Calibri"/>
              </a:rPr>
              <a:t>Where following it literally fails</a:t>
            </a:r>
            <a:r>
              <a:rPr sz="1800" b="0" i="0">
                <a:solidFill>
                  <a:srgbClr val="14171C"/>
                </a:solidFill>
                <a:latin typeface="Calibri"/>
              </a:rPr>
              <a:t>, we depart from it and measure the cost. There are four such departures (Part 6).</a:t>
            </a:r>
          </a:p>
          <a:p>
            <a:pPr marL="201168" indent="-201168">
              <a:lnSpc>
                <a:spcPct val="105000"/>
              </a:lnSpc>
              <a:spcBef>
                <a:spcPts val="900"/>
              </a:spcBef>
              <a:buFont typeface="Arial"/>
              <a:buChar char="•"/>
            </a:pPr>
            <a:r>
              <a:rPr sz="1800" b="1" i="0">
                <a:solidFill>
                  <a:srgbClr val="14171C"/>
                </a:solidFill>
                <a:latin typeface="Calibri"/>
              </a:rPr>
              <a:t>Never tuned to pass:</a:t>
            </a:r>
            <a:r>
              <a:rPr sz="1800" b="0" i="0">
                <a:solidFill>
                  <a:srgbClr val="14171C"/>
                </a:solidFill>
                <a:latin typeface="Calibri"/>
              </a:rPr>
              <a:t> no constant is adjusted to improve agreement. Acceptance bounds come from the scan's measured read error.</a:t>
            </a:r>
          </a:p>
          <a:p>
            <a:pPr marL="201168" indent="-201168">
              <a:lnSpc>
                <a:spcPct val="105000"/>
              </a:lnSpc>
              <a:spcBef>
                <a:spcPts val="900"/>
              </a:spcBef>
              <a:buFont typeface="Arial"/>
              <a:buChar char="•"/>
            </a:pPr>
            <a:r>
              <a:rPr sz="1800" b="1" i="0">
                <a:solidFill>
                  <a:srgbClr val="14171C"/>
                </a:solidFill>
                <a:latin typeface="Calibri"/>
              </a:rPr>
              <a:t>An example of what not to fix:</a:t>
            </a:r>
            <a:r>
              <a:rPr sz="1800" b="0" i="0">
                <a:solidFill>
                  <a:srgbClr val="14171C"/>
                </a:solidFill>
                <a:latin typeface="Calibri"/>
              </a:rPr>
              <a:t> Ballin's model reads turbine temperature slightly low at trim in every validation case, and he says so [pdf p.47]. Reproducing that bias is correct.</a:t>
            </a:r>
          </a:p>
          <a:p>
            <a:pPr marL="201168" indent="-201168">
              <a:lnSpc>
                <a:spcPct val="105000"/>
              </a:lnSpc>
              <a:spcBef>
                <a:spcPts val="900"/>
              </a:spcBef>
              <a:buFont typeface="Arial"/>
              <a:buChar char="•"/>
            </a:pPr>
            <a:r>
              <a:rPr sz="1800" b="0" i="0">
                <a:solidFill>
                  <a:srgbClr val="14171C"/>
                </a:solidFill>
                <a:latin typeface="Calibri"/>
              </a:rPr>
              <a:t>Built in Python with NumPy, in the report's own units (lbm, psia, °R, hp, rpm) and symbols.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2 · ONE ENGINE, THREE MODELS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One engine, three models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8</a:t>
            </a:r>
          </a:p>
        </p:txBody>
      </p:sp>
      <p:sp>
        <p:nvSpPr>
          <p:cNvPr id="7" name="Rounded Rectangle 6"/>
          <p:cNvSpPr/>
          <p:nvPr/>
        </p:nvSpPr>
        <p:spPr>
          <a:xfrm>
            <a:off x="594360" y="1463039"/>
            <a:ext cx="4206240" cy="141732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400" b="1" i="0">
                <a:solidFill>
                  <a:srgbClr val="14171C"/>
                </a:solidFill>
                <a:latin typeface="Calibri"/>
              </a:rPr>
              <a:t>Simple nonlinear model</a:t>
            </a:r>
          </a:p>
          <a:p>
            <a:pPr algn="ctr"/>
            <a:r>
              <a:rPr sz="1400" b="0" i="0">
                <a:solidFill>
                  <a:srgbClr val="14171C"/>
                </a:solidFill>
                <a:latin typeface="Calibri"/>
              </a:rPr>
              <a:t>Eqs. 1–53, pdf pp.22–26</a:t>
            </a:r>
          </a:p>
          <a:p>
            <a:pPr algn="ctr"/>
            <a:r>
              <a:rPr sz="1400" b="0" i="0">
                <a:solidFill>
                  <a:srgbClr val="14171C"/>
                </a:solidFill>
                <a:latin typeface="Calibri"/>
              </a:rPr>
              <a:t>5 states: NG, NP, P3, P41, P45</a:t>
            </a:r>
          </a:p>
          <a:p>
            <a:pPr algn="ctr"/>
            <a:r>
              <a:rPr sz="1400" b="0" i="0">
                <a:solidFill>
                  <a:srgbClr val="14171C"/>
                </a:solidFill>
                <a:latin typeface="Calibri"/>
              </a:rPr>
              <a:t>the gas volumes are integrated</a:t>
            </a:r>
          </a:p>
        </p:txBody>
      </p:sp>
      <p:sp>
        <p:nvSpPr>
          <p:cNvPr id="8" name="Rounded Rectangle 7"/>
          <p:cNvSpPr/>
          <p:nvPr/>
        </p:nvSpPr>
        <p:spPr>
          <a:xfrm>
            <a:off x="7391095" y="1463039"/>
            <a:ext cx="4206240" cy="1417320"/>
          </a:xfrm>
          <a:prstGeom prst="roundRect">
            <a:avLst>
              <a:gd name="adj" fmla="val 12000"/>
            </a:avLst>
          </a:prstGeom>
          <a:solidFill>
            <a:srgbClr val="D5DAE1"/>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400" b="1" i="0">
                <a:solidFill>
                  <a:srgbClr val="14171C"/>
                </a:solidFill>
                <a:latin typeface="Calibri"/>
              </a:rPr>
              <a:t>Real-time model</a:t>
            </a:r>
          </a:p>
          <a:p>
            <a:pPr algn="ctr"/>
            <a:r>
              <a:rPr sz="1400" b="0" i="0">
                <a:solidFill>
                  <a:srgbClr val="14171C"/>
                </a:solidFill>
                <a:latin typeface="Calibri"/>
              </a:rPr>
              <a:t>Eqs. 69–80, pdf pp.36–37</a:t>
            </a:r>
          </a:p>
          <a:p>
            <a:pPr algn="ctr"/>
            <a:r>
              <a:rPr sz="1400" b="0" i="0">
                <a:solidFill>
                  <a:srgbClr val="14171C"/>
                </a:solidFill>
                <a:latin typeface="Calibri"/>
              </a:rPr>
              <a:t>NG and NP integrated (7 ms / 14 ms)</a:t>
            </a:r>
          </a:p>
          <a:p>
            <a:pPr algn="ctr"/>
            <a:r>
              <a:rPr sz="1400" b="0" i="0">
                <a:solidFill>
                  <a:srgbClr val="14171C"/>
                </a:solidFill>
                <a:latin typeface="Calibri"/>
              </a:rPr>
              <a:t>pressures solved inside each frame</a:t>
            </a:r>
          </a:p>
        </p:txBody>
      </p:sp>
      <p:sp>
        <p:nvSpPr>
          <p:cNvPr id="9" name="Rounded Rectangle 8"/>
          <p:cNvSpPr/>
          <p:nvPr/>
        </p:nvSpPr>
        <p:spPr>
          <a:xfrm>
            <a:off x="594360" y="4069080"/>
            <a:ext cx="4206240" cy="141732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400" b="1" i="0">
                <a:solidFill>
                  <a:srgbClr val="14171C"/>
                </a:solidFill>
                <a:latin typeface="Calibri"/>
              </a:rPr>
              <a:t>Linear models</a:t>
            </a:r>
          </a:p>
          <a:p>
            <a:pPr algn="ctr"/>
            <a:r>
              <a:rPr sz="1400" b="0" i="0">
                <a:solidFill>
                  <a:srgbClr val="14171C"/>
                </a:solidFill>
                <a:latin typeface="Calibri"/>
              </a:rPr>
              <a:t>±2 % perturbation at a trim, pdf p.28</a:t>
            </a:r>
          </a:p>
          <a:p>
            <a:pPr algn="ctr"/>
            <a:r>
              <a:rPr sz="1400" b="0" i="0">
                <a:solidFill>
                  <a:srgbClr val="14171C"/>
                </a:solidFill>
                <a:latin typeface="Calibri"/>
              </a:rPr>
              <a:t>2-, 3-, 5-, 6-DOF and reduced-order 5-DOF</a:t>
            </a:r>
          </a:p>
          <a:p>
            <a:pPr algn="ctr"/>
            <a:r>
              <a:rPr sz="1400" b="0" i="0">
                <a:solidFill>
                  <a:srgbClr val="14171C"/>
                </a:solidFill>
                <a:latin typeface="Calibri"/>
              </a:rPr>
              <a:t>Appendix B matrices, Table 1 eigenvalues</a:t>
            </a:r>
          </a:p>
        </p:txBody>
      </p:sp>
      <p:sp>
        <p:nvSpPr>
          <p:cNvPr id="10" name="Rounded Rectangle 9"/>
          <p:cNvSpPr/>
          <p:nvPr/>
        </p:nvSpPr>
        <p:spPr>
          <a:xfrm>
            <a:off x="7391095" y="4069080"/>
            <a:ext cx="4206240" cy="141732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400" b="1" i="0">
                <a:solidFill>
                  <a:srgbClr val="14171C"/>
                </a:solidFill>
                <a:latin typeface="Calibri"/>
              </a:rPr>
              <a:t>Fuel control</a:t>
            </a:r>
          </a:p>
          <a:p>
            <a:pPr algn="ctr"/>
            <a:r>
              <a:rPr sz="1400" b="0" i="0">
                <a:solidFill>
                  <a:srgbClr val="14171C"/>
                </a:solidFill>
                <a:latin typeface="Calibri"/>
              </a:rPr>
              <a:t>Appendix C, pdf pp.77–101</a:t>
            </a:r>
          </a:p>
          <a:p>
            <a:pPr algn="ctr"/>
            <a:r>
              <a:rPr sz="1400" b="0" i="0">
                <a:solidFill>
                  <a:srgbClr val="14171C"/>
                </a:solidFill>
                <a:latin typeface="Calibri"/>
              </a:rPr>
              <a:t>ECU + HMU: governors, limits, schedules</a:t>
            </a:r>
          </a:p>
          <a:p>
            <a:pPr algn="ctr"/>
            <a:r>
              <a:rPr sz="1400" b="0" i="0">
                <a:solidFill>
                  <a:srgbClr val="14171C"/>
                </a:solidFill>
                <a:latin typeface="Calibri"/>
              </a:rPr>
              <a:t>sensor and actuator dynamics</a:t>
            </a:r>
          </a:p>
        </p:txBody>
      </p:sp>
      <p:cxnSp>
        <p:nvCxnSpPr>
          <p:cNvPr id="11" name="Connector 10"/>
          <p:cNvCxnSpPr/>
          <p:nvPr/>
        </p:nvCxnSpPr>
        <p:spPr>
          <a:xfrm>
            <a:off x="4800600" y="2171700"/>
            <a:ext cx="2590495" cy="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24247" y="1787652"/>
            <a:ext cx="274320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volume dynamics approximation</a:t>
            </a:r>
          </a:p>
        </p:txBody>
      </p:sp>
      <p:cxnSp>
        <p:nvCxnSpPr>
          <p:cNvPr id="13" name="Connector 12"/>
          <p:cNvCxnSpPr/>
          <p:nvPr/>
        </p:nvCxnSpPr>
        <p:spPr>
          <a:xfrm>
            <a:off x="2697479" y="3264408"/>
            <a:ext cx="0" cy="804672"/>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788920" y="3511296"/>
            <a:ext cx="109728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linearize</a:t>
            </a:r>
          </a:p>
        </p:txBody>
      </p:sp>
      <p:cxnSp>
        <p:nvCxnSpPr>
          <p:cNvPr id="15" name="Connector 14"/>
          <p:cNvCxnSpPr/>
          <p:nvPr/>
        </p:nvCxnSpPr>
        <p:spPr>
          <a:xfrm flipV="1">
            <a:off x="9494215" y="3264408"/>
            <a:ext cx="0" cy="804672"/>
          </a:xfrm>
          <a:prstGeom prst="line">
            <a:avLst/>
          </a:prstGeom>
          <a:ln w="22225">
            <a:solidFill>
              <a:srgbClr val="4D5563"/>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585655" y="3511296"/>
            <a:ext cx="128016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closed loop</a:t>
            </a:r>
          </a:p>
        </p:txBody>
      </p:sp>
      <p:sp>
        <p:nvSpPr>
          <p:cNvPr id="17" name="TextBox 16"/>
          <p:cNvSpPr txBox="1"/>
          <p:nvPr/>
        </p:nvSpPr>
        <p:spPr>
          <a:xfrm>
            <a:off x="594360" y="2926079"/>
            <a:ext cx="4206240" cy="32004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Compared with: Table B.1, Figures 6–8, Table 3</a:t>
            </a:r>
          </a:p>
        </p:txBody>
      </p:sp>
      <p:sp>
        <p:nvSpPr>
          <p:cNvPr id="18" name="TextBox 17"/>
          <p:cNvSpPr txBox="1"/>
          <p:nvPr/>
        </p:nvSpPr>
        <p:spPr>
          <a:xfrm>
            <a:off x="7391095" y="2926079"/>
            <a:ext cx="4206240" cy="32004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Compared with: Figures 9–10, Figure 4's Gen Hel line</a:t>
            </a:r>
          </a:p>
        </p:txBody>
      </p:sp>
      <p:sp>
        <p:nvSpPr>
          <p:cNvPr id="19" name="TextBox 18"/>
          <p:cNvSpPr txBox="1"/>
          <p:nvPr/>
        </p:nvSpPr>
        <p:spPr>
          <a:xfrm>
            <a:off x="594360" y="5532120"/>
            <a:ext cx="4206240" cy="32004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Compared with: Table 1, Appendix B, Figures 4–5</a:t>
            </a:r>
          </a:p>
        </p:txBody>
      </p:sp>
      <p:sp>
        <p:nvSpPr>
          <p:cNvPr id="20" name="TextBox 19"/>
          <p:cNvSpPr txBox="1"/>
          <p:nvPr/>
        </p:nvSpPr>
        <p:spPr>
          <a:xfrm>
            <a:off x="7391095" y="5532120"/>
            <a:ext cx="4206240" cy="32004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With the real-time model: Table B.1, Figures 11–15</a:t>
            </a:r>
          </a:p>
        </p:txBody>
      </p:sp>
      <p:sp>
        <p:nvSpPr>
          <p:cNvPr id="21" name="TextBox 20"/>
          <p:cNvSpPr txBox="1"/>
          <p:nvPr/>
        </p:nvSpPr>
        <p:spPr>
          <a:xfrm>
            <a:off x="594360" y="5943600"/>
            <a:ext cx="10972800" cy="365760"/>
          </a:xfrm>
          <a:prstGeom prst="rect">
            <a:avLst/>
          </a:prstGeom>
          <a:noFill/>
        </p:spPr>
        <p:txBody>
          <a:bodyPr wrap="square" anchor="t" lIns="36576" rIns="36576" tIns="27432" bIns="27432">
            <a:noAutofit/>
          </a:bodyPr>
          <a:lstStyle/>
          <a:p>
            <a:pPr algn="ctr">
              <a:lnSpc>
                <a:spcPct val="105000"/>
              </a:lnSpc>
              <a:spcBef>
                <a:spcPts val="0"/>
              </a:spcBef>
            </a:pPr>
            <a:r>
              <a:rPr sz="1300" b="0" i="0">
                <a:solidFill>
                  <a:srgbClr val="4D5563"/>
                </a:solidFill>
                <a:latin typeface="Calibri"/>
              </a:rPr>
              <a:t>Steady states are the same in the simple nonlinear and the real-time model: the approximation changes only how the engine moves between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2 · ONE ENGINE, THREE MODELS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Why the real-time model drops the volume dynamics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1, pdf p.31; Ballin, Figure 4, pdf p.30; frame, pdf p.47; Conclusions, pdf p.54</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9</a:t>
            </a:r>
          </a:p>
        </p:txBody>
      </p:sp>
      <p:graphicFrame>
        <p:nvGraphicFramePr>
          <p:cNvPr id="8" name="Table 7"/>
          <p:cNvGraphicFramePr>
            <a:graphicFrameLocks noGrp="1"/>
          </p:cNvGraphicFramePr>
          <p:nvPr/>
        </p:nvGraphicFramePr>
        <p:xfrm>
          <a:off x="502920" y="1325880"/>
          <a:ext cx="5303518" cy="2194560"/>
        </p:xfrm>
        <a:graphic>
          <a:graphicData uri="http://schemas.openxmlformats.org/drawingml/2006/table">
            <a:tbl>
              <a:tblPr firstRow="1">
                <a:tableStyleId>{5C22544A-7EE6-4342-B048-85BDC9FD1C3A}</a:tableStyleId>
              </a:tblPr>
              <a:tblGrid>
                <a:gridCol w="1301773"/>
                <a:gridCol w="1205345"/>
                <a:gridCol w="1108917"/>
                <a:gridCol w="1687483"/>
              </a:tblGrid>
              <a:tr h="548640">
                <a:tc>
                  <a:txBody>
                    <a:bodyPr wrap="square"/>
                    <a:lstStyle/>
                    <a:p>
                      <a:pPr algn="l"/>
                      <a:r>
                        <a:rPr sz="1300" b="1" i="0">
                          <a:solidFill>
                            <a:srgbClr val="FFFFFF"/>
                          </a:solidFill>
                          <a:latin typeface="Calibri"/>
                        </a:rPr>
                        <a:t>Mode</a:t>
                      </a:r>
                    </a:p>
                    <a:p>
                      <a:pPr algn="l"/>
                      <a:r>
                        <a:rPr sz="1300" b="1" i="0">
                          <a:solidFill>
                            <a:srgbClr val="FFFFFF"/>
                          </a:solidFill>
                          <a:latin typeface="Calibri"/>
                        </a:rPr>
                        <a:t>5-DOF, hover</a:t>
                      </a:r>
                    </a:p>
                  </a:txBody>
                  <a:tcPr marL="54864" marR="54864" marT="22860" marB="22860" anchor="ctr">
                    <a:solidFill>
                      <a:srgbClr val="4D5563"/>
                    </a:solidFill>
                  </a:tcPr>
                </a:tc>
                <a:tc>
                  <a:txBody>
                    <a:bodyPr wrap="square"/>
                    <a:lstStyle/>
                    <a:p>
                      <a:pPr algn="r"/>
                      <a:r>
                        <a:rPr sz="1300" b="1" i="0">
                          <a:solidFill>
                            <a:srgbClr val="FFFFFF"/>
                          </a:solidFill>
                          <a:latin typeface="Calibri"/>
                        </a:rPr>
                        <a:t>Eigenvalue</a:t>
                      </a:r>
                    </a:p>
                    <a:p>
                      <a:pPr algn="r"/>
                      <a:r>
                        <a:rPr sz="1300" b="1" i="0">
                          <a:solidFill>
                            <a:srgbClr val="FFFFFF"/>
                          </a:solidFill>
                          <a:latin typeface="Calibri"/>
                        </a:rPr>
                        <a:t>1/s</a:t>
                      </a:r>
                    </a:p>
                  </a:txBody>
                  <a:tcPr marL="54864" marR="54864" marT="22860" marB="22860" anchor="ctr">
                    <a:solidFill>
                      <a:srgbClr val="4D5563"/>
                    </a:solidFill>
                  </a:tcPr>
                </a:tc>
                <a:tc>
                  <a:txBody>
                    <a:bodyPr wrap="square"/>
                    <a:lstStyle/>
                    <a:p>
                      <a:pPr algn="r"/>
                      <a:r>
                        <a:rPr sz="1300" b="1" i="0">
                          <a:solidFill>
                            <a:srgbClr val="FFFFFF"/>
                          </a:solidFill>
                          <a:latin typeface="Calibri"/>
                        </a:rPr>
                        <a:t>Time</a:t>
                      </a:r>
                    </a:p>
                    <a:p>
                      <a:pPr algn="r"/>
                      <a:r>
                        <a:rPr sz="1300" b="1" i="0">
                          <a:solidFill>
                            <a:srgbClr val="FFFFFF"/>
                          </a:solidFill>
                          <a:latin typeface="Calibri"/>
                        </a:rPr>
                        <a:t>constant</a:t>
                      </a:r>
                    </a:p>
                  </a:txBody>
                  <a:tcPr marL="54864" marR="54864" marT="22860" marB="22860" anchor="ctr">
                    <a:solidFill>
                      <a:srgbClr val="4D5563"/>
                    </a:solidFill>
                  </a:tcPr>
                </a:tc>
                <a:tc>
                  <a:txBody>
                    <a:bodyPr wrap="square"/>
                    <a:lstStyle/>
                    <a:p>
                      <a:pPr algn="r"/>
                      <a:r>
                        <a:rPr sz="1300" b="1" i="0">
                          <a:solidFill>
                            <a:srgbClr val="FFFFFF"/>
                          </a:solidFill>
                          <a:latin typeface="Calibri"/>
                        </a:rPr>
                        <a:t>Corner frequency</a:t>
                      </a:r>
                    </a:p>
                    <a:p>
                      <a:pPr algn="r"/>
                      <a:r>
                        <a:rPr sz="1300" b="1" i="0">
                          <a:solidFill>
                            <a:srgbClr val="FFFFFF"/>
                          </a:solidFill>
                          <a:latin typeface="Calibri"/>
                        </a:rPr>
                        <a:t>|λ|/2π, Hz</a:t>
                      </a:r>
                    </a:p>
                  </a:txBody>
                  <a:tcPr marL="54864" marR="54864" marT="22860" marB="22860" anchor="ctr">
                    <a:solidFill>
                      <a:srgbClr val="4D5563"/>
                    </a:solidFill>
                  </a:tcPr>
                </a:tc>
              </a:tr>
              <a:tr h="329184">
                <a:tc>
                  <a:txBody>
                    <a:bodyPr wrap="square"/>
                    <a:lstStyle/>
                    <a:p>
                      <a:pPr algn="l"/>
                      <a:r>
                        <a:rPr sz="1300" b="0" i="0">
                          <a:solidFill>
                            <a:srgbClr val="14171C"/>
                          </a:solidFill>
                          <a:latin typeface="Calibri"/>
                        </a:rPr>
                        <a:t>NP</a:t>
                      </a:r>
                    </a:p>
                  </a:txBody>
                  <a:tcPr marL="54864" marR="54864" marT="22860" marB="22860" anchor="ctr">
                    <a:solidFill>
                      <a:srgbClr val="FFFFFF"/>
                    </a:solidFill>
                  </a:tcPr>
                </a:tc>
                <a:tc>
                  <a:txBody>
                    <a:bodyPr wrap="square"/>
                    <a:lstStyle/>
                    <a:p>
                      <a:pPr algn="r"/>
                      <a:r>
                        <a:rPr sz="1300" b="0" i="0">
                          <a:solidFill>
                            <a:srgbClr val="14171C"/>
                          </a:solidFill>
                          <a:latin typeface="Calibri"/>
                        </a:rPr>
                        <a:t>−0.565</a:t>
                      </a:r>
                    </a:p>
                  </a:txBody>
                  <a:tcPr marL="54864" marR="54864" marT="22860" marB="22860" anchor="ctr">
                    <a:solidFill>
                      <a:srgbClr val="FFFFFF"/>
                    </a:solidFill>
                  </a:tcPr>
                </a:tc>
                <a:tc>
                  <a:txBody>
                    <a:bodyPr wrap="square"/>
                    <a:lstStyle/>
                    <a:p>
                      <a:pPr algn="r"/>
                      <a:r>
                        <a:rPr sz="1300" b="0" i="0">
                          <a:solidFill>
                            <a:srgbClr val="14171C"/>
                          </a:solidFill>
                          <a:latin typeface="Calibri"/>
                        </a:rPr>
                        <a:t>1.77 s</a:t>
                      </a:r>
                    </a:p>
                  </a:txBody>
                  <a:tcPr marL="54864" marR="54864" marT="22860" marB="22860" anchor="ctr">
                    <a:solidFill>
                      <a:srgbClr val="FFFFFF"/>
                    </a:solidFill>
                  </a:tcPr>
                </a:tc>
                <a:tc>
                  <a:txBody>
                    <a:bodyPr wrap="square"/>
                    <a:lstStyle/>
                    <a:p>
                      <a:pPr algn="r"/>
                      <a:r>
                        <a:rPr sz="1300" b="0" i="0">
                          <a:solidFill>
                            <a:srgbClr val="14171C"/>
                          </a:solidFill>
                          <a:latin typeface="Calibri"/>
                        </a:rPr>
                        <a:t>0.09</a:t>
                      </a:r>
                    </a:p>
                  </a:txBody>
                  <a:tcPr marL="54864" marR="54864" marT="22860" marB="22860" anchor="ctr">
                    <a:solidFill>
                      <a:srgbClr val="FFFFFF"/>
                    </a:solidFill>
                  </a:tcPr>
                </a:tc>
              </a:tr>
              <a:tr h="329184">
                <a:tc>
                  <a:txBody>
                    <a:bodyPr wrap="square"/>
                    <a:lstStyle/>
                    <a:p>
                      <a:pPr algn="l"/>
                      <a:r>
                        <a:rPr sz="1300" b="0" i="0">
                          <a:solidFill>
                            <a:srgbClr val="14171C"/>
                          </a:solidFill>
                          <a:latin typeface="Calibri"/>
                        </a:rPr>
                        <a:t>NG</a:t>
                      </a:r>
                    </a:p>
                  </a:txBody>
                  <a:tcPr marL="54864" marR="54864" marT="22860" marB="22860" anchor="ctr">
                    <a:solidFill>
                      <a:srgbClr val="F2F3F5"/>
                    </a:solidFill>
                  </a:tcPr>
                </a:tc>
                <a:tc>
                  <a:txBody>
                    <a:bodyPr wrap="square"/>
                    <a:lstStyle/>
                    <a:p>
                      <a:pPr algn="r"/>
                      <a:r>
                        <a:rPr sz="1300" b="0" i="0">
                          <a:solidFill>
                            <a:srgbClr val="14171C"/>
                          </a:solidFill>
                          <a:latin typeface="Calibri"/>
                        </a:rPr>
                        <a:t>−2.66</a:t>
                      </a:r>
                    </a:p>
                  </a:txBody>
                  <a:tcPr marL="54864" marR="54864" marT="22860" marB="22860" anchor="ctr">
                    <a:solidFill>
                      <a:srgbClr val="F2F3F5"/>
                    </a:solidFill>
                  </a:tcPr>
                </a:tc>
                <a:tc>
                  <a:txBody>
                    <a:bodyPr wrap="square"/>
                    <a:lstStyle/>
                    <a:p>
                      <a:pPr algn="r"/>
                      <a:r>
                        <a:rPr sz="1300" b="0" i="0">
                          <a:solidFill>
                            <a:srgbClr val="14171C"/>
                          </a:solidFill>
                          <a:latin typeface="Calibri"/>
                        </a:rPr>
                        <a:t>0.38 s</a:t>
                      </a:r>
                    </a:p>
                  </a:txBody>
                  <a:tcPr marL="54864" marR="54864" marT="22860" marB="22860" anchor="ctr">
                    <a:solidFill>
                      <a:srgbClr val="F2F3F5"/>
                    </a:solidFill>
                  </a:tcPr>
                </a:tc>
                <a:tc>
                  <a:txBody>
                    <a:bodyPr wrap="square"/>
                    <a:lstStyle/>
                    <a:p>
                      <a:pPr algn="r"/>
                      <a:r>
                        <a:rPr sz="1300" b="0" i="0">
                          <a:solidFill>
                            <a:srgbClr val="14171C"/>
                          </a:solidFill>
                          <a:latin typeface="Calibri"/>
                        </a:rPr>
                        <a:t>0.42</a:t>
                      </a:r>
                    </a:p>
                  </a:txBody>
                  <a:tcPr marL="54864" marR="54864" marT="22860" marB="22860" anchor="ctr">
                    <a:solidFill>
                      <a:srgbClr val="F2F3F5"/>
                    </a:solidFill>
                  </a:tcPr>
                </a:tc>
              </a:tr>
              <a:tr h="329184">
                <a:tc>
                  <a:txBody>
                    <a:bodyPr wrap="square"/>
                    <a:lstStyle/>
                    <a:p>
                      <a:pPr algn="l"/>
                      <a:r>
                        <a:rPr sz="1300" b="0" i="0">
                          <a:solidFill>
                            <a:srgbClr val="14171C"/>
                          </a:solidFill>
                          <a:latin typeface="Calibri"/>
                        </a:rPr>
                        <a:t>P3</a:t>
                      </a:r>
                    </a:p>
                  </a:txBody>
                  <a:tcPr marL="54864" marR="54864" marT="22860" marB="22860" anchor="ctr">
                    <a:solidFill>
                      <a:srgbClr val="FFFFFF"/>
                    </a:solidFill>
                  </a:tcPr>
                </a:tc>
                <a:tc>
                  <a:txBody>
                    <a:bodyPr wrap="square"/>
                    <a:lstStyle/>
                    <a:p>
                      <a:pPr algn="r"/>
                      <a:r>
                        <a:rPr sz="1300" b="0" i="0">
                          <a:solidFill>
                            <a:srgbClr val="14171C"/>
                          </a:solidFill>
                          <a:latin typeface="Calibri"/>
                        </a:rPr>
                        <a:t>−51.6</a:t>
                      </a:r>
                    </a:p>
                  </a:txBody>
                  <a:tcPr marL="54864" marR="54864" marT="22860" marB="22860" anchor="ctr">
                    <a:solidFill>
                      <a:srgbClr val="FFFFFF"/>
                    </a:solidFill>
                  </a:tcPr>
                </a:tc>
                <a:tc>
                  <a:txBody>
                    <a:bodyPr wrap="square"/>
                    <a:lstStyle/>
                    <a:p>
                      <a:pPr algn="r"/>
                      <a:r>
                        <a:rPr sz="1300" b="0" i="0">
                          <a:solidFill>
                            <a:srgbClr val="14171C"/>
                          </a:solidFill>
                          <a:latin typeface="Calibri"/>
                        </a:rPr>
                        <a:t>19.4 ms</a:t>
                      </a:r>
                    </a:p>
                  </a:txBody>
                  <a:tcPr marL="54864" marR="54864" marT="22860" marB="22860" anchor="ctr">
                    <a:solidFill>
                      <a:srgbClr val="FFFFFF"/>
                    </a:solidFill>
                  </a:tcPr>
                </a:tc>
                <a:tc>
                  <a:txBody>
                    <a:bodyPr wrap="square"/>
                    <a:lstStyle/>
                    <a:p>
                      <a:pPr algn="r"/>
                      <a:r>
                        <a:rPr sz="1300" b="0" i="0">
                          <a:solidFill>
                            <a:srgbClr val="14171C"/>
                          </a:solidFill>
                          <a:latin typeface="Calibri"/>
                        </a:rPr>
                        <a:t>8.2</a:t>
                      </a:r>
                    </a:p>
                  </a:txBody>
                  <a:tcPr marL="54864" marR="54864" marT="22860" marB="22860" anchor="ctr">
                    <a:solidFill>
                      <a:srgbClr val="FFFFFF"/>
                    </a:solidFill>
                  </a:tcPr>
                </a:tc>
              </a:tr>
              <a:tr h="329184">
                <a:tc>
                  <a:txBody>
                    <a:bodyPr wrap="square"/>
                    <a:lstStyle/>
                    <a:p>
                      <a:pPr algn="l"/>
                      <a:r>
                        <a:rPr sz="1300" b="0" i="0">
                          <a:solidFill>
                            <a:srgbClr val="14171C"/>
                          </a:solidFill>
                          <a:latin typeface="Calibri"/>
                        </a:rPr>
                        <a:t>P45</a:t>
                      </a:r>
                    </a:p>
                  </a:txBody>
                  <a:tcPr marL="54864" marR="54864" marT="22860" marB="22860" anchor="ctr">
                    <a:solidFill>
                      <a:srgbClr val="F2F3F5"/>
                    </a:solidFill>
                  </a:tcPr>
                </a:tc>
                <a:tc>
                  <a:txBody>
                    <a:bodyPr wrap="square"/>
                    <a:lstStyle/>
                    <a:p>
                      <a:pPr algn="r"/>
                      <a:r>
                        <a:rPr sz="1300" b="0" i="0">
                          <a:solidFill>
                            <a:srgbClr val="14171C"/>
                          </a:solidFill>
                          <a:latin typeface="Calibri"/>
                        </a:rPr>
                        <a:t>−3,060</a:t>
                      </a:r>
                    </a:p>
                  </a:txBody>
                  <a:tcPr marL="54864" marR="54864" marT="22860" marB="22860" anchor="ctr">
                    <a:solidFill>
                      <a:srgbClr val="F2F3F5"/>
                    </a:solidFill>
                  </a:tcPr>
                </a:tc>
                <a:tc>
                  <a:txBody>
                    <a:bodyPr wrap="square"/>
                    <a:lstStyle/>
                    <a:p>
                      <a:pPr algn="r"/>
                      <a:r>
                        <a:rPr sz="1300" b="0" i="0">
                          <a:solidFill>
                            <a:srgbClr val="14171C"/>
                          </a:solidFill>
                          <a:latin typeface="Calibri"/>
                        </a:rPr>
                        <a:t>0.33 ms</a:t>
                      </a:r>
                    </a:p>
                  </a:txBody>
                  <a:tcPr marL="54864" marR="54864" marT="22860" marB="22860" anchor="ctr">
                    <a:solidFill>
                      <a:srgbClr val="F2F3F5"/>
                    </a:solidFill>
                  </a:tcPr>
                </a:tc>
                <a:tc>
                  <a:txBody>
                    <a:bodyPr wrap="square"/>
                    <a:lstStyle/>
                    <a:p>
                      <a:pPr algn="r"/>
                      <a:r>
                        <a:rPr sz="1300" b="0" i="0">
                          <a:solidFill>
                            <a:srgbClr val="14171C"/>
                          </a:solidFill>
                          <a:latin typeface="Calibri"/>
                        </a:rPr>
                        <a:t>487</a:t>
                      </a:r>
                    </a:p>
                  </a:txBody>
                  <a:tcPr marL="54864" marR="54864" marT="22860" marB="22860" anchor="ctr">
                    <a:solidFill>
                      <a:srgbClr val="F2F3F5"/>
                    </a:solidFill>
                  </a:tcPr>
                </a:tc>
              </a:tr>
              <a:tr h="329184">
                <a:tc>
                  <a:txBody>
                    <a:bodyPr wrap="square"/>
                    <a:lstStyle/>
                    <a:p>
                      <a:pPr algn="l"/>
                      <a:r>
                        <a:rPr sz="1300" b="0" i="0">
                          <a:solidFill>
                            <a:srgbClr val="14171C"/>
                          </a:solidFill>
                          <a:latin typeface="Calibri"/>
                        </a:rPr>
                        <a:t>P41</a:t>
                      </a:r>
                    </a:p>
                  </a:txBody>
                  <a:tcPr marL="54864" marR="54864" marT="22860" marB="22860" anchor="ctr">
                    <a:solidFill>
                      <a:srgbClr val="FFFFFF"/>
                    </a:solidFill>
                  </a:tcPr>
                </a:tc>
                <a:tc>
                  <a:txBody>
                    <a:bodyPr wrap="square"/>
                    <a:lstStyle/>
                    <a:p>
                      <a:pPr algn="r"/>
                      <a:r>
                        <a:rPr sz="1300" b="0" i="0">
                          <a:solidFill>
                            <a:srgbClr val="14171C"/>
                          </a:solidFill>
                          <a:latin typeface="Calibri"/>
                        </a:rPr>
                        <a:t>−4,900</a:t>
                      </a:r>
                    </a:p>
                  </a:txBody>
                  <a:tcPr marL="54864" marR="54864" marT="22860" marB="22860" anchor="ctr">
                    <a:solidFill>
                      <a:srgbClr val="FFFFFF"/>
                    </a:solidFill>
                  </a:tcPr>
                </a:tc>
                <a:tc>
                  <a:txBody>
                    <a:bodyPr wrap="square"/>
                    <a:lstStyle/>
                    <a:p>
                      <a:pPr algn="r"/>
                      <a:r>
                        <a:rPr sz="1300" b="0" i="0">
                          <a:solidFill>
                            <a:srgbClr val="14171C"/>
                          </a:solidFill>
                          <a:latin typeface="Calibri"/>
                        </a:rPr>
                        <a:t>0.20 ms</a:t>
                      </a:r>
                    </a:p>
                  </a:txBody>
                  <a:tcPr marL="54864" marR="54864" marT="22860" marB="22860" anchor="ctr">
                    <a:solidFill>
                      <a:srgbClr val="FFFFFF"/>
                    </a:solidFill>
                  </a:tcPr>
                </a:tc>
                <a:tc>
                  <a:txBody>
                    <a:bodyPr wrap="square"/>
                    <a:lstStyle/>
                    <a:p>
                      <a:pPr algn="r"/>
                      <a:r>
                        <a:rPr sz="1300" b="0" i="0">
                          <a:solidFill>
                            <a:srgbClr val="14171C"/>
                          </a:solidFill>
                          <a:latin typeface="Calibri"/>
                        </a:rPr>
                        <a:t>780</a:t>
                      </a:r>
                    </a:p>
                  </a:txBody>
                  <a:tcPr marL="54864" marR="54864" marT="22860" marB="22860" anchor="ctr">
                    <a:solidFill>
                      <a:srgbClr val="FFFFFF"/>
                    </a:solidFill>
                  </a:tcPr>
                </a:tc>
              </a:tr>
            </a:tbl>
          </a:graphicData>
        </a:graphic>
      </p:graphicFrame>
      <p:sp>
        <p:nvSpPr>
          <p:cNvPr id="9" name="TextBox 8"/>
          <p:cNvSpPr txBox="1"/>
          <p:nvPr/>
        </p:nvSpPr>
        <p:spPr>
          <a:xfrm>
            <a:off x="502920" y="3611880"/>
            <a:ext cx="5212080" cy="27432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500" b="1" i="0">
                <a:solidFill>
                  <a:srgbClr val="14171C"/>
                </a:solidFill>
                <a:latin typeface="Calibri"/>
              </a:rPr>
              <a:t>Euler integration</a:t>
            </a:r>
            <a:r>
              <a:rPr sz="1500" b="0" i="0">
                <a:solidFill>
                  <a:srgbClr val="14171C"/>
                </a:solidFill>
                <a:latin typeface="Calibri"/>
              </a:rPr>
              <a:t>, the simplest explicit step, is stable only for Δt &lt; 2/|λ|: about </a:t>
            </a:r>
            <a:r>
              <a:rPr sz="1500" b="1" i="0">
                <a:solidFill>
                  <a:srgbClr val="14171C"/>
                </a:solidFill>
                <a:latin typeface="Calibri"/>
              </a:rPr>
              <a:t>0.4 ms</a:t>
            </a:r>
            <a:r>
              <a:rPr sz="1500" b="0" i="0">
                <a:solidFill>
                  <a:srgbClr val="14171C"/>
                </a:solidFill>
                <a:latin typeface="Calibri"/>
              </a:rPr>
              <a:t> for the fastest mode. Ballin's engine frame is </a:t>
            </a:r>
            <a:r>
              <a:rPr sz="1500" b="1" i="0">
                <a:solidFill>
                  <a:srgbClr val="14171C"/>
                </a:solidFill>
                <a:latin typeface="Calibri"/>
              </a:rPr>
              <a:t>7 ms</a:t>
            </a:r>
            <a:r>
              <a:rPr sz="1500" b="0" i="0">
                <a:solidFill>
                  <a:srgbClr val="14171C"/>
                </a:solidFill>
                <a:latin typeface="Calibri"/>
              </a:rPr>
              <a:t>.</a:t>
            </a:r>
          </a:p>
          <a:p>
            <a:pPr marL="201168" indent="-201168">
              <a:lnSpc>
                <a:spcPct val="105000"/>
              </a:lnSpc>
              <a:spcBef>
                <a:spcPts val="800"/>
              </a:spcBef>
              <a:buFont typeface="Arial"/>
              <a:buChar char="•"/>
            </a:pPr>
            <a:r>
              <a:rPr sz="1500" b="0" i="0">
                <a:solidFill>
                  <a:srgbClr val="14171C"/>
                </a:solidFill>
                <a:latin typeface="Calibri"/>
              </a:rPr>
              <a:t>The spools are about a thousand times slower than P41 and P45. So: integrate only NG and NP, and solve P3, P41, P45 inside each frame as if the volumes filled instantly.</a:t>
            </a:r>
          </a:p>
          <a:p>
            <a:pPr marL="201168" indent="-201168">
              <a:lnSpc>
                <a:spcPct val="105000"/>
              </a:lnSpc>
              <a:spcBef>
                <a:spcPts val="800"/>
              </a:spcBef>
              <a:buFont typeface="Arial"/>
              <a:buChar char="•"/>
            </a:pPr>
            <a:r>
              <a:rPr sz="1500" b="0" i="0">
                <a:solidFill>
                  <a:srgbClr val="14171C"/>
                </a:solidFill>
                <a:latin typeface="Calibri"/>
              </a:rPr>
              <a:t>Conclusions: “The modeling of high-speed dynamics which represent changes of mass flow between the internal control volumes was found to be unnecessary” [pdf p.54].</a:t>
            </a:r>
          </a:p>
        </p:txBody>
      </p:sp>
      <p:pic>
        <p:nvPicPr>
          <p:cNvPr id="10" name="Picture 9" descr="fig4.png"/>
          <p:cNvPicPr>
            <a:picLocks noChangeAspect="1"/>
          </p:cNvPicPr>
          <p:nvPr/>
        </p:nvPicPr>
        <p:blipFill>
          <a:blip r:embed="rId2"/>
          <a:stretch>
            <a:fillRect/>
          </a:stretch>
        </p:blipFill>
        <p:spPr>
          <a:xfrm>
            <a:off x="6994573" y="1280160"/>
            <a:ext cx="3704493" cy="4709160"/>
          </a:xfrm>
          <a:prstGeom prst="rect">
            <a:avLst/>
          </a:prstGeom>
        </p:spPr>
      </p:pic>
      <p:sp>
        <p:nvSpPr>
          <p:cNvPr id="11" name="TextBox 10"/>
          <p:cNvSpPr txBox="1"/>
          <p:nvPr/>
        </p:nvSpPr>
        <p:spPr>
          <a:xfrm>
            <a:off x="5989320" y="5897880"/>
            <a:ext cx="5715000" cy="45720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Ballin's Figure 4: linear models against the nonlinear simulation in Gen Hel. The 2-DOF model has no volume dynamics, and tracks the others.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gas path, component by component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1–41, pdf pp.22–25; functions f1–f10 from Appendix A, pdf pp.56–65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10</a:t>
            </a:r>
          </a:p>
        </p:txBody>
      </p:sp>
      <p:graphicFrame>
        <p:nvGraphicFramePr>
          <p:cNvPr id="8" name="Table 7"/>
          <p:cNvGraphicFramePr>
            <a:graphicFrameLocks noGrp="1"/>
          </p:cNvGraphicFramePr>
          <p:nvPr/>
        </p:nvGraphicFramePr>
        <p:xfrm>
          <a:off x="502920" y="1325880"/>
          <a:ext cx="11185853" cy="3931920"/>
        </p:xfrm>
        <a:graphic>
          <a:graphicData uri="http://schemas.openxmlformats.org/drawingml/2006/table">
            <a:tbl>
              <a:tblPr firstRow="1">
                <a:tableStyleId>{5C22544A-7EE6-4342-B048-85BDC9FD1C3A}</a:tableStyleId>
              </a:tblPr>
              <a:tblGrid>
                <a:gridCol w="2017121"/>
                <a:gridCol w="6784862"/>
                <a:gridCol w="2383870"/>
              </a:tblGrid>
              <a:tr h="393192">
                <a:tc>
                  <a:txBody>
                    <a:bodyPr wrap="square"/>
                    <a:lstStyle/>
                    <a:p>
                      <a:pPr algn="l"/>
                      <a:r>
                        <a:rPr sz="1300" b="1" i="0">
                          <a:solidFill>
                            <a:srgbClr val="FFFFFF"/>
                          </a:solidFill>
                          <a:latin typeface="Calibri"/>
                        </a:rPr>
                        <a:t>Component</a:t>
                      </a:r>
                    </a:p>
                  </a:txBody>
                  <a:tcPr marL="54864" marR="54864" marT="22860" marB="22860" anchor="ctr">
                    <a:solidFill>
                      <a:srgbClr val="4D5563"/>
                    </a:solidFill>
                  </a:tcPr>
                </a:tc>
                <a:tc>
                  <a:txBody>
                    <a:bodyPr wrap="square"/>
                    <a:lstStyle/>
                    <a:p>
                      <a:pPr algn="l"/>
                      <a:r>
                        <a:rPr sz="1300" b="1" i="0">
                          <a:solidFill>
                            <a:srgbClr val="FFFFFF"/>
                          </a:solidFill>
                          <a:latin typeface="Calibri"/>
                        </a:rPr>
                        <a:t>What the model computes</a:t>
                      </a:r>
                    </a:p>
                  </a:txBody>
                  <a:tcPr marL="54864" marR="54864" marT="22860" marB="22860" anchor="ctr">
                    <a:solidFill>
                      <a:srgbClr val="4D5563"/>
                    </a:solidFill>
                  </a:tcPr>
                </a:tc>
                <a:tc>
                  <a:txBody>
                    <a:bodyPr wrap="square"/>
                    <a:lstStyle/>
                    <a:p>
                      <a:pPr algn="l"/>
                      <a:r>
                        <a:rPr sz="1300" b="1" i="0">
                          <a:solidFill>
                            <a:srgbClr val="FFFFFF"/>
                          </a:solidFill>
                          <a:latin typeface="Calibri"/>
                        </a:rPr>
                        <a:t>Report function (plot)</a:t>
                      </a:r>
                    </a:p>
                  </a:txBody>
                  <a:tcPr marL="54864" marR="54864" marT="22860" marB="22860" anchor="ctr">
                    <a:solidFill>
                      <a:srgbClr val="4D5563"/>
                    </a:solidFill>
                  </a:tcPr>
                </a:tc>
              </a:tr>
              <a:tr h="393192">
                <a:tc>
                  <a:txBody>
                    <a:bodyPr wrap="square"/>
                    <a:lstStyle/>
                    <a:p>
                      <a:pPr algn="l"/>
                      <a:r>
                        <a:rPr sz="1300" b="1" i="0">
                          <a:solidFill>
                            <a:srgbClr val="14171C"/>
                          </a:solidFill>
                          <a:latin typeface="Calibri"/>
                        </a:rPr>
                        <a:t>Inlet</a:t>
                      </a:r>
                    </a:p>
                  </a:txBody>
                  <a:tcPr marL="54864" marR="54864" marT="22860" marB="22860" anchor="ctr">
                    <a:solidFill>
                      <a:srgbClr val="FFFFFF"/>
                    </a:solidFill>
                  </a:tcPr>
                </a:tc>
                <a:tc>
                  <a:txBody>
                    <a:bodyPr wrap="square"/>
                    <a:lstStyle/>
                    <a:p>
                      <a:pPr algn="l"/>
                      <a:r>
                        <a:rPr sz="1300" b="0" i="0">
                          <a:solidFill>
                            <a:srgbClr val="14171C"/>
                          </a:solidFill>
                          <a:latin typeface="Calibri"/>
                        </a:rPr>
                        <a:t>station 2 pressure and temperature from ambient</a:t>
                      </a:r>
                    </a:p>
                  </a:txBody>
                  <a:tcPr marL="54864" marR="54864" marT="22860" marB="22860" anchor="ctr">
                    <a:solidFill>
                      <a:srgbClr val="FFFFFF"/>
                    </a:solidFill>
                  </a:tcPr>
                </a:tc>
                <a:tc>
                  <a:txBody>
                    <a:bodyPr wrap="square"/>
                    <a:lstStyle/>
                    <a:p>
                      <a:pPr algn="l"/>
                      <a:r>
                        <a:rPr sz="1300" b="0" i="0">
                          <a:solidFill>
                            <a:srgbClr val="14171C"/>
                          </a:solidFill>
                          <a:latin typeface="Calibri"/>
                        </a:rPr>
                        <a:t>—</a:t>
                      </a:r>
                    </a:p>
                  </a:txBody>
                  <a:tcPr marL="54864" marR="54864" marT="22860" marB="22860" anchor="ctr">
                    <a:solidFill>
                      <a:srgbClr val="FFFFFF"/>
                    </a:solidFill>
                  </a:tcPr>
                </a:tc>
              </a:tr>
              <a:tr h="393192">
                <a:tc>
                  <a:txBody>
                    <a:bodyPr wrap="square"/>
                    <a:lstStyle/>
                    <a:p>
                      <a:pPr algn="l"/>
                      <a:r>
                        <a:rPr sz="1300" b="1" i="0">
                          <a:solidFill>
                            <a:srgbClr val="14171C"/>
                          </a:solidFill>
                          <a:latin typeface="Calibri"/>
                        </a:rPr>
                        <a:t>Compressor</a:t>
                      </a:r>
                    </a:p>
                  </a:txBody>
                  <a:tcPr marL="54864" marR="54864" marT="22860" marB="22860" anchor="ctr">
                    <a:solidFill>
                      <a:srgbClr val="F2F3F5"/>
                    </a:solidFill>
                  </a:tcPr>
                </a:tc>
                <a:tc>
                  <a:txBody>
                    <a:bodyPr wrap="square"/>
                    <a:lstStyle/>
                    <a:p>
                      <a:pPr algn="l"/>
                      <a:r>
                        <a:rPr sz="1300" b="0" i="0">
                          <a:solidFill>
                            <a:srgbClr val="14171C"/>
                          </a:solidFill>
                          <a:latin typeface="Calibri"/>
                        </a:rPr>
                        <a:t>corrected airflow from the map, against Ps3/P2 and corrected speed; exit temperature</a:t>
                      </a:r>
                    </a:p>
                  </a:txBody>
                  <a:tcPr marL="54864" marR="54864" marT="22860" marB="22860" anchor="ctr">
                    <a:solidFill>
                      <a:srgbClr val="F2F3F5"/>
                    </a:solidFill>
                  </a:tcPr>
                </a:tc>
                <a:tc>
                  <a:txBody>
                    <a:bodyPr wrap="square"/>
                    <a:lstStyle/>
                    <a:p>
                      <a:pPr algn="l"/>
                      <a:r>
                        <a:rPr sz="1300" b="0" i="0">
                          <a:solidFill>
                            <a:srgbClr val="14171C"/>
                          </a:solidFill>
                          <a:latin typeface="Calibri"/>
                        </a:rPr>
                        <a:t>f1 (Fig. A1), f2 (A2)</a:t>
                      </a:r>
                    </a:p>
                  </a:txBody>
                  <a:tcPr marL="54864" marR="54864" marT="22860" marB="22860" anchor="ctr">
                    <a:solidFill>
                      <a:srgbClr val="F2F3F5"/>
                    </a:solidFill>
                  </a:tcPr>
                </a:tc>
              </a:tr>
              <a:tr h="393192">
                <a:tc>
                  <a:txBody>
                    <a:bodyPr wrap="square"/>
                    <a:lstStyle/>
                    <a:p>
                      <a:pPr algn="l"/>
                      <a:r>
                        <a:rPr sz="1300" b="1" i="0">
                          <a:solidFill>
                            <a:srgbClr val="14171C"/>
                          </a:solidFill>
                          <a:latin typeface="Calibri"/>
                        </a:rPr>
                        <a:t>Bleeds</a:t>
                      </a:r>
                    </a:p>
                  </a:txBody>
                  <a:tcPr marL="54864" marR="54864" marT="22860" marB="22860" anchor="ctr">
                    <a:solidFill>
                      <a:srgbClr val="FFFFFF"/>
                    </a:solidFill>
                  </a:tcPr>
                </a:tc>
                <a:tc>
                  <a:txBody>
                    <a:bodyPr wrap="square"/>
                    <a:lstStyle/>
                    <a:p>
                      <a:pPr algn="l"/>
                      <a:r>
                        <a:rPr sz="1300" b="0" i="0">
                          <a:solidFill>
                            <a:srgbClr val="14171C"/>
                          </a:solidFill>
                          <a:latin typeface="Calibri"/>
                        </a:rPr>
                        <a:t>seal pressurization and power-turbine balance (stage 4); impeller-tip leakage and turbine cooling (diffuser)</a:t>
                      </a:r>
                    </a:p>
                  </a:txBody>
                  <a:tcPr marL="54864" marR="54864" marT="22860" marB="22860" anchor="ctr">
                    <a:solidFill>
                      <a:srgbClr val="FFFFFF"/>
                    </a:solidFill>
                  </a:tcPr>
                </a:tc>
                <a:tc>
                  <a:txBody>
                    <a:bodyPr wrap="square"/>
                    <a:lstStyle/>
                    <a:p>
                      <a:pPr algn="l"/>
                      <a:r>
                        <a:rPr sz="1300" b="0" i="0">
                          <a:solidFill>
                            <a:srgbClr val="14171C"/>
                          </a:solidFill>
                          <a:latin typeface="Calibri"/>
                        </a:rPr>
                        <a:t>f3, f4, f5 (A3–A5)</a:t>
                      </a:r>
                    </a:p>
                  </a:txBody>
                  <a:tcPr marL="54864" marR="54864" marT="22860" marB="22860" anchor="ctr">
                    <a:solidFill>
                      <a:srgbClr val="FFFFFF"/>
                    </a:solidFill>
                  </a:tcPr>
                </a:tc>
              </a:tr>
              <a:tr h="393192">
                <a:tc>
                  <a:txBody>
                    <a:bodyPr wrap="square"/>
                    <a:lstStyle/>
                    <a:p>
                      <a:pPr algn="l"/>
                      <a:r>
                        <a:rPr sz="1300" b="1" i="0">
                          <a:solidFill>
                            <a:srgbClr val="14171C"/>
                          </a:solidFill>
                          <a:latin typeface="Calibri"/>
                        </a:rPr>
                        <a:t>Combustor</a:t>
                      </a:r>
                    </a:p>
                  </a:txBody>
                  <a:tcPr marL="54864" marR="54864" marT="22860" marB="22860" anchor="ctr">
                    <a:solidFill>
                      <a:srgbClr val="F2F3F5"/>
                    </a:solidFill>
                  </a:tcPr>
                </a:tc>
                <a:tc>
                  <a:txBody>
                    <a:bodyPr wrap="square"/>
                    <a:lstStyle/>
                    <a:p>
                      <a:pPr algn="l"/>
                      <a:r>
                        <a:rPr sz="1300" b="0" i="0">
                          <a:solidFill>
                            <a:srgbClr val="14171C"/>
                          </a:solidFill>
                          <a:latin typeface="Calibri"/>
                        </a:rPr>
                        <a:t>efficiency, exit temperature T41, pressure drop</a:t>
                      </a:r>
                    </a:p>
                  </a:txBody>
                  <a:tcPr marL="54864" marR="54864" marT="22860" marB="22860" anchor="ctr">
                    <a:solidFill>
                      <a:srgbClr val="F2F3F5"/>
                    </a:solidFill>
                  </a:tcPr>
                </a:tc>
                <a:tc>
                  <a:txBody>
                    <a:bodyPr wrap="square"/>
                    <a:lstStyle/>
                    <a:p>
                      <a:pPr algn="l"/>
                      <a:r>
                        <a:rPr sz="1300" b="0" i="0">
                          <a:solidFill>
                            <a:srgbClr val="14171C"/>
                          </a:solidFill>
                          <a:latin typeface="Calibri"/>
                        </a:rPr>
                        <a:t>f6 (A6)</a:t>
                      </a:r>
                    </a:p>
                  </a:txBody>
                  <a:tcPr marL="54864" marR="54864" marT="22860" marB="22860" anchor="ctr">
                    <a:solidFill>
                      <a:srgbClr val="F2F3F5"/>
                    </a:solidFill>
                  </a:tcPr>
                </a:tc>
              </a:tr>
              <a:tr h="393192">
                <a:tc>
                  <a:txBody>
                    <a:bodyPr wrap="square"/>
                    <a:lstStyle/>
                    <a:p>
                      <a:pPr algn="l"/>
                      <a:r>
                        <a:rPr sz="1300" b="1" i="0">
                          <a:solidFill>
                            <a:srgbClr val="14171C"/>
                          </a:solidFill>
                          <a:latin typeface="Calibri"/>
                        </a:rPr>
                        <a:t>Gas-generator turbine</a:t>
                      </a:r>
                    </a:p>
                  </a:txBody>
                  <a:tcPr marL="54864" marR="54864" marT="22860" marB="22860" anchor="ctr">
                    <a:solidFill>
                      <a:srgbClr val="FFFFFF"/>
                    </a:solidFill>
                  </a:tcPr>
                </a:tc>
                <a:tc>
                  <a:txBody>
                    <a:bodyPr wrap="square"/>
                    <a:lstStyle/>
                    <a:p>
                      <a:pPr algn="l"/>
                      <a:r>
                        <a:rPr sz="1300" b="0" i="0">
                          <a:solidFill>
                            <a:srgbClr val="14171C"/>
                          </a:solidFill>
                          <a:latin typeface="Calibri"/>
                        </a:rPr>
                        <a:t>enthalpy drop against P45/P41; choked flow W41</a:t>
                      </a:r>
                    </a:p>
                  </a:txBody>
                  <a:tcPr marL="54864" marR="54864" marT="22860" marB="22860" anchor="ctr">
                    <a:solidFill>
                      <a:srgbClr val="FFFFFF"/>
                    </a:solidFill>
                  </a:tcPr>
                </a:tc>
                <a:tc>
                  <a:txBody>
                    <a:bodyPr wrap="square"/>
                    <a:lstStyle/>
                    <a:p>
                      <a:pPr algn="l"/>
                      <a:r>
                        <a:rPr sz="1300" b="0" i="0">
                          <a:solidFill>
                            <a:srgbClr val="14171C"/>
                          </a:solidFill>
                          <a:latin typeface="Calibri"/>
                        </a:rPr>
                        <a:t>f7 (A7)</a:t>
                      </a:r>
                    </a:p>
                  </a:txBody>
                  <a:tcPr marL="54864" marR="54864" marT="22860" marB="22860" anchor="ctr">
                    <a:solidFill>
                      <a:srgbClr val="FFFFFF"/>
                    </a:solidFill>
                  </a:tcPr>
                </a:tc>
              </a:tr>
              <a:tr h="393192">
                <a:tc>
                  <a:txBody>
                    <a:bodyPr wrap="square"/>
                    <a:lstStyle/>
                    <a:p>
                      <a:pPr algn="l"/>
                      <a:r>
                        <a:rPr sz="1300" b="1" i="0">
                          <a:solidFill>
                            <a:srgbClr val="14171C"/>
                          </a:solidFill>
                          <a:latin typeface="Calibri"/>
                        </a:rPr>
                        <a:t>Station 4.5</a:t>
                      </a:r>
                    </a:p>
                  </a:txBody>
                  <a:tcPr marL="54864" marR="54864" marT="22860" marB="22860" anchor="ctr">
                    <a:solidFill>
                      <a:srgbClr val="F2F3F5"/>
                    </a:solidFill>
                  </a:tcPr>
                </a:tc>
                <a:tc>
                  <a:txBody>
                    <a:bodyPr wrap="square"/>
                    <a:lstStyle/>
                    <a:p>
                      <a:pPr algn="l"/>
                      <a:r>
                        <a:rPr sz="1300" b="0" i="0">
                          <a:solidFill>
                            <a:srgbClr val="14171C"/>
                          </a:solidFill>
                          <a:latin typeface="Calibri"/>
                        </a:rPr>
                        <a:t>turbine cooling air mixed back in</a:t>
                      </a:r>
                    </a:p>
                  </a:txBody>
                  <a:tcPr marL="54864" marR="54864" marT="22860" marB="22860" anchor="ctr">
                    <a:solidFill>
                      <a:srgbClr val="F2F3F5"/>
                    </a:solidFill>
                  </a:tcPr>
                </a:tc>
                <a:tc>
                  <a:txBody>
                    <a:bodyPr wrap="square"/>
                    <a:lstStyle/>
                    <a:p>
                      <a:pPr algn="l"/>
                      <a:r>
                        <a:rPr sz="1300" b="0" i="0">
                          <a:solidFill>
                            <a:srgbClr val="14171C"/>
                          </a:solidFill>
                          <a:latin typeface="Calibri"/>
                        </a:rPr>
                        <a:t>—</a:t>
                      </a:r>
                    </a:p>
                  </a:txBody>
                  <a:tcPr marL="54864" marR="54864" marT="22860" marB="22860" anchor="ctr">
                    <a:solidFill>
                      <a:srgbClr val="F2F3F5"/>
                    </a:solidFill>
                  </a:tcPr>
                </a:tc>
              </a:tr>
              <a:tr h="393192">
                <a:tc>
                  <a:txBody>
                    <a:bodyPr wrap="square"/>
                    <a:lstStyle/>
                    <a:p>
                      <a:pPr algn="l"/>
                      <a:r>
                        <a:rPr sz="1300" b="1" i="0">
                          <a:solidFill>
                            <a:srgbClr val="14171C"/>
                          </a:solidFill>
                          <a:latin typeface="Calibri"/>
                        </a:rPr>
                        <a:t>Power turbine</a:t>
                      </a:r>
                    </a:p>
                  </a:txBody>
                  <a:tcPr marL="54864" marR="54864" marT="22860" marB="22860" anchor="ctr">
                    <a:solidFill>
                      <a:srgbClr val="FFFFFF"/>
                    </a:solidFill>
                  </a:tcPr>
                </a:tc>
                <a:tc>
                  <a:txBody>
                    <a:bodyPr wrap="square"/>
                    <a:lstStyle/>
                    <a:p>
                      <a:pPr algn="l"/>
                      <a:r>
                        <a:rPr sz="1300" b="0" i="0">
                          <a:solidFill>
                            <a:srgbClr val="14171C"/>
                          </a:solidFill>
                          <a:latin typeface="Calibri"/>
                        </a:rPr>
                        <a:t>enthalpy drop against P49/P45; flow against Ps9/P45</a:t>
                      </a:r>
                    </a:p>
                  </a:txBody>
                  <a:tcPr marL="54864" marR="54864" marT="22860" marB="22860" anchor="ctr">
                    <a:solidFill>
                      <a:srgbClr val="FFFFFF"/>
                    </a:solidFill>
                  </a:tcPr>
                </a:tc>
                <a:tc>
                  <a:txBody>
                    <a:bodyPr wrap="square"/>
                    <a:lstStyle/>
                    <a:p>
                      <a:pPr algn="l"/>
                      <a:r>
                        <a:rPr sz="1300" b="0" i="0">
                          <a:solidFill>
                            <a:srgbClr val="14171C"/>
                          </a:solidFill>
                          <a:latin typeface="Calibri"/>
                        </a:rPr>
                        <a:t>f8, f9 (A8, A9)</a:t>
                      </a:r>
                    </a:p>
                  </a:txBody>
                  <a:tcPr marL="54864" marR="54864" marT="22860" marB="22860" anchor="ctr">
                    <a:solidFill>
                      <a:srgbClr val="FFFFFF"/>
                    </a:solidFill>
                  </a:tcPr>
                </a:tc>
              </a:tr>
              <a:tr h="393192">
                <a:tc>
                  <a:txBody>
                    <a:bodyPr wrap="square"/>
                    <a:lstStyle/>
                    <a:p>
                      <a:pPr algn="l"/>
                      <a:r>
                        <a:rPr sz="1300" b="1" i="0">
                          <a:solidFill>
                            <a:srgbClr val="14171C"/>
                          </a:solidFill>
                          <a:latin typeface="Calibri"/>
                        </a:rPr>
                        <a:t>Exhaust</a:t>
                      </a:r>
                    </a:p>
                  </a:txBody>
                  <a:tcPr marL="54864" marR="54864" marT="22860" marB="22860" anchor="ctr">
                    <a:solidFill>
                      <a:srgbClr val="F2F3F5"/>
                    </a:solidFill>
                  </a:tcPr>
                </a:tc>
                <a:tc>
                  <a:txBody>
                    <a:bodyPr wrap="square"/>
                    <a:lstStyle/>
                    <a:p>
                      <a:pPr algn="l"/>
                      <a:r>
                        <a:rPr sz="1300" b="0" i="0">
                          <a:solidFill>
                            <a:srgbClr val="14171C"/>
                          </a:solidFill>
                          <a:latin typeface="Calibri"/>
                        </a:rPr>
                        <a:t>pressure loss against corrected speed</a:t>
                      </a:r>
                    </a:p>
                  </a:txBody>
                  <a:tcPr marL="54864" marR="54864" marT="22860" marB="22860" anchor="ctr">
                    <a:solidFill>
                      <a:srgbClr val="F2F3F5"/>
                    </a:solidFill>
                  </a:tcPr>
                </a:tc>
                <a:tc>
                  <a:txBody>
                    <a:bodyPr wrap="square"/>
                    <a:lstStyle/>
                    <a:p>
                      <a:pPr algn="l"/>
                      <a:r>
                        <a:rPr sz="1300" b="0" i="0">
                          <a:solidFill>
                            <a:srgbClr val="14171C"/>
                          </a:solidFill>
                          <a:latin typeface="Calibri"/>
                        </a:rPr>
                        <a:t>f10 (A10)</a:t>
                      </a:r>
                    </a:p>
                  </a:txBody>
                  <a:tcPr marL="54864" marR="54864" marT="22860" marB="22860" anchor="ctr">
                    <a:solidFill>
                      <a:srgbClr val="F2F3F5"/>
                    </a:solidFill>
                  </a:tcPr>
                </a:tc>
              </a:tr>
              <a:tr h="393192">
                <a:tc>
                  <a:txBody>
                    <a:bodyPr wrap="square"/>
                    <a:lstStyle/>
                    <a:p>
                      <a:pPr algn="l"/>
                      <a:r>
                        <a:rPr sz="1300" b="1" i="0">
                          <a:solidFill>
                            <a:srgbClr val="14171C"/>
                          </a:solidFill>
                          <a:latin typeface="Calibri"/>
                        </a:rPr>
                        <a:t>Torques</a:t>
                      </a:r>
                    </a:p>
                  </a:txBody>
                  <a:tcPr marL="54864" marR="54864" marT="22860" marB="22860" anchor="ctr">
                    <a:solidFill>
                      <a:srgbClr val="FFFFFF"/>
                    </a:solidFill>
                  </a:tcPr>
                </a:tc>
                <a:tc>
                  <a:txBody>
                    <a:bodyPr wrap="square"/>
                    <a:lstStyle/>
                    <a:p>
                      <a:pPr algn="l"/>
                      <a:r>
                        <a:rPr sz="1300" b="0" i="0">
                          <a:solidFill>
                            <a:srgbClr val="14171C"/>
                          </a:solidFill>
                          <a:latin typeface="Calibri"/>
                        </a:rPr>
                        <a:t>compressor, gas-generator turbine, power turbine (with a speed-damping term)</a:t>
                      </a:r>
                    </a:p>
                  </a:txBody>
                  <a:tcPr marL="54864" marR="54864" marT="22860" marB="22860" anchor="ctr">
                    <a:solidFill>
                      <a:srgbClr val="FFFFFF"/>
                    </a:solidFill>
                  </a:tcPr>
                </a:tc>
                <a:tc>
                  <a:txBody>
                    <a:bodyPr wrap="square"/>
                    <a:lstStyle/>
                    <a:p>
                      <a:pPr algn="l"/>
                      <a:r>
                        <a:rPr sz="1300" b="0" i="0">
                          <a:solidFill>
                            <a:srgbClr val="14171C"/>
                          </a:solidFill>
                          <a:latin typeface="Calibri"/>
                        </a:rPr>
                        <a:t>—</a:t>
                      </a:r>
                    </a:p>
                  </a:txBody>
                  <a:tcPr marL="54864" marR="54864" marT="22860" marB="22860" anchor="ctr">
                    <a:solidFill>
                      <a:srgbClr val="FFFFFF"/>
                    </a:solidFill>
                  </a:tcPr>
                </a:tc>
              </a:tr>
            </a:tbl>
          </a:graphicData>
        </a:graphic>
      </p:graphicFrame>
      <p:sp>
        <p:nvSpPr>
          <p:cNvPr id="9" name="TextBox 8"/>
          <p:cNvSpPr txBox="1"/>
          <p:nvPr/>
        </p:nvSpPr>
        <p:spPr>
          <a:xfrm>
            <a:off x="502920" y="5486400"/>
            <a:ext cx="11185855" cy="64008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4D5563"/>
                </a:solidFill>
                <a:latin typeface="Calibri"/>
              </a:rPr>
              <a:t>Gas properties come from the report's own straight-line enthalpy–temperature fits (Table A.1; next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How the energy is carried: Ballin's thermodynamics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3–41, pdf pp.22–25; constants Table A.1, pdf p.55; trim Table B.1, pdf p.67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11</a:t>
            </a:r>
          </a:p>
        </p:txBody>
      </p:sp>
      <p:pic>
        <p:nvPicPr>
          <p:cNvPr id="8" name="Picture 7" descr="energy-chain.png"/>
          <p:cNvPicPr>
            <a:picLocks noChangeAspect="1"/>
          </p:cNvPicPr>
          <p:nvPr/>
        </p:nvPicPr>
        <p:blipFill>
          <a:blip r:embed="rId2"/>
          <a:stretch>
            <a:fillRect/>
          </a:stretch>
        </p:blipFill>
        <p:spPr>
          <a:xfrm>
            <a:off x="502920" y="1261872"/>
            <a:ext cx="6812280" cy="4392576"/>
          </a:xfrm>
          <a:prstGeom prst="rect">
            <a:avLst/>
          </a:prstGeom>
        </p:spPr>
      </p:pic>
      <p:sp>
        <p:nvSpPr>
          <p:cNvPr id="9" name="TextBox 8"/>
          <p:cNvSpPr txBox="1"/>
          <p:nvPr/>
        </p:nvSpPr>
        <p:spPr>
          <a:xfrm>
            <a:off x="7498080" y="1280160"/>
            <a:ext cx="4190695"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1" i="0">
                <a:solidFill>
                  <a:srgbClr val="14171C"/>
                </a:solidFill>
                <a:latin typeface="Calibri"/>
              </a:rPr>
              <a:t>No gas tables.</a:t>
            </a:r>
            <a:r>
              <a:rPr sz="1400" b="0" i="0">
                <a:solidFill>
                  <a:srgbClr val="14171C"/>
                </a:solidFill>
                <a:latin typeface="Calibri"/>
              </a:rPr>
              <a:t> At each station, enthalpy is a straight line in temperature: a fixed specific heat, 0.239 to 0.301 Btu/lbm·°R.</a:t>
            </a:r>
          </a:p>
          <a:p>
            <a:pPr marL="201168" indent="-201168">
              <a:lnSpc>
                <a:spcPct val="105000"/>
              </a:lnSpc>
              <a:spcBef>
                <a:spcPts val="900"/>
              </a:spcBef>
              <a:buFont typeface="Arial"/>
              <a:buChar char="•"/>
            </a:pPr>
            <a:r>
              <a:rPr sz="1400" b="1" i="0">
                <a:solidFill>
                  <a:srgbClr val="14171C"/>
                </a:solidFill>
                <a:latin typeface="Calibri"/>
              </a:rPr>
              <a:t>Compressor:</a:t>
            </a:r>
            <a:r>
              <a:rPr sz="1400" b="0" i="0">
                <a:solidFill>
                  <a:srgbClr val="14171C"/>
                </a:solidFill>
                <a:latin typeface="Calibri"/>
              </a:rPr>
              <a:t> exit temperature from pressure ratio alone (f2).</a:t>
            </a:r>
          </a:p>
          <a:p>
            <a:pPr marL="201168" indent="-201168">
              <a:lnSpc>
                <a:spcPct val="105000"/>
              </a:lnSpc>
              <a:spcBef>
                <a:spcPts val="900"/>
              </a:spcBef>
              <a:buFont typeface="Arial"/>
              <a:buChar char="•"/>
            </a:pPr>
            <a:r>
              <a:rPr sz="1400" b="1" i="0">
                <a:solidFill>
                  <a:srgbClr val="14171C"/>
                </a:solidFill>
                <a:latin typeface="Calibri"/>
              </a:rPr>
              <a:t>Turbines:</a:t>
            </a:r>
            <a:r>
              <a:rPr sz="1400" b="0" i="0">
                <a:solidFill>
                  <a:srgbClr val="14171C"/>
                </a:solidFill>
                <a:latin typeface="Calibri"/>
              </a:rPr>
              <a:t> enthalpy drop = θ × f(pressure ratio), θ a straight line in inlet temperature (f7, f8).</a:t>
            </a:r>
          </a:p>
          <a:p>
            <a:pPr marL="201168" indent="-201168">
              <a:lnSpc>
                <a:spcPct val="105000"/>
              </a:lnSpc>
              <a:spcBef>
                <a:spcPts val="900"/>
              </a:spcBef>
              <a:buFont typeface="Arial"/>
              <a:buChar char="•"/>
            </a:pPr>
            <a:r>
              <a:rPr sz="1400" b="0" i="0">
                <a:solidFill>
                  <a:srgbClr val="14171C"/>
                </a:solidFill>
                <a:latin typeface="Calibri"/>
              </a:rPr>
              <a:t>No efficiency maps: the efficiencies are built into f2, f7 and f8.</a:t>
            </a:r>
          </a:p>
          <a:p>
            <a:pPr marL="201168" indent="-201168">
              <a:lnSpc>
                <a:spcPct val="105000"/>
              </a:lnSpc>
              <a:spcBef>
                <a:spcPts val="900"/>
              </a:spcBef>
              <a:buFont typeface="Arial"/>
              <a:buChar char="•"/>
            </a:pPr>
            <a:r>
              <a:rPr sz="1400" b="1" i="0">
                <a:solidFill>
                  <a:srgbClr val="14171C"/>
                </a:solidFill>
                <a:latin typeface="Calibri"/>
              </a:rPr>
              <a:t>Combustor:</a:t>
            </a:r>
            <a:r>
              <a:rPr sz="1400" b="0" i="0">
                <a:solidFill>
                  <a:srgbClr val="14171C"/>
                </a:solidFill>
                <a:latin typeface="Calibri"/>
              </a:rPr>
              <a:t> fuel energy = 18,300 Btu/lbm × efficiency 0.985.</a:t>
            </a:r>
          </a:p>
          <a:p>
            <a:pPr marL="201168" indent="-201168">
              <a:lnSpc>
                <a:spcPct val="105000"/>
              </a:lnSpc>
              <a:spcBef>
                <a:spcPts val="900"/>
              </a:spcBef>
              <a:buFont typeface="Arial"/>
              <a:buChar char="•"/>
            </a:pPr>
            <a:r>
              <a:rPr sz="1400" b="1" i="0">
                <a:solidFill>
                  <a:srgbClr val="14171C"/>
                </a:solidFill>
                <a:latin typeface="Calibri"/>
              </a:rPr>
              <a:t>Cooling air</a:t>
            </a:r>
            <a:r>
              <a:rPr sz="1400" b="0" i="0">
                <a:solidFill>
                  <a:srgbClr val="14171C"/>
                </a:solidFill>
                <a:latin typeface="Calibri"/>
              </a:rPr>
              <a:t> returns as a fixed fraction: H45 = 0.9623·H44. At hover 1.5 % of the energy is lost, as printed.</a:t>
            </a:r>
          </a:p>
          <a:p>
            <a:pPr marL="201168" indent="-201168">
              <a:lnSpc>
                <a:spcPct val="105000"/>
              </a:lnSpc>
              <a:spcBef>
                <a:spcPts val="900"/>
              </a:spcBef>
              <a:buFont typeface="Arial"/>
              <a:buChar char="•"/>
            </a:pPr>
            <a:r>
              <a:rPr sz="1400" b="1" i="0">
                <a:solidFill>
                  <a:srgbClr val="14171C"/>
                </a:solidFill>
                <a:latin typeface="Calibri"/>
              </a:rPr>
              <a:t>Torque = power ÷ speed.</a:t>
            </a:r>
            <a:r>
              <a:rPr sz="1400" b="0" i="0">
                <a:solidFill>
                  <a:srgbClr val="14171C"/>
                </a:solidFill>
                <a:latin typeface="Calibri"/>
              </a:rPr>
              <a:t> At hover the compressor takes all 1,810 hp of the gas-generator turbine; the power turbine gives 911 hp (Table B.1: 911.1).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Volume dynamics: mass storage only</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42–44, pdf p.25; Eq. 73, pdf p.36; Table A.1, pdf p.55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12</a:t>
            </a:r>
          </a:p>
        </p:txBody>
      </p:sp>
      <p:sp>
        <p:nvSpPr>
          <p:cNvPr id="8" name="Rounded Rectangle 7"/>
          <p:cNvSpPr/>
          <p:nvPr/>
        </p:nvSpPr>
        <p:spPr>
          <a:xfrm>
            <a:off x="502920" y="1325880"/>
            <a:ext cx="11185855" cy="1323593"/>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90472"/>
            <a:ext cx="9448495" cy="994409"/>
          </a:xfrm>
          <a:prstGeom prst="rect">
            <a:avLst/>
          </a:prstGeom>
          <a:noFill/>
        </p:spPr>
        <p:txBody>
          <a:bodyPr wrap="square" anchor="t" lIns="36576" rIns="36576" tIns="27432" bIns="27432">
            <a:noAutofit/>
          </a:bodyPr>
          <a:lstStyle/>
          <a:p>
            <a:pPr>
              <a:lnSpc>
                <a:spcPct val="100000"/>
              </a:lnSpc>
              <a:spcBef>
                <a:spcPts val="0"/>
              </a:spcBef>
            </a:pPr>
            <a:r>
              <a:rPr sz="1800" b="0" i="0">
                <a:solidFill>
                  <a:srgbClr val="14171C"/>
                </a:solidFill>
                <a:latin typeface="Calibri"/>
              </a:rPr>
              <a:t>P3 = K</a:t>
            </a:r>
            <a:r>
              <a:rPr sz="1800" b="0" i="0" baseline="-25000">
                <a:solidFill>
                  <a:srgbClr val="14171C"/>
                </a:solidFill>
                <a:latin typeface="Calibri"/>
              </a:rPr>
              <a:t>V3</a:t>
            </a:r>
            <a:r>
              <a:rPr sz="1800" b="0" i="0">
                <a:solidFill>
                  <a:srgbClr val="14171C"/>
                </a:solidFill>
                <a:latin typeface="Calibri"/>
              </a:rPr>
              <a:t> ∫ T3 · (WA3 − WA3</a:t>
            </a:r>
            <a:r>
              <a:rPr sz="1800" b="0" i="0" baseline="-25000">
                <a:solidFill>
                  <a:srgbClr val="14171C"/>
                </a:solidFill>
                <a:latin typeface="Calibri"/>
              </a:rPr>
              <a:t>bl</a:t>
            </a:r>
            <a:r>
              <a:rPr sz="1800" b="0" i="0">
                <a:solidFill>
                  <a:srgbClr val="14171C"/>
                </a:solidFill>
                <a:latin typeface="Calibri"/>
              </a:rPr>
              <a:t> − WA31) dt</a:t>
            </a:r>
          </a:p>
          <a:p>
            <a:pPr>
              <a:lnSpc>
                <a:spcPct val="100000"/>
              </a:lnSpc>
              <a:spcBef>
                <a:spcPts val="400"/>
              </a:spcBef>
            </a:pPr>
            <a:r>
              <a:rPr sz="1800" b="0" i="0">
                <a:solidFill>
                  <a:srgbClr val="14171C"/>
                </a:solidFill>
                <a:latin typeface="Calibri"/>
              </a:rPr>
              <a:t>P41 = K</a:t>
            </a:r>
            <a:r>
              <a:rPr sz="1800" b="0" i="0" baseline="-25000">
                <a:solidFill>
                  <a:srgbClr val="14171C"/>
                </a:solidFill>
                <a:latin typeface="Calibri"/>
              </a:rPr>
              <a:t>V41</a:t>
            </a:r>
            <a:r>
              <a:rPr sz="1800" b="0" i="0">
                <a:solidFill>
                  <a:srgbClr val="14171C"/>
                </a:solidFill>
                <a:latin typeface="Calibri"/>
              </a:rPr>
              <a:t> ∫ T41 · (WA31 + W</a:t>
            </a:r>
            <a:r>
              <a:rPr sz="1800" b="0" i="0" baseline="-25000">
                <a:solidFill>
                  <a:srgbClr val="14171C"/>
                </a:solidFill>
                <a:latin typeface="Calibri"/>
              </a:rPr>
              <a:t>f</a:t>
            </a:r>
            <a:r>
              <a:rPr sz="1800" b="0" i="0">
                <a:solidFill>
                  <a:srgbClr val="14171C"/>
                </a:solidFill>
                <a:latin typeface="Calibri"/>
              </a:rPr>
              <a:t> − W41) dt</a:t>
            </a:r>
          </a:p>
          <a:p>
            <a:pPr>
              <a:lnSpc>
                <a:spcPct val="100000"/>
              </a:lnSpc>
              <a:spcBef>
                <a:spcPts val="400"/>
              </a:spcBef>
            </a:pPr>
            <a:r>
              <a:rPr sz="1800" b="0" i="0">
                <a:solidFill>
                  <a:srgbClr val="14171C"/>
                </a:solidFill>
                <a:latin typeface="Calibri"/>
              </a:rPr>
              <a:t>P45 = K</a:t>
            </a:r>
            <a:r>
              <a:rPr sz="1800" b="0" i="0" baseline="-25000">
                <a:solidFill>
                  <a:srgbClr val="14171C"/>
                </a:solidFill>
                <a:latin typeface="Calibri"/>
              </a:rPr>
              <a:t>V45</a:t>
            </a:r>
            <a:r>
              <a:rPr sz="1800" b="0" i="0">
                <a:solidFill>
                  <a:srgbClr val="14171C"/>
                </a:solidFill>
                <a:latin typeface="Calibri"/>
              </a:rPr>
              <a:t> ∫ T45 · (W41 − W45 + B</a:t>
            </a:r>
            <a:r>
              <a:rPr sz="1800" b="0" i="0" baseline="-25000">
                <a:solidFill>
                  <a:srgbClr val="14171C"/>
                </a:solidFill>
                <a:latin typeface="Calibri"/>
              </a:rPr>
              <a:t>3</a:t>
            </a:r>
            <a:r>
              <a:rPr sz="1800" b="0" i="0">
                <a:solidFill>
                  <a:srgbClr val="14171C"/>
                </a:solidFill>
                <a:latin typeface="Calibri"/>
              </a:rPr>
              <a:t> K</a:t>
            </a:r>
            <a:r>
              <a:rPr sz="1800" b="0" i="0" baseline="-25000">
                <a:solidFill>
                  <a:srgbClr val="14171C"/>
                </a:solidFill>
                <a:latin typeface="Calibri"/>
              </a:rPr>
              <a:t>bl</a:t>
            </a:r>
            <a:r>
              <a:rPr sz="1800" b="0" i="0">
                <a:solidFill>
                  <a:srgbClr val="14171C"/>
                </a:solidFill>
                <a:latin typeface="Calibri"/>
              </a:rPr>
              <a:t> WA2) dt</a:t>
            </a:r>
          </a:p>
        </p:txBody>
      </p:sp>
      <p:sp>
        <p:nvSpPr>
          <p:cNvPr id="10" name="TextBox 9"/>
          <p:cNvSpPr txBox="1"/>
          <p:nvPr/>
        </p:nvSpPr>
        <p:spPr>
          <a:xfrm>
            <a:off x="10225735" y="1490472"/>
            <a:ext cx="1234440" cy="994409"/>
          </a:xfrm>
          <a:prstGeom prst="rect">
            <a:avLst/>
          </a:prstGeom>
          <a:noFill/>
        </p:spPr>
        <p:txBody>
          <a:bodyPr wrap="square" anchor="t" lIns="36576" rIns="36576" tIns="27432" bIns="27432">
            <a:noAutofit/>
          </a:bodyPr>
          <a:lstStyle/>
          <a:p>
            <a:pPr algn="r">
              <a:lnSpc>
                <a:spcPct val="100000"/>
              </a:lnSpc>
              <a:spcBef>
                <a:spcPts val="0"/>
              </a:spcBef>
            </a:pPr>
            <a:r>
              <a:rPr sz="1800" b="0" i="0">
                <a:solidFill>
                  <a:srgbClr val="4D5563"/>
                </a:solidFill>
                <a:latin typeface="Calibri"/>
              </a:rPr>
              <a:t>(42)</a:t>
            </a:r>
          </a:p>
          <a:p>
            <a:pPr algn="r">
              <a:lnSpc>
                <a:spcPct val="100000"/>
              </a:lnSpc>
              <a:spcBef>
                <a:spcPts val="400"/>
              </a:spcBef>
            </a:pPr>
            <a:r>
              <a:rPr sz="1800" b="0" i="0">
                <a:solidFill>
                  <a:srgbClr val="4D5563"/>
                </a:solidFill>
                <a:latin typeface="Calibri"/>
              </a:rPr>
              <a:t>(43)</a:t>
            </a:r>
          </a:p>
          <a:p>
            <a:pPr algn="r">
              <a:lnSpc>
                <a:spcPct val="100000"/>
              </a:lnSpc>
              <a:spcBef>
                <a:spcPts val="400"/>
              </a:spcBef>
            </a:pPr>
            <a:r>
              <a:rPr sz="1800" b="0" i="0">
                <a:solidFill>
                  <a:srgbClr val="4D5563"/>
                </a:solidFill>
                <a:latin typeface="Calibri"/>
              </a:rPr>
              <a:t>(44)</a:t>
            </a:r>
          </a:p>
        </p:txBody>
      </p:sp>
      <p:sp>
        <p:nvSpPr>
          <p:cNvPr id="11" name="TextBox 10"/>
          <p:cNvSpPr txBox="1"/>
          <p:nvPr/>
        </p:nvSpPr>
        <p:spPr>
          <a:xfrm>
            <a:off x="502920" y="2832354"/>
            <a:ext cx="11185855" cy="329184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600" b="0" i="0">
                <a:solidFill>
                  <a:srgbClr val="14171C"/>
                </a:solidFill>
                <a:latin typeface="Calibri"/>
              </a:rPr>
              <a:t>“Conservation of mass is applied to determine intervolume pressure dynamics for stations 3, 4.1, and 4.5” [pdf p.25].</a:t>
            </a:r>
          </a:p>
          <a:p>
            <a:pPr marL="201168" indent="-201168">
              <a:lnSpc>
                <a:spcPct val="105000"/>
              </a:lnSpc>
              <a:spcBef>
                <a:spcPts val="800"/>
              </a:spcBef>
              <a:buFont typeface="Arial"/>
              <a:buChar char="•"/>
            </a:pPr>
            <a:r>
              <a:rPr sz="1600" b="0" i="0">
                <a:solidFill>
                  <a:srgbClr val="14171C"/>
                </a:solidFill>
                <a:latin typeface="Calibri"/>
              </a:rPr>
              <a:t>Each pressure integrates the net mass flow into its volume, scaled by the gas temperature there. K</a:t>
            </a:r>
            <a:r>
              <a:rPr sz="1600" b="0" i="0" baseline="-25000">
                <a:solidFill>
                  <a:srgbClr val="14171C"/>
                </a:solidFill>
                <a:latin typeface="Calibri"/>
              </a:rPr>
              <a:t>V3</a:t>
            </a:r>
            <a:r>
              <a:rPr sz="1600" b="0" i="0">
                <a:solidFill>
                  <a:srgbClr val="14171C"/>
                </a:solidFill>
                <a:latin typeface="Calibri"/>
              </a:rPr>
              <a:t> = 0.97, K</a:t>
            </a:r>
            <a:r>
              <a:rPr sz="1600" b="0" i="0" baseline="-25000">
                <a:solidFill>
                  <a:srgbClr val="14171C"/>
                </a:solidFill>
                <a:latin typeface="Calibri"/>
              </a:rPr>
              <a:t>V41</a:t>
            </a:r>
            <a:r>
              <a:rPr sz="1600" b="0" i="0">
                <a:solidFill>
                  <a:srgbClr val="14171C"/>
                </a:solidFill>
                <a:latin typeface="Calibri"/>
              </a:rPr>
              <a:t> = 6.17, K</a:t>
            </a:r>
            <a:r>
              <a:rPr sz="1600" b="0" i="0" baseline="-25000">
                <a:solidFill>
                  <a:srgbClr val="14171C"/>
                </a:solidFill>
                <a:latin typeface="Calibri"/>
              </a:rPr>
              <a:t>V45</a:t>
            </a:r>
            <a:r>
              <a:rPr sz="1600" b="0" i="0">
                <a:solidFill>
                  <a:srgbClr val="14171C"/>
                </a:solidFill>
                <a:latin typeface="Calibri"/>
              </a:rPr>
              <a:t> = 13.63: empirical constants; the report gives no volumes.</a:t>
            </a:r>
          </a:p>
          <a:p>
            <a:pPr marL="201168" indent="-201168">
              <a:lnSpc>
                <a:spcPct val="105000"/>
              </a:lnSpc>
              <a:spcBef>
                <a:spcPts val="800"/>
              </a:spcBef>
              <a:buFont typeface="Arial"/>
              <a:buChar char="•"/>
            </a:pPr>
            <a:r>
              <a:rPr sz="1600" b="1" i="0">
                <a:solidFill>
                  <a:srgbClr val="14171C"/>
                </a:solidFill>
                <a:latin typeface="Calibri"/>
              </a:rPr>
              <a:t>Limitation:</a:t>
            </a:r>
            <a:r>
              <a:rPr sz="1600" b="0" i="0">
                <a:solidFill>
                  <a:srgbClr val="14171C"/>
                </a:solidFill>
                <a:latin typeface="Calibri"/>
              </a:rPr>
              <a:t> there is no energy equation for the volumes. Their temperature is set by the component upstream, so a volume stores mass but not energy.</a:t>
            </a:r>
          </a:p>
          <a:p>
            <a:pPr marL="201168" indent="-201168">
              <a:lnSpc>
                <a:spcPct val="105000"/>
              </a:lnSpc>
              <a:spcBef>
                <a:spcPts val="800"/>
              </a:spcBef>
              <a:buFont typeface="Arial"/>
              <a:buChar char="•"/>
            </a:pPr>
            <a:r>
              <a:rPr sz="1600" b="0" i="0">
                <a:solidFill>
                  <a:srgbClr val="14171C"/>
                </a:solidFill>
                <a:latin typeface="Calibri"/>
              </a:rPr>
              <a:t>In the real-time model these three are set to zero and solved, not integrated.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Spool dynamics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45–47 and Table A.1, pdf pp.25, 55; Appendix B, pdf pp.68–76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13</a:t>
            </a:r>
          </a:p>
        </p:txBody>
      </p:sp>
      <p:sp>
        <p:nvSpPr>
          <p:cNvPr id="8" name="Rounded Rectangle 7"/>
          <p:cNvSpPr/>
          <p:nvPr/>
        </p:nvSpPr>
        <p:spPr>
          <a:xfrm>
            <a:off x="502920" y="1325880"/>
            <a:ext cx="11185855" cy="992124"/>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90472"/>
            <a:ext cx="9448495" cy="662940"/>
          </a:xfrm>
          <a:prstGeom prst="rect">
            <a:avLst/>
          </a:prstGeom>
          <a:noFill/>
        </p:spPr>
        <p:txBody>
          <a:bodyPr wrap="square" anchor="t" lIns="36576" rIns="36576" tIns="27432" bIns="27432">
            <a:noAutofit/>
          </a:bodyPr>
          <a:lstStyle/>
          <a:p>
            <a:pPr>
              <a:lnSpc>
                <a:spcPct val="100000"/>
              </a:lnSpc>
              <a:spcBef>
                <a:spcPts val="0"/>
              </a:spcBef>
            </a:pPr>
            <a:r>
              <a:rPr sz="1800" b="0" i="0">
                <a:solidFill>
                  <a:srgbClr val="14171C"/>
                </a:solidFill>
                <a:latin typeface="Calibri"/>
              </a:rPr>
              <a:t>NG = (60/2π) ∫ (Q</a:t>
            </a:r>
            <a:r>
              <a:rPr sz="1800" b="0" i="0" baseline="-25000">
                <a:solidFill>
                  <a:srgbClr val="14171C"/>
                </a:solidFill>
                <a:latin typeface="Calibri"/>
              </a:rPr>
              <a:t>GT</a:t>
            </a:r>
            <a:r>
              <a:rPr sz="1800" b="0" i="0">
                <a:solidFill>
                  <a:srgbClr val="14171C"/>
                </a:solidFill>
                <a:latin typeface="Calibri"/>
              </a:rPr>
              <a:t> − Q</a:t>
            </a:r>
            <a:r>
              <a:rPr sz="1800" b="0" i="0" baseline="-25000">
                <a:solidFill>
                  <a:srgbClr val="14171C"/>
                </a:solidFill>
                <a:latin typeface="Calibri"/>
              </a:rPr>
              <a:t>C</a:t>
            </a:r>
            <a:r>
              <a:rPr sz="1800" b="0" i="0">
                <a:solidFill>
                  <a:srgbClr val="14171C"/>
                </a:solidFill>
                <a:latin typeface="Calibri"/>
              </a:rPr>
              <a:t>) / J</a:t>
            </a:r>
            <a:r>
              <a:rPr sz="1800" b="0" i="0" baseline="-25000">
                <a:solidFill>
                  <a:srgbClr val="14171C"/>
                </a:solidFill>
                <a:latin typeface="Calibri"/>
              </a:rPr>
              <a:t>GT</a:t>
            </a:r>
            <a:r>
              <a:rPr sz="1800" b="0" i="0">
                <a:solidFill>
                  <a:srgbClr val="14171C"/>
                </a:solidFill>
                <a:latin typeface="Calibri"/>
              </a:rPr>
              <a:t> dt</a:t>
            </a:r>
          </a:p>
          <a:p>
            <a:pPr>
              <a:lnSpc>
                <a:spcPct val="100000"/>
              </a:lnSpc>
              <a:spcBef>
                <a:spcPts val="400"/>
              </a:spcBef>
            </a:pPr>
            <a:r>
              <a:rPr sz="1800" b="0" i="0">
                <a:solidFill>
                  <a:srgbClr val="14171C"/>
                </a:solidFill>
                <a:latin typeface="Calibri"/>
              </a:rPr>
              <a:t>NP = (60/2π) ∫ (Q</a:t>
            </a:r>
            <a:r>
              <a:rPr sz="1800" b="0" i="0" baseline="-25000">
                <a:solidFill>
                  <a:srgbClr val="14171C"/>
                </a:solidFill>
                <a:latin typeface="Calibri"/>
              </a:rPr>
              <a:t>PT</a:t>
            </a:r>
            <a:r>
              <a:rPr sz="1800" b="0" i="0">
                <a:solidFill>
                  <a:srgbClr val="14171C"/>
                </a:solidFill>
                <a:latin typeface="Calibri"/>
              </a:rPr>
              <a:t> − Q</a:t>
            </a:r>
            <a:r>
              <a:rPr sz="1800" b="0" i="0" baseline="-25000">
                <a:solidFill>
                  <a:srgbClr val="14171C"/>
                </a:solidFill>
                <a:latin typeface="Calibri"/>
              </a:rPr>
              <a:t>req</a:t>
            </a:r>
            <a:r>
              <a:rPr sz="1800" b="0" i="0">
                <a:solidFill>
                  <a:srgbClr val="14171C"/>
                </a:solidFill>
                <a:latin typeface="Calibri"/>
              </a:rPr>
              <a:t>) / (J</a:t>
            </a:r>
            <a:r>
              <a:rPr sz="1800" b="0" i="0" baseline="-25000">
                <a:solidFill>
                  <a:srgbClr val="14171C"/>
                </a:solidFill>
                <a:latin typeface="Calibri"/>
              </a:rPr>
              <a:t>PT</a:t>
            </a:r>
            <a:r>
              <a:rPr sz="1800" b="0" i="0">
                <a:solidFill>
                  <a:srgbClr val="14171C"/>
                </a:solidFill>
                <a:latin typeface="Calibri"/>
              </a:rPr>
              <a:t> + J</a:t>
            </a:r>
            <a:r>
              <a:rPr sz="1800" b="0" i="0" baseline="-25000">
                <a:solidFill>
                  <a:srgbClr val="14171C"/>
                </a:solidFill>
                <a:latin typeface="Calibri"/>
              </a:rPr>
              <a:t>load</a:t>
            </a:r>
            <a:r>
              <a:rPr sz="1800" b="0" i="0">
                <a:solidFill>
                  <a:srgbClr val="14171C"/>
                </a:solidFill>
                <a:latin typeface="Calibri"/>
              </a:rPr>
              <a:t>) dt</a:t>
            </a:r>
          </a:p>
        </p:txBody>
      </p:sp>
      <p:sp>
        <p:nvSpPr>
          <p:cNvPr id="10" name="TextBox 9"/>
          <p:cNvSpPr txBox="1"/>
          <p:nvPr/>
        </p:nvSpPr>
        <p:spPr>
          <a:xfrm>
            <a:off x="10225735" y="1490472"/>
            <a:ext cx="1234440" cy="662940"/>
          </a:xfrm>
          <a:prstGeom prst="rect">
            <a:avLst/>
          </a:prstGeom>
          <a:noFill/>
        </p:spPr>
        <p:txBody>
          <a:bodyPr wrap="square" anchor="t" lIns="36576" rIns="36576" tIns="27432" bIns="27432">
            <a:noAutofit/>
          </a:bodyPr>
          <a:lstStyle/>
          <a:p>
            <a:pPr algn="r">
              <a:lnSpc>
                <a:spcPct val="100000"/>
              </a:lnSpc>
              <a:spcBef>
                <a:spcPts val="0"/>
              </a:spcBef>
            </a:pPr>
            <a:r>
              <a:rPr sz="1800" b="0" i="0">
                <a:solidFill>
                  <a:srgbClr val="4D5563"/>
                </a:solidFill>
                <a:latin typeface="Calibri"/>
              </a:rPr>
              <a:t>(45)</a:t>
            </a:r>
          </a:p>
          <a:p>
            <a:pPr algn="r">
              <a:lnSpc>
                <a:spcPct val="100000"/>
              </a:lnSpc>
              <a:spcBef>
                <a:spcPts val="400"/>
              </a:spcBef>
            </a:pPr>
            <a:r>
              <a:rPr sz="1800" b="0" i="0">
                <a:solidFill>
                  <a:srgbClr val="4D5563"/>
                </a:solidFill>
                <a:latin typeface="Calibri"/>
              </a:rPr>
              <a:t>(46, 47)</a:t>
            </a:r>
          </a:p>
        </p:txBody>
      </p:sp>
      <p:sp>
        <p:nvSpPr>
          <p:cNvPr id="11" name="TextBox 10"/>
          <p:cNvSpPr txBox="1"/>
          <p:nvPr/>
        </p:nvSpPr>
        <p:spPr>
          <a:xfrm>
            <a:off x="502920" y="2500884"/>
            <a:ext cx="11185855" cy="35661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700" b="1" i="0">
                <a:solidFill>
                  <a:srgbClr val="14171C"/>
                </a:solidFill>
                <a:latin typeface="Calibri"/>
              </a:rPr>
              <a:t>Gas generator:</a:t>
            </a:r>
            <a:r>
              <a:rPr sz="1700" b="0" i="0">
                <a:solidFill>
                  <a:srgbClr val="14171C"/>
                </a:solidFill>
                <a:latin typeface="Calibri"/>
              </a:rPr>
              <a:t> turbine torque minus compressor torque; J</a:t>
            </a:r>
            <a:r>
              <a:rPr sz="1700" b="0" i="0" baseline="-25000">
                <a:solidFill>
                  <a:srgbClr val="14171C"/>
                </a:solidFill>
                <a:latin typeface="Calibri"/>
              </a:rPr>
              <a:t>GT</a:t>
            </a:r>
            <a:r>
              <a:rPr sz="1700" b="0" i="0">
                <a:solidFill>
                  <a:srgbClr val="14171C"/>
                </a:solidFill>
                <a:latin typeface="Calibri"/>
              </a:rPr>
              <a:t> = 0.0445 ft·lbf·s².</a:t>
            </a:r>
          </a:p>
          <a:p>
            <a:pPr marL="201168" indent="-201168">
              <a:lnSpc>
                <a:spcPct val="105000"/>
              </a:lnSpc>
              <a:spcBef>
                <a:spcPts val="800"/>
              </a:spcBef>
              <a:buFont typeface="Arial"/>
              <a:buChar char="•"/>
            </a:pPr>
            <a:r>
              <a:rPr sz="1700" b="1" i="0">
                <a:solidFill>
                  <a:srgbClr val="14171C"/>
                </a:solidFill>
                <a:latin typeface="Calibri"/>
              </a:rPr>
              <a:t>Power turbine:</a:t>
            </a:r>
            <a:r>
              <a:rPr sz="1700" b="0" i="0">
                <a:solidFill>
                  <a:srgbClr val="14171C"/>
                </a:solidFill>
                <a:latin typeface="Calibri"/>
              </a:rPr>
              <a:t> turbine torque minus the load; J</a:t>
            </a:r>
            <a:r>
              <a:rPr sz="1700" b="0" i="0" baseline="-25000">
                <a:solidFill>
                  <a:srgbClr val="14171C"/>
                </a:solidFill>
                <a:latin typeface="Calibri"/>
              </a:rPr>
              <a:t>PT</a:t>
            </a:r>
            <a:r>
              <a:rPr sz="1700" b="0" i="0">
                <a:solidFill>
                  <a:srgbClr val="14171C"/>
                </a:solidFill>
                <a:latin typeface="Calibri"/>
              </a:rPr>
              <a:t> = 0.062 ft·lbf·s². The turbine torque carries a damping term proportional to NP − NP</a:t>
            </a:r>
            <a:r>
              <a:rPr sz="1700" b="0" i="0" baseline="-25000">
                <a:solidFill>
                  <a:srgbClr val="14171C"/>
                </a:solidFill>
                <a:latin typeface="Calibri"/>
              </a:rPr>
              <a:t>des</a:t>
            </a:r>
            <a:r>
              <a:rPr sz="1700" b="0" i="0">
                <a:solidFill>
                  <a:srgbClr val="14171C"/>
                </a:solidFill>
                <a:latin typeface="Calibri"/>
              </a:rPr>
              <a:t>.</a:t>
            </a:r>
          </a:p>
          <a:p>
            <a:pPr marL="201168" indent="-201168">
              <a:lnSpc>
                <a:spcPct val="105000"/>
              </a:lnSpc>
              <a:spcBef>
                <a:spcPts val="800"/>
              </a:spcBef>
              <a:buFont typeface="Arial"/>
              <a:buChar char="•"/>
            </a:pPr>
            <a:r>
              <a:rPr sz="1700" b="0" i="0">
                <a:solidFill>
                  <a:srgbClr val="14171C"/>
                </a:solidFill>
                <a:latin typeface="Calibri"/>
              </a:rPr>
              <a:t>The load torque Q</a:t>
            </a:r>
            <a:r>
              <a:rPr sz="1700" b="0" i="0" baseline="-25000">
                <a:solidFill>
                  <a:srgbClr val="14171C"/>
                </a:solidFill>
                <a:latin typeface="Calibri"/>
              </a:rPr>
              <a:t>req</a:t>
            </a:r>
            <a:r>
              <a:rPr sz="1700" b="0" i="0">
                <a:solidFill>
                  <a:srgbClr val="14171C"/>
                </a:solidFill>
                <a:latin typeface="Calibri"/>
              </a:rPr>
              <a:t> and the load inertia J</a:t>
            </a:r>
            <a:r>
              <a:rPr sz="1700" b="0" i="0" baseline="-25000">
                <a:solidFill>
                  <a:srgbClr val="14171C"/>
                </a:solidFill>
                <a:latin typeface="Calibri"/>
              </a:rPr>
              <a:t>load</a:t>
            </a:r>
            <a:r>
              <a:rPr sz="1700" b="0" i="0">
                <a:solidFill>
                  <a:srgbClr val="14171C"/>
                </a:solidFill>
                <a:latin typeface="Calibri"/>
              </a:rPr>
              <a:t> come from the helicopter simulation, which the report does not contain.</a:t>
            </a:r>
          </a:p>
          <a:p>
            <a:pPr marL="512064" indent="-237744">
              <a:lnSpc>
                <a:spcPct val="105000"/>
              </a:lnSpc>
              <a:spcBef>
                <a:spcPts val="800"/>
              </a:spcBef>
              <a:buFont typeface="Arial"/>
              <a:buChar char="–"/>
            </a:pPr>
            <a:r>
              <a:rPr sz="1500" b="0" i="0">
                <a:solidFill>
                  <a:srgbClr val="14171C"/>
                </a:solidFill>
                <a:latin typeface="Calibri"/>
              </a:rPr>
              <a:t>We recovered both from Appendix B's own matrices: J</a:t>
            </a:r>
            <a:r>
              <a:rPr sz="1500" b="0" i="0" baseline="-25000">
                <a:solidFill>
                  <a:srgbClr val="14171C"/>
                </a:solidFill>
                <a:latin typeface="Calibri"/>
              </a:rPr>
              <a:t>load</a:t>
            </a:r>
            <a:r>
              <a:rPr sz="1500" b="0" i="0">
                <a:solidFill>
                  <a:srgbClr val="14171C"/>
                </a:solidFill>
                <a:latin typeface="Calibri"/>
              </a:rPr>
              <a:t> = 9.25 × J</a:t>
            </a:r>
            <a:r>
              <a:rPr sz="1500" b="0" i="0" baseline="-25000">
                <a:solidFill>
                  <a:srgbClr val="14171C"/>
                </a:solidFill>
                <a:latin typeface="Calibri"/>
              </a:rPr>
              <a:t>PT</a:t>
            </a:r>
            <a:r>
              <a:rPr sz="1500" b="0" i="0">
                <a:solidFill>
                  <a:srgbClr val="14171C"/>
                </a:solidFill>
                <a:latin typeface="Calibri"/>
              </a:rPr>
              <a:t>, consistent to 0.2 % across the three flight conditions (Part 4 shows how).</a:t>
            </a:r>
          </a:p>
          <a:p>
            <a:pPr marL="201168" indent="-201168">
              <a:lnSpc>
                <a:spcPct val="105000"/>
              </a:lnSpc>
              <a:spcBef>
                <a:spcPts val="800"/>
              </a:spcBef>
              <a:buFont typeface="Arial"/>
              <a:buChar char="•"/>
            </a:pPr>
            <a:r>
              <a:rPr sz="1700" b="0" i="0">
                <a:solidFill>
                  <a:srgbClr val="14171C"/>
                </a:solidFill>
                <a:latin typeface="Calibri"/>
              </a:rPr>
              <a:t>Trims and the open-loop transients hold NP, as the report does [pdf pp.39, 67]; the closed loop integrates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Heat soakage at station 4.1</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48–53, pdf pp.25–26; Ballin, Figure 5, pdf p.34; limits pdf pp.47, 50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14</a:t>
            </a:r>
          </a:p>
        </p:txBody>
      </p:sp>
      <p:sp>
        <p:nvSpPr>
          <p:cNvPr id="8" name="TextBox 7"/>
          <p:cNvSpPr txBox="1"/>
          <p:nvPr/>
        </p:nvSpPr>
        <p:spPr>
          <a:xfrm>
            <a:off x="502920" y="1325880"/>
            <a:ext cx="6035040" cy="4754880"/>
          </a:xfrm>
          <a:prstGeom prst="rect">
            <a:avLst/>
          </a:prstGeom>
          <a:noFill/>
        </p:spPr>
        <p:txBody>
          <a:bodyPr wrap="square" anchor="t" lIns="36576" rIns="36576" tIns="27432" bIns="27432">
            <a:noAutofit/>
          </a:bodyPr>
          <a:lstStyle/>
          <a:p>
            <a:pPr>
              <a:lnSpc>
                <a:spcPct val="105000"/>
              </a:lnSpc>
              <a:spcBef>
                <a:spcPts val="0"/>
              </a:spcBef>
            </a:pPr>
            <a:r>
              <a:rPr sz="1600" b="0" i="1">
                <a:solidFill>
                  <a:srgbClr val="14171C"/>
                </a:solidFill>
                <a:latin typeface="Calibri"/>
              </a:rPr>
              <a:t>“There is a transient energy transfer which is caused by the metal mass of the turbine absorbing heat from the hot gas. This is especially significant at station 4.1, immediately downstream of the combustor.”</a:t>
            </a:r>
            <a:r>
              <a:rPr sz="1600" b="0" i="0">
                <a:solidFill>
                  <a:srgbClr val="14171C"/>
                </a:solidFill>
                <a:latin typeface="Calibri"/>
              </a:rPr>
              <a:t> [pdf p.25]</a:t>
            </a:r>
          </a:p>
          <a:p>
            <a:pPr marL="201168" indent="-201168">
              <a:lnSpc>
                <a:spcPct val="105000"/>
              </a:lnSpc>
              <a:spcBef>
                <a:spcPts val="900"/>
              </a:spcBef>
              <a:buFont typeface="Arial"/>
              <a:buChar char="•"/>
            </a:pPr>
            <a:r>
              <a:rPr sz="1600" b="0" i="0">
                <a:solidFill>
                  <a:srgbClr val="14171C"/>
                </a:solidFill>
                <a:latin typeface="Calibri"/>
              </a:rPr>
              <a:t>Metal:  c</a:t>
            </a:r>
            <a:r>
              <a:rPr sz="1600" b="0" i="0" baseline="-25000">
                <a:solidFill>
                  <a:srgbClr val="14171C"/>
                </a:solidFill>
                <a:latin typeface="Calibri"/>
              </a:rPr>
              <a:t>pm</a:t>
            </a:r>
            <a:r>
              <a:rPr sz="1600" b="0" i="0">
                <a:solidFill>
                  <a:srgbClr val="14171C"/>
                </a:solidFill>
                <a:latin typeface="Calibri"/>
              </a:rPr>
              <a:t> M dT</a:t>
            </a:r>
            <a:r>
              <a:rPr sz="1600" b="0" i="0" baseline="-25000">
                <a:solidFill>
                  <a:srgbClr val="14171C"/>
                </a:solidFill>
                <a:latin typeface="Calibri"/>
              </a:rPr>
              <a:t>m</a:t>
            </a:r>
            <a:r>
              <a:rPr sz="1600" b="0" i="0">
                <a:solidFill>
                  <a:srgbClr val="14171C"/>
                </a:solidFill>
                <a:latin typeface="Calibri"/>
              </a:rPr>
              <a:t>/dt = h A</a:t>
            </a:r>
            <a:r>
              <a:rPr sz="1600" b="0" i="0" baseline="-25000">
                <a:solidFill>
                  <a:srgbClr val="14171C"/>
                </a:solidFill>
                <a:latin typeface="Calibri"/>
              </a:rPr>
              <a:t>m</a:t>
            </a:r>
            <a:r>
              <a:rPr sz="1600" b="0" i="0">
                <a:solidFill>
                  <a:srgbClr val="14171C"/>
                </a:solidFill>
                <a:latin typeface="Calibri"/>
              </a:rPr>
              <a:t> (T</a:t>
            </a:r>
            <a:r>
              <a:rPr sz="1600" b="0" i="0" baseline="-25000">
                <a:solidFill>
                  <a:srgbClr val="14171C"/>
                </a:solidFill>
                <a:latin typeface="Calibri"/>
              </a:rPr>
              <a:t>gi</a:t>
            </a:r>
            <a:r>
              <a:rPr sz="1600" b="0" i="0">
                <a:solidFill>
                  <a:srgbClr val="14171C"/>
                </a:solidFill>
                <a:latin typeface="Calibri"/>
              </a:rPr>
              <a:t> − T</a:t>
            </a:r>
            <a:r>
              <a:rPr sz="1600" b="0" i="0" baseline="-25000">
                <a:solidFill>
                  <a:srgbClr val="14171C"/>
                </a:solidFill>
                <a:latin typeface="Calibri"/>
              </a:rPr>
              <a:t>m</a:t>
            </a:r>
            <a:r>
              <a:rPr sz="1600" b="0" i="0">
                <a:solidFill>
                  <a:srgbClr val="14171C"/>
                </a:solidFill>
                <a:latin typeface="Calibri"/>
              </a:rPr>
              <a:t>)      (48)</a:t>
            </a:r>
          </a:p>
          <a:p>
            <a:pPr marL="201168" indent="-201168">
              <a:lnSpc>
                <a:spcPct val="105000"/>
              </a:lnSpc>
              <a:spcBef>
                <a:spcPts val="900"/>
              </a:spcBef>
              <a:buFont typeface="Arial"/>
              <a:buChar char="•"/>
            </a:pPr>
            <a:r>
              <a:rPr sz="1600" b="0" i="0">
                <a:solidFill>
                  <a:srgbClr val="14171C"/>
                </a:solidFill>
                <a:latin typeface="Calibri"/>
              </a:rPr>
              <a:t>Gas:  c</a:t>
            </a:r>
            <a:r>
              <a:rPr sz="1600" b="0" i="0" baseline="-25000">
                <a:solidFill>
                  <a:srgbClr val="14171C"/>
                </a:solidFill>
                <a:latin typeface="Calibri"/>
              </a:rPr>
              <a:t>pg</a:t>
            </a:r>
            <a:r>
              <a:rPr sz="1600" b="0" i="0">
                <a:solidFill>
                  <a:srgbClr val="14171C"/>
                </a:solidFill>
                <a:latin typeface="Calibri"/>
              </a:rPr>
              <a:t> W</a:t>
            </a:r>
            <a:r>
              <a:rPr sz="1600" b="0" i="0" baseline="-25000">
                <a:solidFill>
                  <a:srgbClr val="14171C"/>
                </a:solidFill>
                <a:latin typeface="Calibri"/>
              </a:rPr>
              <a:t>g</a:t>
            </a:r>
            <a:r>
              <a:rPr sz="1600" b="0" i="0">
                <a:solidFill>
                  <a:srgbClr val="14171C"/>
                </a:solidFill>
                <a:latin typeface="Calibri"/>
              </a:rPr>
              <a:t> (T</a:t>
            </a:r>
            <a:r>
              <a:rPr sz="1600" b="0" i="0" baseline="-25000">
                <a:solidFill>
                  <a:srgbClr val="14171C"/>
                </a:solidFill>
                <a:latin typeface="Calibri"/>
              </a:rPr>
              <a:t>gi</a:t>
            </a:r>
            <a:r>
              <a:rPr sz="1600" b="0" i="0">
                <a:solidFill>
                  <a:srgbClr val="14171C"/>
                </a:solidFill>
                <a:latin typeface="Calibri"/>
              </a:rPr>
              <a:t> − T</a:t>
            </a:r>
            <a:r>
              <a:rPr sz="1600" b="0" i="0" baseline="-25000">
                <a:solidFill>
                  <a:srgbClr val="14171C"/>
                </a:solidFill>
                <a:latin typeface="Calibri"/>
              </a:rPr>
              <a:t>go</a:t>
            </a:r>
            <a:r>
              <a:rPr sz="1600" b="0" i="0">
                <a:solidFill>
                  <a:srgbClr val="14171C"/>
                </a:solidFill>
                <a:latin typeface="Calibri"/>
              </a:rPr>
              <a:t>) = c</a:t>
            </a:r>
            <a:r>
              <a:rPr sz="1600" b="0" i="0" baseline="-25000">
                <a:solidFill>
                  <a:srgbClr val="14171C"/>
                </a:solidFill>
                <a:latin typeface="Calibri"/>
              </a:rPr>
              <a:t>pm</a:t>
            </a:r>
            <a:r>
              <a:rPr sz="1600" b="0" i="0">
                <a:solidFill>
                  <a:srgbClr val="14171C"/>
                </a:solidFill>
                <a:latin typeface="Calibri"/>
              </a:rPr>
              <a:t> M dT</a:t>
            </a:r>
            <a:r>
              <a:rPr sz="1600" b="0" i="0" baseline="-25000">
                <a:solidFill>
                  <a:srgbClr val="14171C"/>
                </a:solidFill>
                <a:latin typeface="Calibri"/>
              </a:rPr>
              <a:t>m</a:t>
            </a:r>
            <a:r>
              <a:rPr sz="1600" b="0" i="0">
                <a:solidFill>
                  <a:srgbClr val="14171C"/>
                </a:solidFill>
                <a:latin typeface="Calibri"/>
              </a:rPr>
              <a:t>/dt      (49)</a:t>
            </a:r>
          </a:p>
          <a:p>
            <a:pPr marL="201168" indent="-201168">
              <a:lnSpc>
                <a:spcPct val="105000"/>
              </a:lnSpc>
              <a:spcBef>
                <a:spcPts val="900"/>
              </a:spcBef>
              <a:buFont typeface="Arial"/>
              <a:buChar char="•"/>
            </a:pPr>
            <a:r>
              <a:rPr sz="1600" b="0" i="0">
                <a:solidFill>
                  <a:srgbClr val="14171C"/>
                </a:solidFill>
                <a:latin typeface="Calibri"/>
              </a:rPr>
              <a:t>The time constants change with T41, airflow and speed (Eqs. 51–53, TC</a:t>
            </a:r>
            <a:r>
              <a:rPr sz="1600" b="0" i="0" baseline="-25000">
                <a:solidFill>
                  <a:srgbClr val="14171C"/>
                </a:solidFill>
                <a:latin typeface="Calibri"/>
              </a:rPr>
              <a:t>T41</a:t>
            </a:r>
            <a:r>
              <a:rPr sz="1600" b="0" i="0">
                <a:solidFill>
                  <a:srgbClr val="14171C"/>
                </a:solidFill>
                <a:latin typeface="Calibri"/>
              </a:rPr>
              <a:t> = 0.29 and the function f</a:t>
            </a:r>
            <a:r>
              <a:rPr sz="1600" b="0" i="0" baseline="-25000">
                <a:solidFill>
                  <a:srgbClr val="14171C"/>
                </a:solidFill>
                <a:latin typeface="Calibri"/>
              </a:rPr>
              <a:t>hs</a:t>
            </a:r>
            <a:r>
              <a:rPr sz="1600" b="0" i="0">
                <a:solidFill>
                  <a:srgbClr val="14171C"/>
                </a:solidFill>
                <a:latin typeface="Calibri"/>
              </a:rPr>
              <a:t>, Fig. A11).</a:t>
            </a:r>
          </a:p>
          <a:p>
            <a:pPr marL="201168" indent="-201168">
              <a:lnSpc>
                <a:spcPct val="105000"/>
              </a:lnSpc>
              <a:spcBef>
                <a:spcPts val="900"/>
              </a:spcBef>
              <a:buFont typeface="Arial"/>
              <a:buChar char="•"/>
            </a:pPr>
            <a:r>
              <a:rPr sz="1600" b="0" i="0">
                <a:solidFill>
                  <a:srgbClr val="14171C"/>
                </a:solidFill>
                <a:latin typeface="Calibri"/>
              </a:rPr>
              <a:t>We integrate the </a:t>
            </a:r>
            <a:r>
              <a:rPr sz="1600" b="1" i="0">
                <a:solidFill>
                  <a:srgbClr val="14171C"/>
                </a:solidFill>
                <a:latin typeface="Calibri"/>
              </a:rPr>
              <a:t>metal temperature</a:t>
            </a:r>
            <a:r>
              <a:rPr sz="1600" b="0" i="0">
                <a:solidFill>
                  <a:srgbClr val="14171C"/>
                </a:solidFill>
                <a:latin typeface="Calibri"/>
              </a:rPr>
              <a:t> (Eqs. 48–49). The report's lead–lag form (Eq. 50) assumes constant coefficients, and goes stale on a fuel step.</a:t>
            </a:r>
          </a:p>
          <a:p>
            <a:pPr marL="201168" indent="-201168">
              <a:lnSpc>
                <a:spcPct val="105000"/>
              </a:lnSpc>
              <a:spcBef>
                <a:spcPts val="900"/>
              </a:spcBef>
              <a:buFont typeface="Arial"/>
              <a:buChar char="•"/>
            </a:pPr>
            <a:r>
              <a:rPr sz="1600" b="1" i="0">
                <a:solidFill>
                  <a:srgbClr val="14171C"/>
                </a:solidFill>
                <a:latin typeface="Calibri"/>
              </a:rPr>
              <a:t>Limits Ballin states:</a:t>
            </a:r>
            <a:r>
              <a:rPr sz="1600" b="0" i="0">
                <a:solidFill>
                  <a:srgbClr val="14171C"/>
                </a:solidFill>
                <a:latin typeface="Calibri"/>
              </a:rPr>
              <a:t> the same constants for heating and cooling; no heat sink at station 4.5.</a:t>
            </a:r>
          </a:p>
        </p:txBody>
      </p:sp>
      <p:pic>
        <p:nvPicPr>
          <p:cNvPr id="9" name="Picture 8" descr="fig5.png"/>
          <p:cNvPicPr>
            <a:picLocks noChangeAspect="1"/>
          </p:cNvPicPr>
          <p:nvPr/>
        </p:nvPicPr>
        <p:blipFill>
          <a:blip r:embed="rId2"/>
          <a:stretch>
            <a:fillRect/>
          </a:stretch>
        </p:blipFill>
        <p:spPr>
          <a:xfrm>
            <a:off x="7346258" y="1280160"/>
            <a:ext cx="3732643" cy="4434840"/>
          </a:xfrm>
          <a:prstGeom prst="rect">
            <a:avLst/>
          </a:prstGeom>
        </p:spPr>
      </p:pic>
      <p:sp>
        <p:nvSpPr>
          <p:cNvPr id="10" name="TextBox 9"/>
          <p:cNvSpPr txBox="1"/>
          <p:nvPr/>
        </p:nvSpPr>
        <p:spPr>
          <a:xfrm>
            <a:off x="6720840" y="5760720"/>
            <a:ext cx="4983480" cy="45720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Ballin's Figure 5: linear responses with (6-DOF) and without (5-DOF) the station 4.1 heat sink.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One real-time frame, step by step</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Our flowchart, from Eqs. 69–80 and pdf pp.35–37: the report prints none. Dark grey: the real-time approximations. Step 10 loops back to step 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15</a:t>
            </a:r>
          </a:p>
        </p:txBody>
      </p:sp>
      <p:sp>
        <p:nvSpPr>
          <p:cNvPr id="8" name="Rounded Rectangle 7"/>
          <p:cNvSpPr/>
          <p:nvPr/>
        </p:nvSpPr>
        <p:spPr>
          <a:xfrm>
            <a:off x="594360" y="1371600"/>
            <a:ext cx="5257800" cy="749808"/>
          </a:xfrm>
          <a:prstGeom prst="roundRect">
            <a:avLst>
              <a:gd name="adj" fmla="val 12000"/>
            </a:avLst>
          </a:prstGeom>
          <a:solidFill>
            <a:srgbClr val="FFFFFF"/>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1.</a:t>
            </a:r>
            <a:r>
              <a:rPr sz="1300" b="0" i="0">
                <a:solidFill>
                  <a:srgbClr val="14171C"/>
                </a:solidFill>
                <a:latin typeface="Calibri"/>
              </a:rPr>
              <a:t>  Start of frame: NG, NP, P3, P41, P45, and one mass flow carried from the previous frame</a:t>
            </a:r>
          </a:p>
        </p:txBody>
      </p:sp>
      <p:cxnSp>
        <p:nvCxnSpPr>
          <p:cNvPr id="9" name="Connector 8"/>
          <p:cNvCxnSpPr/>
          <p:nvPr/>
        </p:nvCxnSpPr>
        <p:spPr>
          <a:xfrm>
            <a:off x="3223260" y="2121408"/>
            <a:ext cx="0" cy="219455"/>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4360" y="2340864"/>
            <a:ext cx="5257800" cy="749808"/>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2.</a:t>
            </a:r>
            <a:r>
              <a:rPr sz="1300" b="0" i="0">
                <a:solidFill>
                  <a:srgbClr val="14171C"/>
                </a:solidFill>
                <a:latin typeface="Calibri"/>
              </a:rPr>
              <a:t>  Compressor, once per frame: map f1 at this frame's P3 → airflow, bleeds, T3  (Eqs. 1–17)</a:t>
            </a:r>
          </a:p>
        </p:txBody>
      </p:sp>
      <p:cxnSp>
        <p:nvCxnSpPr>
          <p:cNvPr id="11" name="Connector 10"/>
          <p:cNvCxnSpPr/>
          <p:nvPr/>
        </p:nvCxnSpPr>
        <p:spPr>
          <a:xfrm>
            <a:off x="3223260" y="3090672"/>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4360" y="3310128"/>
            <a:ext cx="5257800" cy="749808"/>
          </a:xfrm>
          <a:prstGeom prst="roundRect">
            <a:avLst>
              <a:gd name="adj" fmla="val 12000"/>
            </a:avLst>
          </a:prstGeom>
          <a:solidFill>
            <a:srgbClr val="AEB4BE"/>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3.</a:t>
            </a:r>
            <a:r>
              <a:rPr sz="1300" b="0" i="0">
                <a:solidFill>
                  <a:srgbClr val="14171C"/>
                </a:solidFill>
                <a:latin typeface="Calibri"/>
              </a:rPr>
              <a:t>  Opened iteration: combustor inlet flow = the compressor exit flow of the previous frame  (Eq. 74)</a:t>
            </a:r>
          </a:p>
        </p:txBody>
      </p:sp>
      <p:cxnSp>
        <p:nvCxnSpPr>
          <p:cNvPr id="13" name="Connector 12"/>
          <p:cNvCxnSpPr/>
          <p:nvPr/>
        </p:nvCxnSpPr>
        <p:spPr>
          <a:xfrm>
            <a:off x="3223260" y="4059936"/>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94360" y="4279392"/>
            <a:ext cx="5257800" cy="749808"/>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4.</a:t>
            </a:r>
            <a:r>
              <a:rPr sz="1300" b="0" i="0">
                <a:solidFill>
                  <a:srgbClr val="14171C"/>
                </a:solidFill>
                <a:latin typeface="Calibri"/>
              </a:rPr>
              <a:t>  Combustor: fuel–air ratio and T41; heat sink  (Eqs. 19–25, 48–53)</a:t>
            </a:r>
          </a:p>
        </p:txBody>
      </p:sp>
      <p:cxnSp>
        <p:nvCxnSpPr>
          <p:cNvPr id="15" name="Connector 14"/>
          <p:cNvCxnSpPr/>
          <p:nvPr/>
        </p:nvCxnSpPr>
        <p:spPr>
          <a:xfrm>
            <a:off x="3223260" y="5029200"/>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94360" y="5248656"/>
            <a:ext cx="5257800" cy="749808"/>
          </a:xfrm>
          <a:prstGeom prst="roundRect">
            <a:avLst>
              <a:gd name="adj" fmla="val 12000"/>
            </a:avLst>
          </a:prstGeom>
          <a:solidFill>
            <a:srgbClr val="AEB4BE"/>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5.</a:t>
            </a:r>
            <a:r>
              <a:rPr sz="1300" b="0" i="0">
                <a:solidFill>
                  <a:srgbClr val="14171C"/>
                </a:solidFill>
                <a:latin typeface="Calibri"/>
              </a:rPr>
              <a:t>  Inner loop: P3 ↔ P41, fixed point, at most 10 passes to &lt; 0.1 %  (Eqs. 76–78)</a:t>
            </a:r>
          </a:p>
        </p:txBody>
      </p:sp>
      <p:sp>
        <p:nvSpPr>
          <p:cNvPr id="17" name="Rounded Rectangle 16"/>
          <p:cNvSpPr/>
          <p:nvPr/>
        </p:nvSpPr>
        <p:spPr>
          <a:xfrm>
            <a:off x="6537960" y="1371600"/>
            <a:ext cx="5257800" cy="749808"/>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6.</a:t>
            </a:r>
            <a:r>
              <a:rPr sz="1300" b="0" i="0">
                <a:solidFill>
                  <a:srgbClr val="14171C"/>
                </a:solidFill>
                <a:latin typeface="Calibri"/>
              </a:rPr>
              <a:t>  Gas-generator turbine and station 4.5 at the previous frame's P45 → W41, T45  (Eqs. 26–31)</a:t>
            </a:r>
          </a:p>
        </p:txBody>
      </p:sp>
      <p:cxnSp>
        <p:nvCxnSpPr>
          <p:cNvPr id="18" name="Connector 17"/>
          <p:cNvCxnSpPr/>
          <p:nvPr/>
        </p:nvCxnSpPr>
        <p:spPr>
          <a:xfrm>
            <a:off x="9166860" y="2121408"/>
            <a:ext cx="0" cy="219455"/>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537960" y="2340864"/>
            <a:ext cx="5257800" cy="749808"/>
          </a:xfrm>
          <a:prstGeom prst="roundRect">
            <a:avLst>
              <a:gd name="adj" fmla="val 12000"/>
            </a:avLst>
          </a:prstGeom>
          <a:solidFill>
            <a:srgbClr val="AEB4BE"/>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7.</a:t>
            </a:r>
            <a:r>
              <a:rPr sz="1300" b="0" i="0">
                <a:solidFill>
                  <a:srgbClr val="14171C"/>
                </a:solidFill>
                <a:latin typeface="Calibri"/>
              </a:rPr>
              <a:t>  P45 loop: fixed point, at most 8 passes to &lt; 0.1 %  (Eq. 80). If it cannot converge: exact solve (our departure)</a:t>
            </a:r>
          </a:p>
        </p:txBody>
      </p:sp>
      <p:cxnSp>
        <p:nvCxnSpPr>
          <p:cNvPr id="20" name="Connector 19"/>
          <p:cNvCxnSpPr/>
          <p:nvPr/>
        </p:nvCxnSpPr>
        <p:spPr>
          <a:xfrm>
            <a:off x="9166860" y="3090672"/>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537960" y="3310128"/>
            <a:ext cx="5257800" cy="749808"/>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8.</a:t>
            </a:r>
            <a:r>
              <a:rPr sz="1300" b="0" i="0">
                <a:solidFill>
                  <a:srgbClr val="14171C"/>
                </a:solidFill>
                <a:latin typeface="Calibri"/>
              </a:rPr>
              <a:t>  Power turbine and exhaust → W45, enthalpy drop  (Eqs. 32–38)</a:t>
            </a:r>
          </a:p>
        </p:txBody>
      </p:sp>
      <p:cxnSp>
        <p:nvCxnSpPr>
          <p:cNvPr id="22" name="Connector 21"/>
          <p:cNvCxnSpPr/>
          <p:nvPr/>
        </p:nvCxnSpPr>
        <p:spPr>
          <a:xfrm>
            <a:off x="9166860" y="4059936"/>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537960" y="4279392"/>
            <a:ext cx="5257800" cy="749808"/>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9.</a:t>
            </a:r>
            <a:r>
              <a:rPr sz="1300" b="0" i="0">
                <a:solidFill>
                  <a:srgbClr val="14171C"/>
                </a:solidFill>
                <a:latin typeface="Calibri"/>
              </a:rPr>
              <a:t>  Torques → explicit Euler step: NG every 7 ms, NP every 14 ms  (Eqs. 39–47)</a:t>
            </a:r>
          </a:p>
        </p:txBody>
      </p:sp>
      <p:cxnSp>
        <p:nvCxnSpPr>
          <p:cNvPr id="24" name="Connector 23"/>
          <p:cNvCxnSpPr/>
          <p:nvPr/>
        </p:nvCxnSpPr>
        <p:spPr>
          <a:xfrm>
            <a:off x="9166860" y="5029200"/>
            <a:ext cx="0" cy="219456"/>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537960" y="5248656"/>
            <a:ext cx="5257800" cy="749808"/>
          </a:xfrm>
          <a:prstGeom prst="roundRect">
            <a:avLst>
              <a:gd name="adj" fmla="val 12000"/>
            </a:avLst>
          </a:prstGeom>
          <a:solidFill>
            <a:srgbClr val="FFFFFF"/>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300" b="1" i="0">
                <a:solidFill>
                  <a:srgbClr val="14171C"/>
                </a:solidFill>
                <a:latin typeface="Calibri"/>
              </a:rPr>
              <a:t>10.</a:t>
            </a:r>
            <a:r>
              <a:rPr sz="1300" b="0" i="0">
                <a:solidFill>
                  <a:srgbClr val="14171C"/>
                </a:solidFill>
                <a:latin typeface="Calibri"/>
              </a:rPr>
              <a:t>  Carry the compressor exit flow into the next frame</a:t>
            </a:r>
          </a:p>
        </p:txBody>
      </p:sp>
      <p:cxnSp>
        <p:nvCxnSpPr>
          <p:cNvPr id="26" name="Connector 25"/>
          <p:cNvCxnSpPr/>
          <p:nvPr/>
        </p:nvCxnSpPr>
        <p:spPr>
          <a:xfrm>
            <a:off x="5852160" y="5623560"/>
            <a:ext cx="338328" cy="0"/>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190488" y="1746504"/>
            <a:ext cx="0" cy="3877056"/>
          </a:xfrm>
          <a:prstGeom prst="line">
            <a:avLst/>
          </a:prstGeom>
          <a:ln w="19050">
            <a:solidFill>
              <a:srgbClr val="4D556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90488" y="1746504"/>
            <a:ext cx="347472" cy="0"/>
          </a:xfrm>
          <a:prstGeom prst="line">
            <a:avLst/>
          </a:prstGeom>
          <a:ln w="19050">
            <a:solidFill>
              <a:srgbClr val="4D5563"/>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What the real-time approximation costs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pp.35–38, 47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16</a:t>
            </a:r>
          </a:p>
        </p:txBody>
      </p:sp>
      <p:sp>
        <p:nvSpPr>
          <p:cNvPr id="8" name="TextBox 7"/>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700" b="0" i="0">
                <a:solidFill>
                  <a:srgbClr val="14171C"/>
                </a:solidFill>
                <a:latin typeface="Calibri"/>
              </a:rPr>
              <a:t>The opened loop leaves a one-frame lag in the combustor inlet flow, so the answer depends on the step size: </a:t>
            </a:r>
            <a:r>
              <a:rPr sz="1700" b="0" i="1">
                <a:solidFill>
                  <a:srgbClr val="14171C"/>
                </a:solidFill>
                <a:latin typeface="Calibri"/>
              </a:rPr>
              <a:t>“Because of the opened compressor mass-flow iteration, however, response is dependent on time step.”</a:t>
            </a:r>
            <a:r>
              <a:rPr sz="1700" b="0" i="0">
                <a:solidFill>
                  <a:srgbClr val="14171C"/>
                </a:solidFill>
                <a:latin typeface="Calibri"/>
              </a:rPr>
              <a:t> [pdf p.38]</a:t>
            </a:r>
          </a:p>
          <a:p>
            <a:pPr marL="201168" indent="-201168">
              <a:lnSpc>
                <a:spcPct val="105000"/>
              </a:lnSpc>
              <a:spcBef>
                <a:spcPts val="1100"/>
              </a:spcBef>
              <a:buFont typeface="Arial"/>
              <a:buChar char="•"/>
            </a:pPr>
            <a:r>
              <a:rPr sz="1700" b="0" i="0">
                <a:solidFill>
                  <a:srgbClr val="14171C"/>
                </a:solidFill>
                <a:latin typeface="Calibri"/>
              </a:rPr>
              <a:t>Ballin capped the step at </a:t>
            </a:r>
            <a:r>
              <a:rPr sz="1700" b="1" i="0">
                <a:solidFill>
                  <a:srgbClr val="14171C"/>
                </a:solidFill>
                <a:latin typeface="Calibri"/>
              </a:rPr>
              <a:t>10 ms</a:t>
            </a:r>
            <a:r>
              <a:rPr sz="1700" b="0" i="0">
                <a:solidFill>
                  <a:srgbClr val="14171C"/>
                </a:solidFill>
                <a:latin typeface="Calibri"/>
              </a:rPr>
              <a:t>, for at most 0.1 % error between time steps [pdf p.38]. He ran the engine every </a:t>
            </a:r>
            <a:r>
              <a:rPr sz="1700" b="1" i="0">
                <a:solidFill>
                  <a:srgbClr val="14171C"/>
                </a:solidFill>
                <a:latin typeface="Calibri"/>
              </a:rPr>
              <a:t>7 ms</a:t>
            </a:r>
            <a:r>
              <a:rPr sz="1700" b="0" i="0">
                <a:solidFill>
                  <a:srgbClr val="14171C"/>
                </a:solidFill>
                <a:latin typeface="Calibri"/>
              </a:rPr>
              <a:t> and NP every </a:t>
            </a:r>
            <a:r>
              <a:rPr sz="1700" b="1" i="0">
                <a:solidFill>
                  <a:srgbClr val="14171C"/>
                </a:solidFill>
                <a:latin typeface="Calibri"/>
              </a:rPr>
              <a:t>14 ms</a:t>
            </a:r>
            <a:r>
              <a:rPr sz="1700" b="0" i="0">
                <a:solidFill>
                  <a:srgbClr val="14171C"/>
                </a:solidFill>
                <a:latin typeface="Calibri"/>
              </a:rPr>
              <a:t>, with the rotor [pdf p.47].</a:t>
            </a:r>
          </a:p>
          <a:p>
            <a:pPr marL="201168" indent="-201168">
              <a:lnSpc>
                <a:spcPct val="105000"/>
              </a:lnSpc>
              <a:spcBef>
                <a:spcPts val="1100"/>
              </a:spcBef>
              <a:buFont typeface="Arial"/>
              <a:buChar char="•"/>
            </a:pPr>
            <a:r>
              <a:rPr sz="1700" b="0" i="0">
                <a:solidFill>
                  <a:srgbClr val="14171C"/>
                </a:solidFill>
                <a:latin typeface="Calibri"/>
              </a:rPr>
              <a:t>Why fixed-point iteration rather than Newton: </a:t>
            </a:r>
            <a:r>
              <a:rPr sz="1700" b="0" i="1">
                <a:solidFill>
                  <a:srgbClr val="14171C"/>
                </a:solidFill>
                <a:latin typeface="Calibri"/>
              </a:rPr>
              <a:t>“Because multiple passes are required to determine elements of the Jacobian for quadratic convergence methods, they were found to involve more computation than linearly convergent methods.”</a:t>
            </a:r>
            <a:r>
              <a:rPr sz="1700" b="0" i="0">
                <a:solidFill>
                  <a:srgbClr val="14171C"/>
                </a:solidFill>
                <a:latin typeface="Calibri"/>
              </a:rPr>
              <a:t> [pdf p.36]</a:t>
            </a:r>
          </a:p>
          <a:p>
            <a:pPr marL="201168" indent="-201168">
              <a:lnSpc>
                <a:spcPct val="105000"/>
              </a:lnSpc>
              <a:spcBef>
                <a:spcPts val="1100"/>
              </a:spcBef>
              <a:buFont typeface="Arial"/>
              <a:buChar char="•"/>
            </a:pPr>
            <a:r>
              <a:rPr sz="1700" b="0" i="0">
                <a:solidFill>
                  <a:srgbClr val="14171C"/>
                </a:solidFill>
                <a:latin typeface="Calibri"/>
              </a:rPr>
              <a:t>The report names no integrator. We use </a:t>
            </a:r>
            <a:r>
              <a:rPr sz="1700" b="1" i="0">
                <a:solidFill>
                  <a:srgbClr val="14171C"/>
                </a:solidFill>
                <a:latin typeface="Calibri"/>
              </a:rPr>
              <a:t>explicit Euler</a:t>
            </a:r>
            <a:r>
              <a:rPr sz="1700" b="0" i="0">
                <a:solidFill>
                  <a:srgbClr val="14171C"/>
                </a:solidFill>
                <a:latin typeface="Calibri"/>
              </a:rPr>
              <a:t>, consistent with the “no iteration between time steps” of earlier real-time models [pdf p.35].</a:t>
            </a:r>
          </a:p>
          <a:p>
            <a:pPr marL="201168" indent="-201168">
              <a:lnSpc>
                <a:spcPct val="105000"/>
              </a:lnSpc>
              <a:spcBef>
                <a:spcPts val="1100"/>
              </a:spcBef>
              <a:buFont typeface="Arial"/>
              <a:buChar char="•"/>
            </a:pPr>
            <a:r>
              <a:rPr sz="1700" b="1" i="0">
                <a:solidFill>
                  <a:srgbClr val="14171C"/>
                </a:solidFill>
                <a:latin typeface="Calibri"/>
              </a:rPr>
              <a:t>On modern hardware, speed is no longer the limit.</a:t>
            </a:r>
            <a:r>
              <a:rPr sz="1700" b="0" i="0">
                <a:solidFill>
                  <a:srgbClr val="14171C"/>
                </a:solidFill>
                <a:latin typeface="Calibri"/>
              </a:rPr>
              <a:t> Ballin's engine had “only a small percentage of the available computation time” on a 1988 CDC 7600 [pdf pp.35–36]. Today one frame takes well under a millisecond on any ordinary processor, even in plain Python. We keep his 7 ms because the response depends on the step.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Fuel control, part 1: the HMU (hydromechanical unit)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 C9, pdf p.89; Figures C18–C19, pdf p.92</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17</a:t>
            </a:r>
          </a:p>
        </p:txBody>
      </p:sp>
      <p:pic>
        <p:nvPicPr>
          <p:cNvPr id="8" name="Picture 7" descr="c9.png"/>
          <p:cNvPicPr>
            <a:picLocks noChangeAspect="1"/>
          </p:cNvPicPr>
          <p:nvPr/>
        </p:nvPicPr>
        <p:blipFill>
          <a:blip r:embed="rId2"/>
          <a:stretch>
            <a:fillRect/>
          </a:stretch>
        </p:blipFill>
        <p:spPr>
          <a:xfrm>
            <a:off x="502920" y="1521932"/>
            <a:ext cx="6492240" cy="4271335"/>
          </a:xfrm>
          <a:prstGeom prst="rect">
            <a:avLst/>
          </a:prstGeom>
        </p:spPr>
      </p:pic>
      <p:sp>
        <p:nvSpPr>
          <p:cNvPr id="9" name="TextBox 8"/>
          <p:cNvSpPr txBox="1"/>
          <p:nvPr/>
        </p:nvSpPr>
        <p:spPr>
          <a:xfrm>
            <a:off x="7178040" y="1325880"/>
            <a:ext cx="4526280"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The </a:t>
            </a:r>
            <a:r>
              <a:rPr sz="1300" b="1" i="0">
                <a:solidFill>
                  <a:srgbClr val="14171C"/>
                </a:solidFill>
                <a:latin typeface="Calibri"/>
              </a:rPr>
              <a:t>primary loop</a:t>
            </a:r>
            <a:r>
              <a:rPr sz="1300" b="0" i="0">
                <a:solidFill>
                  <a:srgbClr val="14171C"/>
                </a:solidFill>
                <a:latin typeface="Calibri"/>
              </a:rPr>
              <a:t>: governs NG on a droop line, applies the idle, acceleration and deceleration limits, and meters fuel. It runs alone if the electrical trim is null.</a:t>
            </a:r>
          </a:p>
          <a:p>
            <a:pPr marL="201168" indent="-201168">
              <a:lnSpc>
                <a:spcPct val="105000"/>
              </a:lnSpc>
              <a:spcBef>
                <a:spcPts val="700"/>
              </a:spcBef>
              <a:buFont typeface="Arial"/>
              <a:buChar char="•"/>
            </a:pPr>
            <a:r>
              <a:rPr sz="1300" b="0" i="0">
                <a:solidFill>
                  <a:srgbClr val="14171C"/>
                </a:solidFill>
                <a:latin typeface="Calibri"/>
              </a:rPr>
              <a:t>Droop line, read sign by sign off the diagram:</a:t>
            </a:r>
          </a:p>
          <a:p>
            <a:pPr>
              <a:lnSpc>
                <a:spcPct val="105000"/>
              </a:lnSpc>
              <a:spcBef>
                <a:spcPts val="700"/>
              </a:spcBef>
            </a:pPr>
            <a:r>
              <a:rPr sz="1300" b="0" i="0">
                <a:solidFill>
                  <a:srgbClr val="14171C"/>
                </a:solidFill>
                <a:latin typeface="Calibri"/>
              </a:rPr>
              <a:t> WFPDM = WFPTP + KNDRP·(NGREF − PCNGHL)</a:t>
            </a:r>
          </a:p>
          <a:p>
            <a:pPr>
              <a:lnSpc>
                <a:spcPct val="105000"/>
              </a:lnSpc>
              <a:spcBef>
                <a:spcPts val="700"/>
              </a:spcBef>
            </a:pPr>
            <a:r>
              <a:rPr sz="1300" b="0" i="0">
                <a:solidFill>
                  <a:srgbClr val="14171C"/>
                </a:solidFill>
                <a:latin typeface="Calibri"/>
              </a:rPr>
              <a:t>  − WFPRF − max(DWFPL + TMRU, 0)</a:t>
            </a:r>
          </a:p>
          <a:p>
            <a:pPr marL="201168" indent="-201168">
              <a:lnSpc>
                <a:spcPct val="105000"/>
              </a:lnSpc>
              <a:spcBef>
                <a:spcPts val="700"/>
              </a:spcBef>
              <a:buFont typeface="Arial"/>
              <a:buChar char="•"/>
            </a:pPr>
            <a:r>
              <a:rPr sz="1300" b="0" i="0">
                <a:solidFill>
                  <a:srgbClr val="14171C"/>
                </a:solidFill>
                <a:latin typeface="Calibri"/>
              </a:rPr>
              <a:t>Limit selection is a fixed cascade (Fig. C18):</a:t>
            </a:r>
          </a:p>
          <a:p>
            <a:pPr>
              <a:lnSpc>
                <a:spcPct val="105000"/>
              </a:lnSpc>
              <a:spcBef>
                <a:spcPts val="700"/>
              </a:spcBef>
            </a:pPr>
            <a:r>
              <a:rPr sz="1300" b="0" i="0">
                <a:solidFill>
                  <a:srgbClr val="14171C"/>
                </a:solidFill>
                <a:latin typeface="Calibri"/>
              </a:rPr>
              <a:t> HMUSEL = max(min(max(WFPDM, WFIDM), WFPAC), WFPDC)</a:t>
            </a:r>
          </a:p>
          <a:p>
            <a:pPr marL="201168" indent="-201168">
              <a:lnSpc>
                <a:spcPct val="105000"/>
              </a:lnSpc>
              <a:spcBef>
                <a:spcPts val="700"/>
              </a:spcBef>
              <a:buFont typeface="Arial"/>
              <a:buChar char="•"/>
            </a:pPr>
            <a:r>
              <a:rPr sz="1300" b="0" i="0">
                <a:solidFill>
                  <a:srgbClr val="14171C"/>
                </a:solidFill>
                <a:latin typeface="Calibri"/>
              </a:rPr>
              <a:t>Everything above is a fuel-flow </a:t>
            </a:r>
            <a:r>
              <a:rPr sz="1300" b="0" i="1">
                <a:solidFill>
                  <a:srgbClr val="14171C"/>
                </a:solidFill>
                <a:latin typeface="Calibri"/>
              </a:rPr>
              <a:t>parameter</a:t>
            </a:r>
            <a:r>
              <a:rPr sz="1300" b="0" i="0">
                <a:solidFill>
                  <a:srgbClr val="14171C"/>
                </a:solidFill>
                <a:latin typeface="Calibri"/>
              </a:rPr>
              <a:t>, Wf/Ps3. It becomes fuel flow at the metering valve: WFMV = HMUSEL × PS3L.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Fuel control, part 2: the ECU (electrical control unit)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 C1, pdf p.85; Figures C2–C8, pdf pp.85–88</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18</a:t>
            </a:r>
          </a:p>
        </p:txBody>
      </p:sp>
      <p:pic>
        <p:nvPicPr>
          <p:cNvPr id="8" name="Picture 7" descr="c1.png"/>
          <p:cNvPicPr>
            <a:picLocks noChangeAspect="1"/>
          </p:cNvPicPr>
          <p:nvPr/>
        </p:nvPicPr>
        <p:blipFill>
          <a:blip r:embed="rId2"/>
          <a:stretch>
            <a:fillRect/>
          </a:stretch>
        </p:blipFill>
        <p:spPr>
          <a:xfrm>
            <a:off x="1024889" y="1325879"/>
            <a:ext cx="5905500" cy="2834640"/>
          </a:xfrm>
          <a:prstGeom prst="rect">
            <a:avLst/>
          </a:prstGeom>
        </p:spPr>
      </p:pic>
      <p:sp>
        <p:nvSpPr>
          <p:cNvPr id="9" name="TextBox 8"/>
          <p:cNvSpPr txBox="1"/>
          <p:nvPr/>
        </p:nvSpPr>
        <p:spPr>
          <a:xfrm>
            <a:off x="502920" y="4297680"/>
            <a:ext cx="6949440" cy="18288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600" b="0" i="0">
                <a:solidFill>
                  <a:srgbClr val="14171C"/>
                </a:solidFill>
                <a:latin typeface="Calibri"/>
              </a:rPr>
              <a:t>Governs </a:t>
            </a:r>
            <a:r>
              <a:rPr sz="1600" b="1" i="0">
                <a:solidFill>
                  <a:srgbClr val="14171C"/>
                </a:solidFill>
                <a:latin typeface="Calibri"/>
              </a:rPr>
              <a:t>power-turbine speed NP</a:t>
            </a:r>
            <a:r>
              <a:rPr sz="1600" b="0" i="0">
                <a:solidFill>
                  <a:srgbClr val="14171C"/>
                </a:solidFill>
                <a:latin typeface="Calibri"/>
              </a:rPr>
              <a:t> and </a:t>
            </a:r>
            <a:r>
              <a:rPr sz="1600" b="1" i="0">
                <a:solidFill>
                  <a:srgbClr val="14171C"/>
                </a:solidFill>
                <a:latin typeface="Calibri"/>
              </a:rPr>
              <a:t>limits T45</a:t>
            </a:r>
            <a:r>
              <a:rPr sz="1600" b="0" i="0">
                <a:solidFill>
                  <a:srgbClr val="14171C"/>
                </a:solidFill>
                <a:latin typeface="Calibri"/>
              </a:rPr>
              <a:t>.</a:t>
            </a:r>
          </a:p>
          <a:p>
            <a:pPr marL="201168" indent="-201168">
              <a:lnSpc>
                <a:spcPct val="105000"/>
              </a:lnSpc>
              <a:spcBef>
                <a:spcPts val="800"/>
              </a:spcBef>
              <a:buFont typeface="Arial"/>
              <a:buChar char="•"/>
            </a:pPr>
            <a:r>
              <a:rPr sz="1600" b="0" i="0">
                <a:solidFill>
                  <a:srgbClr val="14171C"/>
                </a:solidFill>
                <a:latin typeface="Calibri"/>
              </a:rPr>
              <a:t>Its only output, </a:t>
            </a:r>
            <a:r>
              <a:rPr sz="1600" b="1" i="0">
                <a:solidFill>
                  <a:srgbClr val="14171C"/>
                </a:solidFill>
                <a:latin typeface="Calibri"/>
              </a:rPr>
              <a:t>SPDG</a:t>
            </a:r>
            <a:r>
              <a:rPr sz="1600" b="0" i="0">
                <a:solidFill>
                  <a:srgbClr val="14171C"/>
                </a:solidFill>
                <a:latin typeface="Calibri"/>
              </a:rPr>
              <a:t>, drives a torque motor that trims the HMU's droop line downward: more SPDG, less fuel.</a:t>
            </a:r>
          </a:p>
        </p:txBody>
      </p:sp>
      <p:sp>
        <p:nvSpPr>
          <p:cNvPr id="10" name="TextBox 9"/>
          <p:cNvSpPr txBox="1"/>
          <p:nvPr/>
        </p:nvSpPr>
        <p:spPr>
          <a:xfrm>
            <a:off x="7726679" y="1325880"/>
            <a:ext cx="3977639"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Speed error: SPDER = PCNP/(CTPL·s + 1) − XQLO − PCPRF</a:t>
            </a:r>
          </a:p>
          <a:p>
            <a:pPr marL="201168" indent="-201168">
              <a:lnSpc>
                <a:spcPct val="105000"/>
              </a:lnSpc>
              <a:spcBef>
                <a:spcPts val="800"/>
              </a:spcBef>
              <a:buFont typeface="Arial"/>
              <a:buChar char="•"/>
            </a:pPr>
            <a:r>
              <a:rPr sz="1400" b="0" i="0">
                <a:solidFill>
                  <a:srgbClr val="14171C"/>
                </a:solidFill>
                <a:latin typeface="Calibri"/>
              </a:rPr>
              <a:t>Temperature error: ET45 = T45EL − T45REF</a:t>
            </a:r>
          </a:p>
          <a:p>
            <a:pPr marL="201168" indent="-201168">
              <a:lnSpc>
                <a:spcPct val="105000"/>
              </a:lnSpc>
              <a:spcBef>
                <a:spcPts val="800"/>
              </a:spcBef>
              <a:buFont typeface="Arial"/>
              <a:buChar char="•"/>
            </a:pPr>
            <a:r>
              <a:rPr sz="1400" b="0" i="0">
                <a:solidFill>
                  <a:srgbClr val="14171C"/>
                </a:solidFill>
                <a:latin typeface="Calibri"/>
              </a:rPr>
              <a:t>Each error is compensated; a </a:t>
            </a:r>
            <a:r>
              <a:rPr sz="1400" b="1" i="0">
                <a:solidFill>
                  <a:srgbClr val="14171C"/>
                </a:solidFill>
                <a:latin typeface="Calibri"/>
              </a:rPr>
              <a:t>maximum-error selector</a:t>
            </a:r>
            <a:r>
              <a:rPr sz="1400" b="0" i="0">
                <a:solidFill>
                  <a:srgbClr val="14171C"/>
                </a:solidFill>
                <a:latin typeface="Calibri"/>
              </a:rPr>
              <a:t> passes the larger to the proportional-plus-integral stage, so T45 limiting takes over from speed governing when its error is the bigger.</a:t>
            </a:r>
          </a:p>
          <a:p>
            <a:pPr marL="201168" indent="-201168">
              <a:lnSpc>
                <a:spcPct val="105000"/>
              </a:lnSpc>
              <a:spcBef>
                <a:spcPts val="800"/>
              </a:spcBef>
              <a:buFont typeface="Arial"/>
              <a:buChar char="•"/>
            </a:pPr>
            <a:r>
              <a:rPr sz="1400" b="0" i="0">
                <a:solidFill>
                  <a:srgbClr val="14171C"/>
                </a:solidFill>
                <a:latin typeface="Calibri"/>
              </a:rPr>
              <a:t>Single engine, as drawn: the load-share link (Fig. C2) is open.</a:t>
            </a:r>
          </a:p>
          <a:p>
            <a:pPr marL="201168" indent="-201168">
              <a:lnSpc>
                <a:spcPct val="105000"/>
              </a:lnSpc>
              <a:spcBef>
                <a:spcPts val="800"/>
              </a:spcBef>
              <a:buFont typeface="Arial"/>
              <a:buChar char="•"/>
            </a:pPr>
            <a:r>
              <a:rPr sz="1400" b="0" i="0">
                <a:solidFill>
                  <a:srgbClr val="14171C"/>
                </a:solidFill>
                <a:latin typeface="Calibri"/>
              </a:rPr>
              <a:t>At every Table B.1 trim the sensed T45 sits about 360–570 °R below its limit, so the temperature path is idle in steady flight.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Sensor and actuator dynamics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 Figures C5, C11, C13, C15, C19, pdf pp.87–92; Table C.1, pdf pp.83–84</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19</a:t>
            </a:r>
          </a:p>
        </p:txBody>
      </p:sp>
      <p:pic>
        <p:nvPicPr>
          <p:cNvPr id="8" name="Picture 7" descr="c15.png"/>
          <p:cNvPicPr>
            <a:picLocks noChangeAspect="1"/>
          </p:cNvPicPr>
          <p:nvPr/>
        </p:nvPicPr>
        <p:blipFill>
          <a:blip r:embed="rId2"/>
          <a:stretch>
            <a:fillRect/>
          </a:stretch>
        </p:blipFill>
        <p:spPr>
          <a:xfrm>
            <a:off x="502920" y="1497724"/>
            <a:ext cx="3566160" cy="799311"/>
          </a:xfrm>
          <a:prstGeom prst="rect">
            <a:avLst/>
          </a:prstGeom>
        </p:spPr>
      </p:pic>
      <p:sp>
        <p:nvSpPr>
          <p:cNvPr id="9" name="TextBox 8"/>
          <p:cNvSpPr txBox="1"/>
          <p:nvPr/>
        </p:nvSpPr>
        <p:spPr>
          <a:xfrm>
            <a:off x="502920" y="2496312"/>
            <a:ext cx="3566160"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NG speed sensor (C15): 0.05 %NG hysteresis band, then a lag</a:t>
            </a:r>
          </a:p>
        </p:txBody>
      </p:sp>
      <p:pic>
        <p:nvPicPr>
          <p:cNvPr id="10" name="Picture 9" descr="c11.png"/>
          <p:cNvPicPr>
            <a:picLocks noChangeAspect="1"/>
          </p:cNvPicPr>
          <p:nvPr/>
        </p:nvPicPr>
        <p:blipFill>
          <a:blip r:embed="rId3"/>
          <a:stretch>
            <a:fillRect/>
          </a:stretch>
        </p:blipFill>
        <p:spPr>
          <a:xfrm>
            <a:off x="4297680" y="1326794"/>
            <a:ext cx="3566159" cy="1141171"/>
          </a:xfrm>
          <a:prstGeom prst="rect">
            <a:avLst/>
          </a:prstGeom>
        </p:spPr>
      </p:pic>
      <p:sp>
        <p:nvSpPr>
          <p:cNvPr id="11" name="TextBox 10"/>
          <p:cNvSpPr txBox="1"/>
          <p:nvPr/>
        </p:nvSpPr>
        <p:spPr>
          <a:xfrm>
            <a:off x="4297680" y="2496312"/>
            <a:ext cx="3566160"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Ps3 sensor (C11): a lag, then a 0.375 psia hysteresis band</a:t>
            </a:r>
          </a:p>
        </p:txBody>
      </p:sp>
      <p:pic>
        <p:nvPicPr>
          <p:cNvPr id="12" name="Picture 11" descr="c13.png"/>
          <p:cNvPicPr>
            <a:picLocks noChangeAspect="1"/>
          </p:cNvPicPr>
          <p:nvPr/>
        </p:nvPicPr>
        <p:blipFill>
          <a:blip r:embed="rId4"/>
          <a:stretch>
            <a:fillRect/>
          </a:stretch>
        </p:blipFill>
        <p:spPr>
          <a:xfrm>
            <a:off x="8092440" y="1379863"/>
            <a:ext cx="3566160" cy="1035033"/>
          </a:xfrm>
          <a:prstGeom prst="rect">
            <a:avLst/>
          </a:prstGeom>
        </p:spPr>
      </p:pic>
      <p:sp>
        <p:nvSpPr>
          <p:cNvPr id="13" name="TextBox 12"/>
          <p:cNvSpPr txBox="1"/>
          <p:nvPr/>
        </p:nvSpPr>
        <p:spPr>
          <a:xfrm>
            <a:off x="8092440" y="2496312"/>
            <a:ext cx="3566160"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Collective rigging (C13): 2.5° hysteresis (UH-60A)</a:t>
            </a:r>
          </a:p>
        </p:txBody>
      </p:sp>
      <p:pic>
        <p:nvPicPr>
          <p:cNvPr id="14" name="Picture 13" descr="c5.png"/>
          <p:cNvPicPr>
            <a:picLocks noChangeAspect="1"/>
          </p:cNvPicPr>
          <p:nvPr/>
        </p:nvPicPr>
        <p:blipFill>
          <a:blip r:embed="rId5"/>
          <a:stretch>
            <a:fillRect/>
          </a:stretch>
        </p:blipFill>
        <p:spPr>
          <a:xfrm>
            <a:off x="1096391" y="3108960"/>
            <a:ext cx="4208016" cy="2148840"/>
          </a:xfrm>
          <a:prstGeom prst="rect">
            <a:avLst/>
          </a:prstGeom>
        </p:spPr>
      </p:pic>
      <p:sp>
        <p:nvSpPr>
          <p:cNvPr id="15" name="TextBox 14"/>
          <p:cNvSpPr txBox="1"/>
          <p:nvPr/>
        </p:nvSpPr>
        <p:spPr>
          <a:xfrm>
            <a:off x="502920" y="5285232"/>
            <a:ext cx="5394960"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T45 thermocouple harness (C5): two lags, the second one scheduled (F_EC1)</a:t>
            </a:r>
          </a:p>
        </p:txBody>
      </p:sp>
      <p:pic>
        <p:nvPicPr>
          <p:cNvPr id="16" name="Picture 15" descr="c19.png"/>
          <p:cNvPicPr>
            <a:picLocks noChangeAspect="1"/>
          </p:cNvPicPr>
          <p:nvPr/>
        </p:nvPicPr>
        <p:blipFill>
          <a:blip r:embed="rId6"/>
          <a:stretch>
            <a:fillRect/>
          </a:stretch>
        </p:blipFill>
        <p:spPr>
          <a:xfrm>
            <a:off x="6355080" y="3462324"/>
            <a:ext cx="5303520" cy="1304951"/>
          </a:xfrm>
          <a:prstGeom prst="rect">
            <a:avLst/>
          </a:prstGeom>
        </p:spPr>
      </p:pic>
      <p:sp>
        <p:nvSpPr>
          <p:cNvPr id="17" name="TextBox 16"/>
          <p:cNvSpPr txBox="1"/>
          <p:nvPr/>
        </p:nvSpPr>
        <p:spPr>
          <a:xfrm>
            <a:off x="6355080" y="4965192"/>
            <a:ext cx="5303520"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Fuel metering valve (C19): limits, a lag and a 0.015 s transport delay</a:t>
            </a:r>
          </a:p>
        </p:txBody>
      </p:sp>
      <p:sp>
        <p:nvSpPr>
          <p:cNvPr id="18" name="TextBox 17"/>
          <p:cNvSpPr txBox="1"/>
          <p:nvPr/>
        </p:nvSpPr>
        <p:spPr>
          <a:xfrm>
            <a:off x="502920" y="5852160"/>
            <a:ext cx="11185855" cy="36576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14171C"/>
                </a:solidFill>
                <a:latin typeface="Calibri"/>
              </a:rPr>
              <a:t>In all, the fuel control has </a:t>
            </a:r>
            <a:r>
              <a:rPr sz="1400" b="1" i="0">
                <a:solidFill>
                  <a:srgbClr val="14171C"/>
                </a:solidFill>
                <a:latin typeface="Calibri"/>
              </a:rPr>
              <a:t>22 continuous states</a:t>
            </a:r>
            <a:r>
              <a:rPr sz="1400" b="0" i="0">
                <a:solidFill>
                  <a:srgbClr val="14171C"/>
                </a:solidFill>
                <a:latin typeface="Calibri"/>
              </a:rPr>
              <a:t> and </a:t>
            </a:r>
            <a:r>
              <a:rPr sz="1400" b="1" i="0">
                <a:solidFill>
                  <a:srgbClr val="14171C"/>
                </a:solidFill>
                <a:latin typeface="Calibri"/>
              </a:rPr>
              <a:t>4 memory elements</a:t>
            </a:r>
            <a:r>
              <a:rPr sz="1400" b="0" i="0">
                <a:solidFill>
                  <a:srgbClr val="14171C"/>
                </a:solidFill>
                <a:latin typeface="Calibri"/>
              </a:rPr>
              <a:t> (three hysteresis bands and a transport delay).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Assumptions and shortcomings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Ballin's admitted limits: pdf pp.38, 39, 47, 50, 54</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20</a:t>
            </a:r>
          </a:p>
        </p:txBody>
      </p:sp>
      <p:sp>
        <p:nvSpPr>
          <p:cNvPr id="8" name="TextBox 7"/>
          <p:cNvSpPr txBox="1"/>
          <p:nvPr/>
        </p:nvSpPr>
        <p:spPr>
          <a:xfrm>
            <a:off x="502920" y="1325880"/>
            <a:ext cx="5486400" cy="365760"/>
          </a:xfrm>
          <a:prstGeom prst="rect">
            <a:avLst/>
          </a:prstGeom>
          <a:noFill/>
        </p:spPr>
        <p:txBody>
          <a:bodyPr wrap="square" anchor="t" lIns="36576" rIns="36576" tIns="27432" bIns="27432">
            <a:noAutofit/>
          </a:bodyPr>
          <a:lstStyle/>
          <a:p>
            <a:pPr>
              <a:lnSpc>
                <a:spcPct val="105000"/>
              </a:lnSpc>
              <a:spcBef>
                <a:spcPts val="0"/>
              </a:spcBef>
            </a:pPr>
            <a:r>
              <a:rPr sz="1800" b="1" i="0">
                <a:solidFill>
                  <a:srgbClr val="14171C"/>
                </a:solidFill>
                <a:latin typeface="Calibri"/>
              </a:rPr>
              <a:t>Not in the model</a:t>
            </a:r>
          </a:p>
        </p:txBody>
      </p:sp>
      <p:sp>
        <p:nvSpPr>
          <p:cNvPr id="9" name="TextBox 8"/>
          <p:cNvSpPr txBox="1"/>
          <p:nvPr/>
        </p:nvSpPr>
        <p:spPr>
          <a:xfrm>
            <a:off x="502920" y="1737360"/>
            <a:ext cx="5486400" cy="43891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500" b="0" i="0">
                <a:solidFill>
                  <a:srgbClr val="14171C"/>
                </a:solidFill>
                <a:latin typeface="Calibri"/>
              </a:rPr>
              <a:t>Energy storage in the gas volumes: mass conservation only</a:t>
            </a:r>
          </a:p>
          <a:p>
            <a:pPr marL="201168" indent="-201168">
              <a:lnSpc>
                <a:spcPct val="105000"/>
              </a:lnSpc>
              <a:spcBef>
                <a:spcPts val="600"/>
              </a:spcBef>
              <a:buFont typeface="Arial"/>
              <a:buChar char="•"/>
            </a:pPr>
            <a:r>
              <a:rPr sz="1500" b="0" i="0">
                <a:solidFill>
                  <a:srgbClr val="14171C"/>
                </a:solidFill>
                <a:latin typeface="Calibri"/>
              </a:rPr>
              <a:t>Tip-clearance effects: the report never mentions them</a:t>
            </a:r>
          </a:p>
          <a:p>
            <a:pPr marL="201168" indent="-201168">
              <a:lnSpc>
                <a:spcPct val="105000"/>
              </a:lnSpc>
              <a:spcBef>
                <a:spcPts val="600"/>
              </a:spcBef>
              <a:buFont typeface="Arial"/>
              <a:buChar char="•"/>
            </a:pPr>
            <a:r>
              <a:rPr sz="1500" b="0" i="0">
                <a:solidFill>
                  <a:srgbClr val="14171C"/>
                </a:solidFill>
                <a:latin typeface="Calibri"/>
              </a:rPr>
              <a:t>Heat soakage anywhere but station 4.1</a:t>
            </a:r>
          </a:p>
          <a:p>
            <a:pPr marL="201168" indent="-201168">
              <a:lnSpc>
                <a:spcPct val="105000"/>
              </a:lnSpc>
              <a:spcBef>
                <a:spcPts val="600"/>
              </a:spcBef>
              <a:buFont typeface="Arial"/>
              <a:buChar char="•"/>
            </a:pPr>
            <a:r>
              <a:rPr sz="1500" b="0" i="0">
                <a:solidFill>
                  <a:srgbClr val="14171C"/>
                </a:solidFill>
                <a:latin typeface="Calibri"/>
              </a:rPr>
              <a:t>Map dynamics: every compressor and turbine map is a steady lookup</a:t>
            </a:r>
          </a:p>
          <a:p>
            <a:pPr marL="201168" indent="-201168">
              <a:lnSpc>
                <a:spcPct val="105000"/>
              </a:lnSpc>
              <a:spcBef>
                <a:spcPts val="600"/>
              </a:spcBef>
              <a:buFont typeface="Arial"/>
              <a:buChar char="•"/>
            </a:pPr>
            <a:r>
              <a:rPr sz="1500" b="0" i="0">
                <a:solidFill>
                  <a:srgbClr val="14171C"/>
                </a:solidFill>
                <a:latin typeface="Calibri"/>
              </a:rPr>
              <a:t>Inlet-guide-vane dynamics [pp.38, 50]</a:t>
            </a:r>
          </a:p>
          <a:p>
            <a:pPr marL="201168" indent="-201168">
              <a:lnSpc>
                <a:spcPct val="105000"/>
              </a:lnSpc>
              <a:spcBef>
                <a:spcPts val="600"/>
              </a:spcBef>
              <a:buFont typeface="Arial"/>
              <a:buChar char="•"/>
            </a:pPr>
            <a:r>
              <a:rPr sz="1500" b="0" i="0">
                <a:solidFill>
                  <a:srgbClr val="14171C"/>
                </a:solidFill>
                <a:latin typeface="Calibri"/>
              </a:rPr>
              <a:t>The engine clutch the report describes [p.19]</a:t>
            </a:r>
          </a:p>
          <a:p>
            <a:pPr marL="201168" indent="-201168">
              <a:lnSpc>
                <a:spcPct val="105000"/>
              </a:lnSpc>
              <a:spcBef>
                <a:spcPts val="600"/>
              </a:spcBef>
              <a:buFont typeface="Arial"/>
              <a:buChar char="•"/>
            </a:pPr>
            <a:r>
              <a:rPr sz="1500" b="0" i="0">
                <a:solidFill>
                  <a:srgbClr val="14171C"/>
                </a:solidFill>
                <a:latin typeface="Calibri"/>
              </a:rPr>
              <a:t>The helicopter: rotor load and inertia come from outside</a:t>
            </a:r>
          </a:p>
          <a:p>
            <a:pPr marL="201168" indent="-201168">
              <a:lnSpc>
                <a:spcPct val="105000"/>
              </a:lnSpc>
              <a:spcBef>
                <a:spcPts val="600"/>
              </a:spcBef>
              <a:buFont typeface="Arial"/>
              <a:buChar char="•"/>
            </a:pPr>
            <a:r>
              <a:rPr sz="1500" b="0" i="0">
                <a:solidFill>
                  <a:srgbClr val="14171C"/>
                </a:solidFill>
                <a:latin typeface="Calibri"/>
              </a:rPr>
              <a:t>Operation above 100 %NG [p.39], or fuel control below flight idle [p.38]</a:t>
            </a:r>
          </a:p>
        </p:txBody>
      </p:sp>
      <p:sp>
        <p:nvSpPr>
          <p:cNvPr id="10" name="TextBox 9"/>
          <p:cNvSpPr txBox="1"/>
          <p:nvPr/>
        </p:nvSpPr>
        <p:spPr>
          <a:xfrm>
            <a:off x="6263640" y="1325880"/>
            <a:ext cx="5440680" cy="365760"/>
          </a:xfrm>
          <a:prstGeom prst="rect">
            <a:avLst/>
          </a:prstGeom>
          <a:noFill/>
        </p:spPr>
        <p:txBody>
          <a:bodyPr wrap="square" anchor="t" lIns="36576" rIns="36576" tIns="27432" bIns="27432">
            <a:noAutofit/>
          </a:bodyPr>
          <a:lstStyle/>
          <a:p>
            <a:pPr>
              <a:lnSpc>
                <a:spcPct val="105000"/>
              </a:lnSpc>
              <a:spcBef>
                <a:spcPts val="0"/>
              </a:spcBef>
            </a:pPr>
            <a:r>
              <a:rPr sz="1800" b="1" i="0">
                <a:solidFill>
                  <a:srgbClr val="14171C"/>
                </a:solidFill>
                <a:latin typeface="Calibri"/>
              </a:rPr>
              <a:t>What Ballin says about his own model</a:t>
            </a:r>
          </a:p>
        </p:txBody>
      </p:sp>
      <p:sp>
        <p:nvSpPr>
          <p:cNvPr id="11" name="TextBox 10"/>
          <p:cNvSpPr txBox="1"/>
          <p:nvPr/>
        </p:nvSpPr>
        <p:spPr>
          <a:xfrm>
            <a:off x="6263640" y="1737360"/>
            <a:ext cx="5440680" cy="43891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500" b="0" i="0">
                <a:solidFill>
                  <a:srgbClr val="14171C"/>
                </a:solidFill>
                <a:latin typeface="Calibri"/>
              </a:rPr>
              <a:t>T41 and T45 at trim slightly low in every validation case [p.47]</a:t>
            </a:r>
          </a:p>
          <a:p>
            <a:pPr marL="201168" indent="-201168">
              <a:lnSpc>
                <a:spcPct val="105000"/>
              </a:lnSpc>
              <a:spcBef>
                <a:spcPts val="600"/>
              </a:spcBef>
              <a:buFont typeface="Arial"/>
              <a:buChar char="•"/>
            </a:pPr>
            <a:r>
              <a:rPr sz="1500" b="0" i="0">
                <a:solidFill>
                  <a:srgbClr val="14171C"/>
                </a:solidFill>
                <a:latin typeface="Calibri"/>
              </a:rPr>
              <a:t>Heat-sink constants the same for heating and cooling [pp.47, 50]</a:t>
            </a:r>
          </a:p>
          <a:p>
            <a:pPr marL="201168" indent="-201168">
              <a:lnSpc>
                <a:spcPct val="105000"/>
              </a:lnSpc>
              <a:spcBef>
                <a:spcPts val="600"/>
              </a:spcBef>
              <a:buFont typeface="Arial"/>
              <a:buChar char="•"/>
            </a:pPr>
            <a:r>
              <a:rPr sz="1500" b="0" i="0">
                <a:solidFill>
                  <a:srgbClr val="14171C"/>
                </a:solidFill>
                <a:latin typeface="Calibri"/>
              </a:rPr>
              <a:t>Damping slightly greater than the test data [p.50]</a:t>
            </a:r>
          </a:p>
          <a:p>
            <a:pPr marL="201168" indent="-201168">
              <a:lnSpc>
                <a:spcPct val="105000"/>
              </a:lnSpc>
              <a:spcBef>
                <a:spcPts val="600"/>
              </a:spcBef>
              <a:buFont typeface="Arial"/>
              <a:buChar char="•"/>
            </a:pPr>
            <a:r>
              <a:rPr sz="1500" b="0" i="0">
                <a:solidFill>
                  <a:srgbClr val="14171C"/>
                </a:solidFill>
                <a:latin typeface="Calibri"/>
              </a:rPr>
              <a:t>Load-demand compensation weaker than the aircraft's [pp.47, 50]</a:t>
            </a:r>
          </a:p>
          <a:p>
            <a:pPr marL="201168" indent="-201168">
              <a:lnSpc>
                <a:spcPct val="105000"/>
              </a:lnSpc>
              <a:spcBef>
                <a:spcPts val="600"/>
              </a:spcBef>
              <a:buFont typeface="Arial"/>
              <a:buChar char="•"/>
            </a:pPr>
            <a:r>
              <a:rPr sz="1500" b="0" i="0">
                <a:solidFill>
                  <a:srgbClr val="14171C"/>
                </a:solidFill>
                <a:latin typeface="Calibri"/>
              </a:rPr>
              <a:t>Response depends on the time step [p.38]</a:t>
            </a:r>
          </a:p>
          <a:p>
            <a:pPr marL="201168" indent="-201168">
              <a:lnSpc>
                <a:spcPct val="105000"/>
              </a:lnSpc>
              <a:spcBef>
                <a:spcPts val="600"/>
              </a:spcBef>
              <a:buFont typeface="Arial"/>
              <a:buChar char="•"/>
            </a:pPr>
            <a:r>
              <a:rPr sz="1500" b="0" i="0">
                <a:solidFill>
                  <a:srgbClr val="14171C"/>
                </a:solidFill>
                <a:latin typeface="Calibri"/>
              </a:rPr>
              <a:t>Not valid at low power-turbine speeds [p.39]</a:t>
            </a:r>
          </a:p>
        </p:txBody>
      </p:sp>
      <p:sp>
        <p:nvSpPr>
          <p:cNvPr id="12" name="TextBox 11"/>
          <p:cNvSpPr txBox="1"/>
          <p:nvPr/>
        </p:nvSpPr>
        <p:spPr>
          <a:xfrm>
            <a:off x="6263640" y="4754880"/>
            <a:ext cx="5440680" cy="91440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4D5563"/>
                </a:solidFill>
                <a:latin typeface="Calibri"/>
              </a:rPr>
              <a:t>Everything in both lists is preserved as Ballin had it, to match his results as closely as possible.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From a 1988 scan to numbers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Pipeline: the project's digitizing tools; read-error method: Figures 9–10, pdf pp.45–46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21</a:t>
            </a:r>
          </a:p>
        </p:txBody>
      </p:sp>
      <p:sp>
        <p:nvSpPr>
          <p:cNvPr id="8" name="TextBox 7"/>
          <p:cNvSpPr txBox="1"/>
          <p:nvPr/>
        </p:nvSpPr>
        <p:spPr>
          <a:xfrm>
            <a:off x="502920" y="1325880"/>
            <a:ext cx="11185855" cy="822960"/>
          </a:xfrm>
          <a:prstGeom prst="rect">
            <a:avLst/>
          </a:prstGeom>
          <a:noFill/>
        </p:spPr>
        <p:txBody>
          <a:bodyPr wrap="square" anchor="t" lIns="36576" rIns="36576" tIns="27432" bIns="27432">
            <a:noAutofit/>
          </a:bodyPr>
          <a:lstStyle/>
          <a:p>
            <a:pPr>
              <a:lnSpc>
                <a:spcPct val="105000"/>
              </a:lnSpc>
              <a:spcBef>
                <a:spcPts val="0"/>
              </a:spcBef>
            </a:pPr>
            <a:r>
              <a:rPr sz="1600" b="0" i="0">
                <a:solidFill>
                  <a:srgbClr val="14171C"/>
                </a:solidFill>
                <a:latin typeface="Calibri"/>
              </a:rPr>
              <a:t>The report prints its 19 function tables only as plots: 11 engine functions (Appendix A) and 8 control schedules (Appendix C). Twelve body figures, 4 to 15, carry the validation references. Recovering them is a measurement, treated as one.</a:t>
            </a:r>
          </a:p>
        </p:txBody>
      </p:sp>
      <p:sp>
        <p:nvSpPr>
          <p:cNvPr id="9" name="Pentagon 8"/>
          <p:cNvSpPr/>
          <p:nvPr/>
        </p:nvSpPr>
        <p:spPr>
          <a:xfrm>
            <a:off x="502920" y="2286000"/>
            <a:ext cx="1772869" cy="502920"/>
          </a:xfrm>
          <a:prstGeom prst="homePlate">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Render</a:t>
            </a:r>
          </a:p>
        </p:txBody>
      </p:sp>
      <p:sp>
        <p:nvSpPr>
          <p:cNvPr id="10" name="TextBox 9"/>
          <p:cNvSpPr txBox="1"/>
          <p:nvPr/>
        </p:nvSpPr>
        <p:spPr>
          <a:xfrm>
            <a:off x="548640"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the embedded 300 dpi bitmap, never a resampled image</a:t>
            </a:r>
          </a:p>
        </p:txBody>
      </p:sp>
      <p:sp>
        <p:nvSpPr>
          <p:cNvPr id="11" name="Chevron 10"/>
          <p:cNvSpPr/>
          <p:nvPr/>
        </p:nvSpPr>
        <p:spPr>
          <a:xfrm>
            <a:off x="2385517" y="2286000"/>
            <a:ext cx="1772869" cy="502920"/>
          </a:xfrm>
          <a:prstGeom prst="chevron">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Calibrate</a:t>
            </a:r>
          </a:p>
        </p:txBody>
      </p:sp>
      <p:sp>
        <p:nvSpPr>
          <p:cNvPr id="12" name="TextBox 11"/>
          <p:cNvSpPr txBox="1"/>
          <p:nvPr/>
        </p:nvSpPr>
        <p:spPr>
          <a:xfrm>
            <a:off x="2431237"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frame, tick lattice, axis polynomial: never by eye</a:t>
            </a:r>
          </a:p>
        </p:txBody>
      </p:sp>
      <p:sp>
        <p:nvSpPr>
          <p:cNvPr id="13" name="Chevron 12"/>
          <p:cNvSpPr/>
          <p:nvPr/>
        </p:nvSpPr>
        <p:spPr>
          <a:xfrm>
            <a:off x="4268114" y="2286000"/>
            <a:ext cx="1772869" cy="502920"/>
          </a:xfrm>
          <a:prstGeom prst="chevron">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Rectify</a:t>
            </a:r>
          </a:p>
        </p:txBody>
      </p:sp>
      <p:sp>
        <p:nvSpPr>
          <p:cNvPr id="14" name="TextBox 13"/>
          <p:cNvSpPr txBox="1"/>
          <p:nvPr/>
        </p:nvSpPr>
        <p:spPr>
          <a:xfrm>
            <a:off x="4313834"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page skew as a coordinate transform; pixels untouched</a:t>
            </a:r>
          </a:p>
        </p:txBody>
      </p:sp>
      <p:sp>
        <p:nvSpPr>
          <p:cNvPr id="15" name="Chevron 14"/>
          <p:cNvSpPr/>
          <p:nvPr/>
        </p:nvSpPr>
        <p:spPr>
          <a:xfrm>
            <a:off x="6150711" y="2286000"/>
            <a:ext cx="1772869" cy="502920"/>
          </a:xfrm>
          <a:prstGeom prst="chevron">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Extract</a:t>
            </a:r>
          </a:p>
        </p:txBody>
      </p:sp>
      <p:sp>
        <p:nvSpPr>
          <p:cNvPr id="16" name="TextBox 15"/>
          <p:cNvSpPr txBox="1"/>
          <p:nvPr/>
        </p:nvSpPr>
        <p:spPr>
          <a:xfrm>
            <a:off x="6196431"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a model fitted to each printed marker; curves traced column by column</a:t>
            </a:r>
          </a:p>
        </p:txBody>
      </p:sp>
      <p:sp>
        <p:nvSpPr>
          <p:cNvPr id="17" name="Chevron 16"/>
          <p:cNvSpPr/>
          <p:nvPr/>
        </p:nvSpPr>
        <p:spPr>
          <a:xfrm>
            <a:off x="8033308" y="2286000"/>
            <a:ext cx="1772869" cy="502920"/>
          </a:xfrm>
          <a:prstGeom prst="chevron">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Verify</a:t>
            </a:r>
          </a:p>
        </p:txBody>
      </p:sp>
      <p:sp>
        <p:nvSpPr>
          <p:cNvPr id="18" name="TextBox 17"/>
          <p:cNvSpPr txBox="1"/>
          <p:nvPr/>
        </p:nvSpPr>
        <p:spPr>
          <a:xfrm>
            <a:off x="8079028"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overlays, marker counts, held-out checks</a:t>
            </a:r>
          </a:p>
        </p:txBody>
      </p:sp>
      <p:sp>
        <p:nvSpPr>
          <p:cNvPr id="19" name="Chevron 18"/>
          <p:cNvSpPr/>
          <p:nvPr/>
        </p:nvSpPr>
        <p:spPr>
          <a:xfrm>
            <a:off x="9915906" y="2286000"/>
            <a:ext cx="1772869" cy="502920"/>
          </a:xfrm>
          <a:prstGeom prst="chevron">
            <a:avLst/>
          </a:prstGeom>
          <a:solidFill>
            <a:srgbClr val="4D55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0" i="0">
                <a:solidFill>
                  <a:srgbClr val="FFFFFF"/>
                </a:solidFill>
                <a:latin typeface="Calibri"/>
              </a:rPr>
              <a:t>Reproduce</a:t>
            </a:r>
          </a:p>
        </p:txBody>
      </p:sp>
      <p:sp>
        <p:nvSpPr>
          <p:cNvPr id="20" name="TextBox 19"/>
          <p:cNvSpPr txBox="1"/>
          <p:nvPr/>
        </p:nvSpPr>
        <p:spPr>
          <a:xfrm>
            <a:off x="9961626" y="2880360"/>
            <a:ext cx="1681429" cy="118872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every file regenerated from the page must come out byte for byte</a:t>
            </a:r>
          </a:p>
        </p:txBody>
      </p:sp>
      <p:sp>
        <p:nvSpPr>
          <p:cNvPr id="21" name="TextBox 20"/>
          <p:cNvSpPr txBox="1"/>
          <p:nvPr/>
        </p:nvSpPr>
        <p:spPr>
          <a:xfrm>
            <a:off x="502920" y="4069080"/>
            <a:ext cx="11185855" cy="21031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500" b="1" i="0">
                <a:solidFill>
                  <a:srgbClr val="14171C"/>
                </a:solidFill>
                <a:latin typeface="Calibri"/>
              </a:rPr>
              <a:t>The read error is measured, not guessed.</a:t>
            </a:r>
            <a:r>
              <a:rPr sz="1500" b="0" i="0">
                <a:solidFill>
                  <a:srgbClr val="14171C"/>
                </a:solidFill>
                <a:latin typeface="Calibri"/>
              </a:rPr>
              <a:t> Figures 9 and 10 include the fuel-flow input, whose two levels the caption prints. Digitizing that panel measures the read error directly.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Appendix A's engine functions, as digitized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A1–A11, pdf pp.56–66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22</a:t>
            </a:r>
          </a:p>
        </p:txBody>
      </p:sp>
      <p:pic>
        <p:nvPicPr>
          <p:cNvPr id="8" name="Picture 7" descr="engine-maps.png"/>
          <p:cNvPicPr>
            <a:picLocks noChangeAspect="1"/>
          </p:cNvPicPr>
          <p:nvPr/>
        </p:nvPicPr>
        <p:blipFill>
          <a:blip r:embed="rId2"/>
          <a:stretch>
            <a:fillRect/>
          </a:stretch>
        </p:blipFill>
        <p:spPr>
          <a:xfrm>
            <a:off x="2209972" y="1280160"/>
            <a:ext cx="7771749" cy="4572000"/>
          </a:xfrm>
          <a:prstGeom prst="rect">
            <a:avLst/>
          </a:prstGeom>
        </p:spPr>
      </p:pic>
      <p:sp>
        <p:nvSpPr>
          <p:cNvPr id="9" name="TextBox 8"/>
          <p:cNvSpPr txBox="1"/>
          <p:nvPr/>
        </p:nvSpPr>
        <p:spPr>
          <a:xfrm>
            <a:off x="502920" y="5806440"/>
            <a:ext cx="11185855" cy="45720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Orange dots are Ballin's printed markers as digitized; blue lines are what the model evaluates, after conditioning. The compressor map f1 (bottom row, third) has 11 speed lines on our beta grid; the last panel draws its 89 % line two ways.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How accurately the maps are read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Each map file's own header (data/maps/*.csv); Figures A1–A11, pdf pp.56–66.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23</a:t>
            </a:r>
          </a:p>
        </p:txBody>
      </p:sp>
      <p:graphicFrame>
        <p:nvGraphicFramePr>
          <p:cNvPr id="8" name="Table 7"/>
          <p:cNvGraphicFramePr>
            <a:graphicFrameLocks noGrp="1"/>
          </p:cNvGraphicFramePr>
          <p:nvPr/>
        </p:nvGraphicFramePr>
        <p:xfrm>
          <a:off x="502920" y="1325880"/>
          <a:ext cx="7223757" cy="3950208"/>
        </p:xfrm>
        <a:graphic>
          <a:graphicData uri="http://schemas.openxmlformats.org/drawingml/2006/table">
            <a:tbl>
              <a:tblPr firstRow="1">
                <a:tableStyleId>{5C22544A-7EE6-4342-B048-85BDC9FD1C3A}</a:tableStyleId>
              </a:tblPr>
              <a:tblGrid>
                <a:gridCol w="609232"/>
                <a:gridCol w="2610997"/>
                <a:gridCol w="1174948"/>
                <a:gridCol w="696266"/>
                <a:gridCol w="1044399"/>
                <a:gridCol w="1087915"/>
              </a:tblGrid>
              <a:tr h="329184">
                <a:tc>
                  <a:txBody>
                    <a:bodyPr wrap="square"/>
                    <a:lstStyle/>
                    <a:p>
                      <a:pPr algn="l"/>
                      <a:r>
                        <a:rPr sz="1100" b="1" i="0">
                          <a:solidFill>
                            <a:srgbClr val="FFFFFF"/>
                          </a:solidFill>
                          <a:latin typeface="Calibri"/>
                        </a:rPr>
                        <a:t>Map</a:t>
                      </a:r>
                    </a:p>
                  </a:txBody>
                  <a:tcPr marL="54864" marR="54864" marT="22860" marB="22860" anchor="ctr">
                    <a:solidFill>
                      <a:srgbClr val="4D5563"/>
                    </a:solidFill>
                  </a:tcPr>
                </a:tc>
                <a:tc>
                  <a:txBody>
                    <a:bodyPr wrap="square"/>
                    <a:lstStyle/>
                    <a:p>
                      <a:pPr algn="l"/>
                      <a:r>
                        <a:rPr sz="1100" b="1" i="0">
                          <a:solidFill>
                            <a:srgbClr val="FFFFFF"/>
                          </a:solidFill>
                          <a:latin typeface="Calibri"/>
                        </a:rPr>
                        <a:t>What it gives</a:t>
                      </a:r>
                    </a:p>
                  </a:txBody>
                  <a:tcPr marL="54864" marR="54864" marT="22860" marB="22860" anchor="ctr">
                    <a:solidFill>
                      <a:srgbClr val="4D5563"/>
                    </a:solidFill>
                  </a:tcPr>
                </a:tc>
                <a:tc>
                  <a:txBody>
                    <a:bodyPr wrap="square"/>
                    <a:lstStyle/>
                    <a:p>
                      <a:pPr algn="l"/>
                      <a:r>
                        <a:rPr sz="1100" b="1" i="0">
                          <a:solidFill>
                            <a:srgbClr val="FFFFFF"/>
                          </a:solidFill>
                          <a:latin typeface="Calibri"/>
                        </a:rPr>
                        <a:t>Against</a:t>
                      </a:r>
                    </a:p>
                  </a:txBody>
                  <a:tcPr marL="54864" marR="54864" marT="22860" marB="22860" anchor="ctr">
                    <a:solidFill>
                      <a:srgbClr val="4D5563"/>
                    </a:solidFill>
                  </a:tcPr>
                </a:tc>
                <a:tc>
                  <a:txBody>
                    <a:bodyPr wrap="square"/>
                    <a:lstStyle/>
                    <a:p>
                      <a:pPr algn="r"/>
                      <a:r>
                        <a:rPr sz="1100" b="1" i="0">
                          <a:solidFill>
                            <a:srgbClr val="FFFFFF"/>
                          </a:solidFill>
                          <a:latin typeface="Calibri"/>
                        </a:rPr>
                        <a:t>Points</a:t>
                      </a:r>
                    </a:p>
                  </a:txBody>
                  <a:tcPr marL="54864" marR="54864" marT="22860" marB="22860" anchor="ctr">
                    <a:solidFill>
                      <a:srgbClr val="4D5563"/>
                    </a:solidFill>
                  </a:tcPr>
                </a:tc>
                <a:tc>
                  <a:txBody>
                    <a:bodyPr wrap="square"/>
                    <a:lstStyle/>
                    <a:p>
                      <a:pPr algn="r"/>
                      <a:r>
                        <a:rPr sz="1100" b="1" i="0">
                          <a:solidFill>
                            <a:srgbClr val="FFFFFF"/>
                          </a:solidFill>
                          <a:latin typeface="Calibri"/>
                        </a:rPr>
                        <a:t>Value axis</a:t>
                      </a:r>
                    </a:p>
                  </a:txBody>
                  <a:tcPr marL="54864" marR="54864" marT="22860" marB="22860" anchor="ctr">
                    <a:solidFill>
                      <a:srgbClr val="4D5563"/>
                    </a:solidFill>
                  </a:tcPr>
                </a:tc>
                <a:tc>
                  <a:txBody>
                    <a:bodyPr wrap="square"/>
                    <a:lstStyle/>
                    <a:p>
                      <a:pPr algn="r"/>
                      <a:r>
                        <a:rPr sz="1100" b="1" i="0">
                          <a:solidFill>
                            <a:srgbClr val="FFFFFF"/>
                          </a:solidFill>
                          <a:latin typeface="Calibri"/>
                        </a:rPr>
                        <a:t>Argument axis</a:t>
                      </a:r>
                    </a:p>
                  </a:txBody>
                  <a:tcPr marL="54864" marR="54864" marT="22860" marB="22860" anchor="ctr">
                    <a:solidFill>
                      <a:srgbClr val="4D5563"/>
                    </a:solidFill>
                  </a:tcPr>
                </a:tc>
              </a:tr>
              <a:tr h="329184">
                <a:tc>
                  <a:txBody>
                    <a:bodyPr wrap="square"/>
                    <a:lstStyle/>
                    <a:p>
                      <a:pPr algn="l"/>
                      <a:r>
                        <a:rPr sz="1100" b="1" i="0">
                          <a:solidFill>
                            <a:srgbClr val="14171C"/>
                          </a:solidFill>
                          <a:latin typeface="Calibri"/>
                        </a:rPr>
                        <a:t>f1</a:t>
                      </a:r>
                    </a:p>
                  </a:txBody>
                  <a:tcPr marL="54864" marR="54864" marT="22860" marB="22860" anchor="ctr">
                    <a:solidFill>
                      <a:srgbClr val="FFFFFF"/>
                    </a:solidFill>
                  </a:tcPr>
                </a:tc>
                <a:tc>
                  <a:txBody>
                    <a:bodyPr wrap="square"/>
                    <a:lstStyle/>
                    <a:p>
                      <a:pPr algn="l"/>
                      <a:r>
                        <a:rPr sz="1100" b="0" i="0">
                          <a:solidFill>
                            <a:srgbClr val="14171C"/>
                          </a:solidFill>
                          <a:latin typeface="Calibri"/>
                        </a:rPr>
                        <a:t>compressor corrected flow WA2c</a:t>
                      </a:r>
                    </a:p>
                  </a:txBody>
                  <a:tcPr marL="54864" marR="54864" marT="22860" marB="22860" anchor="ctr">
                    <a:solidFill>
                      <a:srgbClr val="FFFFFF"/>
                    </a:solidFill>
                  </a:tcPr>
                </a:tc>
                <a:tc>
                  <a:txBody>
                    <a:bodyPr wrap="square"/>
                    <a:lstStyle/>
                    <a:p>
                      <a:pPr algn="l"/>
                      <a:r>
                        <a:rPr sz="1100" b="0" i="0">
                          <a:solidFill>
                            <a:srgbClr val="14171C"/>
                          </a:solidFill>
                          <a:latin typeface="Calibri"/>
                        </a:rPr>
                        <a:t>PS3/P2, NGc</a:t>
                      </a:r>
                    </a:p>
                  </a:txBody>
                  <a:tcPr marL="54864" marR="54864" marT="22860" marB="22860" anchor="ctr">
                    <a:solidFill>
                      <a:srgbClr val="FFFFFF"/>
                    </a:solidFill>
                  </a:tcPr>
                </a:tc>
                <a:tc>
                  <a:txBody>
                    <a:bodyPr wrap="square"/>
                    <a:lstStyle/>
                    <a:p>
                      <a:pPr algn="r"/>
                      <a:r>
                        <a:rPr sz="1100" b="0" i="0">
                          <a:solidFill>
                            <a:srgbClr val="14171C"/>
                          </a:solidFill>
                          <a:latin typeface="Calibri"/>
                        </a:rPr>
                        <a:t>77</a:t>
                      </a:r>
                    </a:p>
                  </a:txBody>
                  <a:tcPr marL="54864" marR="54864" marT="22860" marB="22860" anchor="ctr">
                    <a:solidFill>
                      <a:srgbClr val="FFFFFF"/>
                    </a:solidFill>
                  </a:tcPr>
                </a:tc>
                <a:tc>
                  <a:txBody>
                    <a:bodyPr wrap="square"/>
                    <a:lstStyle/>
                    <a:p>
                      <a:pPr algn="r"/>
                      <a:r>
                        <a:rPr sz="1100" b="0" i="0">
                          <a:solidFill>
                            <a:srgbClr val="14171C"/>
                          </a:solidFill>
                          <a:latin typeface="Calibri"/>
                        </a:rPr>
                        <a:t>0.05–0.16</a:t>
                      </a:r>
                    </a:p>
                  </a:txBody>
                  <a:tcPr marL="54864" marR="54864" marT="22860" marB="22860" anchor="ctr">
                    <a:solidFill>
                      <a:srgbClr val="FFFFFF"/>
                    </a:solidFill>
                  </a:tcPr>
                </a:tc>
                <a:tc>
                  <a:txBody>
                    <a:bodyPr wrap="square"/>
                    <a:lstStyle/>
                    <a:p>
                      <a:pPr algn="r"/>
                      <a:r>
                        <a:rPr sz="1100" b="0" i="0">
                          <a:solidFill>
                            <a:srgbClr val="14171C"/>
                          </a:solidFill>
                          <a:latin typeface="Calibri"/>
                        </a:rPr>
                        <a:t>0.04–0.45</a:t>
                      </a:r>
                    </a:p>
                  </a:txBody>
                  <a:tcPr marL="54864" marR="54864" marT="22860" marB="22860" anchor="ctr">
                    <a:solidFill>
                      <a:srgbClr val="FFFFFF"/>
                    </a:solidFill>
                  </a:tcPr>
                </a:tc>
              </a:tr>
              <a:tr h="329184">
                <a:tc>
                  <a:txBody>
                    <a:bodyPr wrap="square"/>
                    <a:lstStyle/>
                    <a:p>
                      <a:pPr algn="l"/>
                      <a:r>
                        <a:rPr sz="1100" b="1" i="0">
                          <a:solidFill>
                            <a:srgbClr val="14171C"/>
                          </a:solidFill>
                          <a:latin typeface="Calibri"/>
                        </a:rPr>
                        <a:t>f2</a:t>
                      </a:r>
                    </a:p>
                  </a:txBody>
                  <a:tcPr marL="54864" marR="54864" marT="22860" marB="22860" anchor="ctr">
                    <a:solidFill>
                      <a:srgbClr val="F2F3F5"/>
                    </a:solidFill>
                  </a:tcPr>
                </a:tc>
                <a:tc>
                  <a:txBody>
                    <a:bodyPr wrap="square"/>
                    <a:lstStyle/>
                    <a:p>
                      <a:pPr algn="l"/>
                      <a:r>
                        <a:rPr sz="1100" b="0" i="0">
                          <a:solidFill>
                            <a:srgbClr val="14171C"/>
                          </a:solidFill>
                          <a:latin typeface="Calibri"/>
                        </a:rPr>
                        <a:t>compressor temperature ratio T3/T2</a:t>
                      </a:r>
                    </a:p>
                  </a:txBody>
                  <a:tcPr marL="54864" marR="54864" marT="22860" marB="22860" anchor="ctr">
                    <a:solidFill>
                      <a:srgbClr val="F2F3F5"/>
                    </a:solidFill>
                  </a:tcPr>
                </a:tc>
                <a:tc>
                  <a:txBody>
                    <a:bodyPr wrap="square"/>
                    <a:lstStyle/>
                    <a:p>
                      <a:pPr algn="l"/>
                      <a:r>
                        <a:rPr sz="1100" b="0" i="0">
                          <a:solidFill>
                            <a:srgbClr val="14171C"/>
                          </a:solidFill>
                          <a:latin typeface="Calibri"/>
                        </a:rPr>
                        <a:t>PS3/P2</a:t>
                      </a:r>
                    </a:p>
                  </a:txBody>
                  <a:tcPr marL="54864" marR="54864" marT="22860" marB="22860" anchor="ctr">
                    <a:solidFill>
                      <a:srgbClr val="F2F3F5"/>
                    </a:solidFill>
                  </a:tcPr>
                </a:tc>
                <a:tc>
                  <a:txBody>
                    <a:bodyPr wrap="square"/>
                    <a:lstStyle/>
                    <a:p>
                      <a:pPr algn="r"/>
                      <a:r>
                        <a:rPr sz="1100" b="0" i="0">
                          <a:solidFill>
                            <a:srgbClr val="14171C"/>
                          </a:solidFill>
                          <a:latin typeface="Calibri"/>
                        </a:rPr>
                        <a:t>20</a:t>
                      </a:r>
                    </a:p>
                  </a:txBody>
                  <a:tcPr marL="54864" marR="54864" marT="22860" marB="22860" anchor="ctr">
                    <a:solidFill>
                      <a:srgbClr val="F2F3F5"/>
                    </a:solidFill>
                  </a:tcPr>
                </a:tc>
                <a:tc>
                  <a:txBody>
                    <a:bodyPr wrap="square"/>
                    <a:lstStyle/>
                    <a:p>
                      <a:pPr algn="r"/>
                      <a:r>
                        <a:rPr sz="1100" b="0" i="0">
                          <a:solidFill>
                            <a:srgbClr val="14171C"/>
                          </a:solidFill>
                          <a:latin typeface="Calibri"/>
                        </a:rPr>
                        <a:t>0.03</a:t>
                      </a:r>
                    </a:p>
                  </a:txBody>
                  <a:tcPr marL="54864" marR="54864" marT="22860" marB="22860" anchor="ctr">
                    <a:solidFill>
                      <a:srgbClr val="F2F3F5"/>
                    </a:solidFill>
                  </a:tcPr>
                </a:tc>
                <a:tc>
                  <a:txBody>
                    <a:bodyPr wrap="square"/>
                    <a:lstStyle/>
                    <a:p>
                      <a:pPr algn="r"/>
                      <a:r>
                        <a:rPr sz="1100" b="0" i="0">
                          <a:solidFill>
                            <a:srgbClr val="14171C"/>
                          </a:solidFill>
                          <a:latin typeface="Calibri"/>
                        </a:rPr>
                        <a:t>0.04</a:t>
                      </a:r>
                    </a:p>
                  </a:txBody>
                  <a:tcPr marL="54864" marR="54864" marT="22860" marB="22860" anchor="ctr">
                    <a:solidFill>
                      <a:srgbClr val="F2F3F5"/>
                    </a:solidFill>
                  </a:tcPr>
                </a:tc>
              </a:tr>
              <a:tr h="329184">
                <a:tc>
                  <a:txBody>
                    <a:bodyPr wrap="square"/>
                    <a:lstStyle/>
                    <a:p>
                      <a:pPr algn="l"/>
                      <a:r>
                        <a:rPr sz="1100" b="1" i="0">
                          <a:solidFill>
                            <a:srgbClr val="14171C"/>
                          </a:solidFill>
                          <a:latin typeface="Calibri"/>
                        </a:rPr>
                        <a:t>f3</a:t>
                      </a:r>
                    </a:p>
                  </a:txBody>
                  <a:tcPr marL="54864" marR="54864" marT="22860" marB="22860" anchor="ctr">
                    <a:solidFill>
                      <a:srgbClr val="FFFFFF"/>
                    </a:solidFill>
                  </a:tcPr>
                </a:tc>
                <a:tc>
                  <a:txBody>
                    <a:bodyPr wrap="square"/>
                    <a:lstStyle/>
                    <a:p>
                      <a:pPr algn="l"/>
                      <a:r>
                        <a:rPr sz="1100" b="0" i="0">
                          <a:solidFill>
                            <a:srgbClr val="14171C"/>
                          </a:solidFill>
                          <a:latin typeface="Calibri"/>
                        </a:rPr>
                        <a:t>stage-4 seal bleed fraction</a:t>
                      </a:r>
                    </a:p>
                  </a:txBody>
                  <a:tcPr marL="54864" marR="54864" marT="22860" marB="22860" anchor="ctr">
                    <a:solidFill>
                      <a:srgbClr val="FFFFFF"/>
                    </a:solidFill>
                  </a:tcPr>
                </a:tc>
                <a:tc>
                  <a:txBody>
                    <a:bodyPr wrap="square"/>
                    <a:lstStyle/>
                    <a:p>
                      <a:pPr algn="l"/>
                      <a:r>
                        <a:rPr sz="1100" b="0" i="0">
                          <a:solidFill>
                            <a:srgbClr val="14171C"/>
                          </a:solidFill>
                          <a:latin typeface="Calibri"/>
                        </a:rPr>
                        <a:t>NGc</a:t>
                      </a:r>
                    </a:p>
                  </a:txBody>
                  <a:tcPr marL="54864" marR="54864" marT="22860" marB="22860" anchor="ctr">
                    <a:solidFill>
                      <a:srgbClr val="FFFFFF"/>
                    </a:solidFill>
                  </a:tcPr>
                </a:tc>
                <a:tc>
                  <a:txBody>
                    <a:bodyPr wrap="square"/>
                    <a:lstStyle/>
                    <a:p>
                      <a:pPr algn="r"/>
                      <a:r>
                        <a:rPr sz="1100" b="0" i="0">
                          <a:solidFill>
                            <a:srgbClr val="14171C"/>
                          </a:solidFill>
                          <a:latin typeface="Calibri"/>
                        </a:rPr>
                        <a:t>13</a:t>
                      </a:r>
                    </a:p>
                  </a:txBody>
                  <a:tcPr marL="54864" marR="54864" marT="22860" marB="22860" anchor="ctr">
                    <a:solidFill>
                      <a:srgbClr val="FFFFFF"/>
                    </a:solidFill>
                  </a:tcPr>
                </a:tc>
                <a:tc>
                  <a:txBody>
                    <a:bodyPr wrap="square"/>
                    <a:lstStyle/>
                    <a:p>
                      <a:pPr algn="r"/>
                      <a:r>
                        <a:rPr sz="1100" b="0" i="0">
                          <a:solidFill>
                            <a:srgbClr val="14171C"/>
                          </a:solidFill>
                          <a:latin typeface="Calibri"/>
                        </a:rPr>
                        <a:t>0.14</a:t>
                      </a:r>
                    </a:p>
                  </a:txBody>
                  <a:tcPr marL="54864" marR="54864" marT="22860" marB="22860" anchor="ctr">
                    <a:solidFill>
                      <a:srgbClr val="FFFFFF"/>
                    </a:solidFill>
                  </a:tcPr>
                </a:tc>
                <a:tc>
                  <a:txBody>
                    <a:bodyPr wrap="square"/>
                    <a:lstStyle/>
                    <a:p>
                      <a:pPr algn="r"/>
                      <a:r>
                        <a:rPr sz="1100" b="0" i="0">
                          <a:solidFill>
                            <a:srgbClr val="14171C"/>
                          </a:solidFill>
                          <a:latin typeface="Calibri"/>
                        </a:rPr>
                        <a:t>0.12</a:t>
                      </a:r>
                    </a:p>
                  </a:txBody>
                  <a:tcPr marL="54864" marR="54864" marT="22860" marB="22860" anchor="ctr">
                    <a:solidFill>
                      <a:srgbClr val="FFFFFF"/>
                    </a:solidFill>
                  </a:tcPr>
                </a:tc>
              </a:tr>
              <a:tr h="329184">
                <a:tc>
                  <a:txBody>
                    <a:bodyPr wrap="square"/>
                    <a:lstStyle/>
                    <a:p>
                      <a:pPr algn="l"/>
                      <a:r>
                        <a:rPr sz="1100" b="1" i="0">
                          <a:solidFill>
                            <a:srgbClr val="14171C"/>
                          </a:solidFill>
                          <a:latin typeface="Calibri"/>
                        </a:rPr>
                        <a:t>f4</a:t>
                      </a:r>
                    </a:p>
                  </a:txBody>
                  <a:tcPr marL="54864" marR="54864" marT="22860" marB="22860" anchor="ctr">
                    <a:solidFill>
                      <a:srgbClr val="F2F3F5"/>
                    </a:solidFill>
                  </a:tcPr>
                </a:tc>
                <a:tc>
                  <a:txBody>
                    <a:bodyPr wrap="square"/>
                    <a:lstStyle/>
                    <a:p>
                      <a:pPr algn="l"/>
                      <a:r>
                        <a:rPr sz="1100" b="0" i="0">
                          <a:solidFill>
                            <a:srgbClr val="14171C"/>
                          </a:solidFill>
                          <a:latin typeface="Calibri"/>
                        </a:rPr>
                        <a:t>PT balance bleed fraction</a:t>
                      </a:r>
                    </a:p>
                  </a:txBody>
                  <a:tcPr marL="54864" marR="54864" marT="22860" marB="22860" anchor="ctr">
                    <a:solidFill>
                      <a:srgbClr val="F2F3F5"/>
                    </a:solidFill>
                  </a:tcPr>
                </a:tc>
                <a:tc>
                  <a:txBody>
                    <a:bodyPr wrap="square"/>
                    <a:lstStyle/>
                    <a:p>
                      <a:pPr algn="l"/>
                      <a:r>
                        <a:rPr sz="1100" b="0" i="0">
                          <a:solidFill>
                            <a:srgbClr val="14171C"/>
                          </a:solidFill>
                          <a:latin typeface="Calibri"/>
                        </a:rPr>
                        <a:t>WA2c</a:t>
                      </a:r>
                    </a:p>
                  </a:txBody>
                  <a:tcPr marL="54864" marR="54864" marT="22860" marB="22860" anchor="ctr">
                    <a:solidFill>
                      <a:srgbClr val="F2F3F5"/>
                    </a:solidFill>
                  </a:tcPr>
                </a:tc>
                <a:tc>
                  <a:txBody>
                    <a:bodyPr wrap="square"/>
                    <a:lstStyle/>
                    <a:p>
                      <a:pPr algn="r"/>
                      <a:r>
                        <a:rPr sz="1100" b="0" i="0">
                          <a:solidFill>
                            <a:srgbClr val="14171C"/>
                          </a:solidFill>
                          <a:latin typeface="Calibri"/>
                        </a:rPr>
                        <a:t>3</a:t>
                      </a:r>
                    </a:p>
                  </a:txBody>
                  <a:tcPr marL="54864" marR="54864" marT="22860" marB="22860" anchor="ctr">
                    <a:solidFill>
                      <a:srgbClr val="F2F3F5"/>
                    </a:solidFill>
                  </a:tcPr>
                </a:tc>
                <a:tc>
                  <a:txBody>
                    <a:bodyPr wrap="square"/>
                    <a:lstStyle/>
                    <a:p>
                      <a:pPr algn="r"/>
                      <a:r>
                        <a:rPr sz="1100" b="0" i="0">
                          <a:solidFill>
                            <a:srgbClr val="14171C"/>
                          </a:solidFill>
                          <a:latin typeface="Calibri"/>
                        </a:rPr>
                        <a:t>0.12</a:t>
                      </a:r>
                    </a:p>
                  </a:txBody>
                  <a:tcPr marL="54864" marR="54864" marT="22860" marB="22860" anchor="ctr">
                    <a:solidFill>
                      <a:srgbClr val="F2F3F5"/>
                    </a:solidFill>
                  </a:tcPr>
                </a:tc>
                <a:tc>
                  <a:txBody>
                    <a:bodyPr wrap="square"/>
                    <a:lstStyle/>
                    <a:p>
                      <a:pPr algn="r"/>
                      <a:r>
                        <a:rPr sz="1100" b="0" i="0">
                          <a:solidFill>
                            <a:srgbClr val="14171C"/>
                          </a:solidFill>
                          <a:latin typeface="Calibri"/>
                        </a:rPr>
                        <a:t>0.20</a:t>
                      </a:r>
                    </a:p>
                  </a:txBody>
                  <a:tcPr marL="54864" marR="54864" marT="22860" marB="22860" anchor="ctr">
                    <a:solidFill>
                      <a:srgbClr val="F2F3F5"/>
                    </a:solidFill>
                  </a:tcPr>
                </a:tc>
              </a:tr>
              <a:tr h="329184">
                <a:tc>
                  <a:txBody>
                    <a:bodyPr wrap="square"/>
                    <a:lstStyle/>
                    <a:p>
                      <a:pPr algn="l"/>
                      <a:r>
                        <a:rPr sz="1100" b="1" i="0">
                          <a:solidFill>
                            <a:srgbClr val="14171C"/>
                          </a:solidFill>
                          <a:latin typeface="Calibri"/>
                        </a:rPr>
                        <a:t>f5</a:t>
                      </a:r>
                    </a:p>
                  </a:txBody>
                  <a:tcPr marL="54864" marR="54864" marT="22860" marB="22860" anchor="ctr">
                    <a:solidFill>
                      <a:srgbClr val="FFFFFF"/>
                    </a:solidFill>
                  </a:tcPr>
                </a:tc>
                <a:tc>
                  <a:txBody>
                    <a:bodyPr wrap="square"/>
                    <a:lstStyle/>
                    <a:p>
                      <a:pPr algn="l"/>
                      <a:r>
                        <a:rPr sz="1100" b="0" i="0">
                          <a:solidFill>
                            <a:srgbClr val="14171C"/>
                          </a:solidFill>
                          <a:latin typeface="Calibri"/>
                        </a:rPr>
                        <a:t>tip leakage and cooling bleed</a:t>
                      </a:r>
                    </a:p>
                  </a:txBody>
                  <a:tcPr marL="54864" marR="54864" marT="22860" marB="22860" anchor="ctr">
                    <a:solidFill>
                      <a:srgbClr val="FFFFFF"/>
                    </a:solidFill>
                  </a:tcPr>
                </a:tc>
                <a:tc>
                  <a:txBody>
                    <a:bodyPr wrap="square"/>
                    <a:lstStyle/>
                    <a:p>
                      <a:pPr algn="l"/>
                      <a:r>
                        <a:rPr sz="1100" b="0" i="0">
                          <a:solidFill>
                            <a:srgbClr val="14171C"/>
                          </a:solidFill>
                          <a:latin typeface="Calibri"/>
                        </a:rPr>
                        <a:t>WA2c</a:t>
                      </a:r>
                    </a:p>
                  </a:txBody>
                  <a:tcPr marL="54864" marR="54864" marT="22860" marB="22860" anchor="ctr">
                    <a:solidFill>
                      <a:srgbClr val="FFFFFF"/>
                    </a:solidFill>
                  </a:tcPr>
                </a:tc>
                <a:tc>
                  <a:txBody>
                    <a:bodyPr wrap="square"/>
                    <a:lstStyle/>
                    <a:p>
                      <a:pPr algn="r"/>
                      <a:r>
                        <a:rPr sz="1100" b="0" i="0">
                          <a:solidFill>
                            <a:srgbClr val="14171C"/>
                          </a:solidFill>
                          <a:latin typeface="Calibri"/>
                        </a:rPr>
                        <a:t>3</a:t>
                      </a:r>
                    </a:p>
                  </a:txBody>
                  <a:tcPr marL="54864" marR="54864" marT="22860" marB="22860" anchor="ctr">
                    <a:solidFill>
                      <a:srgbClr val="FFFFFF"/>
                    </a:solidFill>
                  </a:tcPr>
                </a:tc>
                <a:tc>
                  <a:txBody>
                    <a:bodyPr wrap="square"/>
                    <a:lstStyle/>
                    <a:p>
                      <a:pPr algn="r"/>
                      <a:r>
                        <a:rPr sz="1100" b="0" i="0">
                          <a:solidFill>
                            <a:srgbClr val="14171C"/>
                          </a:solidFill>
                          <a:latin typeface="Calibri"/>
                        </a:rPr>
                        <a:t>0.17</a:t>
                      </a:r>
                    </a:p>
                  </a:txBody>
                  <a:tcPr marL="54864" marR="54864" marT="22860" marB="22860" anchor="ctr">
                    <a:solidFill>
                      <a:srgbClr val="FFFFFF"/>
                    </a:solidFill>
                  </a:tcPr>
                </a:tc>
                <a:tc>
                  <a:txBody>
                    <a:bodyPr wrap="square"/>
                    <a:lstStyle/>
                    <a:p>
                      <a:pPr algn="r"/>
                      <a:r>
                        <a:rPr sz="1100" b="0" i="0">
                          <a:solidFill>
                            <a:srgbClr val="14171C"/>
                          </a:solidFill>
                          <a:latin typeface="Calibri"/>
                        </a:rPr>
                        <a:t>0.16</a:t>
                      </a:r>
                    </a:p>
                  </a:txBody>
                  <a:tcPr marL="54864" marR="54864" marT="22860" marB="22860" anchor="ctr">
                    <a:solidFill>
                      <a:srgbClr val="FFFFFF"/>
                    </a:solidFill>
                  </a:tcPr>
                </a:tc>
              </a:tr>
              <a:tr h="329184">
                <a:tc>
                  <a:txBody>
                    <a:bodyPr wrap="square"/>
                    <a:lstStyle/>
                    <a:p>
                      <a:pPr algn="l"/>
                      <a:r>
                        <a:rPr sz="1100" b="1" i="0">
                          <a:solidFill>
                            <a:srgbClr val="14171C"/>
                          </a:solidFill>
                          <a:latin typeface="Calibri"/>
                        </a:rPr>
                        <a:t>f6</a:t>
                      </a:r>
                    </a:p>
                  </a:txBody>
                  <a:tcPr marL="54864" marR="54864" marT="22860" marB="22860" anchor="ctr">
                    <a:solidFill>
                      <a:srgbClr val="F2F3F5"/>
                    </a:solidFill>
                  </a:tcPr>
                </a:tc>
                <a:tc>
                  <a:txBody>
                    <a:bodyPr wrap="square"/>
                    <a:lstStyle/>
                    <a:p>
                      <a:pPr algn="l"/>
                      <a:r>
                        <a:rPr sz="1100" b="0" i="0">
                          <a:solidFill>
                            <a:srgbClr val="14171C"/>
                          </a:solidFill>
                          <a:latin typeface="Calibri"/>
                        </a:rPr>
                        <a:t>combustor efficiency</a:t>
                      </a:r>
                    </a:p>
                  </a:txBody>
                  <a:tcPr marL="54864" marR="54864" marT="22860" marB="22860" anchor="ctr">
                    <a:solidFill>
                      <a:srgbClr val="F2F3F5"/>
                    </a:solidFill>
                  </a:tcPr>
                </a:tc>
                <a:tc>
                  <a:txBody>
                    <a:bodyPr wrap="square"/>
                    <a:lstStyle/>
                    <a:p>
                      <a:pPr algn="l"/>
                      <a:r>
                        <a:rPr sz="1100" b="0" i="0">
                          <a:solidFill>
                            <a:srgbClr val="14171C"/>
                          </a:solidFill>
                          <a:latin typeface="Calibri"/>
                        </a:rPr>
                        <a:t>fuel-air ratio</a:t>
                      </a:r>
                    </a:p>
                  </a:txBody>
                  <a:tcPr marL="54864" marR="54864" marT="22860" marB="22860" anchor="ctr">
                    <a:solidFill>
                      <a:srgbClr val="F2F3F5"/>
                    </a:solidFill>
                  </a:tcPr>
                </a:tc>
                <a:tc>
                  <a:txBody>
                    <a:bodyPr wrap="square"/>
                    <a:lstStyle/>
                    <a:p>
                      <a:pPr algn="r"/>
                      <a:r>
                        <a:rPr sz="1100" b="0" i="0">
                          <a:solidFill>
                            <a:srgbClr val="14171C"/>
                          </a:solidFill>
                          <a:latin typeface="Calibri"/>
                        </a:rPr>
                        <a:t>2</a:t>
                      </a:r>
                    </a:p>
                  </a:txBody>
                  <a:tcPr marL="54864" marR="54864" marT="22860" marB="22860" anchor="ctr">
                    <a:solidFill>
                      <a:srgbClr val="F2F3F5"/>
                    </a:solidFill>
                  </a:tcPr>
                </a:tc>
                <a:tc>
                  <a:txBody>
                    <a:bodyPr wrap="square"/>
                    <a:lstStyle/>
                    <a:p>
                      <a:pPr algn="r"/>
                      <a:r>
                        <a:rPr sz="1100" b="0" i="0">
                          <a:solidFill>
                            <a:srgbClr val="14171C"/>
                          </a:solidFill>
                          <a:latin typeface="Calibri"/>
                        </a:rPr>
                        <a:t>0.04 of value</a:t>
                      </a:r>
                    </a:p>
                  </a:txBody>
                  <a:tcPr marL="54864" marR="54864" marT="22860" marB="22860" anchor="ctr">
                    <a:solidFill>
                      <a:srgbClr val="F2F3F5"/>
                    </a:solidFill>
                  </a:tcPr>
                </a:tc>
                <a:tc>
                  <a:txBody>
                    <a:bodyPr wrap="square"/>
                    <a:lstStyle/>
                    <a:p>
                      <a:pPr algn="r"/>
                      <a:r>
                        <a:rPr sz="1100" b="0" i="0">
                          <a:solidFill>
                            <a:srgbClr val="14171C"/>
                          </a:solidFill>
                          <a:latin typeface="Calibri"/>
                        </a:rPr>
                        <a:t>0.11</a:t>
                      </a:r>
                    </a:p>
                  </a:txBody>
                  <a:tcPr marL="54864" marR="54864" marT="22860" marB="22860" anchor="ctr">
                    <a:solidFill>
                      <a:srgbClr val="F2F3F5"/>
                    </a:solidFill>
                  </a:tcPr>
                </a:tc>
              </a:tr>
              <a:tr h="329184">
                <a:tc>
                  <a:txBody>
                    <a:bodyPr wrap="square"/>
                    <a:lstStyle/>
                    <a:p>
                      <a:pPr algn="l"/>
                      <a:r>
                        <a:rPr sz="1100" b="1" i="0">
                          <a:solidFill>
                            <a:srgbClr val="14171C"/>
                          </a:solidFill>
                          <a:latin typeface="Calibri"/>
                        </a:rPr>
                        <a:t>f7</a:t>
                      </a:r>
                    </a:p>
                  </a:txBody>
                  <a:tcPr marL="54864" marR="54864" marT="22860" marB="22860" anchor="ctr">
                    <a:solidFill>
                      <a:srgbClr val="FFFFFF"/>
                    </a:solidFill>
                  </a:tcPr>
                </a:tc>
                <a:tc>
                  <a:txBody>
                    <a:bodyPr wrap="square"/>
                    <a:lstStyle/>
                    <a:p>
                      <a:pPr algn="l"/>
                      <a:r>
                        <a:rPr sz="1100" b="0" i="0">
                          <a:solidFill>
                            <a:srgbClr val="14171C"/>
                          </a:solidFill>
                          <a:latin typeface="Calibri"/>
                        </a:rPr>
                        <a:t>GG turbine enthalpy drop / θ41</a:t>
                      </a:r>
                    </a:p>
                  </a:txBody>
                  <a:tcPr marL="54864" marR="54864" marT="22860" marB="22860" anchor="ctr">
                    <a:solidFill>
                      <a:srgbClr val="FFFFFF"/>
                    </a:solidFill>
                  </a:tcPr>
                </a:tc>
                <a:tc>
                  <a:txBody>
                    <a:bodyPr wrap="square"/>
                    <a:lstStyle/>
                    <a:p>
                      <a:pPr algn="l"/>
                      <a:r>
                        <a:rPr sz="1100" b="0" i="0">
                          <a:solidFill>
                            <a:srgbClr val="14171C"/>
                          </a:solidFill>
                          <a:latin typeface="Calibri"/>
                        </a:rPr>
                        <a:t>P45/P41</a:t>
                      </a:r>
                    </a:p>
                  </a:txBody>
                  <a:tcPr marL="54864" marR="54864" marT="22860" marB="22860" anchor="ctr">
                    <a:solidFill>
                      <a:srgbClr val="FFFFFF"/>
                    </a:solidFill>
                  </a:tcPr>
                </a:tc>
                <a:tc>
                  <a:txBody>
                    <a:bodyPr wrap="square"/>
                    <a:lstStyle/>
                    <a:p>
                      <a:pPr algn="r"/>
                      <a:r>
                        <a:rPr sz="1100" b="0" i="0">
                          <a:solidFill>
                            <a:srgbClr val="14171C"/>
                          </a:solidFill>
                          <a:latin typeface="Calibri"/>
                        </a:rPr>
                        <a:t>6</a:t>
                      </a:r>
                    </a:p>
                  </a:txBody>
                  <a:tcPr marL="54864" marR="54864" marT="22860" marB="22860" anchor="ctr">
                    <a:solidFill>
                      <a:srgbClr val="FFFFFF"/>
                    </a:solidFill>
                  </a:tcPr>
                </a:tc>
                <a:tc>
                  <a:txBody>
                    <a:bodyPr wrap="square"/>
                    <a:lstStyle/>
                    <a:p>
                      <a:pPr algn="r"/>
                      <a:r>
                        <a:rPr sz="1100" b="0" i="0">
                          <a:solidFill>
                            <a:srgbClr val="14171C"/>
                          </a:solidFill>
                          <a:latin typeface="Calibri"/>
                        </a:rPr>
                        <a:t>0.05</a:t>
                      </a:r>
                    </a:p>
                  </a:txBody>
                  <a:tcPr marL="54864" marR="54864" marT="22860" marB="22860" anchor="ctr">
                    <a:solidFill>
                      <a:srgbClr val="FFFFFF"/>
                    </a:solidFill>
                  </a:tcPr>
                </a:tc>
                <a:tc>
                  <a:txBody>
                    <a:bodyPr wrap="square"/>
                    <a:lstStyle/>
                    <a:p>
                      <a:pPr algn="r"/>
                      <a:r>
                        <a:rPr sz="1100" b="0" i="0">
                          <a:solidFill>
                            <a:srgbClr val="14171C"/>
                          </a:solidFill>
                          <a:latin typeface="Calibri"/>
                        </a:rPr>
                        <a:t>0.04</a:t>
                      </a:r>
                    </a:p>
                  </a:txBody>
                  <a:tcPr marL="54864" marR="54864" marT="22860" marB="22860" anchor="ctr">
                    <a:solidFill>
                      <a:srgbClr val="FFFFFF"/>
                    </a:solidFill>
                  </a:tcPr>
                </a:tc>
              </a:tr>
              <a:tr h="329184">
                <a:tc>
                  <a:txBody>
                    <a:bodyPr wrap="square"/>
                    <a:lstStyle/>
                    <a:p>
                      <a:pPr algn="l"/>
                      <a:r>
                        <a:rPr sz="1100" b="1" i="0">
                          <a:solidFill>
                            <a:srgbClr val="14171C"/>
                          </a:solidFill>
                          <a:latin typeface="Calibri"/>
                        </a:rPr>
                        <a:t>f8</a:t>
                      </a:r>
                    </a:p>
                  </a:txBody>
                  <a:tcPr marL="54864" marR="54864" marT="22860" marB="22860" anchor="ctr">
                    <a:solidFill>
                      <a:srgbClr val="F2F3F5"/>
                    </a:solidFill>
                  </a:tcPr>
                </a:tc>
                <a:tc>
                  <a:txBody>
                    <a:bodyPr wrap="square"/>
                    <a:lstStyle/>
                    <a:p>
                      <a:pPr algn="l"/>
                      <a:r>
                        <a:rPr sz="1100" b="0" i="0">
                          <a:solidFill>
                            <a:srgbClr val="14171C"/>
                          </a:solidFill>
                          <a:latin typeface="Calibri"/>
                        </a:rPr>
                        <a:t>PT enthalpy drop / θ45</a:t>
                      </a:r>
                    </a:p>
                  </a:txBody>
                  <a:tcPr marL="54864" marR="54864" marT="22860" marB="22860" anchor="ctr">
                    <a:solidFill>
                      <a:srgbClr val="F2F3F5"/>
                    </a:solidFill>
                  </a:tcPr>
                </a:tc>
                <a:tc>
                  <a:txBody>
                    <a:bodyPr wrap="square"/>
                    <a:lstStyle/>
                    <a:p>
                      <a:pPr algn="l"/>
                      <a:r>
                        <a:rPr sz="1100" b="0" i="0">
                          <a:solidFill>
                            <a:srgbClr val="14171C"/>
                          </a:solidFill>
                          <a:latin typeface="Calibri"/>
                        </a:rPr>
                        <a:t>P49/P45</a:t>
                      </a:r>
                    </a:p>
                  </a:txBody>
                  <a:tcPr marL="54864" marR="54864" marT="22860" marB="22860" anchor="ctr">
                    <a:solidFill>
                      <a:srgbClr val="F2F3F5"/>
                    </a:solidFill>
                  </a:tcPr>
                </a:tc>
                <a:tc>
                  <a:txBody>
                    <a:bodyPr wrap="square"/>
                    <a:lstStyle/>
                    <a:p>
                      <a:pPr algn="r"/>
                      <a:r>
                        <a:rPr sz="1100" b="0" i="0">
                          <a:solidFill>
                            <a:srgbClr val="14171C"/>
                          </a:solidFill>
                          <a:latin typeface="Calibri"/>
                        </a:rPr>
                        <a:t>12</a:t>
                      </a:r>
                    </a:p>
                  </a:txBody>
                  <a:tcPr marL="54864" marR="54864" marT="22860" marB="22860" anchor="ctr">
                    <a:solidFill>
                      <a:srgbClr val="F2F3F5"/>
                    </a:solidFill>
                  </a:tcPr>
                </a:tc>
                <a:tc>
                  <a:txBody>
                    <a:bodyPr wrap="square"/>
                    <a:lstStyle/>
                    <a:p>
                      <a:pPr algn="r"/>
                      <a:r>
                        <a:rPr sz="1100" b="0" i="0">
                          <a:solidFill>
                            <a:srgbClr val="14171C"/>
                          </a:solidFill>
                          <a:latin typeface="Calibri"/>
                        </a:rPr>
                        <a:t>0.11</a:t>
                      </a:r>
                    </a:p>
                  </a:txBody>
                  <a:tcPr marL="54864" marR="54864" marT="22860" marB="22860" anchor="ctr">
                    <a:solidFill>
                      <a:srgbClr val="F2F3F5"/>
                    </a:solidFill>
                  </a:tcPr>
                </a:tc>
                <a:tc>
                  <a:txBody>
                    <a:bodyPr wrap="square"/>
                    <a:lstStyle/>
                    <a:p>
                      <a:pPr algn="r"/>
                      <a:r>
                        <a:rPr sz="1100" b="0" i="0">
                          <a:solidFill>
                            <a:srgbClr val="14171C"/>
                          </a:solidFill>
                          <a:latin typeface="Calibri"/>
                        </a:rPr>
                        <a:t>0.07</a:t>
                      </a:r>
                    </a:p>
                  </a:txBody>
                  <a:tcPr marL="54864" marR="54864" marT="22860" marB="22860" anchor="ctr">
                    <a:solidFill>
                      <a:srgbClr val="F2F3F5"/>
                    </a:solidFill>
                  </a:tcPr>
                </a:tc>
              </a:tr>
              <a:tr h="329184">
                <a:tc>
                  <a:txBody>
                    <a:bodyPr wrap="square"/>
                    <a:lstStyle/>
                    <a:p>
                      <a:pPr algn="l"/>
                      <a:r>
                        <a:rPr sz="1100" b="1" i="0">
                          <a:solidFill>
                            <a:srgbClr val="14171C"/>
                          </a:solidFill>
                          <a:latin typeface="Calibri"/>
                        </a:rPr>
                        <a:t>f9</a:t>
                      </a:r>
                    </a:p>
                  </a:txBody>
                  <a:tcPr marL="54864" marR="54864" marT="22860" marB="22860" anchor="ctr">
                    <a:solidFill>
                      <a:srgbClr val="FFFFFF"/>
                    </a:solidFill>
                  </a:tcPr>
                </a:tc>
                <a:tc>
                  <a:txBody>
                    <a:bodyPr wrap="square"/>
                    <a:lstStyle/>
                    <a:p>
                      <a:pPr algn="l"/>
                      <a:r>
                        <a:rPr sz="1100" b="0" i="0">
                          <a:solidFill>
                            <a:srgbClr val="14171C"/>
                          </a:solidFill>
                          <a:latin typeface="Calibri"/>
                        </a:rPr>
                        <a:t>PT corrected flow</a:t>
                      </a:r>
                    </a:p>
                  </a:txBody>
                  <a:tcPr marL="54864" marR="54864" marT="22860" marB="22860" anchor="ctr">
                    <a:solidFill>
                      <a:srgbClr val="FFFFFF"/>
                    </a:solidFill>
                  </a:tcPr>
                </a:tc>
                <a:tc>
                  <a:txBody>
                    <a:bodyPr wrap="square"/>
                    <a:lstStyle/>
                    <a:p>
                      <a:pPr algn="l"/>
                      <a:r>
                        <a:rPr sz="1100" b="0" i="0">
                          <a:solidFill>
                            <a:srgbClr val="14171C"/>
                          </a:solidFill>
                          <a:latin typeface="Calibri"/>
                        </a:rPr>
                        <a:t>Ps9/P45</a:t>
                      </a:r>
                    </a:p>
                  </a:txBody>
                  <a:tcPr marL="54864" marR="54864" marT="22860" marB="22860" anchor="ctr">
                    <a:solidFill>
                      <a:srgbClr val="FFFFFF"/>
                    </a:solidFill>
                  </a:tcPr>
                </a:tc>
                <a:tc>
                  <a:txBody>
                    <a:bodyPr wrap="square"/>
                    <a:lstStyle/>
                    <a:p>
                      <a:pPr algn="r"/>
                      <a:r>
                        <a:rPr sz="1100" b="0" i="0">
                          <a:solidFill>
                            <a:srgbClr val="14171C"/>
                          </a:solidFill>
                          <a:latin typeface="Calibri"/>
                        </a:rPr>
                        <a:t>23</a:t>
                      </a:r>
                    </a:p>
                  </a:txBody>
                  <a:tcPr marL="54864" marR="54864" marT="22860" marB="22860" anchor="ctr">
                    <a:solidFill>
                      <a:srgbClr val="FFFFFF"/>
                    </a:solidFill>
                  </a:tcPr>
                </a:tc>
                <a:tc>
                  <a:txBody>
                    <a:bodyPr wrap="square"/>
                    <a:lstStyle/>
                    <a:p>
                      <a:pPr algn="r"/>
                      <a:r>
                        <a:rPr sz="1100" b="0" i="0">
                          <a:solidFill>
                            <a:srgbClr val="14171C"/>
                          </a:solidFill>
                          <a:latin typeface="Calibri"/>
                        </a:rPr>
                        <a:t>0.03</a:t>
                      </a:r>
                    </a:p>
                  </a:txBody>
                  <a:tcPr marL="54864" marR="54864" marT="22860" marB="22860" anchor="ctr">
                    <a:solidFill>
                      <a:srgbClr val="FFFFFF"/>
                    </a:solidFill>
                  </a:tcPr>
                </a:tc>
                <a:tc>
                  <a:txBody>
                    <a:bodyPr wrap="square"/>
                    <a:lstStyle/>
                    <a:p>
                      <a:pPr algn="r"/>
                      <a:r>
                        <a:rPr sz="1100" b="0" i="0">
                          <a:solidFill>
                            <a:srgbClr val="14171C"/>
                          </a:solidFill>
                          <a:latin typeface="Calibri"/>
                        </a:rPr>
                        <a:t>0.03</a:t>
                      </a:r>
                    </a:p>
                  </a:txBody>
                  <a:tcPr marL="54864" marR="54864" marT="22860" marB="22860" anchor="ctr">
                    <a:solidFill>
                      <a:srgbClr val="FFFFFF"/>
                    </a:solidFill>
                  </a:tcPr>
                </a:tc>
              </a:tr>
              <a:tr h="329184">
                <a:tc>
                  <a:txBody>
                    <a:bodyPr wrap="square"/>
                    <a:lstStyle/>
                    <a:p>
                      <a:pPr algn="l"/>
                      <a:r>
                        <a:rPr sz="1100" b="1" i="0">
                          <a:solidFill>
                            <a:srgbClr val="14171C"/>
                          </a:solidFill>
                          <a:latin typeface="Calibri"/>
                        </a:rPr>
                        <a:t>f10</a:t>
                      </a:r>
                    </a:p>
                  </a:txBody>
                  <a:tcPr marL="54864" marR="54864" marT="22860" marB="22860" anchor="ctr">
                    <a:solidFill>
                      <a:srgbClr val="F2F3F5"/>
                    </a:solidFill>
                  </a:tcPr>
                </a:tc>
                <a:tc>
                  <a:txBody>
                    <a:bodyPr wrap="square"/>
                    <a:lstStyle/>
                    <a:p>
                      <a:pPr algn="l"/>
                      <a:r>
                        <a:rPr sz="1100" b="0" i="0">
                          <a:solidFill>
                            <a:srgbClr val="14171C"/>
                          </a:solidFill>
                          <a:latin typeface="Calibri"/>
                        </a:rPr>
                        <a:t>exhaust pressure ratio P49/Ps9</a:t>
                      </a:r>
                    </a:p>
                  </a:txBody>
                  <a:tcPr marL="54864" marR="54864" marT="22860" marB="22860" anchor="ctr">
                    <a:solidFill>
                      <a:srgbClr val="F2F3F5"/>
                    </a:solidFill>
                  </a:tcPr>
                </a:tc>
                <a:tc>
                  <a:txBody>
                    <a:bodyPr wrap="square"/>
                    <a:lstStyle/>
                    <a:p>
                      <a:pPr algn="l"/>
                      <a:r>
                        <a:rPr sz="1100" b="0" i="0">
                          <a:solidFill>
                            <a:srgbClr val="14171C"/>
                          </a:solidFill>
                          <a:latin typeface="Calibri"/>
                        </a:rPr>
                        <a:t>NGc</a:t>
                      </a:r>
                    </a:p>
                  </a:txBody>
                  <a:tcPr marL="54864" marR="54864" marT="22860" marB="22860" anchor="ctr">
                    <a:solidFill>
                      <a:srgbClr val="F2F3F5"/>
                    </a:solidFill>
                  </a:tcPr>
                </a:tc>
                <a:tc>
                  <a:txBody>
                    <a:bodyPr wrap="square"/>
                    <a:lstStyle/>
                    <a:p>
                      <a:pPr algn="r"/>
                      <a:r>
                        <a:rPr sz="1100" b="0" i="0">
                          <a:solidFill>
                            <a:srgbClr val="14171C"/>
                          </a:solidFill>
                          <a:latin typeface="Calibri"/>
                        </a:rPr>
                        <a:t>18</a:t>
                      </a:r>
                    </a:p>
                  </a:txBody>
                  <a:tcPr marL="54864" marR="54864" marT="22860" marB="22860" anchor="ctr">
                    <a:solidFill>
                      <a:srgbClr val="F2F3F5"/>
                    </a:solidFill>
                  </a:tcPr>
                </a:tc>
                <a:tc>
                  <a:txBody>
                    <a:bodyPr wrap="square"/>
                    <a:lstStyle/>
                    <a:p>
                      <a:pPr algn="r"/>
                      <a:r>
                        <a:rPr sz="1100" b="0" i="0">
                          <a:solidFill>
                            <a:srgbClr val="14171C"/>
                          </a:solidFill>
                          <a:latin typeface="Calibri"/>
                        </a:rPr>
                        <a:t>0.11</a:t>
                      </a:r>
                    </a:p>
                  </a:txBody>
                  <a:tcPr marL="54864" marR="54864" marT="22860" marB="22860" anchor="ctr">
                    <a:solidFill>
                      <a:srgbClr val="F2F3F5"/>
                    </a:solidFill>
                  </a:tcPr>
                </a:tc>
                <a:tc>
                  <a:txBody>
                    <a:bodyPr wrap="square"/>
                    <a:lstStyle/>
                    <a:p>
                      <a:pPr algn="r"/>
                      <a:r>
                        <a:rPr sz="1100" b="0" i="0">
                          <a:solidFill>
                            <a:srgbClr val="14171C"/>
                          </a:solidFill>
                          <a:latin typeface="Calibri"/>
                        </a:rPr>
                        <a:t>0.13</a:t>
                      </a:r>
                    </a:p>
                  </a:txBody>
                  <a:tcPr marL="54864" marR="54864" marT="22860" marB="22860" anchor="ctr">
                    <a:solidFill>
                      <a:srgbClr val="F2F3F5"/>
                    </a:solidFill>
                  </a:tcPr>
                </a:tc>
              </a:tr>
              <a:tr h="329184">
                <a:tc>
                  <a:txBody>
                    <a:bodyPr wrap="square"/>
                    <a:lstStyle/>
                    <a:p>
                      <a:pPr algn="l"/>
                      <a:r>
                        <a:rPr sz="1100" b="1" i="0">
                          <a:solidFill>
                            <a:srgbClr val="14171C"/>
                          </a:solidFill>
                          <a:latin typeface="Calibri"/>
                        </a:rPr>
                        <a:t>f_hs</a:t>
                      </a:r>
                    </a:p>
                  </a:txBody>
                  <a:tcPr marL="54864" marR="54864" marT="22860" marB="22860" anchor="ctr">
                    <a:solidFill>
                      <a:srgbClr val="FFFFFF"/>
                    </a:solidFill>
                  </a:tcPr>
                </a:tc>
                <a:tc>
                  <a:txBody>
                    <a:bodyPr wrap="square"/>
                    <a:lstStyle/>
                    <a:p>
                      <a:pPr algn="l"/>
                      <a:r>
                        <a:rPr sz="1100" b="0" i="0">
                          <a:solidFill>
                            <a:srgbClr val="14171C"/>
                          </a:solidFill>
                          <a:latin typeface="Calibri"/>
                        </a:rPr>
                        <a:t>heat-sink constant</a:t>
                      </a:r>
                    </a:p>
                  </a:txBody>
                  <a:tcPr marL="54864" marR="54864" marT="22860" marB="22860" anchor="ctr">
                    <a:solidFill>
                      <a:srgbClr val="FFFFFF"/>
                    </a:solidFill>
                  </a:tcPr>
                </a:tc>
                <a:tc>
                  <a:txBody>
                    <a:bodyPr wrap="square"/>
                    <a:lstStyle/>
                    <a:p>
                      <a:pPr algn="l"/>
                      <a:r>
                        <a:rPr sz="1100" b="0" i="0">
                          <a:solidFill>
                            <a:srgbClr val="14171C"/>
                          </a:solidFill>
                          <a:latin typeface="Calibri"/>
                        </a:rPr>
                        <a:t>NGc</a:t>
                      </a:r>
                    </a:p>
                  </a:txBody>
                  <a:tcPr marL="54864" marR="54864" marT="22860" marB="22860" anchor="ctr">
                    <a:solidFill>
                      <a:srgbClr val="FFFFFF"/>
                    </a:solidFill>
                  </a:tcPr>
                </a:tc>
                <a:tc>
                  <a:txBody>
                    <a:bodyPr wrap="square"/>
                    <a:lstStyle/>
                    <a:p>
                      <a:pPr algn="r"/>
                      <a:r>
                        <a:rPr sz="1100" b="0" i="0">
                          <a:solidFill>
                            <a:srgbClr val="14171C"/>
                          </a:solidFill>
                          <a:latin typeface="Calibri"/>
                        </a:rPr>
                        <a:t>6</a:t>
                      </a:r>
                    </a:p>
                  </a:txBody>
                  <a:tcPr marL="54864" marR="54864" marT="22860" marB="22860" anchor="ctr">
                    <a:solidFill>
                      <a:srgbClr val="FFFFFF"/>
                    </a:solidFill>
                  </a:tcPr>
                </a:tc>
                <a:tc>
                  <a:txBody>
                    <a:bodyPr wrap="square"/>
                    <a:lstStyle/>
                    <a:p>
                      <a:pPr algn="r"/>
                      <a:r>
                        <a:rPr sz="1100" b="0" i="0">
                          <a:solidFill>
                            <a:srgbClr val="14171C"/>
                          </a:solidFill>
                          <a:latin typeface="Calibri"/>
                        </a:rPr>
                        <a:t>0.12</a:t>
                      </a:r>
                    </a:p>
                  </a:txBody>
                  <a:tcPr marL="54864" marR="54864" marT="22860" marB="22860" anchor="ctr">
                    <a:solidFill>
                      <a:srgbClr val="FFFFFF"/>
                    </a:solidFill>
                  </a:tcPr>
                </a:tc>
                <a:tc>
                  <a:txBody>
                    <a:bodyPr wrap="square"/>
                    <a:lstStyle/>
                    <a:p>
                      <a:pPr algn="r"/>
                      <a:r>
                        <a:rPr sz="1100" b="0" i="0">
                          <a:solidFill>
                            <a:srgbClr val="14171C"/>
                          </a:solidFill>
                          <a:latin typeface="Calibri"/>
                        </a:rPr>
                        <a:t>0.12</a:t>
                      </a:r>
                    </a:p>
                  </a:txBody>
                  <a:tcPr marL="54864" marR="54864" marT="22860" marB="22860" anchor="ctr">
                    <a:solidFill>
                      <a:srgbClr val="FFFFFF"/>
                    </a:solidFill>
                  </a:tcPr>
                </a:tc>
              </a:tr>
            </a:tbl>
          </a:graphicData>
        </a:graphic>
      </p:graphicFrame>
      <p:sp>
        <p:nvSpPr>
          <p:cNvPr id="9" name="TextBox 8"/>
          <p:cNvSpPr txBox="1"/>
          <p:nvPr/>
        </p:nvSpPr>
        <p:spPr>
          <a:xfrm>
            <a:off x="502920" y="5394960"/>
            <a:ext cx="7223760" cy="45720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1σ read error per printed point, median, in % of each curve's span on that axis; f1 by marker family, from its header table.</a:t>
            </a:r>
          </a:p>
        </p:txBody>
      </p:sp>
      <p:sp>
        <p:nvSpPr>
          <p:cNvPr id="10" name="TextBox 9"/>
          <p:cNvSpPr txBox="1"/>
          <p:nvPr/>
        </p:nvSpPr>
        <p:spPr>
          <a:xfrm>
            <a:off x="8001000" y="1325880"/>
            <a:ext cx="3687775"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1" i="0">
                <a:solidFill>
                  <a:srgbClr val="14171C"/>
                </a:solidFill>
                <a:latin typeface="Calibri"/>
              </a:rPr>
              <a:t>Measured, not estimated.</a:t>
            </a:r>
            <a:r>
              <a:rPr sz="1400" b="0" i="0">
                <a:solidFill>
                  <a:srgbClr val="14171C"/>
                </a:solidFill>
                <a:latin typeface="Calibri"/>
              </a:rPr>
              <a:t> Each figure's own redundancy is the ruler: printed frame values, the tick lattice, construction lines, markers printed at known positions.</a:t>
            </a:r>
          </a:p>
          <a:p>
            <a:pPr marL="201168" indent="-201168">
              <a:lnSpc>
                <a:spcPct val="105000"/>
              </a:lnSpc>
              <a:spcBef>
                <a:spcPts val="900"/>
              </a:spcBef>
              <a:buFont typeface="Arial"/>
              <a:buChar char="•"/>
            </a:pPr>
            <a:r>
              <a:rPr sz="1400" b="1" i="0">
                <a:solidFill>
                  <a:srgbClr val="14171C"/>
                </a:solidFill>
                <a:latin typeface="Calibri"/>
              </a:rPr>
              <a:t>Typical 1σ: about a tenth of a percent of a curve's span.</a:t>
            </a:r>
            <a:r>
              <a:rPr sz="1400" b="0" i="0">
                <a:solidFill>
                  <a:srgbClr val="14171C"/>
                </a:solidFill>
                <a:latin typeface="Calibri"/>
              </a:rPr>
              <a:t> Small for a value: the trims match Table B.1 to 0.22 % rms.</a:t>
            </a:r>
          </a:p>
          <a:p>
            <a:pPr marL="201168" indent="-201168">
              <a:lnSpc>
                <a:spcPct val="105000"/>
              </a:lnSpc>
              <a:spcBef>
                <a:spcPts val="900"/>
              </a:spcBef>
              <a:buFont typeface="Arial"/>
              <a:buChar char="•"/>
            </a:pPr>
            <a:r>
              <a:rPr sz="1400" b="1" i="0">
                <a:solidFill>
                  <a:srgbClr val="14171C"/>
                </a:solidFill>
                <a:latin typeface="Calibri"/>
              </a:rPr>
              <a:t>Large for a slope.</a:t>
            </a:r>
            <a:r>
              <a:rPr sz="1400" b="0" i="0">
                <a:solidFill>
                  <a:srgbClr val="14171C"/>
                </a:solidFill>
                <a:latin typeface="Calibri"/>
              </a:rPr>
              <a:t> A linear model differences two readings close together, across the breakpoints of a piecewise-linear table: Part 5 shows what that costs.</a:t>
            </a:r>
          </a:p>
          <a:p>
            <a:pPr marL="201168" indent="-201168">
              <a:lnSpc>
                <a:spcPct val="105000"/>
              </a:lnSpc>
              <a:spcBef>
                <a:spcPts val="900"/>
              </a:spcBef>
              <a:buFont typeface="Arial"/>
              <a:buChar char="•"/>
            </a:pPr>
            <a:r>
              <a:rPr sz="1400" b="0" i="0">
                <a:solidFill>
                  <a:srgbClr val="14171C"/>
                </a:solidFill>
                <a:latin typeface="Calibri"/>
              </a:rPr>
              <a:t>f1's weakest line is the 65 % one, whose six sloped markers overprint each other.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3 · HOW THE MODEL IS BUILT</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Implementation, in brief</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24</a:t>
            </a:r>
          </a:p>
        </p:txBody>
      </p:sp>
      <p:sp>
        <p:nvSpPr>
          <p:cNvPr id="8" name="TextBox 7"/>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800" b="1" i="0">
                <a:solidFill>
                  <a:srgbClr val="14171C"/>
                </a:solidFill>
                <a:latin typeface="Calibri"/>
              </a:rPr>
              <a:t>Python 3 and NumPy only</a:t>
            </a:r>
            <a:r>
              <a:rPr sz="1800" b="0" i="0">
                <a:solidFill>
                  <a:srgbClr val="14171C"/>
                </a:solidFill>
                <a:latin typeface="Calibri"/>
              </a:rPr>
              <a:t> in the model; SciPy and Matplotlib only in the analysis tools.</a:t>
            </a:r>
          </a:p>
          <a:p>
            <a:pPr marL="201168" indent="-201168">
              <a:lnSpc>
                <a:spcPct val="105000"/>
              </a:lnSpc>
              <a:spcBef>
                <a:spcPts val="1100"/>
              </a:spcBef>
              <a:buFont typeface="Arial"/>
              <a:buChar char="•"/>
            </a:pPr>
            <a:r>
              <a:rPr sz="1800" b="1" i="0">
                <a:solidFill>
                  <a:srgbClr val="14171C"/>
                </a:solidFill>
                <a:latin typeface="Calibri"/>
              </a:rPr>
              <a:t>One function per component</a:t>
            </a:r>
            <a:r>
              <a:rPr sz="1800" b="0" i="0">
                <a:solidFill>
                  <a:srgbClr val="14171C"/>
                </a:solidFill>
                <a:latin typeface="Calibri"/>
              </a:rPr>
              <a:t>, in the report's order. Variable names are the report's symbols, and each constant carries its page.</a:t>
            </a:r>
          </a:p>
          <a:p>
            <a:pPr marL="201168" indent="-201168">
              <a:lnSpc>
                <a:spcPct val="105000"/>
              </a:lnSpc>
              <a:spcBef>
                <a:spcPts val="1100"/>
              </a:spcBef>
              <a:buFont typeface="Arial"/>
              <a:buChar char="•"/>
            </a:pPr>
            <a:r>
              <a:rPr sz="1800" b="1" i="0">
                <a:solidFill>
                  <a:srgbClr val="14171C"/>
                </a:solidFill>
                <a:latin typeface="Calibri"/>
              </a:rPr>
              <a:t>Deterministic:</a:t>
            </a:r>
            <a:r>
              <a:rPr sz="1800" b="0" i="0">
                <a:solidFill>
                  <a:srgbClr val="14171C"/>
                </a:solidFill>
                <a:latin typeface="Calibri"/>
              </a:rPr>
              <a:t> the same input gives bit-identical output, every run.</a:t>
            </a:r>
          </a:p>
          <a:p>
            <a:pPr marL="201168" indent="-201168">
              <a:lnSpc>
                <a:spcPct val="105000"/>
              </a:lnSpc>
              <a:spcBef>
                <a:spcPts val="1100"/>
              </a:spcBef>
              <a:buFont typeface="Arial"/>
              <a:buChar char="•"/>
            </a:pPr>
            <a:r>
              <a:rPr sz="1800" b="1" i="0">
                <a:solidFill>
                  <a:srgbClr val="14171C"/>
                </a:solidFill>
                <a:latin typeface="Calibri"/>
              </a:rPr>
              <a:t>Over 1,500 automated checks.</a:t>
            </a:r>
            <a:r>
              <a:rPr sz="1800" b="0" i="0">
                <a:solidFill>
                  <a:srgbClr val="14171C"/>
                </a:solidFill>
                <a:latin typeface="Calibri"/>
              </a:rPr>
              <a:t> They include every comparison in this presentation, each with an acceptance bound that cannot be widened silently.</a:t>
            </a:r>
          </a:p>
          <a:p>
            <a:pPr marL="201168" indent="-201168">
              <a:lnSpc>
                <a:spcPct val="105000"/>
              </a:lnSpc>
              <a:spcBef>
                <a:spcPts val="1100"/>
              </a:spcBef>
              <a:buFont typeface="Arial"/>
              <a:buChar char="•"/>
            </a:pPr>
            <a:r>
              <a:rPr sz="1800" b="1" i="0">
                <a:solidFill>
                  <a:srgbClr val="14171C"/>
                </a:solidFill>
                <a:latin typeface="Calibri"/>
              </a:rPr>
              <a:t>Every digitized file</a:t>
            </a:r>
            <a:r>
              <a:rPr sz="1800" b="0" i="0">
                <a:solidFill>
                  <a:srgbClr val="14171C"/>
                </a:solidFill>
                <a:latin typeface="Calibri"/>
              </a:rPr>
              <a:t> is regenerated from the page images on demand, and must come out identical.</a:t>
            </a:r>
          </a:p>
          <a:p>
            <a:pPr marL="201168" indent="-201168">
              <a:lnSpc>
                <a:spcPct val="105000"/>
              </a:lnSpc>
              <a:spcBef>
                <a:spcPts val="1100"/>
              </a:spcBef>
              <a:buFont typeface="Arial"/>
              <a:buChar char="•"/>
            </a:pPr>
            <a:r>
              <a:rPr sz="1800" b="1" i="0">
                <a:solidFill>
                  <a:srgbClr val="14171C"/>
                </a:solidFill>
                <a:latin typeface="Calibri"/>
              </a:rPr>
              <a:t>Public:</a:t>
            </a:r>
            <a:r>
              <a:rPr sz="1800" b="0" i="0">
                <a:solidFill>
                  <a:srgbClr val="14171C"/>
                </a:solidFill>
                <a:latin typeface="Calibri"/>
              </a:rPr>
              <a:t> github.com/evrenge/t700-engine-model; every result and figure is in its results/ folder.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Five ways the engine is run</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25</a:t>
            </a:r>
          </a:p>
        </p:txBody>
      </p:sp>
      <p:graphicFrame>
        <p:nvGraphicFramePr>
          <p:cNvPr id="7" name="Table 6"/>
          <p:cNvGraphicFramePr>
            <a:graphicFrameLocks noGrp="1"/>
          </p:cNvGraphicFramePr>
          <p:nvPr/>
        </p:nvGraphicFramePr>
        <p:xfrm>
          <a:off x="502920" y="1325880"/>
          <a:ext cx="11185852" cy="3950208"/>
        </p:xfrm>
        <a:graphic>
          <a:graphicData uri="http://schemas.openxmlformats.org/drawingml/2006/table">
            <a:tbl>
              <a:tblPr firstRow="1">
                <a:tableStyleId>{5C22544A-7EE6-4342-B048-85BDC9FD1C3A}</a:tableStyleId>
              </a:tblPr>
              <a:tblGrid>
                <a:gridCol w="1817701"/>
                <a:gridCol w="2283778"/>
                <a:gridCol w="2283778"/>
                <a:gridCol w="2283778"/>
                <a:gridCol w="2516817"/>
              </a:tblGrid>
              <a:tr h="658368">
                <a:tc>
                  <a:txBody>
                    <a:bodyPr wrap="square"/>
                    <a:lstStyle/>
                    <a:p>
                      <a:pPr algn="l"/>
                      <a:r>
                        <a:rPr sz="1400" b="1" i="0">
                          <a:solidFill>
                            <a:srgbClr val="FFFFFF"/>
                          </a:solidFill>
                          <a:latin typeface="Calibri"/>
                        </a:rPr>
                        <a:t>Scenario</a:t>
                      </a:r>
                    </a:p>
                  </a:txBody>
                  <a:tcPr marL="54864" marR="54864" marT="22860" marB="22860" anchor="ctr">
                    <a:solidFill>
                      <a:srgbClr val="4D5563"/>
                    </a:solidFill>
                  </a:tcPr>
                </a:tc>
                <a:tc>
                  <a:txBody>
                    <a:bodyPr wrap="square"/>
                    <a:lstStyle/>
                    <a:p>
                      <a:pPr algn="l"/>
                      <a:r>
                        <a:rPr sz="1400" b="1" i="0">
                          <a:solidFill>
                            <a:srgbClr val="FFFFFF"/>
                          </a:solidFill>
                          <a:latin typeface="Calibri"/>
                        </a:rPr>
                        <a:t>Model</a:t>
                      </a:r>
                    </a:p>
                  </a:txBody>
                  <a:tcPr marL="54864" marR="54864" marT="22860" marB="22860" anchor="ctr">
                    <a:solidFill>
                      <a:srgbClr val="4D5563"/>
                    </a:solidFill>
                  </a:tcPr>
                </a:tc>
                <a:tc>
                  <a:txBody>
                    <a:bodyPr wrap="square"/>
                    <a:lstStyle/>
                    <a:p>
                      <a:pPr algn="l"/>
                      <a:r>
                        <a:rPr sz="1400" b="1" i="0">
                          <a:solidFill>
                            <a:srgbClr val="FFFFFF"/>
                          </a:solidFill>
                          <a:latin typeface="Calibri"/>
                        </a:rPr>
                        <a:t>Given</a:t>
                      </a:r>
                    </a:p>
                  </a:txBody>
                  <a:tcPr marL="54864" marR="54864" marT="22860" marB="22860" anchor="ctr">
                    <a:solidFill>
                      <a:srgbClr val="4D5563"/>
                    </a:solidFill>
                  </a:tcPr>
                </a:tc>
                <a:tc>
                  <a:txBody>
                    <a:bodyPr wrap="square"/>
                    <a:lstStyle/>
                    <a:p>
                      <a:pPr algn="l"/>
                      <a:r>
                        <a:rPr sz="1400" b="1" i="0">
                          <a:solidFill>
                            <a:srgbClr val="FFFFFF"/>
                          </a:solidFill>
                          <a:latin typeface="Calibri"/>
                        </a:rPr>
                        <a:t>Solved / output</a:t>
                      </a:r>
                    </a:p>
                  </a:txBody>
                  <a:tcPr marL="54864" marR="54864" marT="22860" marB="22860" anchor="ctr">
                    <a:solidFill>
                      <a:srgbClr val="4D5563"/>
                    </a:solidFill>
                  </a:tcPr>
                </a:tc>
                <a:tc>
                  <a:txBody>
                    <a:bodyPr wrap="square"/>
                    <a:lstStyle/>
                    <a:p>
                      <a:pPr algn="l"/>
                      <a:r>
                        <a:rPr sz="1400" b="1" i="0">
                          <a:solidFill>
                            <a:srgbClr val="FFFFFF"/>
                          </a:solidFill>
                          <a:latin typeface="Calibri"/>
                        </a:rPr>
                        <a:t>Compared with</a:t>
                      </a:r>
                    </a:p>
                  </a:txBody>
                  <a:tcPr marL="54864" marR="54864" marT="22860" marB="22860" anchor="ctr">
                    <a:solidFill>
                      <a:srgbClr val="4D5563"/>
                    </a:solidFill>
                  </a:tcPr>
                </a:tc>
              </a:tr>
              <a:tr h="658368">
                <a:tc>
                  <a:txBody>
                    <a:bodyPr wrap="square"/>
                    <a:lstStyle/>
                    <a:p>
                      <a:pPr algn="l"/>
                      <a:r>
                        <a:rPr sz="1400" b="1" i="0">
                          <a:solidFill>
                            <a:srgbClr val="14171C"/>
                          </a:solidFill>
                          <a:latin typeface="Calibri"/>
                        </a:rPr>
                        <a:t>Steady state (trim)</a:t>
                      </a:r>
                    </a:p>
                  </a:txBody>
                  <a:tcPr marL="54864" marR="54864" marT="22860" marB="22860" anchor="ctr">
                    <a:solidFill>
                      <a:srgbClr val="FFFFFF"/>
                    </a:solidFill>
                  </a:tcPr>
                </a:tc>
                <a:tc>
                  <a:txBody>
                    <a:bodyPr wrap="square"/>
                    <a:lstStyle/>
                    <a:p>
                      <a:pPr algn="l"/>
                      <a:r>
                        <a:rPr sz="1400" b="0" i="0">
                          <a:solidFill>
                            <a:srgbClr val="14171C"/>
                          </a:solidFill>
                          <a:latin typeface="Calibri"/>
                        </a:rPr>
                        <a:t>simple nonlinear, all derivatives zero</a:t>
                      </a:r>
                    </a:p>
                  </a:txBody>
                  <a:tcPr marL="54864" marR="54864" marT="22860" marB="22860" anchor="ctr">
                    <a:solidFill>
                      <a:srgbClr val="FFFFFF"/>
                    </a:solidFill>
                  </a:tcPr>
                </a:tc>
                <a:tc>
                  <a:txBody>
                    <a:bodyPr wrap="square"/>
                    <a:lstStyle/>
                    <a:p>
                      <a:pPr algn="l"/>
                      <a:r>
                        <a:rPr sz="1400" b="0" i="0">
                          <a:solidFill>
                            <a:srgbClr val="14171C"/>
                          </a:solidFill>
                          <a:latin typeface="Calibri"/>
                        </a:rPr>
                        <a:t>fuel flow, NP, ambient</a:t>
                      </a:r>
                    </a:p>
                  </a:txBody>
                  <a:tcPr marL="54864" marR="54864" marT="22860" marB="22860" anchor="ctr">
                    <a:solidFill>
                      <a:srgbClr val="FFFFFF"/>
                    </a:solidFill>
                  </a:tcPr>
                </a:tc>
                <a:tc>
                  <a:txBody>
                    <a:bodyPr wrap="square"/>
                    <a:lstStyle/>
                    <a:p>
                      <a:pPr algn="l"/>
                      <a:r>
                        <a:rPr sz="1400" b="0" i="0">
                          <a:solidFill>
                            <a:srgbClr val="14171C"/>
                          </a:solidFill>
                          <a:latin typeface="Calibri"/>
                        </a:rPr>
                        <a:t>NG, P3, P41, P45, shaft torque</a:t>
                      </a:r>
                    </a:p>
                  </a:txBody>
                  <a:tcPr marL="54864" marR="54864" marT="22860" marB="22860" anchor="ctr">
                    <a:solidFill>
                      <a:srgbClr val="FFFFFF"/>
                    </a:solidFill>
                  </a:tcPr>
                </a:tc>
                <a:tc>
                  <a:txBody>
                    <a:bodyPr wrap="square"/>
                    <a:lstStyle/>
                    <a:p>
                      <a:pPr algn="l"/>
                      <a:r>
                        <a:rPr sz="1400" b="0" i="0">
                          <a:solidFill>
                            <a:srgbClr val="14171C"/>
                          </a:solidFill>
                          <a:latin typeface="Calibri"/>
                        </a:rPr>
                        <a:t>Table B.1; Figures 6–8; Table 3</a:t>
                      </a:r>
                    </a:p>
                  </a:txBody>
                  <a:tcPr marL="54864" marR="54864" marT="22860" marB="22860" anchor="ctr">
                    <a:solidFill>
                      <a:srgbClr val="FFFFFF"/>
                    </a:solidFill>
                  </a:tcPr>
                </a:tc>
              </a:tr>
              <a:tr h="658368">
                <a:tc>
                  <a:txBody>
                    <a:bodyPr wrap="square"/>
                    <a:lstStyle/>
                    <a:p>
                      <a:pPr algn="l"/>
                      <a:r>
                        <a:rPr sz="1400" b="1" i="0">
                          <a:solidFill>
                            <a:srgbClr val="14171C"/>
                          </a:solidFill>
                          <a:latin typeface="Calibri"/>
                        </a:rPr>
                        <a:t>Open-loop transient</a:t>
                      </a:r>
                    </a:p>
                  </a:txBody>
                  <a:tcPr marL="54864" marR="54864" marT="22860" marB="22860" anchor="ctr">
                    <a:solidFill>
                      <a:srgbClr val="F2F3F5"/>
                    </a:solidFill>
                  </a:tcPr>
                </a:tc>
                <a:tc>
                  <a:txBody>
                    <a:bodyPr wrap="square"/>
                    <a:lstStyle/>
                    <a:p>
                      <a:pPr algn="l"/>
                      <a:r>
                        <a:rPr sz="1400" b="0" i="0">
                          <a:solidFill>
                            <a:srgbClr val="14171C"/>
                          </a:solidFill>
                          <a:latin typeface="Calibri"/>
                        </a:rPr>
                        <a:t>real-time, 7 ms frame</a:t>
                      </a:r>
                    </a:p>
                  </a:txBody>
                  <a:tcPr marL="54864" marR="54864" marT="22860" marB="22860" anchor="ctr">
                    <a:solidFill>
                      <a:srgbClr val="F2F3F5"/>
                    </a:solidFill>
                  </a:tcPr>
                </a:tc>
                <a:tc>
                  <a:txBody>
                    <a:bodyPr wrap="square"/>
                    <a:lstStyle/>
                    <a:p>
                      <a:pPr algn="l"/>
                      <a:r>
                        <a:rPr sz="1400" b="0" i="0">
                          <a:solidFill>
                            <a:srgbClr val="14171C"/>
                          </a:solidFill>
                          <a:latin typeface="Calibri"/>
                        </a:rPr>
                        <a:t>fuel flow against time; NP held</a:t>
                      </a:r>
                    </a:p>
                  </a:txBody>
                  <a:tcPr marL="54864" marR="54864" marT="22860" marB="22860" anchor="ctr">
                    <a:solidFill>
                      <a:srgbClr val="F2F3F5"/>
                    </a:solidFill>
                  </a:tcPr>
                </a:tc>
                <a:tc>
                  <a:txBody>
                    <a:bodyPr wrap="square"/>
                    <a:lstStyle/>
                    <a:p>
                      <a:pPr algn="l"/>
                      <a:r>
                        <a:rPr sz="1400" b="0" i="0">
                          <a:solidFill>
                            <a:srgbClr val="14171C"/>
                          </a:solidFill>
                          <a:latin typeface="Calibri"/>
                        </a:rPr>
                        <a:t>everything else, in time</a:t>
                      </a:r>
                    </a:p>
                  </a:txBody>
                  <a:tcPr marL="54864" marR="54864" marT="22860" marB="22860" anchor="ctr">
                    <a:solidFill>
                      <a:srgbClr val="F2F3F5"/>
                    </a:solidFill>
                  </a:tcPr>
                </a:tc>
                <a:tc>
                  <a:txBody>
                    <a:bodyPr wrap="square"/>
                    <a:lstStyle/>
                    <a:p>
                      <a:pPr algn="l"/>
                      <a:r>
                        <a:rPr sz="1400" b="0" i="0">
                          <a:solidFill>
                            <a:srgbClr val="14171C"/>
                          </a:solidFill>
                          <a:latin typeface="Calibri"/>
                        </a:rPr>
                        <a:t>Figures 9–10</a:t>
                      </a:r>
                    </a:p>
                  </a:txBody>
                  <a:tcPr marL="54864" marR="54864" marT="22860" marB="22860" anchor="ctr">
                    <a:solidFill>
                      <a:srgbClr val="F2F3F5"/>
                    </a:solidFill>
                  </a:tcPr>
                </a:tc>
              </a:tr>
              <a:tr h="658368">
                <a:tc>
                  <a:txBody>
                    <a:bodyPr wrap="square"/>
                    <a:lstStyle/>
                    <a:p>
                      <a:pPr algn="l"/>
                      <a:r>
                        <a:rPr sz="1400" b="1" i="0">
                          <a:solidFill>
                            <a:srgbClr val="14171C"/>
                          </a:solidFill>
                          <a:latin typeface="Calibri"/>
                        </a:rPr>
                        <a:t>Closed loop</a:t>
                      </a:r>
                    </a:p>
                  </a:txBody>
                  <a:tcPr marL="54864" marR="54864" marT="22860" marB="22860" anchor="ctr">
                    <a:solidFill>
                      <a:srgbClr val="FFFFFF"/>
                    </a:solidFill>
                  </a:tcPr>
                </a:tc>
                <a:tc>
                  <a:txBody>
                    <a:bodyPr wrap="square"/>
                    <a:lstStyle/>
                    <a:p>
                      <a:pPr algn="l"/>
                      <a:r>
                        <a:rPr sz="1400" b="0" i="0">
                          <a:solidFill>
                            <a:srgbClr val="14171C"/>
                          </a:solidFill>
                          <a:latin typeface="Calibri"/>
                        </a:rPr>
                        <a:t>real-time + ECU + HMU</a:t>
                      </a:r>
                    </a:p>
                  </a:txBody>
                  <a:tcPr marL="54864" marR="54864" marT="22860" marB="22860" anchor="ctr">
                    <a:solidFill>
                      <a:srgbClr val="FFFFFF"/>
                    </a:solidFill>
                  </a:tcPr>
                </a:tc>
                <a:tc>
                  <a:txBody>
                    <a:bodyPr wrap="square"/>
                    <a:lstStyle/>
                    <a:p>
                      <a:pPr algn="l"/>
                      <a:r>
                        <a:rPr sz="1400" b="0" i="0">
                          <a:solidFill>
                            <a:srgbClr val="14171C"/>
                          </a:solidFill>
                          <a:latin typeface="Calibri"/>
                        </a:rPr>
                        <a:t>load torque, pilot inputs</a:t>
                      </a:r>
                    </a:p>
                  </a:txBody>
                  <a:tcPr marL="54864" marR="54864" marT="22860" marB="22860" anchor="ctr">
                    <a:solidFill>
                      <a:srgbClr val="FFFFFF"/>
                    </a:solidFill>
                  </a:tcPr>
                </a:tc>
                <a:tc>
                  <a:txBody>
                    <a:bodyPr wrap="square"/>
                    <a:lstStyle/>
                    <a:p>
                      <a:pPr algn="l"/>
                      <a:r>
                        <a:rPr sz="1400" b="0" i="0">
                          <a:solidFill>
                            <a:srgbClr val="14171C"/>
                          </a:solidFill>
                          <a:latin typeface="Calibri"/>
                        </a:rPr>
                        <a:t>fuel flow, speeds, the whole state</a:t>
                      </a:r>
                    </a:p>
                  </a:txBody>
                  <a:tcPr marL="54864" marR="54864" marT="22860" marB="22860" anchor="ctr">
                    <a:solidFill>
                      <a:srgbClr val="FFFFFF"/>
                    </a:solidFill>
                  </a:tcPr>
                </a:tc>
                <a:tc>
                  <a:txBody>
                    <a:bodyPr wrap="square"/>
                    <a:lstStyle/>
                    <a:p>
                      <a:pPr algn="l"/>
                      <a:r>
                        <a:rPr sz="1400" b="0" i="0">
                          <a:solidFill>
                            <a:srgbClr val="14171C"/>
                          </a:solidFill>
                          <a:latin typeface="Calibri"/>
                        </a:rPr>
                        <a:t>Table B.1, found on its own</a:t>
                      </a:r>
                    </a:p>
                  </a:txBody>
                  <a:tcPr marL="54864" marR="54864" marT="22860" marB="22860" anchor="ctr">
                    <a:solidFill>
                      <a:srgbClr val="FFFFFF"/>
                    </a:solidFill>
                  </a:tcPr>
                </a:tc>
              </a:tr>
              <a:tr h="658368">
                <a:tc>
                  <a:txBody>
                    <a:bodyPr wrap="square"/>
                    <a:lstStyle/>
                    <a:p>
                      <a:pPr algn="l"/>
                      <a:r>
                        <a:rPr sz="1400" b="1" i="0">
                          <a:solidFill>
                            <a:srgbClr val="14171C"/>
                          </a:solidFill>
                          <a:latin typeface="Calibri"/>
                        </a:rPr>
                        <a:t>Manoeuvres</a:t>
                      </a:r>
                    </a:p>
                  </a:txBody>
                  <a:tcPr marL="54864" marR="54864" marT="22860" marB="22860" anchor="ctr">
                    <a:solidFill>
                      <a:srgbClr val="F2F3F5"/>
                    </a:solidFill>
                  </a:tcPr>
                </a:tc>
                <a:tc>
                  <a:txBody>
                    <a:bodyPr wrap="square"/>
                    <a:lstStyle/>
                    <a:p>
                      <a:pPr algn="l"/>
                      <a:r>
                        <a:rPr sz="1400" b="0" i="0">
                          <a:solidFill>
                            <a:srgbClr val="14171C"/>
                          </a:solidFill>
                          <a:latin typeface="Calibri"/>
                        </a:rPr>
                        <a:t>closed loop</a:t>
                      </a:r>
                    </a:p>
                  </a:txBody>
                  <a:tcPr marL="54864" marR="54864" marT="22860" marB="22860" anchor="ctr">
                    <a:solidFill>
                      <a:srgbClr val="F2F3F5"/>
                    </a:solidFill>
                  </a:tcPr>
                </a:tc>
                <a:tc>
                  <a:txBody>
                    <a:bodyPr wrap="square"/>
                    <a:lstStyle/>
                    <a:p>
                      <a:pPr algn="l"/>
                      <a:r>
                        <a:rPr sz="1400" b="0" i="0">
                          <a:solidFill>
                            <a:srgbClr val="14171C"/>
                          </a:solidFill>
                          <a:latin typeface="Calibri"/>
                        </a:rPr>
                        <a:t>a load step, collective or speed reference; or Ballin's printed inputs</a:t>
                      </a:r>
                    </a:p>
                  </a:txBody>
                  <a:tcPr marL="54864" marR="54864" marT="22860" marB="22860" anchor="ctr">
                    <a:solidFill>
                      <a:srgbClr val="F2F3F5"/>
                    </a:solidFill>
                  </a:tcPr>
                </a:tc>
                <a:tc>
                  <a:txBody>
                    <a:bodyPr wrap="square"/>
                    <a:lstStyle/>
                    <a:p>
                      <a:pPr algn="l"/>
                      <a:r>
                        <a:rPr sz="1400" b="0" i="0">
                          <a:solidFill>
                            <a:srgbClr val="14171C"/>
                          </a:solidFill>
                          <a:latin typeface="Calibri"/>
                        </a:rPr>
                        <a:t>responses</a:t>
                      </a:r>
                    </a:p>
                  </a:txBody>
                  <a:tcPr marL="54864" marR="54864" marT="22860" marB="22860" anchor="ctr">
                    <a:solidFill>
                      <a:srgbClr val="F2F3F5"/>
                    </a:solidFill>
                  </a:tcPr>
                </a:tc>
                <a:tc>
                  <a:txBody>
                    <a:bodyPr wrap="square"/>
                    <a:lstStyle/>
                    <a:p>
                      <a:pPr algn="l"/>
                      <a:r>
                        <a:rPr sz="1400" b="0" i="0">
                          <a:solidFill>
                            <a:srgbClr val="14171C"/>
                          </a:solidFill>
                          <a:latin typeface="Calibri"/>
                        </a:rPr>
                        <a:t>Figures 11–15, on Ballin's printed inputs</a:t>
                      </a:r>
                    </a:p>
                  </a:txBody>
                  <a:tcPr marL="54864" marR="54864" marT="22860" marB="22860" anchor="ctr">
                    <a:solidFill>
                      <a:srgbClr val="F2F3F5"/>
                    </a:solidFill>
                  </a:tcPr>
                </a:tc>
              </a:tr>
              <a:tr h="658368">
                <a:tc>
                  <a:txBody>
                    <a:bodyPr wrap="square"/>
                    <a:lstStyle/>
                    <a:p>
                      <a:pPr algn="l"/>
                      <a:r>
                        <a:rPr sz="1400" b="1" i="0">
                          <a:solidFill>
                            <a:srgbClr val="14171C"/>
                          </a:solidFill>
                          <a:latin typeface="Calibri"/>
                        </a:rPr>
                        <a:t>Linear</a:t>
                      </a:r>
                    </a:p>
                  </a:txBody>
                  <a:tcPr marL="54864" marR="54864" marT="22860" marB="22860" anchor="ctr">
                    <a:solidFill>
                      <a:srgbClr val="FFFFFF"/>
                    </a:solidFill>
                  </a:tcPr>
                </a:tc>
                <a:tc>
                  <a:txBody>
                    <a:bodyPr wrap="square"/>
                    <a:lstStyle/>
                    <a:p>
                      <a:pPr algn="l"/>
                      <a:r>
                        <a:rPr sz="1400" b="0" i="0">
                          <a:solidFill>
                            <a:srgbClr val="14171C"/>
                          </a:solidFill>
                          <a:latin typeface="Calibri"/>
                        </a:rPr>
                        <a:t>nonlinear models at a trim, ±2 % differences</a:t>
                      </a:r>
                    </a:p>
                  </a:txBody>
                  <a:tcPr marL="54864" marR="54864" marT="22860" marB="22860" anchor="ctr">
                    <a:solidFill>
                      <a:srgbClr val="FFFFFF"/>
                    </a:solidFill>
                  </a:tcPr>
                </a:tc>
                <a:tc>
                  <a:txBody>
                    <a:bodyPr wrap="square"/>
                    <a:lstStyle/>
                    <a:p>
                      <a:pPr algn="l"/>
                      <a:r>
                        <a:rPr sz="1400" b="0" i="0">
                          <a:solidFill>
                            <a:srgbClr val="14171C"/>
                          </a:solidFill>
                          <a:latin typeface="Calibri"/>
                        </a:rPr>
                        <a:t>trim state</a:t>
                      </a:r>
                    </a:p>
                  </a:txBody>
                  <a:tcPr marL="54864" marR="54864" marT="22860" marB="22860" anchor="ctr">
                    <a:solidFill>
                      <a:srgbClr val="FFFFFF"/>
                    </a:solidFill>
                  </a:tcPr>
                </a:tc>
                <a:tc>
                  <a:txBody>
                    <a:bodyPr wrap="square"/>
                    <a:lstStyle/>
                    <a:p>
                      <a:pPr algn="l"/>
                      <a:r>
                        <a:rPr sz="1400" b="0" i="0">
                          <a:solidFill>
                            <a:srgbClr val="14171C"/>
                          </a:solidFill>
                          <a:latin typeface="Calibri"/>
                        </a:rPr>
                        <a:t>A and b matrices, eigenvalues</a:t>
                      </a:r>
                    </a:p>
                  </a:txBody>
                  <a:tcPr marL="54864" marR="54864" marT="22860" marB="22860" anchor="ctr">
                    <a:solidFill>
                      <a:srgbClr val="FFFFFF"/>
                    </a:solidFill>
                  </a:tcPr>
                </a:tc>
                <a:tc>
                  <a:txBody>
                    <a:bodyPr wrap="square"/>
                    <a:lstStyle/>
                    <a:p>
                      <a:pPr algn="l"/>
                      <a:r>
                        <a:rPr sz="1400" b="0" i="0">
                          <a:solidFill>
                            <a:srgbClr val="14171C"/>
                          </a:solidFill>
                          <a:latin typeface="Calibri"/>
                        </a:rPr>
                        <a:t>Table 1; Appendix B; Figures 4–5</a:t>
                      </a:r>
                    </a:p>
                  </a:txBody>
                  <a:tcPr marL="54864" marR="54864" marT="22860" marB="2286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Steady state: trimming the engine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pp.38, 67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26</a:t>
            </a:r>
          </a:p>
        </p:txBody>
      </p:sp>
      <p:sp>
        <p:nvSpPr>
          <p:cNvPr id="8" name="TextBox 7"/>
          <p:cNvSpPr txBox="1"/>
          <p:nvPr/>
        </p:nvSpPr>
        <p:spPr>
          <a:xfrm>
            <a:off x="502920" y="1325880"/>
            <a:ext cx="3931920"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500" b="0" i="0">
                <a:solidFill>
                  <a:srgbClr val="14171C"/>
                </a:solidFill>
                <a:latin typeface="Calibri"/>
              </a:rPr>
              <a:t>A trim is an equilibrium of the simple nonlinear model: we solve dNG/dt = dP3/dt = dP41/dt = dP45/dt = 0 for NG, P3, P41, P45 at given fuel flow, NP and ambient.</a:t>
            </a:r>
          </a:p>
          <a:p>
            <a:pPr marL="201168" indent="-201168">
              <a:lnSpc>
                <a:spcPct val="105000"/>
              </a:lnSpc>
              <a:spcBef>
                <a:spcPts val="900"/>
              </a:spcBef>
              <a:buFont typeface="Arial"/>
              <a:buChar char="•"/>
            </a:pPr>
            <a:r>
              <a:rPr sz="1500" b="0" i="0">
                <a:solidFill>
                  <a:srgbClr val="14171C"/>
                </a:solidFill>
                <a:latin typeface="Calibri"/>
              </a:rPr>
              <a:t>NP is held: the load belongs to the helicopter. The shaft torque that balances it is an </a:t>
            </a:r>
            <a:r>
              <a:rPr sz="1500" b="0" i="1">
                <a:solidFill>
                  <a:srgbClr val="14171C"/>
                </a:solidFill>
                <a:latin typeface="Calibri"/>
              </a:rPr>
              <a:t>output</a:t>
            </a:r>
            <a:r>
              <a:rPr sz="1500" b="0" i="0">
                <a:solidFill>
                  <a:srgbClr val="14171C"/>
                </a:solidFill>
                <a:latin typeface="Calibri"/>
              </a:rPr>
              <a:t>, and Table B.1 prints it, so it is a check.</a:t>
            </a:r>
          </a:p>
          <a:p>
            <a:pPr marL="201168" indent="-201168">
              <a:lnSpc>
                <a:spcPct val="105000"/>
              </a:lnSpc>
              <a:spcBef>
                <a:spcPts val="900"/>
              </a:spcBef>
              <a:buFont typeface="Arial"/>
              <a:buChar char="•"/>
            </a:pPr>
            <a:r>
              <a:rPr sz="1500" b="0" i="0">
                <a:solidFill>
                  <a:srgbClr val="14171C"/>
                </a:solidFill>
                <a:latin typeface="Calibri"/>
              </a:rPr>
              <a:t>Damped Newton with a finite-difference Jacobian.</a:t>
            </a:r>
          </a:p>
          <a:p>
            <a:pPr marL="201168" indent="-201168">
              <a:lnSpc>
                <a:spcPct val="105000"/>
              </a:lnSpc>
              <a:spcBef>
                <a:spcPts val="900"/>
              </a:spcBef>
              <a:buFont typeface="Arial"/>
              <a:buChar char="•"/>
            </a:pPr>
            <a:r>
              <a:rPr sz="1500" b="0" i="0">
                <a:solidFill>
                  <a:srgbClr val="14171C"/>
                </a:solidFill>
                <a:latin typeface="Calibri"/>
              </a:rPr>
              <a:t>Shaft power goes negative below 75.3 %NG: there the free turbine absorbs power, and the report drops fuel control below flight idle [pdf p.38].</a:t>
            </a:r>
          </a:p>
        </p:txBody>
      </p:sp>
      <p:pic>
        <p:nvPicPr>
          <p:cNvPr id="9" name="Picture 8" descr="engine-operating-line.png"/>
          <p:cNvPicPr>
            <a:picLocks noChangeAspect="1"/>
          </p:cNvPicPr>
          <p:nvPr/>
        </p:nvPicPr>
        <p:blipFill>
          <a:blip r:embed="rId2"/>
          <a:stretch>
            <a:fillRect/>
          </a:stretch>
        </p:blipFill>
        <p:spPr>
          <a:xfrm>
            <a:off x="4526280" y="1280160"/>
            <a:ext cx="7178040" cy="3479136"/>
          </a:xfrm>
          <a:prstGeom prst="rect">
            <a:avLst/>
          </a:prstGeom>
        </p:spPr>
      </p:pic>
      <p:sp>
        <p:nvSpPr>
          <p:cNvPr id="10" name="TextBox 9"/>
          <p:cNvSpPr txBox="1"/>
          <p:nvPr/>
        </p:nvSpPr>
        <p:spPr>
          <a:xfrm>
            <a:off x="4526280" y="4832448"/>
            <a:ext cx="7178040" cy="45720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The equilibrium operating line, fuel flow 130–806 lbm/hr, power turbine at design speed. Not compared with anything: this is the model on its own.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Open loop: fuel steps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p.39; Figures 9–10, pdf pp.45–46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27</a:t>
            </a:r>
          </a:p>
        </p:txBody>
      </p:sp>
      <p:pic>
        <p:nvPicPr>
          <p:cNvPr id="8" name="Picture 7" descr="open-loop-family.png"/>
          <p:cNvPicPr>
            <a:picLocks noChangeAspect="1"/>
          </p:cNvPicPr>
          <p:nvPr/>
        </p:nvPicPr>
        <p:blipFill>
          <a:blip r:embed="rId2"/>
          <a:stretch>
            <a:fillRect/>
          </a:stretch>
        </p:blipFill>
        <p:spPr>
          <a:xfrm>
            <a:off x="502920" y="1306897"/>
            <a:ext cx="11185855" cy="2826885"/>
          </a:xfrm>
          <a:prstGeom prst="rect">
            <a:avLst/>
          </a:prstGeom>
        </p:spPr>
      </p:pic>
      <p:graphicFrame>
        <p:nvGraphicFramePr>
          <p:cNvPr id="9" name="Table 8"/>
          <p:cNvGraphicFramePr>
            <a:graphicFrameLocks noGrp="1"/>
          </p:cNvGraphicFramePr>
          <p:nvPr/>
        </p:nvGraphicFramePr>
        <p:xfrm>
          <a:off x="502920" y="4251960"/>
          <a:ext cx="6766557" cy="1508760"/>
        </p:xfrm>
        <a:graphic>
          <a:graphicData uri="http://schemas.openxmlformats.org/drawingml/2006/table">
            <a:tbl>
              <a:tblPr firstRow="1">
                <a:tableStyleId>{5C22544A-7EE6-4342-B048-85BDC9FD1C3A}</a:tableStyleId>
              </a:tblPr>
              <a:tblGrid>
                <a:gridCol w="1845425"/>
                <a:gridCol w="922712"/>
                <a:gridCol w="922712"/>
                <a:gridCol w="999605"/>
                <a:gridCol w="1076498"/>
                <a:gridCol w="999605"/>
              </a:tblGrid>
              <a:tr h="301752">
                <a:tc>
                  <a:txBody>
                    <a:bodyPr wrap="square"/>
                    <a:lstStyle/>
                    <a:p>
                      <a:pPr algn="l"/>
                      <a:r>
                        <a:rPr sz="1200" b="1" i="0">
                          <a:solidFill>
                            <a:srgbClr val="FFFFFF"/>
                          </a:solidFill>
                          <a:latin typeface="Calibri"/>
                        </a:rPr>
                        <a:t>Step from 400 to, lbm/hr</a:t>
                      </a:r>
                    </a:p>
                  </a:txBody>
                  <a:tcPr marL="54864" marR="54864" marT="22860" marB="22860" anchor="ctr">
                    <a:solidFill>
                      <a:srgbClr val="4D5563"/>
                    </a:solidFill>
                  </a:tcPr>
                </a:tc>
                <a:tc>
                  <a:txBody>
                    <a:bodyPr wrap="square"/>
                    <a:lstStyle/>
                    <a:p>
                      <a:pPr algn="r"/>
                      <a:r>
                        <a:rPr sz="1200" b="1" i="0">
                          <a:solidFill>
                            <a:srgbClr val="FFFFFF"/>
                          </a:solidFill>
                          <a:latin typeface="Calibri"/>
                        </a:rPr>
                        <a:t>NG start, %</a:t>
                      </a:r>
                    </a:p>
                  </a:txBody>
                  <a:tcPr marL="54864" marR="54864" marT="22860" marB="22860" anchor="ctr">
                    <a:solidFill>
                      <a:srgbClr val="4D5563"/>
                    </a:solidFill>
                  </a:tcPr>
                </a:tc>
                <a:tc>
                  <a:txBody>
                    <a:bodyPr wrap="square"/>
                    <a:lstStyle/>
                    <a:p>
                      <a:pPr algn="r"/>
                      <a:r>
                        <a:rPr sz="1200" b="1" i="0">
                          <a:solidFill>
                            <a:srgbClr val="FFFFFF"/>
                          </a:solidFill>
                          <a:latin typeface="Calibri"/>
                        </a:rPr>
                        <a:t>NG end, %</a:t>
                      </a:r>
                    </a:p>
                  </a:txBody>
                  <a:tcPr marL="54864" marR="54864" marT="22860" marB="22860" anchor="ctr">
                    <a:solidFill>
                      <a:srgbClr val="4D5563"/>
                    </a:solidFill>
                  </a:tcPr>
                </a:tc>
                <a:tc>
                  <a:txBody>
                    <a:bodyPr wrap="square"/>
                    <a:lstStyle/>
                    <a:p>
                      <a:pPr algn="r"/>
                      <a:r>
                        <a:rPr sz="1200" b="1" i="0">
                          <a:solidFill>
                            <a:srgbClr val="FFFFFF"/>
                          </a:solidFill>
                          <a:latin typeface="Calibri"/>
                        </a:rPr>
                        <a:t>T41 peak, °R</a:t>
                      </a:r>
                    </a:p>
                  </a:txBody>
                  <a:tcPr marL="54864" marR="54864" marT="22860" marB="22860" anchor="ctr">
                    <a:solidFill>
                      <a:srgbClr val="4D5563"/>
                    </a:solidFill>
                  </a:tcPr>
                </a:tc>
                <a:tc>
                  <a:txBody>
                    <a:bodyPr wrap="square"/>
                    <a:lstStyle/>
                    <a:p>
                      <a:pPr algn="r"/>
                      <a:r>
                        <a:rPr sz="1200" b="1" i="0">
                          <a:solidFill>
                            <a:srgbClr val="FFFFFF"/>
                          </a:solidFill>
                          <a:latin typeface="Calibri"/>
                        </a:rPr>
                        <a:t>T41 settled, °R</a:t>
                      </a:r>
                    </a:p>
                  </a:txBody>
                  <a:tcPr marL="54864" marR="54864" marT="22860" marB="22860" anchor="ctr">
                    <a:solidFill>
                      <a:srgbClr val="4D5563"/>
                    </a:solidFill>
                  </a:tcPr>
                </a:tc>
                <a:tc>
                  <a:txBody>
                    <a:bodyPr wrap="square"/>
                    <a:lstStyle/>
                    <a:p>
                      <a:pPr algn="r"/>
                      <a:r>
                        <a:rPr sz="1200" b="1" i="0">
                          <a:solidFill>
                            <a:srgbClr val="FFFFFF"/>
                          </a:solidFill>
                          <a:latin typeface="Calibri"/>
                        </a:rPr>
                        <a:t>Overshoot, °R</a:t>
                      </a:r>
                    </a:p>
                  </a:txBody>
                  <a:tcPr marL="54864" marR="54864" marT="22860" marB="22860" anchor="ctr">
                    <a:solidFill>
                      <a:srgbClr val="4D5563"/>
                    </a:solidFill>
                  </a:tcPr>
                </a:tc>
              </a:tr>
              <a:tr h="301752">
                <a:tc>
                  <a:txBody>
                    <a:bodyPr wrap="square"/>
                    <a:lstStyle/>
                    <a:p>
                      <a:pPr algn="l"/>
                      <a:r>
                        <a:rPr sz="1200" b="0" i="0">
                          <a:solidFill>
                            <a:srgbClr val="14171C"/>
                          </a:solidFill>
                          <a:latin typeface="Calibri"/>
                        </a:rPr>
                        <a:t>125</a:t>
                      </a:r>
                    </a:p>
                  </a:txBody>
                  <a:tcPr marL="54864" marR="54864" marT="22860" marB="22860" anchor="ctr">
                    <a:solidFill>
                      <a:srgbClr val="FFFFFF"/>
                    </a:solidFill>
                  </a:tcPr>
                </a:tc>
                <a:tc>
                  <a:txBody>
                    <a:bodyPr wrap="square"/>
                    <a:lstStyle/>
                    <a:p>
                      <a:pPr algn="r"/>
                      <a:r>
                        <a:rPr sz="1200" b="0" i="0">
                          <a:solidFill>
                            <a:srgbClr val="14171C"/>
                          </a:solidFill>
                          <a:latin typeface="Calibri"/>
                        </a:rPr>
                        <a:t>90.9</a:t>
                      </a:r>
                    </a:p>
                  </a:txBody>
                  <a:tcPr marL="54864" marR="54864" marT="22860" marB="22860" anchor="ctr">
                    <a:solidFill>
                      <a:srgbClr val="FFFFFF"/>
                    </a:solidFill>
                  </a:tcPr>
                </a:tc>
                <a:tc>
                  <a:txBody>
                    <a:bodyPr wrap="square"/>
                    <a:lstStyle/>
                    <a:p>
                      <a:pPr algn="r"/>
                      <a:r>
                        <a:rPr sz="1200" b="0" i="0">
                          <a:solidFill>
                            <a:srgbClr val="14171C"/>
                          </a:solidFill>
                          <a:latin typeface="Calibri"/>
                        </a:rPr>
                        <a:t>73.7</a:t>
                      </a:r>
                    </a:p>
                  </a:txBody>
                  <a:tcPr marL="54864" marR="54864" marT="22860" marB="22860" anchor="ctr">
                    <a:solidFill>
                      <a:srgbClr val="FFFFFF"/>
                    </a:solidFill>
                  </a:tcPr>
                </a:tc>
                <a:tc>
                  <a:txBody>
                    <a:bodyPr wrap="square"/>
                    <a:lstStyle/>
                    <a:p>
                      <a:pPr algn="r"/>
                      <a:r>
                        <a:rPr sz="1200" b="0" i="0">
                          <a:solidFill>
                            <a:srgbClr val="14171C"/>
                          </a:solidFill>
                          <a:latin typeface="Calibri"/>
                        </a:rPr>
                        <a:t>—</a:t>
                      </a:r>
                    </a:p>
                  </a:txBody>
                  <a:tcPr marL="54864" marR="54864" marT="22860" marB="22860" anchor="ctr">
                    <a:solidFill>
                      <a:srgbClr val="FFFFFF"/>
                    </a:solidFill>
                  </a:tcPr>
                </a:tc>
                <a:tc>
                  <a:txBody>
                    <a:bodyPr wrap="square"/>
                    <a:lstStyle/>
                    <a:p>
                      <a:pPr algn="r"/>
                      <a:r>
                        <a:rPr sz="1200" b="0" i="0">
                          <a:solidFill>
                            <a:srgbClr val="14171C"/>
                          </a:solidFill>
                          <a:latin typeface="Calibri"/>
                        </a:rPr>
                        <a:t>1,687</a:t>
                      </a:r>
                    </a:p>
                  </a:txBody>
                  <a:tcPr marL="54864" marR="54864" marT="22860" marB="22860" anchor="ctr">
                    <a:solidFill>
                      <a:srgbClr val="FFFFFF"/>
                    </a:solidFill>
                  </a:tcPr>
                </a:tc>
                <a:tc>
                  <a:txBody>
                    <a:bodyPr wrap="square"/>
                    <a:lstStyle/>
                    <a:p>
                      <a:pPr algn="r"/>
                      <a:r>
                        <a:rPr sz="1200" b="0" i="0">
                          <a:solidFill>
                            <a:srgbClr val="14171C"/>
                          </a:solidFill>
                          <a:latin typeface="Calibri"/>
                        </a:rPr>
                        <a:t>—</a:t>
                      </a:r>
                    </a:p>
                  </a:txBody>
                  <a:tcPr marL="54864" marR="54864" marT="22860" marB="22860" anchor="ctr">
                    <a:solidFill>
                      <a:srgbClr val="FFFFFF"/>
                    </a:solidFill>
                  </a:tcPr>
                </a:tc>
              </a:tr>
              <a:tr h="301752">
                <a:tc>
                  <a:txBody>
                    <a:bodyPr wrap="square"/>
                    <a:lstStyle/>
                    <a:p>
                      <a:pPr algn="l"/>
                      <a:r>
                        <a:rPr sz="1200" b="0" i="0">
                          <a:solidFill>
                            <a:srgbClr val="14171C"/>
                          </a:solidFill>
                          <a:latin typeface="Calibri"/>
                        </a:rPr>
                        <a:t>250</a:t>
                      </a:r>
                    </a:p>
                  </a:txBody>
                  <a:tcPr marL="54864" marR="54864" marT="22860" marB="22860" anchor="ctr">
                    <a:solidFill>
                      <a:srgbClr val="F2F3F5"/>
                    </a:solidFill>
                  </a:tcPr>
                </a:tc>
                <a:tc>
                  <a:txBody>
                    <a:bodyPr wrap="square"/>
                    <a:lstStyle/>
                    <a:p>
                      <a:pPr algn="r"/>
                      <a:r>
                        <a:rPr sz="1200" b="0" i="0">
                          <a:solidFill>
                            <a:srgbClr val="14171C"/>
                          </a:solidFill>
                          <a:latin typeface="Calibri"/>
                        </a:rPr>
                        <a:t>90.9</a:t>
                      </a:r>
                    </a:p>
                  </a:txBody>
                  <a:tcPr marL="54864" marR="54864" marT="22860" marB="22860" anchor="ctr">
                    <a:solidFill>
                      <a:srgbClr val="F2F3F5"/>
                    </a:solidFill>
                  </a:tcPr>
                </a:tc>
                <a:tc>
                  <a:txBody>
                    <a:bodyPr wrap="square"/>
                    <a:lstStyle/>
                    <a:p>
                      <a:pPr algn="r"/>
                      <a:r>
                        <a:rPr sz="1200" b="0" i="0">
                          <a:solidFill>
                            <a:srgbClr val="14171C"/>
                          </a:solidFill>
                          <a:latin typeface="Calibri"/>
                        </a:rPr>
                        <a:t>84.5</a:t>
                      </a:r>
                    </a:p>
                  </a:txBody>
                  <a:tcPr marL="54864" marR="54864" marT="22860" marB="22860" anchor="ctr">
                    <a:solidFill>
                      <a:srgbClr val="F2F3F5"/>
                    </a:solidFill>
                  </a:tcPr>
                </a:tc>
                <a:tc>
                  <a:txBody>
                    <a:bodyPr wrap="square"/>
                    <a:lstStyle/>
                    <a:p>
                      <a:pPr algn="r"/>
                      <a:r>
                        <a:rPr sz="1200" b="0" i="0">
                          <a:solidFill>
                            <a:srgbClr val="14171C"/>
                          </a:solidFill>
                          <a:latin typeface="Calibri"/>
                        </a:rPr>
                        <a:t>—</a:t>
                      </a:r>
                    </a:p>
                  </a:txBody>
                  <a:tcPr marL="54864" marR="54864" marT="22860" marB="22860" anchor="ctr">
                    <a:solidFill>
                      <a:srgbClr val="F2F3F5"/>
                    </a:solidFill>
                  </a:tcPr>
                </a:tc>
                <a:tc>
                  <a:txBody>
                    <a:bodyPr wrap="square"/>
                    <a:lstStyle/>
                    <a:p>
                      <a:pPr algn="r"/>
                      <a:r>
                        <a:rPr sz="1200" b="0" i="0">
                          <a:solidFill>
                            <a:srgbClr val="14171C"/>
                          </a:solidFill>
                          <a:latin typeface="Calibri"/>
                        </a:rPr>
                        <a:t>1,965</a:t>
                      </a:r>
                    </a:p>
                  </a:txBody>
                  <a:tcPr marL="54864" marR="54864" marT="22860" marB="22860" anchor="ctr">
                    <a:solidFill>
                      <a:srgbClr val="F2F3F5"/>
                    </a:solidFill>
                  </a:tcPr>
                </a:tc>
                <a:tc>
                  <a:txBody>
                    <a:bodyPr wrap="square"/>
                    <a:lstStyle/>
                    <a:p>
                      <a:pPr algn="r"/>
                      <a:r>
                        <a:rPr sz="1200" b="0" i="0">
                          <a:solidFill>
                            <a:srgbClr val="14171C"/>
                          </a:solidFill>
                          <a:latin typeface="Calibri"/>
                        </a:rPr>
                        <a:t>—</a:t>
                      </a:r>
                    </a:p>
                  </a:txBody>
                  <a:tcPr marL="54864" marR="54864" marT="22860" marB="22860" anchor="ctr">
                    <a:solidFill>
                      <a:srgbClr val="F2F3F5"/>
                    </a:solidFill>
                  </a:tcPr>
                </a:tc>
              </a:tr>
              <a:tr h="301752">
                <a:tc>
                  <a:txBody>
                    <a:bodyPr wrap="square"/>
                    <a:lstStyle/>
                    <a:p>
                      <a:pPr algn="l"/>
                      <a:r>
                        <a:rPr sz="1200" b="0" i="0">
                          <a:solidFill>
                            <a:srgbClr val="14171C"/>
                          </a:solidFill>
                          <a:latin typeface="Calibri"/>
                        </a:rPr>
                        <a:t>550</a:t>
                      </a:r>
                    </a:p>
                  </a:txBody>
                  <a:tcPr marL="54864" marR="54864" marT="22860" marB="22860" anchor="ctr">
                    <a:solidFill>
                      <a:srgbClr val="FFFFFF"/>
                    </a:solidFill>
                  </a:tcPr>
                </a:tc>
                <a:tc>
                  <a:txBody>
                    <a:bodyPr wrap="square"/>
                    <a:lstStyle/>
                    <a:p>
                      <a:pPr algn="r"/>
                      <a:r>
                        <a:rPr sz="1200" b="0" i="0">
                          <a:solidFill>
                            <a:srgbClr val="14171C"/>
                          </a:solidFill>
                          <a:latin typeface="Calibri"/>
                        </a:rPr>
                        <a:t>90.9</a:t>
                      </a:r>
                    </a:p>
                  </a:txBody>
                  <a:tcPr marL="54864" marR="54864" marT="22860" marB="22860" anchor="ctr">
                    <a:solidFill>
                      <a:srgbClr val="FFFFFF"/>
                    </a:solidFill>
                  </a:tcPr>
                </a:tc>
                <a:tc>
                  <a:txBody>
                    <a:bodyPr wrap="square"/>
                    <a:lstStyle/>
                    <a:p>
                      <a:pPr algn="r"/>
                      <a:r>
                        <a:rPr sz="1200" b="0" i="0">
                          <a:solidFill>
                            <a:srgbClr val="14171C"/>
                          </a:solidFill>
                          <a:latin typeface="Calibri"/>
                        </a:rPr>
                        <a:t>95.0</a:t>
                      </a:r>
                    </a:p>
                  </a:txBody>
                  <a:tcPr marL="54864" marR="54864" marT="22860" marB="22860" anchor="ctr">
                    <a:solidFill>
                      <a:srgbClr val="FFFFFF"/>
                    </a:solidFill>
                  </a:tcPr>
                </a:tc>
                <a:tc>
                  <a:txBody>
                    <a:bodyPr wrap="square"/>
                    <a:lstStyle/>
                    <a:p>
                      <a:pPr algn="r"/>
                      <a:r>
                        <a:rPr sz="1200" b="0" i="0">
                          <a:solidFill>
                            <a:srgbClr val="14171C"/>
                          </a:solidFill>
                          <a:latin typeface="Calibri"/>
                        </a:rPr>
                        <a:t>2,414</a:t>
                      </a:r>
                    </a:p>
                  </a:txBody>
                  <a:tcPr marL="54864" marR="54864" marT="22860" marB="22860" anchor="ctr">
                    <a:solidFill>
                      <a:srgbClr val="FFFFFF"/>
                    </a:solidFill>
                  </a:tcPr>
                </a:tc>
                <a:tc>
                  <a:txBody>
                    <a:bodyPr wrap="square"/>
                    <a:lstStyle/>
                    <a:p>
                      <a:pPr algn="r"/>
                      <a:r>
                        <a:rPr sz="1200" b="0" i="0">
                          <a:solidFill>
                            <a:srgbClr val="14171C"/>
                          </a:solidFill>
                          <a:latin typeface="Calibri"/>
                        </a:rPr>
                        <a:t>2,381</a:t>
                      </a:r>
                    </a:p>
                  </a:txBody>
                  <a:tcPr marL="54864" marR="54864" marT="22860" marB="22860" anchor="ctr">
                    <a:solidFill>
                      <a:srgbClr val="FFFFFF"/>
                    </a:solidFill>
                  </a:tcPr>
                </a:tc>
                <a:tc>
                  <a:txBody>
                    <a:bodyPr wrap="square"/>
                    <a:lstStyle/>
                    <a:p>
                      <a:pPr algn="r"/>
                      <a:r>
                        <a:rPr sz="1200" b="0" i="0">
                          <a:solidFill>
                            <a:srgbClr val="14171C"/>
                          </a:solidFill>
                          <a:latin typeface="Calibri"/>
                        </a:rPr>
                        <a:t>33</a:t>
                      </a:r>
                    </a:p>
                  </a:txBody>
                  <a:tcPr marL="54864" marR="54864" marT="22860" marB="22860" anchor="ctr">
                    <a:solidFill>
                      <a:srgbClr val="FFFFFF"/>
                    </a:solidFill>
                  </a:tcPr>
                </a:tc>
              </a:tr>
              <a:tr h="301752">
                <a:tc>
                  <a:txBody>
                    <a:bodyPr wrap="square"/>
                    <a:lstStyle/>
                    <a:p>
                      <a:pPr algn="l"/>
                      <a:r>
                        <a:rPr sz="1200" b="0" i="0">
                          <a:solidFill>
                            <a:srgbClr val="14171C"/>
                          </a:solidFill>
                          <a:latin typeface="Calibri"/>
                        </a:rPr>
                        <a:t>775</a:t>
                      </a:r>
                    </a:p>
                  </a:txBody>
                  <a:tcPr marL="54864" marR="54864" marT="22860" marB="22860" anchor="ctr">
                    <a:solidFill>
                      <a:srgbClr val="F2F3F5"/>
                    </a:solidFill>
                  </a:tcPr>
                </a:tc>
                <a:tc>
                  <a:txBody>
                    <a:bodyPr wrap="square"/>
                    <a:lstStyle/>
                    <a:p>
                      <a:pPr algn="r"/>
                      <a:r>
                        <a:rPr sz="1200" b="0" i="0">
                          <a:solidFill>
                            <a:srgbClr val="14171C"/>
                          </a:solidFill>
                          <a:latin typeface="Calibri"/>
                        </a:rPr>
                        <a:t>90.9</a:t>
                      </a:r>
                    </a:p>
                  </a:txBody>
                  <a:tcPr marL="54864" marR="54864" marT="22860" marB="22860" anchor="ctr">
                    <a:solidFill>
                      <a:srgbClr val="F2F3F5"/>
                    </a:solidFill>
                  </a:tcPr>
                </a:tc>
                <a:tc>
                  <a:txBody>
                    <a:bodyPr wrap="square"/>
                    <a:lstStyle/>
                    <a:p>
                      <a:pPr algn="r"/>
                      <a:r>
                        <a:rPr sz="1200" b="0" i="0">
                          <a:solidFill>
                            <a:srgbClr val="14171C"/>
                          </a:solidFill>
                          <a:latin typeface="Calibri"/>
                        </a:rPr>
                        <a:t>99.1</a:t>
                      </a:r>
                    </a:p>
                  </a:txBody>
                  <a:tcPr marL="54864" marR="54864" marT="22860" marB="22860" anchor="ctr">
                    <a:solidFill>
                      <a:srgbClr val="F2F3F5"/>
                    </a:solidFill>
                  </a:tcPr>
                </a:tc>
                <a:tc>
                  <a:txBody>
                    <a:bodyPr wrap="square"/>
                    <a:lstStyle/>
                    <a:p>
                      <a:pPr algn="r"/>
                      <a:r>
                        <a:rPr sz="1200" b="0" i="0">
                          <a:solidFill>
                            <a:srgbClr val="14171C"/>
                          </a:solidFill>
                          <a:latin typeface="Calibri"/>
                        </a:rPr>
                        <a:t>2,778</a:t>
                      </a:r>
                    </a:p>
                  </a:txBody>
                  <a:tcPr marL="54864" marR="54864" marT="22860" marB="22860" anchor="ctr">
                    <a:solidFill>
                      <a:srgbClr val="F2F3F5"/>
                    </a:solidFill>
                  </a:tcPr>
                </a:tc>
                <a:tc>
                  <a:txBody>
                    <a:bodyPr wrap="square"/>
                    <a:lstStyle/>
                    <a:p>
                      <a:pPr algn="r"/>
                      <a:r>
                        <a:rPr sz="1200" b="0" i="0">
                          <a:solidFill>
                            <a:srgbClr val="14171C"/>
                          </a:solidFill>
                          <a:latin typeface="Calibri"/>
                        </a:rPr>
                        <a:t>2,688</a:t>
                      </a:r>
                    </a:p>
                  </a:txBody>
                  <a:tcPr marL="54864" marR="54864" marT="22860" marB="22860" anchor="ctr">
                    <a:solidFill>
                      <a:srgbClr val="F2F3F5"/>
                    </a:solidFill>
                  </a:tcPr>
                </a:tc>
                <a:tc>
                  <a:txBody>
                    <a:bodyPr wrap="square"/>
                    <a:lstStyle/>
                    <a:p>
                      <a:pPr algn="r"/>
                      <a:r>
                        <a:rPr sz="1200" b="0" i="0">
                          <a:solidFill>
                            <a:srgbClr val="14171C"/>
                          </a:solidFill>
                          <a:latin typeface="Calibri"/>
                        </a:rPr>
                        <a:t>91</a:t>
                      </a:r>
                    </a:p>
                  </a:txBody>
                  <a:tcPr marL="54864" marR="54864" marT="22860" marB="22860" anchor="ctr">
                    <a:solidFill>
                      <a:srgbClr val="F2F3F5"/>
                    </a:solidFill>
                  </a:tcPr>
                </a:tc>
              </a:tr>
            </a:tbl>
          </a:graphicData>
        </a:graphic>
      </p:graphicFrame>
      <p:sp>
        <p:nvSpPr>
          <p:cNvPr id="10" name="TextBox 9"/>
          <p:cNvSpPr txBox="1"/>
          <p:nvPr/>
        </p:nvSpPr>
        <p:spPr>
          <a:xfrm>
            <a:off x="7498079" y="4251960"/>
            <a:ext cx="4206240" cy="18288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As in Figures 9–10: NP held “constant by suppressing the NP integration” [pdf p.39], heat sink on, 7 ms frame.</a:t>
            </a:r>
          </a:p>
          <a:p>
            <a:pPr marL="201168" indent="-201168">
              <a:lnSpc>
                <a:spcPct val="105000"/>
              </a:lnSpc>
              <a:spcBef>
                <a:spcPts val="800"/>
              </a:spcBef>
              <a:buFont typeface="Arial"/>
              <a:buChar char="•"/>
            </a:pPr>
            <a:r>
              <a:rPr sz="1400" b="0" i="0">
                <a:solidFill>
                  <a:srgbClr val="14171C"/>
                </a:solidFill>
                <a:latin typeface="Calibri"/>
              </a:rPr>
              <a:t>The T41 spike: burner temperature moves before the spool can respond; the station 4.1 heat sink damps it. Peak and overshoot apply to the steps 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Closed loop: engine and fuel control together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Appendix C, pdf pp.77–101; Table B.1, pdf p.67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28</a:t>
            </a:r>
          </a:p>
        </p:txBody>
      </p:sp>
      <p:sp>
        <p:nvSpPr>
          <p:cNvPr id="8" name="Rounded Rectangle 7"/>
          <p:cNvSpPr/>
          <p:nvPr/>
        </p:nvSpPr>
        <p:spPr>
          <a:xfrm>
            <a:off x="4206240" y="3703320"/>
            <a:ext cx="3108960" cy="960120"/>
          </a:xfrm>
          <a:prstGeom prst="roundRect">
            <a:avLst>
              <a:gd name="adj" fmla="val 12000"/>
            </a:avLst>
          </a:prstGeom>
          <a:solidFill>
            <a:srgbClr val="D5DAE1"/>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1" i="0">
                <a:solidFill>
                  <a:srgbClr val="14171C"/>
                </a:solidFill>
                <a:latin typeface="Calibri"/>
              </a:rPr>
              <a:t>Engine</a:t>
            </a:r>
          </a:p>
          <a:p>
            <a:pPr algn="ctr"/>
            <a:r>
              <a:rPr sz="1500" b="0" i="0">
                <a:solidFill>
                  <a:srgbClr val="14171C"/>
                </a:solidFill>
                <a:latin typeface="Calibri"/>
              </a:rPr>
              <a:t>real-time model, 7 ms</a:t>
            </a:r>
          </a:p>
        </p:txBody>
      </p:sp>
      <p:sp>
        <p:nvSpPr>
          <p:cNvPr id="9" name="Rounded Rectangle 8"/>
          <p:cNvSpPr/>
          <p:nvPr/>
        </p:nvSpPr>
        <p:spPr>
          <a:xfrm>
            <a:off x="594360" y="1554480"/>
            <a:ext cx="2926080" cy="86868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1" i="0">
                <a:solidFill>
                  <a:srgbClr val="14171C"/>
                </a:solidFill>
                <a:latin typeface="Calibri"/>
              </a:rPr>
              <a:t>HMU</a:t>
            </a:r>
          </a:p>
          <a:p>
            <a:pPr algn="ctr"/>
            <a:r>
              <a:rPr sz="1500" b="0" i="0">
                <a:solidFill>
                  <a:srgbClr val="14171C"/>
                </a:solidFill>
                <a:latin typeface="Calibri"/>
              </a:rPr>
              <a:t>hydromechanical unit</a:t>
            </a:r>
          </a:p>
        </p:txBody>
      </p:sp>
      <p:sp>
        <p:nvSpPr>
          <p:cNvPr id="10" name="Rounded Rectangle 9"/>
          <p:cNvSpPr/>
          <p:nvPr/>
        </p:nvSpPr>
        <p:spPr>
          <a:xfrm>
            <a:off x="8503920" y="1554480"/>
            <a:ext cx="2926080" cy="86868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500" b="1" i="0">
                <a:solidFill>
                  <a:srgbClr val="14171C"/>
                </a:solidFill>
                <a:latin typeface="Calibri"/>
              </a:rPr>
              <a:t>ECU</a:t>
            </a:r>
          </a:p>
          <a:p>
            <a:pPr algn="ctr"/>
            <a:r>
              <a:rPr sz="1500" b="0" i="0">
                <a:solidFill>
                  <a:srgbClr val="14171C"/>
                </a:solidFill>
                <a:latin typeface="Calibri"/>
              </a:rPr>
              <a:t>electrical control unit</a:t>
            </a:r>
          </a:p>
        </p:txBody>
      </p:sp>
      <p:sp>
        <p:nvSpPr>
          <p:cNvPr id="11" name="Rounded Rectangle 10"/>
          <p:cNvSpPr/>
          <p:nvPr/>
        </p:nvSpPr>
        <p:spPr>
          <a:xfrm>
            <a:off x="594360" y="3749039"/>
            <a:ext cx="2377440" cy="86868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i="0">
                <a:solidFill>
                  <a:srgbClr val="14171C"/>
                </a:solidFill>
                <a:latin typeface="Calibri"/>
              </a:rPr>
              <a:t>Pilot</a:t>
            </a:r>
          </a:p>
          <a:p>
            <a:pPr algn="ctr"/>
            <a:r>
              <a:rPr sz="1200" b="0" i="0">
                <a:solidFill>
                  <a:srgbClr val="14171C"/>
                </a:solidFill>
                <a:latin typeface="Calibri"/>
              </a:rPr>
              <a:t>collective, power lever,</a:t>
            </a:r>
          </a:p>
          <a:p>
            <a:pPr algn="ctr"/>
            <a:r>
              <a:rPr sz="1200" b="0" i="0">
                <a:solidFill>
                  <a:srgbClr val="14171C"/>
                </a:solidFill>
                <a:latin typeface="Calibri"/>
              </a:rPr>
              <a:t>speed reference</a:t>
            </a:r>
          </a:p>
        </p:txBody>
      </p:sp>
      <p:sp>
        <p:nvSpPr>
          <p:cNvPr id="12" name="Rounded Rectangle 11"/>
          <p:cNvSpPr/>
          <p:nvPr/>
        </p:nvSpPr>
        <p:spPr>
          <a:xfrm>
            <a:off x="9052560" y="3749039"/>
            <a:ext cx="2377440" cy="86868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200" b="1" i="0">
                <a:solidFill>
                  <a:srgbClr val="14171C"/>
                </a:solidFill>
                <a:latin typeface="Calibri"/>
              </a:rPr>
              <a:t>Load</a:t>
            </a:r>
          </a:p>
          <a:p>
            <a:pPr algn="ctr"/>
            <a:r>
              <a:rPr sz="1200" b="0" i="0">
                <a:solidFill>
                  <a:srgbClr val="14171C"/>
                </a:solidFill>
                <a:latin typeface="Calibri"/>
              </a:rPr>
              <a:t>Table B.1 torque + the</a:t>
            </a:r>
          </a:p>
          <a:p>
            <a:pPr algn="ctr"/>
            <a:r>
              <a:rPr sz="1200" b="0" i="0">
                <a:solidFill>
                  <a:srgbClr val="14171C"/>
                </a:solidFill>
                <a:latin typeface="Calibri"/>
              </a:rPr>
              <a:t>Appendix B slope × ΔNP</a:t>
            </a:r>
          </a:p>
        </p:txBody>
      </p:sp>
      <p:cxnSp>
        <p:nvCxnSpPr>
          <p:cNvPr id="13" name="Connector 12"/>
          <p:cNvCxnSpPr/>
          <p:nvPr/>
        </p:nvCxnSpPr>
        <p:spPr>
          <a:xfrm flipH="1">
            <a:off x="3520439" y="1984248"/>
            <a:ext cx="4983481" cy="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640580" y="1673352"/>
            <a:ext cx="274320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SPDG: torque-motor trim</a:t>
            </a:r>
          </a:p>
        </p:txBody>
      </p:sp>
      <p:cxnSp>
        <p:nvCxnSpPr>
          <p:cNvPr id="15" name="Connector 14"/>
          <p:cNvCxnSpPr/>
          <p:nvPr/>
        </p:nvCxnSpPr>
        <p:spPr>
          <a:xfrm>
            <a:off x="2057400" y="2423160"/>
            <a:ext cx="2423159" cy="128016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691640" y="2834639"/>
            <a:ext cx="164592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fuel flow Wf</a:t>
            </a:r>
          </a:p>
        </p:txBody>
      </p:sp>
      <p:cxnSp>
        <p:nvCxnSpPr>
          <p:cNvPr id="17" name="Connector 16"/>
          <p:cNvCxnSpPr/>
          <p:nvPr/>
        </p:nvCxnSpPr>
        <p:spPr>
          <a:xfrm flipH="1" flipV="1">
            <a:off x="3154680" y="2423160"/>
            <a:ext cx="1965960" cy="128016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86200" y="2651760"/>
            <a:ext cx="146304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NG, Ps3, T2</a:t>
            </a:r>
          </a:p>
        </p:txBody>
      </p:sp>
      <p:cxnSp>
        <p:nvCxnSpPr>
          <p:cNvPr id="19" name="Connector 18"/>
          <p:cNvCxnSpPr/>
          <p:nvPr/>
        </p:nvCxnSpPr>
        <p:spPr>
          <a:xfrm flipV="1">
            <a:off x="6949440" y="2423160"/>
            <a:ext cx="2560320" cy="128016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58200" y="3108960"/>
            <a:ext cx="2651760" cy="457200"/>
          </a:xfrm>
          <a:prstGeom prst="rect">
            <a:avLst/>
          </a:prstGeom>
          <a:noFill/>
        </p:spPr>
        <p:txBody>
          <a:bodyPr wrap="square" anchor="t" lIns="36576" rIns="36576" tIns="27432" bIns="27432">
            <a:noAutofit/>
          </a:bodyPr>
          <a:lstStyle/>
          <a:p>
            <a:pPr algn="ctr">
              <a:lnSpc>
                <a:spcPct val="105000"/>
              </a:lnSpc>
              <a:spcBef>
                <a:spcPts val="0"/>
              </a:spcBef>
            </a:pPr>
            <a:r>
              <a:rPr sz="1200" b="0" i="0">
                <a:solidFill>
                  <a:srgbClr val="4D5563"/>
                </a:solidFill>
                <a:latin typeface="Calibri"/>
              </a:rPr>
              <a:t>NP, torque, T45, W45, P45</a:t>
            </a:r>
          </a:p>
        </p:txBody>
      </p:sp>
      <p:cxnSp>
        <p:nvCxnSpPr>
          <p:cNvPr id="21" name="Connector 20"/>
          <p:cNvCxnSpPr/>
          <p:nvPr/>
        </p:nvCxnSpPr>
        <p:spPr>
          <a:xfrm>
            <a:off x="2971800" y="4178808"/>
            <a:ext cx="1234440" cy="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315200" y="4178808"/>
            <a:ext cx="1737360" cy="0"/>
          </a:xfrm>
          <a:prstGeom prst="line">
            <a:avLst/>
          </a:prstGeom>
          <a:ln w="22225">
            <a:solidFill>
              <a:srgbClr val="4D5563"/>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4846320"/>
            <a:ext cx="11185855" cy="1371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Fuel flow becomes an </a:t>
            </a:r>
            <a:r>
              <a:rPr sz="1300" b="0" i="1">
                <a:solidFill>
                  <a:srgbClr val="14171C"/>
                </a:solidFill>
                <a:latin typeface="Calibri"/>
              </a:rPr>
              <a:t>output</a:t>
            </a:r>
            <a:r>
              <a:rPr sz="1300" b="0" i="0">
                <a:solidFill>
                  <a:srgbClr val="14171C"/>
                </a:solidFill>
                <a:latin typeface="Calibri"/>
              </a:rPr>
              <a:t>. Each control reads the engine's previous frame, as a real-time implementation does.</a:t>
            </a:r>
          </a:p>
          <a:p>
            <a:pPr marL="201168" indent="-201168">
              <a:lnSpc>
                <a:spcPct val="105000"/>
              </a:lnSpc>
              <a:spcBef>
                <a:spcPts val="400"/>
              </a:spcBef>
              <a:buFont typeface="Arial"/>
              <a:buChar char="•"/>
            </a:pPr>
            <a:r>
              <a:rPr sz="1300" b="1" i="0">
                <a:solidFill>
                  <a:srgbClr val="14171C"/>
                </a:solidFill>
                <a:latin typeface="Calibri"/>
              </a:rPr>
              <a:t>A genuine cross-check:</a:t>
            </a:r>
            <a:r>
              <a:rPr sz="1300" b="0" i="0">
                <a:solidFill>
                  <a:srgbClr val="14171C"/>
                </a:solidFill>
                <a:latin typeface="Calibri"/>
              </a:rPr>
              <a:t> engine from the report's body and Appendix A, control from Appendix C. Hold Table B.1's printed shaft torque and set the speed reference: the loop finds the printed state on its own, worst 0.25 % over NG, NP, Wf, Ps3 and shaft power at three trims.</a:t>
            </a:r>
          </a:p>
          <a:p>
            <a:pPr marL="201168" indent="-201168">
              <a:lnSpc>
                <a:spcPct val="105000"/>
              </a:lnSpc>
              <a:spcBef>
                <a:spcPts val="400"/>
              </a:spcBef>
              <a:buFont typeface="Arial"/>
              <a:buChar char="•"/>
            </a:pPr>
            <a:r>
              <a:rPr sz="1300" b="0" i="0">
                <a:solidFill>
                  <a:srgbClr val="14171C"/>
                </a:solidFill>
                <a:latin typeface="Calibri"/>
              </a:rPr>
              <a:t>The NG sensor's hysteresis keeps it in a small limit cycle (NP 12.7–16.3 rpm peak to peak), so closed-loop values are averaged over whole cycles.</a:t>
            </a:r>
          </a:p>
          <a:p>
            <a:pPr marL="201168" indent="-201168">
              <a:lnSpc>
                <a:spcPct val="105000"/>
              </a:lnSpc>
              <a:spcBef>
                <a:spcPts val="400"/>
              </a:spcBef>
              <a:buFont typeface="Arial"/>
              <a:buChar char="•"/>
            </a:pPr>
            <a:r>
              <a:rPr sz="1300" b="1" i="0">
                <a:solidFill>
                  <a:srgbClr val="14171C"/>
                </a:solidFill>
                <a:latin typeface="Calibri"/>
              </a:rPr>
              <a:t>The load:</a:t>
            </a:r>
            <a:r>
              <a:rPr sz="1300" b="0" i="0">
                <a:solidFill>
                  <a:srgbClr val="14171C"/>
                </a:solidFill>
                <a:latin typeface="Calibri"/>
              </a:rPr>
              <a:t> Table B.1's torque plus the Appendix B slope times the NP change, on the Appendix B inertia, the same two numbers as the linear models (slides 32–33).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Closed-loop manoeuvres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Our runs at the hover trim; the report's Figures 11–15 (pdf pp.48–53) are compared in Part 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29</a:t>
            </a:r>
          </a:p>
        </p:txBody>
      </p:sp>
      <p:pic>
        <p:nvPicPr>
          <p:cNvPr id="8" name="Picture 7" descr="closed-loop-response.png"/>
          <p:cNvPicPr>
            <a:picLocks noChangeAspect="1"/>
          </p:cNvPicPr>
          <p:nvPr/>
        </p:nvPicPr>
        <p:blipFill>
          <a:blip r:embed="rId2"/>
          <a:stretch>
            <a:fillRect/>
          </a:stretch>
        </p:blipFill>
        <p:spPr>
          <a:xfrm>
            <a:off x="502920" y="1513331"/>
            <a:ext cx="6766560" cy="4059936"/>
          </a:xfrm>
          <a:prstGeom prst="rect">
            <a:avLst/>
          </a:prstGeom>
        </p:spPr>
      </p:pic>
      <p:graphicFrame>
        <p:nvGraphicFramePr>
          <p:cNvPr id="9" name="Table 8"/>
          <p:cNvGraphicFramePr>
            <a:graphicFrameLocks noGrp="1"/>
          </p:cNvGraphicFramePr>
          <p:nvPr/>
        </p:nvGraphicFramePr>
        <p:xfrm>
          <a:off x="7406640" y="1325880"/>
          <a:ext cx="4297678" cy="1828800"/>
        </p:xfrm>
        <a:graphic>
          <a:graphicData uri="http://schemas.openxmlformats.org/drawingml/2006/table">
            <a:tbl>
              <a:tblPr firstRow="1">
                <a:tableStyleId>{5C22544A-7EE6-4342-B048-85BDC9FD1C3A}</a:tableStyleId>
              </a:tblPr>
              <a:tblGrid>
                <a:gridCol w="1271144"/>
                <a:gridCol w="968491"/>
                <a:gridCol w="605307"/>
                <a:gridCol w="907960"/>
                <a:gridCol w="544776"/>
              </a:tblGrid>
              <a:tr h="457200">
                <a:tc>
                  <a:txBody>
                    <a:bodyPr wrap="square"/>
                    <a:lstStyle/>
                    <a:p>
                      <a:pPr algn="l"/>
                      <a:r>
                        <a:rPr sz="1000" b="1" i="0">
                          <a:solidFill>
                            <a:srgbClr val="FFFFFF"/>
                          </a:solidFill>
                          <a:latin typeface="Calibri"/>
                        </a:rPr>
                        <a:t>Manoeuvre</a:t>
                      </a:r>
                    </a:p>
                  </a:txBody>
                  <a:tcPr marL="54864" marR="54864" marT="22860" marB="22860" anchor="ctr">
                    <a:solidFill>
                      <a:srgbClr val="4D5563"/>
                    </a:solidFill>
                  </a:tcPr>
                </a:tc>
                <a:tc>
                  <a:txBody>
                    <a:bodyPr wrap="square"/>
                    <a:lstStyle/>
                    <a:p>
                      <a:pPr algn="ctr"/>
                      <a:r>
                        <a:rPr sz="1000" b="1" i="0">
                          <a:solidFill>
                            <a:srgbClr val="FFFFFF"/>
                          </a:solidFill>
                          <a:latin typeface="Calibri"/>
                        </a:rPr>
                        <a:t>NP range, rpm</a:t>
                      </a:r>
                    </a:p>
                  </a:txBody>
                  <a:tcPr marL="54864" marR="54864" marT="22860" marB="22860" anchor="ctr">
                    <a:solidFill>
                      <a:srgbClr val="4D5563"/>
                    </a:solidFill>
                  </a:tcPr>
                </a:tc>
                <a:tc>
                  <a:txBody>
                    <a:bodyPr wrap="square"/>
                    <a:lstStyle/>
                    <a:p>
                      <a:pPr algn="r"/>
                      <a:r>
                        <a:rPr sz="1000" b="1" i="0">
                          <a:solidFill>
                            <a:srgbClr val="FFFFFF"/>
                          </a:solidFill>
                          <a:latin typeface="Calibri"/>
                        </a:rPr>
                        <a:t>NP settled</a:t>
                      </a:r>
                    </a:p>
                  </a:txBody>
                  <a:tcPr marL="54864" marR="54864" marT="22860" marB="22860" anchor="ctr">
                    <a:solidFill>
                      <a:srgbClr val="4D5563"/>
                    </a:solidFill>
                  </a:tcPr>
                </a:tc>
                <a:tc>
                  <a:txBody>
                    <a:bodyPr wrap="square"/>
                    <a:lstStyle/>
                    <a:p>
                      <a:pPr algn="ctr"/>
                      <a:r>
                        <a:rPr sz="1000" b="1" i="0">
                          <a:solidFill>
                            <a:srgbClr val="FFFFFF"/>
                          </a:solidFill>
                          <a:latin typeface="Calibri"/>
                        </a:rPr>
                        <a:t>Wf range, lbm/hr</a:t>
                      </a:r>
                    </a:p>
                  </a:txBody>
                  <a:tcPr marL="54864" marR="54864" marT="22860" marB="22860" anchor="ctr">
                    <a:solidFill>
                      <a:srgbClr val="4D5563"/>
                    </a:solidFill>
                  </a:tcPr>
                </a:tc>
                <a:tc>
                  <a:txBody>
                    <a:bodyPr wrap="square"/>
                    <a:lstStyle/>
                    <a:p>
                      <a:pPr algn="r"/>
                      <a:r>
                        <a:rPr sz="1000" b="1" i="0">
                          <a:solidFill>
                            <a:srgbClr val="FFFFFF"/>
                          </a:solidFill>
                          <a:latin typeface="Calibri"/>
                        </a:rPr>
                        <a:t>Wf settled</a:t>
                      </a:r>
                    </a:p>
                  </a:txBody>
                  <a:tcPr marL="54864" marR="54864" marT="22860" marB="22860" anchor="ctr">
                    <a:solidFill>
                      <a:srgbClr val="4D5563"/>
                    </a:solidFill>
                  </a:tcPr>
                </a:tc>
              </a:tr>
              <a:tr h="457200">
                <a:tc>
                  <a:txBody>
                    <a:bodyPr wrap="square"/>
                    <a:lstStyle/>
                    <a:p>
                      <a:pPr algn="l"/>
                      <a:r>
                        <a:rPr sz="1000" b="0" i="0">
                          <a:solidFill>
                            <a:srgbClr val="14171C"/>
                          </a:solidFill>
                          <a:latin typeface="Calibri"/>
                        </a:rPr>
                        <a:t>15 % load step</a:t>
                      </a:r>
                    </a:p>
                  </a:txBody>
                  <a:tcPr marL="54864" marR="54864" marT="22860" marB="22860" anchor="ctr">
                    <a:solidFill>
                      <a:srgbClr val="FFFFFF"/>
                    </a:solidFill>
                  </a:tcPr>
                </a:tc>
                <a:tc>
                  <a:txBody>
                    <a:bodyPr wrap="square"/>
                    <a:lstStyle/>
                    <a:p>
                      <a:pPr algn="ctr"/>
                      <a:r>
                        <a:rPr sz="1000" b="0" i="0">
                          <a:solidFill>
                            <a:srgbClr val="14171C"/>
                          </a:solidFill>
                          <a:latin typeface="Calibri"/>
                        </a:rPr>
                        <a:t>20,685–20,901</a:t>
                      </a:r>
                    </a:p>
                  </a:txBody>
                  <a:tcPr marL="54864" marR="54864" marT="22860" marB="22860" anchor="ctr">
                    <a:solidFill>
                      <a:srgbClr val="FFFFFF"/>
                    </a:solidFill>
                  </a:tcPr>
                </a:tc>
                <a:tc>
                  <a:txBody>
                    <a:bodyPr wrap="square"/>
                    <a:lstStyle/>
                    <a:p>
                      <a:pPr algn="r"/>
                      <a:r>
                        <a:rPr sz="1000" b="0" i="0">
                          <a:solidFill>
                            <a:srgbClr val="14171C"/>
                          </a:solidFill>
                          <a:latin typeface="Calibri"/>
                        </a:rPr>
                        <a:t>20,896</a:t>
                      </a:r>
                    </a:p>
                  </a:txBody>
                  <a:tcPr marL="54864" marR="54864" marT="22860" marB="22860" anchor="ctr">
                    <a:solidFill>
                      <a:srgbClr val="FFFFFF"/>
                    </a:solidFill>
                  </a:tcPr>
                </a:tc>
                <a:tc>
                  <a:txBody>
                    <a:bodyPr wrap="square"/>
                    <a:lstStyle/>
                    <a:p>
                      <a:pPr algn="ctr"/>
                      <a:r>
                        <a:rPr sz="1000" b="0" i="0">
                          <a:solidFill>
                            <a:srgbClr val="14171C"/>
                          </a:solidFill>
                          <a:latin typeface="Calibri"/>
                        </a:rPr>
                        <a:t>476–564</a:t>
                      </a:r>
                    </a:p>
                  </a:txBody>
                  <a:tcPr marL="54864" marR="54864" marT="22860" marB="22860" anchor="ctr">
                    <a:solidFill>
                      <a:srgbClr val="FFFFFF"/>
                    </a:solidFill>
                  </a:tcPr>
                </a:tc>
                <a:tc>
                  <a:txBody>
                    <a:bodyPr wrap="square"/>
                    <a:lstStyle/>
                    <a:p>
                      <a:pPr algn="r"/>
                      <a:r>
                        <a:rPr sz="1000" b="0" i="0">
                          <a:solidFill>
                            <a:srgbClr val="14171C"/>
                          </a:solidFill>
                          <a:latin typeface="Calibri"/>
                        </a:rPr>
                        <a:t>522</a:t>
                      </a:r>
                    </a:p>
                  </a:txBody>
                  <a:tcPr marL="54864" marR="54864" marT="22860" marB="22860" anchor="ctr">
                    <a:solidFill>
                      <a:srgbClr val="FFFFFF"/>
                    </a:solidFill>
                  </a:tcPr>
                </a:tc>
              </a:tr>
              <a:tr h="457200">
                <a:tc>
                  <a:txBody>
                    <a:bodyPr wrap="square"/>
                    <a:lstStyle/>
                    <a:p>
                      <a:pPr algn="l"/>
                      <a:r>
                        <a:rPr sz="1000" b="0" i="0">
                          <a:solidFill>
                            <a:srgbClr val="14171C"/>
                          </a:solidFill>
                          <a:latin typeface="Calibri"/>
                        </a:rPr>
                        <a:t>collective 52.75 → 70 %</a:t>
                      </a:r>
                    </a:p>
                  </a:txBody>
                  <a:tcPr marL="54864" marR="54864" marT="22860" marB="22860" anchor="ctr">
                    <a:solidFill>
                      <a:srgbClr val="F2F3F5"/>
                    </a:solidFill>
                  </a:tcPr>
                </a:tc>
                <a:tc>
                  <a:txBody>
                    <a:bodyPr wrap="square"/>
                    <a:lstStyle/>
                    <a:p>
                      <a:pPr algn="ctr"/>
                      <a:r>
                        <a:rPr sz="1000" b="0" i="0">
                          <a:solidFill>
                            <a:srgbClr val="14171C"/>
                          </a:solidFill>
                          <a:latin typeface="Calibri"/>
                        </a:rPr>
                        <a:t>20,890–21,438</a:t>
                      </a:r>
                    </a:p>
                  </a:txBody>
                  <a:tcPr marL="54864" marR="54864" marT="22860" marB="22860" anchor="ctr">
                    <a:solidFill>
                      <a:srgbClr val="F2F3F5"/>
                    </a:solidFill>
                  </a:tcPr>
                </a:tc>
                <a:tc>
                  <a:txBody>
                    <a:bodyPr wrap="square"/>
                    <a:lstStyle/>
                    <a:p>
                      <a:pPr algn="r"/>
                      <a:r>
                        <a:rPr sz="1000" b="0" i="0">
                          <a:solidFill>
                            <a:srgbClr val="14171C"/>
                          </a:solidFill>
                          <a:latin typeface="Calibri"/>
                        </a:rPr>
                        <a:t>20,898</a:t>
                      </a:r>
                    </a:p>
                  </a:txBody>
                  <a:tcPr marL="54864" marR="54864" marT="22860" marB="22860" anchor="ctr">
                    <a:solidFill>
                      <a:srgbClr val="F2F3F5"/>
                    </a:solidFill>
                  </a:tcPr>
                </a:tc>
                <a:tc>
                  <a:txBody>
                    <a:bodyPr wrap="square"/>
                    <a:lstStyle/>
                    <a:p>
                      <a:pPr algn="ctr"/>
                      <a:r>
                        <a:rPr sz="1000" b="0" i="0">
                          <a:solidFill>
                            <a:srgbClr val="14171C"/>
                          </a:solidFill>
                          <a:latin typeface="Calibri"/>
                        </a:rPr>
                        <a:t>373–682</a:t>
                      </a:r>
                    </a:p>
                  </a:txBody>
                  <a:tcPr marL="54864" marR="54864" marT="22860" marB="22860" anchor="ctr">
                    <a:solidFill>
                      <a:srgbClr val="F2F3F5"/>
                    </a:solidFill>
                  </a:tcPr>
                </a:tc>
                <a:tc>
                  <a:txBody>
                    <a:bodyPr wrap="square"/>
                    <a:lstStyle/>
                    <a:p>
                      <a:pPr algn="r"/>
                      <a:r>
                        <a:rPr sz="1000" b="0" i="0">
                          <a:solidFill>
                            <a:srgbClr val="14171C"/>
                          </a:solidFill>
                          <a:latin typeface="Calibri"/>
                        </a:rPr>
                        <a:t>476</a:t>
                      </a:r>
                    </a:p>
                  </a:txBody>
                  <a:tcPr marL="54864" marR="54864" marT="22860" marB="22860" anchor="ctr">
                    <a:solidFill>
                      <a:srgbClr val="F2F3F5"/>
                    </a:solidFill>
                  </a:tcPr>
                </a:tc>
              </a:tr>
              <a:tr h="457200">
                <a:tc>
                  <a:txBody>
                    <a:bodyPr wrap="square"/>
                    <a:lstStyle/>
                    <a:p>
                      <a:pPr algn="l"/>
                      <a:r>
                        <a:rPr sz="1000" b="0" i="0">
                          <a:solidFill>
                            <a:srgbClr val="14171C"/>
                          </a:solidFill>
                          <a:latin typeface="Calibri"/>
                        </a:rPr>
                        <a:t>speed reference 100 → 102 %</a:t>
                      </a:r>
                    </a:p>
                  </a:txBody>
                  <a:tcPr marL="54864" marR="54864" marT="22860" marB="22860" anchor="ctr">
                    <a:solidFill>
                      <a:srgbClr val="FFFFFF"/>
                    </a:solidFill>
                  </a:tcPr>
                </a:tc>
                <a:tc>
                  <a:txBody>
                    <a:bodyPr wrap="square"/>
                    <a:lstStyle/>
                    <a:p>
                      <a:pPr algn="ctr"/>
                      <a:r>
                        <a:rPr sz="1000" b="0" i="0">
                          <a:solidFill>
                            <a:srgbClr val="14171C"/>
                          </a:solidFill>
                          <a:latin typeface="Calibri"/>
                        </a:rPr>
                        <a:t>20,889–21,438</a:t>
                      </a:r>
                    </a:p>
                  </a:txBody>
                  <a:tcPr marL="54864" marR="54864" marT="22860" marB="22860" anchor="ctr">
                    <a:solidFill>
                      <a:srgbClr val="FFFFFF"/>
                    </a:solidFill>
                  </a:tcPr>
                </a:tc>
                <a:tc>
                  <a:txBody>
                    <a:bodyPr wrap="square"/>
                    <a:lstStyle/>
                    <a:p>
                      <a:pPr algn="r"/>
                      <a:r>
                        <a:rPr sz="1000" b="0" i="0">
                          <a:solidFill>
                            <a:srgbClr val="14171C"/>
                          </a:solidFill>
                          <a:latin typeface="Calibri"/>
                        </a:rPr>
                        <a:t>21,315</a:t>
                      </a:r>
                    </a:p>
                  </a:txBody>
                  <a:tcPr marL="54864" marR="54864" marT="22860" marB="22860" anchor="ctr">
                    <a:solidFill>
                      <a:srgbClr val="FFFFFF"/>
                    </a:solidFill>
                  </a:tcPr>
                </a:tc>
                <a:tc>
                  <a:txBody>
                    <a:bodyPr wrap="square"/>
                    <a:lstStyle/>
                    <a:p>
                      <a:pPr algn="ctr"/>
                      <a:r>
                        <a:rPr sz="1000" b="0" i="0">
                          <a:solidFill>
                            <a:srgbClr val="14171C"/>
                          </a:solidFill>
                          <a:latin typeface="Calibri"/>
                        </a:rPr>
                        <a:t>472–666</a:t>
                      </a:r>
                    </a:p>
                  </a:txBody>
                  <a:tcPr marL="54864" marR="54864" marT="22860" marB="22860" anchor="ctr">
                    <a:solidFill>
                      <a:srgbClr val="FFFFFF"/>
                    </a:solidFill>
                  </a:tcPr>
                </a:tc>
                <a:tc>
                  <a:txBody>
                    <a:bodyPr wrap="square"/>
                    <a:lstStyle/>
                    <a:p>
                      <a:pPr algn="r"/>
                      <a:r>
                        <a:rPr sz="1000" b="0" i="0">
                          <a:solidFill>
                            <a:srgbClr val="14171C"/>
                          </a:solidFill>
                          <a:latin typeface="Calibri"/>
                        </a:rPr>
                        <a:t>497</a:t>
                      </a:r>
                    </a:p>
                  </a:txBody>
                  <a:tcPr marL="54864" marR="54864" marT="22860" marB="22860" anchor="ctr">
                    <a:solidFill>
                      <a:srgbClr val="FFFFFF"/>
                    </a:solidFill>
                  </a:tcPr>
                </a:tc>
              </a:tr>
            </a:tbl>
          </a:graphicData>
        </a:graphic>
      </p:graphicFrame>
      <p:sp>
        <p:nvSpPr>
          <p:cNvPr id="10" name="TextBox 9"/>
          <p:cNvSpPr txBox="1"/>
          <p:nvPr/>
        </p:nvSpPr>
        <p:spPr>
          <a:xfrm>
            <a:off x="7406640" y="3337560"/>
            <a:ext cx="4297680" cy="27432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Load: Table B.1's torque plus the Appendix B slope times (NP − 20,895 rpm), with the Appendix B inertia.</a:t>
            </a:r>
          </a:p>
          <a:p>
            <a:pPr marL="201168" indent="-201168">
              <a:lnSpc>
                <a:spcPct val="105000"/>
              </a:lnSpc>
              <a:spcBef>
                <a:spcPts val="800"/>
              </a:spcBef>
              <a:buFont typeface="Arial"/>
              <a:buChar char="•"/>
            </a:pPr>
            <a:r>
              <a:rPr sz="1300" b="0" i="0">
                <a:solidFill>
                  <a:srgbClr val="14171C"/>
                </a:solidFill>
                <a:latin typeface="Calibri"/>
              </a:rPr>
              <a:t>The collective slam exercises only the load-demand feedforward: our load depends on speed alone, so the control anticipates a load that never arrives and NP rises rather than dipping.</a:t>
            </a:r>
          </a:p>
          <a:p>
            <a:pPr marL="201168" indent="-201168">
              <a:lnSpc>
                <a:spcPct val="105000"/>
              </a:lnSpc>
              <a:spcBef>
                <a:spcPts val="800"/>
              </a:spcBef>
              <a:buFont typeface="Arial"/>
              <a:buChar char="•"/>
            </a:pPr>
            <a:r>
              <a:rPr sz="1300" b="0" i="0">
                <a:solidFill>
                  <a:srgbClr val="14171C"/>
                </a:solidFill>
                <a:latin typeface="Calibri"/>
              </a:rPr>
              <a:t>The report's own manoeuvres (Figures 11–15) fly the engine inside the Gen Hel helicopter simulation, which is not in the report. Figures 11–15 are compared instead by running our closed loop on what they print (Part 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Linearization: how we built our own linear models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pp.26–33, 67; Appendix B, pdf pp.68–76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30</a:t>
            </a:r>
          </a:p>
        </p:txBody>
      </p:sp>
      <p:sp>
        <p:nvSpPr>
          <p:cNvPr id="8" name="TextBox 7"/>
          <p:cNvSpPr txBox="1"/>
          <p:nvPr/>
        </p:nvSpPr>
        <p:spPr>
          <a:xfrm>
            <a:off x="502920" y="1325880"/>
            <a:ext cx="56692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Ballin: “plus or minus two percent of equilibruim [</a:t>
            </a:r>
            <a:r>
              <a:rPr sz="1400" b="0" i="1">
                <a:solidFill>
                  <a:srgbClr val="14171C"/>
                </a:solidFill>
                <a:latin typeface="Calibri"/>
              </a:rPr>
              <a:t>sic</a:t>
            </a:r>
            <a:r>
              <a:rPr sz="1400" b="0" i="0">
                <a:solidFill>
                  <a:srgbClr val="14171C"/>
                </a:solidFill>
                <a:latin typeface="Calibri"/>
              </a:rPr>
              <a:t>] conditions” [pdf p.28]. We take central differences of the nonlinear model at a trim: A = ∂ẋ/∂x, b = ∂ẋ/∂Wf.</a:t>
            </a:r>
          </a:p>
          <a:p>
            <a:pPr marL="201168" indent="-201168">
              <a:lnSpc>
                <a:spcPct val="105000"/>
              </a:lnSpc>
              <a:spcBef>
                <a:spcPts val="800"/>
              </a:spcBef>
              <a:buFont typeface="Arial"/>
              <a:buChar char="•"/>
            </a:pPr>
            <a:r>
              <a:rPr sz="1400" b="1" i="0">
                <a:solidFill>
                  <a:srgbClr val="14171C"/>
                </a:solidFill>
                <a:latin typeface="Calibri"/>
              </a:rPr>
              <a:t>Three trims</a:t>
            </a:r>
            <a:r>
              <a:rPr sz="1400" b="0" i="0">
                <a:solidFill>
                  <a:srgbClr val="14171C"/>
                </a:solidFill>
                <a:latin typeface="Calibri"/>
              </a:rPr>
              <a:t> (Table B.1; sea level, UH-60A at 16,825 lbm, NP 20,895 rpm): hover, 911.1 hp; 80 kt level flight, 552.6 hp; 80 kt with 1000 ft/min descent, 302.6 hp.</a:t>
            </a:r>
          </a:p>
          <a:p>
            <a:pPr marL="201168" indent="-201168">
              <a:lnSpc>
                <a:spcPct val="105000"/>
              </a:lnSpc>
              <a:spcBef>
                <a:spcPts val="800"/>
              </a:spcBef>
              <a:buFont typeface="Arial"/>
              <a:buChar char="•"/>
            </a:pPr>
            <a:r>
              <a:rPr sz="1400" b="1" i="0">
                <a:solidFill>
                  <a:srgbClr val="14171C"/>
                </a:solidFill>
                <a:latin typeface="Calibri"/>
              </a:rPr>
              <a:t>Each variant is made the way Ballin made his</a:t>
            </a:r>
            <a:r>
              <a:rPr sz="1400" b="0" i="0">
                <a:solidFill>
                  <a:srgbClr val="14171C"/>
                </a:solidFill>
                <a:latin typeface="Calibri"/>
              </a:rPr>
              <a:t> [pdf pp.26–28]: 5-DOF from the simple nonlinear model; 2-DOF from a model with the pressures in balance; reduced 5-DOF by setting the 5-DOF's pressure derivatives to zero.</a:t>
            </a:r>
          </a:p>
          <a:p>
            <a:pPr marL="201168" indent="-201168">
              <a:lnSpc>
                <a:spcPct val="105000"/>
              </a:lnSpc>
              <a:spcBef>
                <a:spcPts val="800"/>
              </a:spcBef>
              <a:buFont typeface="Arial"/>
              <a:buChar char="•"/>
            </a:pPr>
            <a:r>
              <a:rPr sz="1400" b="1" i="0">
                <a:solidFill>
                  <a:srgbClr val="14171C"/>
                </a:solidFill>
                <a:latin typeface="Calibri"/>
              </a:rPr>
              <a:t>Modes are named by the state that dominates them</a:t>
            </a:r>
            <a:r>
              <a:rPr sz="1400" b="0" i="0">
                <a:solidFill>
                  <a:srgbClr val="14171C"/>
                </a:solidFill>
                <a:latin typeface="Calibri"/>
              </a:rPr>
              <a:t>, not by sorting: at descent the two fastest modes lie a few percent apart, and sorting would pair them by size, not by physics.</a:t>
            </a:r>
          </a:p>
          <a:p>
            <a:pPr marL="201168" indent="-201168">
              <a:lnSpc>
                <a:spcPct val="105000"/>
              </a:lnSpc>
              <a:spcBef>
                <a:spcPts val="800"/>
              </a:spcBef>
              <a:buFont typeface="Arial"/>
              <a:buChar char="•"/>
            </a:pPr>
            <a:r>
              <a:rPr sz="1400" b="0" i="0">
                <a:solidFill>
                  <a:srgbClr val="14171C"/>
                </a:solidFill>
                <a:latin typeface="Calibri"/>
              </a:rPr>
              <a:t>How each cell is calculated, and how the NP row gets the helicopter load: the next three slides.</a:t>
            </a:r>
          </a:p>
        </p:txBody>
      </p:sp>
      <p:graphicFrame>
        <p:nvGraphicFramePr>
          <p:cNvPr id="9" name="Table 8"/>
          <p:cNvGraphicFramePr>
            <a:graphicFrameLocks noGrp="1"/>
          </p:cNvGraphicFramePr>
          <p:nvPr/>
        </p:nvGraphicFramePr>
        <p:xfrm>
          <a:off x="6400800" y="1325880"/>
          <a:ext cx="5303517" cy="2743200"/>
        </p:xfrm>
        <a:graphic>
          <a:graphicData uri="http://schemas.openxmlformats.org/drawingml/2006/table">
            <a:tbl>
              <a:tblPr firstRow="1">
                <a:tableStyleId>{5C22544A-7EE6-4342-B048-85BDC9FD1C3A}</a:tableStyleId>
              </a:tblPr>
              <a:tblGrid>
                <a:gridCol w="2011679"/>
                <a:gridCol w="1645919"/>
                <a:gridCol w="1645919"/>
              </a:tblGrid>
              <a:tr h="685800">
                <a:tc>
                  <a:txBody>
                    <a:bodyPr wrap="square"/>
                    <a:lstStyle/>
                    <a:p>
                      <a:pPr algn="l"/>
                    </a:p>
                  </a:txBody>
                  <a:tcPr marL="54864" marR="54864" marT="22860" marB="22860" anchor="ctr">
                    <a:solidFill>
                      <a:srgbClr val="4D5563"/>
                    </a:solidFill>
                  </a:tcPr>
                </a:tc>
                <a:tc>
                  <a:txBody>
                    <a:bodyPr wrap="square"/>
                    <a:lstStyle/>
                    <a:p>
                      <a:pPr algn="ctr"/>
                      <a:r>
                        <a:rPr sz="1300" b="1" i="0">
                          <a:solidFill>
                            <a:srgbClr val="FFFFFF"/>
                          </a:solidFill>
                          <a:latin typeface="Calibri"/>
                        </a:rPr>
                        <a:t>Heat sink off</a:t>
                      </a:r>
                    </a:p>
                  </a:txBody>
                  <a:tcPr marL="54864" marR="54864" marT="22860" marB="22860" anchor="ctr">
                    <a:solidFill>
                      <a:srgbClr val="4D5563"/>
                    </a:solidFill>
                  </a:tcPr>
                </a:tc>
                <a:tc>
                  <a:txBody>
                    <a:bodyPr wrap="square"/>
                    <a:lstStyle/>
                    <a:p>
                      <a:pPr algn="ctr"/>
                      <a:r>
                        <a:rPr sz="1300" b="1" i="0">
                          <a:solidFill>
                            <a:srgbClr val="FFFFFF"/>
                          </a:solidFill>
                          <a:latin typeface="Calibri"/>
                        </a:rPr>
                        <a:t>Heat sink on</a:t>
                      </a:r>
                    </a:p>
                  </a:txBody>
                  <a:tcPr marL="54864" marR="54864" marT="22860" marB="22860" anchor="ctr">
                    <a:solidFill>
                      <a:srgbClr val="4D5563"/>
                    </a:solidFill>
                  </a:tcPr>
                </a:tc>
              </a:tr>
              <a:tr h="685800">
                <a:tc>
                  <a:txBody>
                    <a:bodyPr wrap="square"/>
                    <a:lstStyle/>
                    <a:p>
                      <a:pPr algn="l"/>
                      <a:r>
                        <a:rPr sz="1300" b="1" i="0">
                          <a:solidFill>
                            <a:srgbClr val="14171C"/>
                          </a:solidFill>
                          <a:latin typeface="Calibri"/>
                        </a:rPr>
                        <a:t>Full volume dynamics</a:t>
                      </a:r>
                    </a:p>
                  </a:txBody>
                  <a:tcPr marL="54864" marR="54864" marT="22860" marB="22860" anchor="ctr">
                    <a:solidFill>
                      <a:srgbClr val="FFFFFF"/>
                    </a:solidFill>
                  </a:tcPr>
                </a:tc>
                <a:tc>
                  <a:txBody>
                    <a:bodyPr wrap="square"/>
                    <a:lstStyle/>
                    <a:p>
                      <a:pPr algn="ctr"/>
                      <a:r>
                        <a:rPr sz="1300" b="0" i="0">
                          <a:solidFill>
                            <a:srgbClr val="14171C"/>
                          </a:solidFill>
                          <a:latin typeface="Calibri"/>
                        </a:rPr>
                        <a:t>5-DOF</a:t>
                      </a:r>
                    </a:p>
                    <a:p>
                      <a:pPr algn="ctr"/>
                      <a:r>
                        <a:rPr sz="1300" b="0" i="0">
                          <a:solidFill>
                            <a:srgbClr val="14171C"/>
                          </a:solidFill>
                          <a:latin typeface="Calibri"/>
                        </a:rPr>
                        <a:t>B2, B4, B6</a:t>
                      </a:r>
                    </a:p>
                  </a:txBody>
                  <a:tcPr marL="54864" marR="54864" marT="22860" marB="22860" anchor="ctr">
                    <a:solidFill>
                      <a:srgbClr val="FFFFFF"/>
                    </a:solidFill>
                  </a:tcPr>
                </a:tc>
                <a:tc>
                  <a:txBody>
                    <a:bodyPr wrap="square"/>
                    <a:lstStyle/>
                    <a:p>
                      <a:pPr algn="ctr"/>
                      <a:r>
                        <a:rPr sz="1300" b="0" i="0">
                          <a:solidFill>
                            <a:srgbClr val="14171C"/>
                          </a:solidFill>
                          <a:latin typeface="Calibri"/>
                        </a:rPr>
                        <a:t>6-DOF</a:t>
                      </a:r>
                    </a:p>
                    <a:p>
                      <a:pPr algn="ctr"/>
                      <a:r>
                        <a:rPr sz="1300" b="0" i="0">
                          <a:solidFill>
                            <a:srgbClr val="14171C"/>
                          </a:solidFill>
                          <a:latin typeface="Calibri"/>
                        </a:rPr>
                        <a:t>B8, B10, B12</a:t>
                      </a:r>
                    </a:p>
                  </a:txBody>
                  <a:tcPr marL="54864" marR="54864" marT="22860" marB="22860" anchor="ctr">
                    <a:solidFill>
                      <a:srgbClr val="FFFFFF"/>
                    </a:solidFill>
                  </a:tcPr>
                </a:tc>
              </a:tr>
              <a:tr h="685800">
                <a:tc>
                  <a:txBody>
                    <a:bodyPr wrap="square"/>
                    <a:lstStyle/>
                    <a:p>
                      <a:pPr algn="l"/>
                      <a:r>
                        <a:rPr sz="1300" b="1" i="0">
                          <a:solidFill>
                            <a:srgbClr val="14171C"/>
                          </a:solidFill>
                          <a:latin typeface="Calibri"/>
                        </a:rPr>
                        <a:t>Pressures in balance</a:t>
                      </a:r>
                    </a:p>
                  </a:txBody>
                  <a:tcPr marL="54864" marR="54864" marT="22860" marB="22860" anchor="ctr">
                    <a:solidFill>
                      <a:srgbClr val="F2F3F5"/>
                    </a:solidFill>
                  </a:tcPr>
                </a:tc>
                <a:tc>
                  <a:txBody>
                    <a:bodyPr wrap="square"/>
                    <a:lstStyle/>
                    <a:p>
                      <a:pPr algn="ctr"/>
                      <a:r>
                        <a:rPr sz="1300" b="0" i="0">
                          <a:solidFill>
                            <a:srgbClr val="14171C"/>
                          </a:solidFill>
                          <a:latin typeface="Calibri"/>
                        </a:rPr>
                        <a:t>2-DOF</a:t>
                      </a:r>
                    </a:p>
                    <a:p>
                      <a:pPr algn="ctr"/>
                      <a:r>
                        <a:rPr sz="1300" b="0" i="0">
                          <a:solidFill>
                            <a:srgbClr val="14171C"/>
                          </a:solidFill>
                          <a:latin typeface="Calibri"/>
                        </a:rPr>
                        <a:t>B1, B3, B5</a:t>
                      </a:r>
                    </a:p>
                  </a:txBody>
                  <a:tcPr marL="54864" marR="54864" marT="22860" marB="22860" anchor="ctr">
                    <a:solidFill>
                      <a:srgbClr val="F2F3F5"/>
                    </a:solidFill>
                  </a:tcPr>
                </a:tc>
                <a:tc>
                  <a:txBody>
                    <a:bodyPr wrap="square"/>
                    <a:lstStyle/>
                    <a:p>
                      <a:pPr algn="ctr"/>
                      <a:r>
                        <a:rPr sz="1300" b="0" i="0">
                          <a:solidFill>
                            <a:srgbClr val="14171C"/>
                          </a:solidFill>
                          <a:latin typeface="Calibri"/>
                        </a:rPr>
                        <a:t>3-DOF</a:t>
                      </a:r>
                    </a:p>
                    <a:p>
                      <a:pPr algn="ctr"/>
                      <a:r>
                        <a:rPr sz="1300" b="0" i="0">
                          <a:solidFill>
                            <a:srgbClr val="14171C"/>
                          </a:solidFill>
                          <a:latin typeface="Calibri"/>
                        </a:rPr>
                        <a:t>B7, B9, B11</a:t>
                      </a:r>
                    </a:p>
                  </a:txBody>
                  <a:tcPr marL="54864" marR="54864" marT="22860" marB="22860" anchor="ctr">
                    <a:solidFill>
                      <a:srgbClr val="F2F3F5"/>
                    </a:solidFill>
                  </a:tcPr>
                </a:tc>
              </a:tr>
              <a:tr h="685800">
                <a:tc>
                  <a:txBody>
                    <a:bodyPr wrap="square"/>
                    <a:lstStyle/>
                    <a:p>
                      <a:pPr algn="l"/>
                      <a:r>
                        <a:rPr sz="1300" b="1" i="0">
                          <a:solidFill>
                            <a:srgbClr val="14171C"/>
                          </a:solidFill>
                          <a:latin typeface="Calibri"/>
                        </a:rPr>
                        <a:t>Order reduction</a:t>
                      </a:r>
                    </a:p>
                  </a:txBody>
                  <a:tcPr marL="54864" marR="54864" marT="22860" marB="22860" anchor="ctr">
                    <a:solidFill>
                      <a:srgbClr val="FFFFFF"/>
                    </a:solidFill>
                  </a:tcPr>
                </a:tc>
                <a:tc>
                  <a:txBody>
                    <a:bodyPr wrap="square"/>
                    <a:lstStyle/>
                    <a:p>
                      <a:pPr algn="ctr"/>
                      <a:r>
                        <a:rPr sz="1300" b="0" i="0">
                          <a:solidFill>
                            <a:srgbClr val="14171C"/>
                          </a:solidFill>
                          <a:latin typeface="Calibri"/>
                        </a:rPr>
                        <a:t>reduced 5-DOF</a:t>
                      </a:r>
                    </a:p>
                    <a:p>
                      <a:pPr algn="ctr"/>
                      <a:r>
                        <a:rPr sz="1300" b="0" i="0">
                          <a:solidFill>
                            <a:srgbClr val="14171C"/>
                          </a:solidFill>
                          <a:latin typeface="Calibri"/>
                        </a:rPr>
                        <a:t>Table 1 only</a:t>
                      </a:r>
                    </a:p>
                  </a:txBody>
                  <a:tcPr marL="54864" marR="54864" marT="22860" marB="22860" anchor="ctr">
                    <a:solidFill>
                      <a:srgbClr val="FFFFFF"/>
                    </a:solidFill>
                  </a:tcPr>
                </a:tc>
                <a:tc>
                  <a:txBody>
                    <a:bodyPr wrap="square"/>
                    <a:lstStyle/>
                    <a:p>
                      <a:pPr algn="ctr"/>
                      <a:r>
                        <a:rPr sz="1300" b="0" i="0">
                          <a:solidFill>
                            <a:srgbClr val="14171C"/>
                          </a:solidFill>
                          <a:latin typeface="Calibri"/>
                        </a:rPr>
                        <a:t>—</a:t>
                      </a:r>
                    </a:p>
                  </a:txBody>
                  <a:tcPr marL="54864" marR="54864" marT="22860" marB="22860" anchor="ctr">
                    <a:solidFill>
                      <a:srgbClr val="FFFFFF"/>
                    </a:solidFill>
                  </a:tcPr>
                </a:tc>
              </a:tr>
            </a:tbl>
          </a:graphicData>
        </a:graphic>
      </p:graphicFrame>
      <p:sp>
        <p:nvSpPr>
          <p:cNvPr id="10" name="TextBox 9"/>
          <p:cNvSpPr txBox="1"/>
          <p:nvPr/>
        </p:nvSpPr>
        <p:spPr>
          <a:xfrm>
            <a:off x="6400800" y="4297680"/>
            <a:ext cx="5303520" cy="1463040"/>
          </a:xfrm>
          <a:prstGeom prst="rect">
            <a:avLst/>
          </a:prstGeom>
          <a:noFill/>
        </p:spPr>
        <p:txBody>
          <a:bodyPr wrap="square" anchor="t" lIns="36576" rIns="36576" tIns="27432" bIns="27432">
            <a:noAutofit/>
          </a:bodyPr>
          <a:lstStyle/>
          <a:p>
            <a:pPr>
              <a:lnSpc>
                <a:spcPct val="105000"/>
              </a:lnSpc>
              <a:spcBef>
                <a:spcPts val="0"/>
              </a:spcBef>
            </a:pPr>
            <a:r>
              <a:rPr sz="1200" b="0" i="0">
                <a:solidFill>
                  <a:srgbClr val="4D5563"/>
                </a:solidFill>
                <a:latin typeface="Calibri"/>
              </a:rPr>
              <a:t>B1–B12: Appendix B's figures, each printing an A matrix and b vector. 6-DOF adds T41 as a state.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Linearization, step by step: how each cell is calculated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Method pdf p.28; Eqs. 42–47 pdf p.25; Table B.1 pdf p.67; Ballin's Figure B2 (5-DOF, hover) pdf p.68</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31</a:t>
            </a:r>
          </a:p>
        </p:txBody>
      </p:sp>
      <p:sp>
        <p:nvSpPr>
          <p:cNvPr id="8" name="TextBox 7"/>
          <p:cNvSpPr txBox="1"/>
          <p:nvPr/>
        </p:nvSpPr>
        <p:spPr>
          <a:xfrm>
            <a:off x="502920" y="1325880"/>
            <a:ext cx="4846320" cy="4800600"/>
          </a:xfrm>
          <a:prstGeom prst="rect">
            <a:avLst/>
          </a:prstGeom>
          <a:noFill/>
        </p:spPr>
        <p:txBody>
          <a:bodyPr wrap="square" anchor="t" lIns="36576" rIns="36576" tIns="27432" bIns="27432">
            <a:noAutofit/>
          </a:bodyPr>
          <a:lstStyle/>
          <a:p>
            <a:pPr>
              <a:lnSpc>
                <a:spcPct val="105000"/>
              </a:lnSpc>
              <a:spcBef>
                <a:spcPts val="0"/>
              </a:spcBef>
            </a:pPr>
            <a:r>
              <a:rPr sz="1400" b="0" i="1">
                <a:solidFill>
                  <a:srgbClr val="14171C"/>
                </a:solidFill>
                <a:latin typeface="Calibri"/>
              </a:rPr>
              <a:t>“Each state or control was then individually perturbed and the effects of its change were determined in the state derivatives at the input of each integrator.”</a:t>
            </a:r>
            <a:r>
              <a:rPr sz="1400" b="0" i="0">
                <a:solidFill>
                  <a:srgbClr val="14171C"/>
                </a:solidFill>
                <a:latin typeface="Calibri"/>
              </a:rPr>
              <a:t> [pdf p.28]</a:t>
            </a:r>
          </a:p>
          <a:p>
            <a:pPr marL="201168" indent="-201168">
              <a:lnSpc>
                <a:spcPct val="105000"/>
              </a:lnSpc>
              <a:spcBef>
                <a:spcPts val="1000"/>
              </a:spcBef>
              <a:buFont typeface="Arial"/>
              <a:buChar char="•"/>
            </a:pPr>
            <a:r>
              <a:rPr sz="1400" b="1" i="0">
                <a:solidFill>
                  <a:srgbClr val="14171C"/>
                </a:solidFill>
                <a:latin typeface="Calibri"/>
              </a:rPr>
              <a:t>1 · Trim.</a:t>
            </a:r>
            <a:r>
              <a:rPr sz="1400" b="0" i="0">
                <a:solidFill>
                  <a:srgbClr val="14171C"/>
                </a:solidFill>
                <a:latin typeface="Calibri"/>
              </a:rPr>
              <a:t> Find the steady state at the flight condition: every derivative zero. Hover: W</a:t>
            </a:r>
            <a:r>
              <a:rPr sz="1400" b="0" i="0" baseline="-25000">
                <a:solidFill>
                  <a:srgbClr val="14171C"/>
                </a:solidFill>
                <a:latin typeface="Calibri"/>
              </a:rPr>
              <a:t>f</a:t>
            </a:r>
            <a:r>
              <a:rPr sz="1400" b="0" i="0">
                <a:solidFill>
                  <a:srgbClr val="14171C"/>
                </a:solidFill>
                <a:latin typeface="Calibri"/>
              </a:rPr>
              <a:t> 476.3 lbm/hr, NG 41,638 rpm, P3 184.3, P41 174.1, P45 37.40 psia; NP held at 20,895 rpm.</a:t>
            </a:r>
          </a:p>
          <a:p>
            <a:pPr marL="201168" indent="-201168">
              <a:lnSpc>
                <a:spcPct val="105000"/>
              </a:lnSpc>
              <a:spcBef>
                <a:spcPts val="1000"/>
              </a:spcBef>
              <a:buFont typeface="Arial"/>
              <a:buChar char="•"/>
            </a:pPr>
            <a:r>
              <a:rPr sz="1400" b="1" i="0">
                <a:solidFill>
                  <a:srgbClr val="14171C"/>
                </a:solidFill>
                <a:latin typeface="Calibri"/>
              </a:rPr>
              <a:t>2 · Freeze.</a:t>
            </a:r>
            <a:r>
              <a:rPr sz="1400" b="0" i="0">
                <a:solidFill>
                  <a:srgbClr val="14171C"/>
                </a:solidFill>
                <a:latin typeface="Calibri"/>
              </a:rPr>
              <a:t> No time stepping. The model only evaluates its five state derivatives: dNG/dt, dNP/dt, dP3/dt, dP41/dt, dP45/dt (Eqs. 42–47).</a:t>
            </a:r>
          </a:p>
          <a:p>
            <a:pPr marL="201168" indent="-201168">
              <a:lnSpc>
                <a:spcPct val="105000"/>
              </a:lnSpc>
              <a:spcBef>
                <a:spcPts val="1000"/>
              </a:spcBef>
              <a:buFont typeface="Arial"/>
              <a:buChar char="•"/>
            </a:pPr>
            <a:r>
              <a:rPr sz="1400" b="1" i="0">
                <a:solidFill>
                  <a:srgbClr val="14171C"/>
                </a:solidFill>
                <a:latin typeface="Calibri"/>
              </a:rPr>
              <a:t>3 · Push one quantity ±2 %</a:t>
            </a:r>
            <a:r>
              <a:rPr sz="1400" b="0" i="0">
                <a:solidFill>
                  <a:srgbClr val="14171C"/>
                </a:solidFill>
                <a:latin typeface="Calibri"/>
              </a:rPr>
              <a:t>, everything else held at trim, and evaluate the five derivatives at +2 % and at −2 %.</a:t>
            </a:r>
          </a:p>
          <a:p>
            <a:pPr marL="201168" indent="-201168">
              <a:lnSpc>
                <a:spcPct val="105000"/>
              </a:lnSpc>
              <a:spcBef>
                <a:spcPts val="1000"/>
              </a:spcBef>
              <a:buFont typeface="Arial"/>
              <a:buChar char="•"/>
            </a:pPr>
            <a:r>
              <a:rPr sz="1400" b="1" i="0">
                <a:solidFill>
                  <a:srgbClr val="14171C"/>
                </a:solidFill>
                <a:latin typeface="Calibri"/>
              </a:rPr>
              <a:t>4 · Divide.</a:t>
            </a:r>
            <a:r>
              <a:rPr sz="1400" b="0" i="0">
                <a:solidFill>
                  <a:srgbClr val="14171C"/>
                </a:solidFill>
                <a:latin typeface="Calibri"/>
              </a:rPr>
              <a:t> Cell = (derivative at +2 % − derivative at −2 %) ÷ (4 % of the trim value). One push fills one column of A; pushing W</a:t>
            </a:r>
            <a:r>
              <a:rPr sz="1400" b="0" i="0" baseline="-25000">
                <a:solidFill>
                  <a:srgbClr val="14171C"/>
                </a:solidFill>
                <a:latin typeface="Calibri"/>
              </a:rPr>
              <a:t>f</a:t>
            </a:r>
            <a:r>
              <a:rPr sz="1400" b="0" i="0">
                <a:solidFill>
                  <a:srgbClr val="14171C"/>
                </a:solidFill>
                <a:latin typeface="Calibri"/>
              </a:rPr>
              <a:t> fills b.</a:t>
            </a:r>
          </a:p>
          <a:p>
            <a:pPr marL="512064" indent="-237744">
              <a:lnSpc>
                <a:spcPct val="105000"/>
              </a:lnSpc>
              <a:spcBef>
                <a:spcPts val="1000"/>
              </a:spcBef>
              <a:buFont typeface="Arial"/>
              <a:buChar char="–"/>
            </a:pPr>
            <a:r>
              <a:rPr sz="1200" b="0" i="0">
                <a:solidFill>
                  <a:srgbClr val="14171C"/>
                </a:solidFill>
                <a:latin typeface="Calibri"/>
              </a:rPr>
              <a:t>Example: A(NG,NG) = (−3,800 − 4,224) ÷ 1,666 = −4.82 /s.</a:t>
            </a:r>
          </a:p>
        </p:txBody>
      </p:sp>
      <p:sp>
        <p:nvSpPr>
          <p:cNvPr id="9" name="TextBox 8"/>
          <p:cNvSpPr txBox="1"/>
          <p:nvPr/>
        </p:nvSpPr>
        <p:spPr>
          <a:xfrm>
            <a:off x="5623560" y="1307592"/>
            <a:ext cx="6065215" cy="365760"/>
          </a:xfrm>
          <a:prstGeom prst="rect">
            <a:avLst/>
          </a:prstGeom>
          <a:noFill/>
        </p:spPr>
        <p:txBody>
          <a:bodyPr wrap="square" anchor="t" lIns="36576" rIns="36576" tIns="27432" bIns="27432">
            <a:noAutofit/>
          </a:bodyPr>
          <a:lstStyle/>
          <a:p>
            <a:pPr>
              <a:lnSpc>
                <a:spcPct val="105000"/>
              </a:lnSpc>
              <a:spcBef>
                <a:spcPts val="0"/>
              </a:spcBef>
            </a:pPr>
            <a:r>
              <a:rPr sz="1500" b="1" i="0">
                <a:solidFill>
                  <a:srgbClr val="14171C"/>
                </a:solidFill>
                <a:latin typeface="Calibri"/>
              </a:rPr>
              <a:t>Worked example, hover: push NG by ±2 % (±833 rpm)</a:t>
            </a:r>
          </a:p>
        </p:txBody>
      </p:sp>
      <p:graphicFrame>
        <p:nvGraphicFramePr>
          <p:cNvPr id="10" name="Table 9"/>
          <p:cNvGraphicFramePr>
            <a:graphicFrameLocks noGrp="1"/>
          </p:cNvGraphicFramePr>
          <p:nvPr/>
        </p:nvGraphicFramePr>
        <p:xfrm>
          <a:off x="5623560" y="1709928"/>
          <a:ext cx="6065212" cy="2148840"/>
        </p:xfrm>
        <a:graphic>
          <a:graphicData uri="http://schemas.openxmlformats.org/drawingml/2006/table">
            <a:tbl>
              <a:tblPr firstRow="1">
                <a:tableStyleId>{5C22544A-7EE6-4342-B048-85BDC9FD1C3A}</a:tableStyleId>
              </a:tblPr>
              <a:tblGrid>
                <a:gridCol w="1492235"/>
                <a:gridCol w="1059005"/>
                <a:gridCol w="1059005"/>
                <a:gridCol w="1588508"/>
                <a:gridCol w="866459"/>
              </a:tblGrid>
              <a:tr h="502920">
                <a:tc>
                  <a:txBody>
                    <a:bodyPr wrap="square"/>
                    <a:lstStyle/>
                    <a:p>
                      <a:pPr algn="l"/>
                      <a:r>
                        <a:rPr sz="1200" b="1" i="0">
                          <a:solidFill>
                            <a:srgbClr val="FFFFFF"/>
                          </a:solidFill>
                          <a:latin typeface="Calibri"/>
                        </a:rPr>
                        <a:t>Row (derivative)</a:t>
                      </a:r>
                    </a:p>
                  </a:txBody>
                  <a:tcPr marL="54864" marR="54864" marT="22860" marB="22860" anchor="ctr">
                    <a:solidFill>
                      <a:srgbClr val="4D5563"/>
                    </a:solidFill>
                  </a:tcPr>
                </a:tc>
                <a:tc>
                  <a:txBody>
                    <a:bodyPr wrap="square"/>
                    <a:lstStyle/>
                    <a:p>
                      <a:pPr algn="r"/>
                      <a:r>
                        <a:rPr sz="1200" b="1" i="0">
                          <a:solidFill>
                            <a:srgbClr val="FFFFFF"/>
                          </a:solidFill>
                          <a:latin typeface="Calibri"/>
                        </a:rPr>
                        <a:t>NG − 2 %</a:t>
                      </a:r>
                    </a:p>
                    <a:p>
                      <a:pPr algn="r"/>
                      <a:r>
                        <a:rPr sz="1200" b="1" i="0">
                          <a:solidFill>
                            <a:srgbClr val="FFFFFF"/>
                          </a:solidFill>
                          <a:latin typeface="Calibri"/>
                        </a:rPr>
                        <a:t>40,805 rpm</a:t>
                      </a:r>
                    </a:p>
                  </a:txBody>
                  <a:tcPr marL="54864" marR="54864" marT="22860" marB="22860" anchor="ctr">
                    <a:solidFill>
                      <a:srgbClr val="4D5563"/>
                    </a:solidFill>
                  </a:tcPr>
                </a:tc>
                <a:tc>
                  <a:txBody>
                    <a:bodyPr wrap="square"/>
                    <a:lstStyle/>
                    <a:p>
                      <a:pPr algn="r"/>
                      <a:r>
                        <a:rPr sz="1200" b="1" i="0">
                          <a:solidFill>
                            <a:srgbClr val="FFFFFF"/>
                          </a:solidFill>
                          <a:latin typeface="Calibri"/>
                        </a:rPr>
                        <a:t>NG + 2 %</a:t>
                      </a:r>
                    </a:p>
                    <a:p>
                      <a:pPr algn="r"/>
                      <a:r>
                        <a:rPr sz="1200" b="1" i="0">
                          <a:solidFill>
                            <a:srgbClr val="FFFFFF"/>
                          </a:solidFill>
                          <a:latin typeface="Calibri"/>
                        </a:rPr>
                        <a:t>42,471 rpm</a:t>
                      </a:r>
                    </a:p>
                  </a:txBody>
                  <a:tcPr marL="54864" marR="54864" marT="22860" marB="22860" anchor="ctr">
                    <a:solidFill>
                      <a:srgbClr val="4D5563"/>
                    </a:solidFill>
                  </a:tcPr>
                </a:tc>
                <a:tc>
                  <a:txBody>
                    <a:bodyPr wrap="square"/>
                    <a:lstStyle/>
                    <a:p>
                      <a:pPr algn="r"/>
                      <a:r>
                        <a:rPr sz="1200" b="1" i="0">
                          <a:solidFill>
                            <a:srgbClr val="FFFFFF"/>
                          </a:solidFill>
                          <a:latin typeface="Calibri"/>
                        </a:rPr>
                        <a:t>Cell = change</a:t>
                      </a:r>
                    </a:p>
                    <a:p>
                      <a:pPr algn="r"/>
                      <a:r>
                        <a:rPr sz="1200" b="1" i="0">
                          <a:solidFill>
                            <a:srgbClr val="FFFFFF"/>
                          </a:solidFill>
                          <a:latin typeface="Calibri"/>
                        </a:rPr>
                        <a:t>÷ 1,666 rpm</a:t>
                      </a:r>
                    </a:p>
                  </a:txBody>
                  <a:tcPr marL="54864" marR="54864" marT="22860" marB="22860" anchor="ctr">
                    <a:solidFill>
                      <a:srgbClr val="4D5563"/>
                    </a:solidFill>
                  </a:tcPr>
                </a:tc>
                <a:tc>
                  <a:txBody>
                    <a:bodyPr wrap="square"/>
                    <a:lstStyle/>
                    <a:p>
                      <a:pPr algn="r"/>
                      <a:r>
                        <a:rPr sz="1200" b="1" i="0">
                          <a:solidFill>
                            <a:srgbClr val="FFFFFF"/>
                          </a:solidFill>
                          <a:latin typeface="Calibri"/>
                        </a:rPr>
                        <a:t>Ballin</a:t>
                      </a:r>
                    </a:p>
                    <a:p>
                      <a:pPr algn="r"/>
                      <a:r>
                        <a:rPr sz="1200" b="1" i="0">
                          <a:solidFill>
                            <a:srgbClr val="FFFFFF"/>
                          </a:solidFill>
                          <a:latin typeface="Calibri"/>
                        </a:rPr>
                        <a:t>B2</a:t>
                      </a:r>
                    </a:p>
                  </a:txBody>
                  <a:tcPr marL="54864" marR="54864" marT="22860" marB="22860" anchor="ctr">
                    <a:solidFill>
                      <a:srgbClr val="4D5563"/>
                    </a:solidFill>
                  </a:tcPr>
                </a:tc>
              </a:tr>
              <a:tr h="329184">
                <a:tc>
                  <a:txBody>
                    <a:bodyPr wrap="square"/>
                    <a:lstStyle/>
                    <a:p>
                      <a:pPr algn="l"/>
                      <a:r>
                        <a:rPr sz="1200" b="1" i="0">
                          <a:solidFill>
                            <a:srgbClr val="14171C"/>
                          </a:solidFill>
                          <a:latin typeface="Calibri"/>
                        </a:rPr>
                        <a:t>dNG/dt, rpm/s</a:t>
                      </a:r>
                    </a:p>
                  </a:txBody>
                  <a:tcPr marL="54864" marR="54864" marT="22860" marB="22860" anchor="ctr">
                    <a:solidFill>
                      <a:srgbClr val="FFFFFF"/>
                    </a:solidFill>
                  </a:tcPr>
                </a:tc>
                <a:tc>
                  <a:txBody>
                    <a:bodyPr wrap="square"/>
                    <a:lstStyle/>
                    <a:p>
                      <a:pPr algn="r"/>
                      <a:r>
                        <a:rPr sz="1200" b="0" i="0">
                          <a:solidFill>
                            <a:srgbClr val="14171C"/>
                          </a:solidFill>
                          <a:latin typeface="Calibri"/>
                        </a:rPr>
                        <a:t>+4,224</a:t>
                      </a:r>
                    </a:p>
                  </a:txBody>
                  <a:tcPr marL="54864" marR="54864" marT="22860" marB="22860" anchor="ctr">
                    <a:solidFill>
                      <a:srgbClr val="FFFFFF"/>
                    </a:solidFill>
                  </a:tcPr>
                </a:tc>
                <a:tc>
                  <a:txBody>
                    <a:bodyPr wrap="square"/>
                    <a:lstStyle/>
                    <a:p>
                      <a:pPr algn="r"/>
                      <a:r>
                        <a:rPr sz="1200" b="0" i="0">
                          <a:solidFill>
                            <a:srgbClr val="14171C"/>
                          </a:solidFill>
                          <a:latin typeface="Calibri"/>
                        </a:rPr>
                        <a:t>−3,800</a:t>
                      </a:r>
                    </a:p>
                  </a:txBody>
                  <a:tcPr marL="54864" marR="54864" marT="22860" marB="22860" anchor="ctr">
                    <a:solidFill>
                      <a:srgbClr val="FFFFFF"/>
                    </a:solidFill>
                  </a:tcPr>
                </a:tc>
                <a:tc>
                  <a:txBody>
                    <a:bodyPr wrap="square"/>
                    <a:lstStyle/>
                    <a:p>
                      <a:pPr algn="r"/>
                      <a:r>
                        <a:rPr sz="1200" b="0" i="0">
                          <a:solidFill>
                            <a:srgbClr val="14171C"/>
                          </a:solidFill>
                          <a:latin typeface="Calibri"/>
                        </a:rPr>
                        <a:t>A(NG,NG) = −4.82</a:t>
                      </a:r>
                    </a:p>
                  </a:txBody>
                  <a:tcPr marL="54864" marR="54864" marT="22860" marB="22860" anchor="ctr">
                    <a:solidFill>
                      <a:srgbClr val="FFFFFF"/>
                    </a:solidFill>
                  </a:tcPr>
                </a:tc>
                <a:tc>
                  <a:txBody>
                    <a:bodyPr wrap="square"/>
                    <a:lstStyle/>
                    <a:p>
                      <a:pPr algn="r"/>
                      <a:r>
                        <a:rPr sz="1200" b="0" i="0">
                          <a:solidFill>
                            <a:srgbClr val="14171C"/>
                          </a:solidFill>
                          <a:latin typeface="Calibri"/>
                        </a:rPr>
                        <a:t>−4.474</a:t>
                      </a:r>
                    </a:p>
                  </a:txBody>
                  <a:tcPr marL="54864" marR="54864" marT="22860" marB="22860" anchor="ctr">
                    <a:solidFill>
                      <a:srgbClr val="FFFFFF"/>
                    </a:solidFill>
                  </a:tcPr>
                </a:tc>
              </a:tr>
              <a:tr h="329184">
                <a:tc>
                  <a:txBody>
                    <a:bodyPr wrap="square"/>
                    <a:lstStyle/>
                    <a:p>
                      <a:pPr algn="l"/>
                      <a:r>
                        <a:rPr sz="1200" b="1" i="0">
                          <a:solidFill>
                            <a:srgbClr val="14171C"/>
                          </a:solidFill>
                          <a:latin typeface="Calibri"/>
                        </a:rPr>
                        <a:t>dNP/dt, rpm/s</a:t>
                      </a:r>
                    </a:p>
                  </a:txBody>
                  <a:tcPr marL="54864" marR="54864" marT="22860" marB="22860" anchor="ctr">
                    <a:solidFill>
                      <a:srgbClr val="F2F3F5"/>
                    </a:solidFill>
                  </a:tcPr>
                </a:tc>
                <a:tc>
                  <a:txBody>
                    <a:bodyPr wrap="square"/>
                    <a:lstStyle/>
                    <a:p>
                      <a:pPr algn="r"/>
                      <a:r>
                        <a:rPr sz="1200" b="0" i="0">
                          <a:solidFill>
                            <a:srgbClr val="14171C"/>
                          </a:solidFill>
                          <a:latin typeface="Calibri"/>
                        </a:rPr>
                        <a:t>+14.8</a:t>
                      </a:r>
                    </a:p>
                  </a:txBody>
                  <a:tcPr marL="54864" marR="54864" marT="22860" marB="22860" anchor="ctr">
                    <a:solidFill>
                      <a:srgbClr val="F2F3F5"/>
                    </a:solidFill>
                  </a:tcPr>
                </a:tc>
                <a:tc>
                  <a:txBody>
                    <a:bodyPr wrap="square"/>
                    <a:lstStyle/>
                    <a:p>
                      <a:pPr algn="r"/>
                      <a:r>
                        <a:rPr sz="1200" b="0" i="0">
                          <a:solidFill>
                            <a:srgbClr val="14171C"/>
                          </a:solidFill>
                          <a:latin typeface="Calibri"/>
                        </a:rPr>
                        <a:t>−19.5</a:t>
                      </a:r>
                    </a:p>
                  </a:txBody>
                  <a:tcPr marL="54864" marR="54864" marT="22860" marB="22860" anchor="ctr">
                    <a:solidFill>
                      <a:srgbClr val="F2F3F5"/>
                    </a:solidFill>
                  </a:tcPr>
                </a:tc>
                <a:tc>
                  <a:txBody>
                    <a:bodyPr wrap="square"/>
                    <a:lstStyle/>
                    <a:p>
                      <a:pPr algn="r"/>
                      <a:r>
                        <a:rPr sz="1200" b="0" i="0">
                          <a:solidFill>
                            <a:srgbClr val="14171C"/>
                          </a:solidFill>
                          <a:latin typeface="Calibri"/>
                        </a:rPr>
                        <a:t>A(NP,NG) = −0.0206</a:t>
                      </a:r>
                    </a:p>
                  </a:txBody>
                  <a:tcPr marL="54864" marR="54864" marT="22860" marB="22860" anchor="ctr">
                    <a:solidFill>
                      <a:srgbClr val="F2F3F5"/>
                    </a:solidFill>
                  </a:tcPr>
                </a:tc>
                <a:tc>
                  <a:txBody>
                    <a:bodyPr wrap="square"/>
                    <a:lstStyle/>
                    <a:p>
                      <a:pPr algn="r"/>
                      <a:r>
                        <a:rPr sz="1200" b="0" i="0">
                          <a:solidFill>
                            <a:srgbClr val="14171C"/>
                          </a:solidFill>
                          <a:latin typeface="Calibri"/>
                        </a:rPr>
                        <a:t>−0.02444</a:t>
                      </a:r>
                    </a:p>
                  </a:txBody>
                  <a:tcPr marL="54864" marR="54864" marT="22860" marB="22860" anchor="ctr">
                    <a:solidFill>
                      <a:srgbClr val="F2F3F5"/>
                    </a:solidFill>
                  </a:tcPr>
                </a:tc>
              </a:tr>
              <a:tr h="329184">
                <a:tc>
                  <a:txBody>
                    <a:bodyPr wrap="square"/>
                    <a:lstStyle/>
                    <a:p>
                      <a:pPr algn="l"/>
                      <a:r>
                        <a:rPr sz="1200" b="1" i="0">
                          <a:solidFill>
                            <a:srgbClr val="14171C"/>
                          </a:solidFill>
                          <a:latin typeface="Calibri"/>
                        </a:rPr>
                        <a:t>dP3/dt, psia/s</a:t>
                      </a:r>
                    </a:p>
                  </a:txBody>
                  <a:tcPr marL="54864" marR="54864" marT="22860" marB="22860" anchor="ctr">
                    <a:solidFill>
                      <a:srgbClr val="FFFFFF"/>
                    </a:solidFill>
                  </a:tcPr>
                </a:tc>
                <a:tc>
                  <a:txBody>
                    <a:bodyPr wrap="square"/>
                    <a:lstStyle/>
                    <a:p>
                      <a:pPr algn="r"/>
                      <a:r>
                        <a:rPr sz="1200" b="0" i="0">
                          <a:solidFill>
                            <a:srgbClr val="14171C"/>
                          </a:solidFill>
                          <a:latin typeface="Calibri"/>
                        </a:rPr>
                        <a:t>−696</a:t>
                      </a:r>
                    </a:p>
                  </a:txBody>
                  <a:tcPr marL="54864" marR="54864" marT="22860" marB="22860" anchor="ctr">
                    <a:solidFill>
                      <a:srgbClr val="FFFFFF"/>
                    </a:solidFill>
                  </a:tcPr>
                </a:tc>
                <a:tc>
                  <a:txBody>
                    <a:bodyPr wrap="square"/>
                    <a:lstStyle/>
                    <a:p>
                      <a:pPr algn="r"/>
                      <a:r>
                        <a:rPr sz="1200" b="0" i="0">
                          <a:solidFill>
                            <a:srgbClr val="14171C"/>
                          </a:solidFill>
                          <a:latin typeface="Calibri"/>
                        </a:rPr>
                        <a:t>+658</a:t>
                      </a:r>
                    </a:p>
                  </a:txBody>
                  <a:tcPr marL="54864" marR="54864" marT="22860" marB="22860" anchor="ctr">
                    <a:solidFill>
                      <a:srgbClr val="FFFFFF"/>
                    </a:solidFill>
                  </a:tcPr>
                </a:tc>
                <a:tc>
                  <a:txBody>
                    <a:bodyPr wrap="square"/>
                    <a:lstStyle/>
                    <a:p>
                      <a:pPr algn="r"/>
                      <a:r>
                        <a:rPr sz="1200" b="0" i="0">
                          <a:solidFill>
                            <a:srgbClr val="14171C"/>
                          </a:solidFill>
                          <a:latin typeface="Calibri"/>
                        </a:rPr>
                        <a:t>A(P3,NG) = 0.813</a:t>
                      </a:r>
                    </a:p>
                  </a:txBody>
                  <a:tcPr marL="54864" marR="54864" marT="22860" marB="22860" anchor="ctr">
                    <a:solidFill>
                      <a:srgbClr val="FFFFFF"/>
                    </a:solidFill>
                  </a:tcPr>
                </a:tc>
                <a:tc>
                  <a:txBody>
                    <a:bodyPr wrap="square"/>
                    <a:lstStyle/>
                    <a:p>
                      <a:pPr algn="r"/>
                      <a:r>
                        <a:rPr sz="1200" b="0" i="0">
                          <a:solidFill>
                            <a:srgbClr val="14171C"/>
                          </a:solidFill>
                          <a:latin typeface="Calibri"/>
                        </a:rPr>
                        <a:t>0.7524</a:t>
                      </a:r>
                    </a:p>
                  </a:txBody>
                  <a:tcPr marL="54864" marR="54864" marT="22860" marB="22860" anchor="ctr">
                    <a:solidFill>
                      <a:srgbClr val="FFFFFF"/>
                    </a:solidFill>
                  </a:tcPr>
                </a:tc>
              </a:tr>
              <a:tr h="329184">
                <a:tc>
                  <a:txBody>
                    <a:bodyPr wrap="square"/>
                    <a:lstStyle/>
                    <a:p>
                      <a:pPr algn="l"/>
                      <a:r>
                        <a:rPr sz="1200" b="1" i="0">
                          <a:solidFill>
                            <a:srgbClr val="14171C"/>
                          </a:solidFill>
                          <a:latin typeface="Calibri"/>
                        </a:rPr>
                        <a:t>dP41/dt, psia/s</a:t>
                      </a:r>
                    </a:p>
                  </a:txBody>
                  <a:tcPr marL="54864" marR="54864" marT="22860" marB="22860" anchor="ctr">
                    <a:solidFill>
                      <a:srgbClr val="F2F3F5"/>
                    </a:solidFill>
                  </a:tcPr>
                </a:tc>
                <a:tc>
                  <a:txBody>
                    <a:bodyPr wrap="square"/>
                    <a:lstStyle/>
                    <a:p>
                      <a:pPr algn="r"/>
                      <a:r>
                        <a:rPr sz="1200" b="0" i="0">
                          <a:solidFill>
                            <a:srgbClr val="14171C"/>
                          </a:solidFill>
                          <a:latin typeface="Calibri"/>
                        </a:rPr>
                        <a:t>0</a:t>
                      </a:r>
                    </a:p>
                  </a:txBody>
                  <a:tcPr marL="54864" marR="54864" marT="22860" marB="22860" anchor="ctr">
                    <a:solidFill>
                      <a:srgbClr val="F2F3F5"/>
                    </a:solidFill>
                  </a:tcPr>
                </a:tc>
                <a:tc>
                  <a:txBody>
                    <a:bodyPr wrap="square"/>
                    <a:lstStyle/>
                    <a:p>
                      <a:pPr algn="r"/>
                      <a:r>
                        <a:rPr sz="1200" b="0" i="0">
                          <a:solidFill>
                            <a:srgbClr val="14171C"/>
                          </a:solidFill>
                          <a:latin typeface="Calibri"/>
                        </a:rPr>
                        <a:t>0</a:t>
                      </a:r>
                    </a:p>
                  </a:txBody>
                  <a:tcPr marL="54864" marR="54864" marT="22860" marB="22860" anchor="ctr">
                    <a:solidFill>
                      <a:srgbClr val="F2F3F5"/>
                    </a:solidFill>
                  </a:tcPr>
                </a:tc>
                <a:tc>
                  <a:txBody>
                    <a:bodyPr wrap="square"/>
                    <a:lstStyle/>
                    <a:p>
                      <a:pPr algn="r"/>
                      <a:r>
                        <a:rPr sz="1200" b="0" i="0">
                          <a:solidFill>
                            <a:srgbClr val="14171C"/>
                          </a:solidFill>
                          <a:latin typeface="Calibri"/>
                        </a:rPr>
                        <a:t>A(P41,NG) = 0</a:t>
                      </a:r>
                    </a:p>
                  </a:txBody>
                  <a:tcPr marL="54864" marR="54864" marT="22860" marB="22860" anchor="ctr">
                    <a:solidFill>
                      <a:srgbClr val="F2F3F5"/>
                    </a:solidFill>
                  </a:tcPr>
                </a:tc>
                <a:tc>
                  <a:txBody>
                    <a:bodyPr wrap="square"/>
                    <a:lstStyle/>
                    <a:p>
                      <a:pPr algn="r"/>
                      <a:r>
                        <a:rPr sz="1200" b="0" i="0">
                          <a:solidFill>
                            <a:srgbClr val="14171C"/>
                          </a:solidFill>
                          <a:latin typeface="Calibri"/>
                        </a:rPr>
                        <a:t>0</a:t>
                      </a:r>
                    </a:p>
                  </a:txBody>
                  <a:tcPr marL="54864" marR="54864" marT="22860" marB="22860" anchor="ctr">
                    <a:solidFill>
                      <a:srgbClr val="F2F3F5"/>
                    </a:solidFill>
                  </a:tcPr>
                </a:tc>
              </a:tr>
              <a:tr h="329184">
                <a:tc>
                  <a:txBody>
                    <a:bodyPr wrap="square"/>
                    <a:lstStyle/>
                    <a:p>
                      <a:pPr algn="l"/>
                      <a:r>
                        <a:rPr sz="1200" b="1" i="0">
                          <a:solidFill>
                            <a:srgbClr val="14171C"/>
                          </a:solidFill>
                          <a:latin typeface="Calibri"/>
                        </a:rPr>
                        <a:t>dP45/dt, psia/s</a:t>
                      </a:r>
                    </a:p>
                  </a:txBody>
                  <a:tcPr marL="54864" marR="54864" marT="22860" marB="22860" anchor="ctr">
                    <a:solidFill>
                      <a:srgbClr val="FFFFFF"/>
                    </a:solidFill>
                  </a:tcPr>
                </a:tc>
                <a:tc>
                  <a:txBody>
                    <a:bodyPr wrap="square"/>
                    <a:lstStyle/>
                    <a:p>
                      <a:pPr algn="r"/>
                      <a:r>
                        <a:rPr sz="1200" b="0" i="0">
                          <a:solidFill>
                            <a:srgbClr val="14171C"/>
                          </a:solidFill>
                          <a:latin typeface="Calibri"/>
                        </a:rPr>
                        <a:t>−989</a:t>
                      </a:r>
                    </a:p>
                  </a:txBody>
                  <a:tcPr marL="54864" marR="54864" marT="22860" marB="22860" anchor="ctr">
                    <a:solidFill>
                      <a:srgbClr val="FFFFFF"/>
                    </a:solidFill>
                  </a:tcPr>
                </a:tc>
                <a:tc>
                  <a:txBody>
                    <a:bodyPr wrap="square"/>
                    <a:lstStyle/>
                    <a:p>
                      <a:pPr algn="r"/>
                      <a:r>
                        <a:rPr sz="1200" b="0" i="0">
                          <a:solidFill>
                            <a:srgbClr val="14171C"/>
                          </a:solidFill>
                          <a:latin typeface="Calibri"/>
                        </a:rPr>
                        <a:t>+837</a:t>
                      </a:r>
                    </a:p>
                  </a:txBody>
                  <a:tcPr marL="54864" marR="54864" marT="22860" marB="22860" anchor="ctr">
                    <a:solidFill>
                      <a:srgbClr val="FFFFFF"/>
                    </a:solidFill>
                  </a:tcPr>
                </a:tc>
                <a:tc>
                  <a:txBody>
                    <a:bodyPr wrap="square"/>
                    <a:lstStyle/>
                    <a:p>
                      <a:pPr algn="r"/>
                      <a:r>
                        <a:rPr sz="1200" b="0" i="0">
                          <a:solidFill>
                            <a:srgbClr val="14171C"/>
                          </a:solidFill>
                          <a:latin typeface="Calibri"/>
                        </a:rPr>
                        <a:t>A(P45,NG) = 1.10</a:t>
                      </a:r>
                    </a:p>
                  </a:txBody>
                  <a:tcPr marL="54864" marR="54864" marT="22860" marB="22860" anchor="ctr">
                    <a:solidFill>
                      <a:srgbClr val="FFFFFF"/>
                    </a:solidFill>
                  </a:tcPr>
                </a:tc>
                <a:tc>
                  <a:txBody>
                    <a:bodyPr wrap="square"/>
                    <a:lstStyle/>
                    <a:p>
                      <a:pPr algn="r"/>
                      <a:r>
                        <a:rPr sz="1200" b="0" i="0">
                          <a:solidFill>
                            <a:srgbClr val="14171C"/>
                          </a:solidFill>
                          <a:latin typeface="Calibri"/>
                        </a:rPr>
                        <a:t>1.063</a:t>
                      </a:r>
                    </a:p>
                  </a:txBody>
                  <a:tcPr marL="54864" marR="54864" marT="22860" marB="22860" anchor="ctr">
                    <a:solidFill>
                      <a:srgbClr val="FFFFFF"/>
                    </a:solidFill>
                  </a:tcPr>
                </a:tc>
              </a:tr>
            </a:tbl>
          </a:graphicData>
        </a:graphic>
      </p:graphicFrame>
      <p:sp>
        <p:nvSpPr>
          <p:cNvPr id="11" name="TextBox 10"/>
          <p:cNvSpPr txBox="1"/>
          <p:nvPr/>
        </p:nvSpPr>
        <p:spPr>
          <a:xfrm>
            <a:off x="5623560" y="4023360"/>
            <a:ext cx="6065215" cy="21031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1" i="0">
                <a:solidFill>
                  <a:srgbClr val="14171C"/>
                </a:solidFill>
                <a:latin typeface="Calibri"/>
              </a:rPr>
              <a:t>NG row</a:t>
            </a:r>
            <a:r>
              <a:rPr sz="1300" b="0" i="0">
                <a:solidFill>
                  <a:srgbClr val="14171C"/>
                </a:solidFill>
                <a:latin typeface="Calibri"/>
              </a:rPr>
              <a:t>, the gas-generator torque balance (Eq. 45): dNG/dt = (60/2π)(Q</a:t>
            </a:r>
            <a:r>
              <a:rPr sz="1300" b="0" i="0" baseline="-25000">
                <a:solidFill>
                  <a:srgbClr val="14171C"/>
                </a:solidFill>
                <a:latin typeface="Calibri"/>
              </a:rPr>
              <a:t>GT</a:t>
            </a:r>
            <a:r>
              <a:rPr sz="1300" b="0" i="0">
                <a:solidFill>
                  <a:srgbClr val="14171C"/>
                </a:solidFill>
                <a:latin typeface="Calibri"/>
              </a:rPr>
              <a:t> − Q</a:t>
            </a:r>
            <a:r>
              <a:rPr sz="1300" b="0" i="0" baseline="-25000">
                <a:solidFill>
                  <a:srgbClr val="14171C"/>
                </a:solidFill>
                <a:latin typeface="Calibri"/>
              </a:rPr>
              <a:t>C</a:t>
            </a:r>
            <a:r>
              <a:rPr sz="1300" b="0" i="0">
                <a:solidFill>
                  <a:srgbClr val="14171C"/>
                </a:solidFill>
                <a:latin typeface="Calibri"/>
              </a:rPr>
              <a:t>) / J</a:t>
            </a:r>
            <a:r>
              <a:rPr sz="1300" b="0" i="0" baseline="-25000">
                <a:solidFill>
                  <a:srgbClr val="14171C"/>
                </a:solidFill>
                <a:latin typeface="Calibri"/>
              </a:rPr>
              <a:t>GT</a:t>
            </a:r>
            <a:r>
              <a:rPr sz="1300" b="0" i="0">
                <a:solidFill>
                  <a:srgbClr val="14171C"/>
                </a:solidFill>
                <a:latin typeface="Calibri"/>
              </a:rPr>
              <a:t>. At NG − 2 %: 233.0 − 213.3 = +19.7 ft·lbf; at + 2 %: 223.9 − 241.6 = −17.7 ft·lbf.</a:t>
            </a:r>
          </a:p>
          <a:p>
            <a:pPr marL="201168" indent="-201168">
              <a:lnSpc>
                <a:spcPct val="105000"/>
              </a:lnSpc>
              <a:spcBef>
                <a:spcPts val="700"/>
              </a:spcBef>
              <a:buFont typeface="Arial"/>
              <a:buChar char="•"/>
            </a:pPr>
            <a:r>
              <a:rPr sz="1300" b="1" i="0">
                <a:solidFill>
                  <a:srgbClr val="14171C"/>
                </a:solidFill>
                <a:latin typeface="Calibri"/>
              </a:rPr>
              <a:t>P3, P41, P45 rows</a:t>
            </a:r>
            <a:r>
              <a:rPr sz="1300" b="0" i="0">
                <a:solidFill>
                  <a:srgbClr val="14171C"/>
                </a:solidFill>
                <a:latin typeface="Calibri"/>
              </a:rPr>
              <a:t>, the mass balance of each volume (Eqs. 42–44).</a:t>
            </a:r>
          </a:p>
          <a:p>
            <a:pPr marL="201168" indent="-201168">
              <a:lnSpc>
                <a:spcPct val="105000"/>
              </a:lnSpc>
              <a:spcBef>
                <a:spcPts val="700"/>
              </a:spcBef>
              <a:buFont typeface="Arial"/>
              <a:buChar char="•"/>
            </a:pPr>
            <a:r>
              <a:rPr sz="1300" b="1" i="0">
                <a:solidFill>
                  <a:srgbClr val="14171C"/>
                </a:solidFill>
                <a:latin typeface="Calibri"/>
              </a:rPr>
              <a:t>NP row</a:t>
            </a:r>
            <a:r>
              <a:rPr sz="1300" b="0" i="0">
                <a:solidFill>
                  <a:srgbClr val="14171C"/>
                </a:solidFill>
                <a:latin typeface="Calibri"/>
              </a:rPr>
              <a:t>, the power-turbine torque balance (Eq. 47). It contains the helicopter load: next slide.</a:t>
            </a:r>
          </a:p>
        </p:txBody>
      </p:sp>
      <p:sp>
        <p:nvSpPr>
          <p:cNvPr id="12" name="TextBox 11"/>
          <p:cNvSpPr txBox="1"/>
          <p:nvPr/>
        </p:nvSpPr>
        <p:spPr>
          <a:xfrm>
            <a:off x="5623560" y="5715000"/>
            <a:ext cx="6065215" cy="41148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A cell's unit: the row's rate per unit of the column, e.g. (rpm/s) per rpm = 1/s. Six pushes, twelve evaluations: the whole 5-DOF A and 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NP row: where the helicopter load comes in</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Eqs. 46–47, 55, 59–62, pdf pp.25, 28–29; Table B.1, pdf p.67; Figure B2, pdf p.68</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32</a:t>
            </a:r>
          </a:p>
        </p:txBody>
      </p:sp>
      <p:sp>
        <p:nvSpPr>
          <p:cNvPr id="8" name="Rounded Rectangle 7"/>
          <p:cNvSpPr/>
          <p:nvPr/>
        </p:nvSpPr>
        <p:spPr>
          <a:xfrm>
            <a:off x="502920" y="1325880"/>
            <a:ext cx="11185855" cy="918463"/>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90472"/>
            <a:ext cx="9448495" cy="589279"/>
          </a:xfrm>
          <a:prstGeom prst="rect">
            <a:avLst/>
          </a:prstGeom>
          <a:noFill/>
        </p:spPr>
        <p:txBody>
          <a:bodyPr wrap="square" anchor="t" lIns="36576" rIns="36576" tIns="27432" bIns="27432">
            <a:noAutofit/>
          </a:bodyPr>
          <a:lstStyle/>
          <a:p>
            <a:pPr>
              <a:lnSpc>
                <a:spcPct val="100000"/>
              </a:lnSpc>
              <a:spcBef>
                <a:spcPts val="0"/>
              </a:spcBef>
            </a:pPr>
            <a:r>
              <a:rPr sz="1600" b="0" i="0">
                <a:solidFill>
                  <a:srgbClr val="14171C"/>
                </a:solidFill>
                <a:latin typeface="Calibri"/>
              </a:rPr>
              <a:t>dNP/dt = (60/2π) · (Q</a:t>
            </a:r>
            <a:r>
              <a:rPr sz="1600" b="0" i="0" baseline="-25000">
                <a:solidFill>
                  <a:srgbClr val="14171C"/>
                </a:solidFill>
                <a:latin typeface="Calibri"/>
              </a:rPr>
              <a:t>PT</a:t>
            </a:r>
            <a:r>
              <a:rPr sz="1600" b="0" i="0">
                <a:solidFill>
                  <a:srgbClr val="14171C"/>
                </a:solidFill>
                <a:latin typeface="Calibri"/>
              </a:rPr>
              <a:t> − Q</a:t>
            </a:r>
            <a:r>
              <a:rPr sz="1600" b="0" i="0" baseline="-25000">
                <a:solidFill>
                  <a:srgbClr val="14171C"/>
                </a:solidFill>
                <a:latin typeface="Calibri"/>
              </a:rPr>
              <a:t>req</a:t>
            </a:r>
            <a:r>
              <a:rPr sz="1600" b="0" i="0">
                <a:solidFill>
                  <a:srgbClr val="14171C"/>
                </a:solidFill>
                <a:latin typeface="Calibri"/>
              </a:rPr>
              <a:t>) / J,      J = J</a:t>
            </a:r>
            <a:r>
              <a:rPr sz="1600" b="0" i="0" baseline="-25000">
                <a:solidFill>
                  <a:srgbClr val="14171C"/>
                </a:solidFill>
                <a:latin typeface="Calibri"/>
              </a:rPr>
              <a:t>PT</a:t>
            </a:r>
            <a:r>
              <a:rPr sz="1600" b="0" i="0">
                <a:solidFill>
                  <a:srgbClr val="14171C"/>
                </a:solidFill>
                <a:latin typeface="Calibri"/>
              </a:rPr>
              <a:t> + J</a:t>
            </a:r>
            <a:r>
              <a:rPr sz="1600" b="0" i="0" baseline="-25000">
                <a:solidFill>
                  <a:srgbClr val="14171C"/>
                </a:solidFill>
                <a:latin typeface="Calibri"/>
              </a:rPr>
              <a:t>load</a:t>
            </a:r>
          </a:p>
          <a:p>
            <a:pPr>
              <a:lnSpc>
                <a:spcPct val="100000"/>
              </a:lnSpc>
              <a:spcBef>
                <a:spcPts val="400"/>
              </a:spcBef>
            </a:pPr>
            <a:r>
              <a:rPr sz="1600" b="0" i="0">
                <a:solidFill>
                  <a:srgbClr val="14171C"/>
                </a:solidFill>
                <a:latin typeface="Calibri"/>
              </a:rPr>
              <a:t>ΔQ</a:t>
            </a:r>
            <a:r>
              <a:rPr sz="1600" b="0" i="0" baseline="-25000">
                <a:solidFill>
                  <a:srgbClr val="14171C"/>
                </a:solidFill>
                <a:latin typeface="Calibri"/>
              </a:rPr>
              <a:t>req</a:t>
            </a:r>
            <a:r>
              <a:rPr sz="1600" b="0" i="0">
                <a:solidFill>
                  <a:srgbClr val="14171C"/>
                </a:solidFill>
                <a:latin typeface="Calibri"/>
              </a:rPr>
              <a:t> = (∂Q</a:t>
            </a:r>
            <a:r>
              <a:rPr sz="1600" b="0" i="0" baseline="-25000">
                <a:solidFill>
                  <a:srgbClr val="14171C"/>
                </a:solidFill>
                <a:latin typeface="Calibri"/>
              </a:rPr>
              <a:t>req</a:t>
            </a:r>
            <a:r>
              <a:rPr sz="1600" b="0" i="0">
                <a:solidFill>
                  <a:srgbClr val="14171C"/>
                </a:solidFill>
                <a:latin typeface="Calibri"/>
              </a:rPr>
              <a:t>/∂NP) · ΔNP  +  (∂Q</a:t>
            </a:r>
            <a:r>
              <a:rPr sz="1600" b="0" i="0" baseline="-25000">
                <a:solidFill>
                  <a:srgbClr val="14171C"/>
                </a:solidFill>
                <a:latin typeface="Calibri"/>
              </a:rPr>
              <a:t>req</a:t>
            </a:r>
            <a:r>
              <a:rPr sz="1600" b="0" i="0">
                <a:solidFill>
                  <a:srgbClr val="14171C"/>
                </a:solidFill>
                <a:latin typeface="Calibri"/>
              </a:rPr>
              <a:t>/∂(dNP/dt)) · Δ(dNP/dt)</a:t>
            </a:r>
          </a:p>
        </p:txBody>
      </p:sp>
      <p:sp>
        <p:nvSpPr>
          <p:cNvPr id="10" name="TextBox 9"/>
          <p:cNvSpPr txBox="1"/>
          <p:nvPr/>
        </p:nvSpPr>
        <p:spPr>
          <a:xfrm>
            <a:off x="10225735" y="1490472"/>
            <a:ext cx="1234440" cy="589279"/>
          </a:xfrm>
          <a:prstGeom prst="rect">
            <a:avLst/>
          </a:prstGeom>
          <a:noFill/>
        </p:spPr>
        <p:txBody>
          <a:bodyPr wrap="square" anchor="t" lIns="36576" rIns="36576" tIns="27432" bIns="27432">
            <a:noAutofit/>
          </a:bodyPr>
          <a:lstStyle/>
          <a:p>
            <a:pPr algn="r">
              <a:lnSpc>
                <a:spcPct val="100000"/>
              </a:lnSpc>
              <a:spcBef>
                <a:spcPts val="0"/>
              </a:spcBef>
            </a:pPr>
            <a:r>
              <a:rPr sz="1600" b="0" i="0">
                <a:solidFill>
                  <a:srgbClr val="4D5563"/>
                </a:solidFill>
                <a:latin typeface="Calibri"/>
              </a:rPr>
              <a:t>(46, 47)</a:t>
            </a:r>
          </a:p>
          <a:p>
            <a:pPr algn="r">
              <a:lnSpc>
                <a:spcPct val="100000"/>
              </a:lnSpc>
              <a:spcBef>
                <a:spcPts val="400"/>
              </a:spcBef>
            </a:pPr>
            <a:r>
              <a:rPr sz="1600" b="0" i="0">
                <a:solidFill>
                  <a:srgbClr val="4D5563"/>
                </a:solidFill>
                <a:latin typeface="Calibri"/>
              </a:rPr>
              <a:t>(55)</a:t>
            </a:r>
          </a:p>
        </p:txBody>
      </p:sp>
      <p:graphicFrame>
        <p:nvGraphicFramePr>
          <p:cNvPr id="11" name="Table 10"/>
          <p:cNvGraphicFramePr>
            <a:graphicFrameLocks noGrp="1"/>
          </p:cNvGraphicFramePr>
          <p:nvPr/>
        </p:nvGraphicFramePr>
        <p:xfrm>
          <a:off x="502920" y="2427224"/>
          <a:ext cx="5760715" cy="2029968"/>
        </p:xfrm>
        <a:graphic>
          <a:graphicData uri="http://schemas.openxmlformats.org/drawingml/2006/table">
            <a:tbl>
              <a:tblPr firstRow="1">
                <a:tableStyleId>{5C22544A-7EE6-4342-B048-85BDC9FD1C3A}</a:tableStyleId>
              </a:tblPr>
              <a:tblGrid>
                <a:gridCol w="789139"/>
                <a:gridCol w="789139"/>
                <a:gridCol w="986424"/>
                <a:gridCol w="789139"/>
                <a:gridCol w="789139"/>
                <a:gridCol w="789139"/>
                <a:gridCol w="828596"/>
              </a:tblGrid>
              <a:tr h="338328">
                <a:tc>
                  <a:txBody>
                    <a:bodyPr wrap="square"/>
                    <a:lstStyle/>
                    <a:p>
                      <a:pPr algn="l"/>
                    </a:p>
                  </a:txBody>
                  <a:tcPr marL="54864" marR="54864" marT="22860" marB="22860" anchor="ctr">
                    <a:solidFill>
                      <a:srgbClr val="4D5563"/>
                    </a:solidFill>
                  </a:tcPr>
                </a:tc>
                <a:tc>
                  <a:txBody>
                    <a:bodyPr wrap="square"/>
                    <a:lstStyle/>
                    <a:p>
                      <a:pPr algn="ctr"/>
                      <a:r>
                        <a:rPr sz="1100" b="1" i="0">
                          <a:solidFill>
                            <a:srgbClr val="FFFFFF"/>
                          </a:solidFill>
                          <a:latin typeface="Calibri"/>
                        </a:rPr>
                        <a:t>NG</a:t>
                      </a:r>
                    </a:p>
                  </a:txBody>
                  <a:tcPr marL="54864" marR="54864" marT="22860" marB="22860" anchor="ctr">
                    <a:solidFill>
                      <a:srgbClr val="4D5563"/>
                    </a:solidFill>
                  </a:tcPr>
                </a:tc>
                <a:tc>
                  <a:txBody>
                    <a:bodyPr wrap="square"/>
                    <a:lstStyle/>
                    <a:p>
                      <a:pPr algn="ctr"/>
                      <a:r>
                        <a:rPr sz="1100" b="1" i="0">
                          <a:solidFill>
                            <a:srgbClr val="FFFFFF"/>
                          </a:solidFill>
                          <a:latin typeface="Calibri"/>
                        </a:rPr>
                        <a:t>NP</a:t>
                      </a:r>
                    </a:p>
                  </a:txBody>
                  <a:tcPr marL="54864" marR="54864" marT="22860" marB="22860" anchor="ctr">
                    <a:solidFill>
                      <a:srgbClr val="4D5563"/>
                    </a:solidFill>
                  </a:tcPr>
                </a:tc>
                <a:tc>
                  <a:txBody>
                    <a:bodyPr wrap="square"/>
                    <a:lstStyle/>
                    <a:p>
                      <a:pPr algn="ctr"/>
                      <a:r>
                        <a:rPr sz="1100" b="1" i="0">
                          <a:solidFill>
                            <a:srgbClr val="FFFFFF"/>
                          </a:solidFill>
                          <a:latin typeface="Calibri"/>
                        </a:rPr>
                        <a:t>P3</a:t>
                      </a:r>
                    </a:p>
                  </a:txBody>
                  <a:tcPr marL="54864" marR="54864" marT="22860" marB="22860" anchor="ctr">
                    <a:solidFill>
                      <a:srgbClr val="4D5563"/>
                    </a:solidFill>
                  </a:tcPr>
                </a:tc>
                <a:tc>
                  <a:txBody>
                    <a:bodyPr wrap="square"/>
                    <a:lstStyle/>
                    <a:p>
                      <a:pPr algn="ctr"/>
                      <a:r>
                        <a:rPr sz="1100" b="1" i="0">
                          <a:solidFill>
                            <a:srgbClr val="FFFFFF"/>
                          </a:solidFill>
                          <a:latin typeface="Calibri"/>
                        </a:rPr>
                        <a:t>P41</a:t>
                      </a:r>
                    </a:p>
                  </a:txBody>
                  <a:tcPr marL="54864" marR="54864" marT="22860" marB="22860" anchor="ctr">
                    <a:solidFill>
                      <a:srgbClr val="4D5563"/>
                    </a:solidFill>
                  </a:tcPr>
                </a:tc>
                <a:tc>
                  <a:txBody>
                    <a:bodyPr wrap="square"/>
                    <a:lstStyle/>
                    <a:p>
                      <a:pPr algn="ctr"/>
                      <a:r>
                        <a:rPr sz="1100" b="1" i="0">
                          <a:solidFill>
                            <a:srgbClr val="FFFFFF"/>
                          </a:solidFill>
                          <a:latin typeface="Calibri"/>
                        </a:rPr>
                        <a:t>P45</a:t>
                      </a:r>
                    </a:p>
                  </a:txBody>
                  <a:tcPr marL="54864" marR="54864" marT="22860" marB="22860" anchor="ctr">
                    <a:solidFill>
                      <a:srgbClr val="4D5563"/>
                    </a:solidFill>
                  </a:tcPr>
                </a:tc>
                <a:tc>
                  <a:txBody>
                    <a:bodyPr wrap="square"/>
                    <a:lstStyle/>
                    <a:p>
                      <a:pPr algn="ctr"/>
                      <a:r>
                        <a:rPr sz="1100" b="1" i="0">
                          <a:solidFill>
                            <a:srgbClr val="FFFFFF"/>
                          </a:solidFill>
                          <a:latin typeface="Calibri"/>
                        </a:rPr>
                        <a:t>W</a:t>
                      </a:r>
                      <a:r>
                        <a:rPr sz="1100" b="1" i="0" baseline="-25000">
                          <a:solidFill>
                            <a:srgbClr val="FFFFFF"/>
                          </a:solidFill>
                          <a:latin typeface="Calibri"/>
                        </a:rPr>
                        <a:t>f</a:t>
                      </a:r>
                      <a:r>
                        <a:rPr sz="1100" b="1" i="0">
                          <a:solidFill>
                            <a:srgbClr val="FFFFFF"/>
                          </a:solidFill>
                          <a:latin typeface="Calibri"/>
                        </a:rPr>
                        <a:t> (b)</a:t>
                      </a:r>
                    </a:p>
                  </a:txBody>
                  <a:tcPr marL="54864" marR="54864" marT="22860" marB="22860" anchor="ctr">
                    <a:solidFill>
                      <a:srgbClr val="4D5563"/>
                    </a:solidFill>
                  </a:tcPr>
                </a:tc>
              </a:tr>
              <a:tr h="338328">
                <a:tc>
                  <a:txBody>
                    <a:bodyPr wrap="square"/>
                    <a:lstStyle/>
                    <a:p>
                      <a:pPr algn="l"/>
                      <a:r>
                        <a:rPr sz="1100" b="1" i="0">
                          <a:solidFill>
                            <a:srgbClr val="14171C"/>
                          </a:solidFill>
                          <a:latin typeface="Calibri"/>
                        </a:rPr>
                        <a:t>dNG/dt</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r>
              <a:tr h="338328">
                <a:tc>
                  <a:txBody>
                    <a:bodyPr wrap="square"/>
                    <a:lstStyle/>
                    <a:p>
                      <a:pPr algn="l"/>
                      <a:r>
                        <a:rPr sz="1100" b="1" i="0">
                          <a:solidFill>
                            <a:srgbClr val="14171C"/>
                          </a:solidFill>
                          <a:latin typeface="Calibri"/>
                        </a:rPr>
                        <a:t>dNP/dt</a:t>
                      </a:r>
                    </a:p>
                  </a:txBody>
                  <a:tcPr marL="54864" marR="54864" marT="22860" marB="22860" anchor="ctr">
                    <a:solidFill>
                      <a:srgbClr val="F2F3F5"/>
                    </a:solidFill>
                  </a:tcPr>
                </a:tc>
                <a:tc>
                  <a:txBody>
                    <a:bodyPr wrap="square"/>
                    <a:lstStyle/>
                    <a:p>
                      <a:pPr algn="ctr"/>
                      <a:r>
                        <a:rPr sz="1100" b="0" i="0">
                          <a:solidFill>
                            <a:srgbClr val="14171C"/>
                          </a:solidFill>
                          <a:latin typeface="Calibri"/>
                        </a:rPr>
                        <a:t>engine ÷ J</a:t>
                      </a:r>
                    </a:p>
                  </a:txBody>
                  <a:tcPr marL="54864" marR="54864" marT="22860" marB="22860" anchor="ctr">
                    <a:solidFill>
                      <a:srgbClr val="D5DAE1"/>
                    </a:solidFill>
                  </a:tcPr>
                </a:tc>
                <a:tc>
                  <a:txBody>
                    <a:bodyPr wrap="square"/>
                    <a:lstStyle/>
                    <a:p>
                      <a:pPr algn="ctr"/>
                      <a:r>
                        <a:rPr sz="1100" b="0" i="0">
                          <a:solidFill>
                            <a:srgbClr val="14171C"/>
                          </a:solidFill>
                          <a:latin typeface="Calibri"/>
                        </a:rPr>
                        <a:t>(engine − load)</a:t>
                      </a:r>
                    </a:p>
                    <a:p>
                      <a:pPr algn="ctr"/>
                      <a:r>
                        <a:rPr sz="1100" b="0" i="0">
                          <a:solidFill>
                            <a:srgbClr val="14171C"/>
                          </a:solidFill>
                          <a:latin typeface="Calibri"/>
                        </a:rPr>
                        <a:t>÷ J</a:t>
                      </a:r>
                    </a:p>
                  </a:txBody>
                  <a:tcPr marL="54864" marR="54864" marT="22860" marB="22860" anchor="ctr">
                    <a:solidFill>
                      <a:srgbClr val="AEB4BE"/>
                    </a:solidFill>
                  </a:tcPr>
                </a:tc>
                <a:tc>
                  <a:txBody>
                    <a:bodyPr wrap="square"/>
                    <a:lstStyle/>
                    <a:p>
                      <a:pPr algn="ctr"/>
                      <a:r>
                        <a:rPr sz="1100" b="0" i="0">
                          <a:solidFill>
                            <a:srgbClr val="14171C"/>
                          </a:solidFill>
                          <a:latin typeface="Calibri"/>
                        </a:rPr>
                        <a:t>engine ÷ J</a:t>
                      </a:r>
                    </a:p>
                  </a:txBody>
                  <a:tcPr marL="54864" marR="54864" marT="22860" marB="22860" anchor="ctr">
                    <a:solidFill>
                      <a:srgbClr val="D5DAE1"/>
                    </a:solidFill>
                  </a:tcPr>
                </a:tc>
                <a:tc>
                  <a:txBody>
                    <a:bodyPr wrap="square"/>
                    <a:lstStyle/>
                    <a:p>
                      <a:pPr algn="ctr"/>
                      <a:r>
                        <a:rPr sz="1100" b="0" i="0">
                          <a:solidFill>
                            <a:srgbClr val="14171C"/>
                          </a:solidFill>
                          <a:latin typeface="Calibri"/>
                        </a:rPr>
                        <a:t>engine ÷ J</a:t>
                      </a:r>
                    </a:p>
                  </a:txBody>
                  <a:tcPr marL="54864" marR="54864" marT="22860" marB="22860" anchor="ctr">
                    <a:solidFill>
                      <a:srgbClr val="D5DAE1"/>
                    </a:solidFill>
                  </a:tcPr>
                </a:tc>
                <a:tc>
                  <a:txBody>
                    <a:bodyPr wrap="square"/>
                    <a:lstStyle/>
                    <a:p>
                      <a:pPr algn="ctr"/>
                      <a:r>
                        <a:rPr sz="1100" b="0" i="0">
                          <a:solidFill>
                            <a:srgbClr val="14171C"/>
                          </a:solidFill>
                          <a:latin typeface="Calibri"/>
                        </a:rPr>
                        <a:t>engine ÷ J</a:t>
                      </a:r>
                    </a:p>
                  </a:txBody>
                  <a:tcPr marL="54864" marR="54864" marT="22860" marB="22860" anchor="ctr">
                    <a:solidFill>
                      <a:srgbClr val="D5DAE1"/>
                    </a:solidFill>
                  </a:tcPr>
                </a:tc>
                <a:tc>
                  <a:txBody>
                    <a:bodyPr wrap="square"/>
                    <a:lstStyle/>
                    <a:p>
                      <a:pPr algn="ctr"/>
                      <a:r>
                        <a:rPr sz="1100" b="0" i="0">
                          <a:solidFill>
                            <a:srgbClr val="14171C"/>
                          </a:solidFill>
                          <a:latin typeface="Calibri"/>
                        </a:rPr>
                        <a:t>engine ÷ J</a:t>
                      </a:r>
                    </a:p>
                  </a:txBody>
                  <a:tcPr marL="54864" marR="54864" marT="22860" marB="22860" anchor="ctr">
                    <a:solidFill>
                      <a:srgbClr val="D5DAE1"/>
                    </a:solidFill>
                  </a:tcPr>
                </a:tc>
              </a:tr>
              <a:tr h="338328">
                <a:tc>
                  <a:txBody>
                    <a:bodyPr wrap="square"/>
                    <a:lstStyle/>
                    <a:p>
                      <a:pPr algn="l"/>
                      <a:r>
                        <a:rPr sz="1100" b="1" i="0">
                          <a:solidFill>
                            <a:srgbClr val="14171C"/>
                          </a:solidFill>
                          <a:latin typeface="Calibri"/>
                        </a:rPr>
                        <a:t>dP3/dt</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r>
              <a:tr h="338328">
                <a:tc>
                  <a:txBody>
                    <a:bodyPr wrap="square"/>
                    <a:lstStyle/>
                    <a:p>
                      <a:pPr algn="l"/>
                      <a:r>
                        <a:rPr sz="1100" b="1" i="0">
                          <a:solidFill>
                            <a:srgbClr val="14171C"/>
                          </a:solidFill>
                          <a:latin typeface="Calibri"/>
                        </a:rPr>
                        <a:t>dP41/dt</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r>
              <a:tr h="338328">
                <a:tc>
                  <a:txBody>
                    <a:bodyPr wrap="square"/>
                    <a:lstStyle/>
                    <a:p>
                      <a:pPr algn="l"/>
                      <a:r>
                        <a:rPr sz="1100" b="1" i="0">
                          <a:solidFill>
                            <a:srgbClr val="14171C"/>
                          </a:solidFill>
                          <a:latin typeface="Calibri"/>
                        </a:rPr>
                        <a:t>dP45/dt</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0</a:t>
                      </a:r>
                    </a:p>
                  </a:txBody>
                  <a:tcPr marL="54864" marR="54864" marT="22860" marB="22860" anchor="ctr">
                    <a:solidFill>
                      <a:srgbClr val="FFFFFF"/>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c>
                  <a:txBody>
                    <a:bodyPr wrap="square"/>
                    <a:lstStyle/>
                    <a:p>
                      <a:pPr algn="ctr"/>
                      <a:r>
                        <a:rPr sz="1100" b="0" i="0">
                          <a:solidFill>
                            <a:srgbClr val="14171C"/>
                          </a:solidFill>
                          <a:latin typeface="Calibri"/>
                        </a:rPr>
                        <a:t>engine</a:t>
                      </a:r>
                    </a:p>
                  </a:txBody>
                  <a:tcPr marL="54864" marR="54864" marT="22860" marB="22860" anchor="ctr">
                    <a:solidFill>
                      <a:srgbClr val="F2F3F5"/>
                    </a:solidFill>
                  </a:tcPr>
                </a:tc>
              </a:tr>
            </a:tbl>
          </a:graphicData>
        </a:graphic>
      </p:graphicFrame>
      <p:sp>
        <p:nvSpPr>
          <p:cNvPr id="12" name="TextBox 11"/>
          <p:cNvSpPr txBox="1"/>
          <p:nvPr/>
        </p:nvSpPr>
        <p:spPr>
          <a:xfrm>
            <a:off x="502920" y="4557776"/>
            <a:ext cx="5760720" cy="27432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Ballin's 5-DOF matrix at hover, zeros as printed. Light grey: engine only. Darker grey: needs the load.</a:t>
            </a:r>
          </a:p>
        </p:txBody>
      </p:sp>
      <p:sp>
        <p:nvSpPr>
          <p:cNvPr id="13" name="TextBox 12"/>
          <p:cNvSpPr txBox="1"/>
          <p:nvPr/>
        </p:nvSpPr>
        <p:spPr>
          <a:xfrm>
            <a:off x="502920" y="4877816"/>
            <a:ext cx="5760720" cy="1234440"/>
          </a:xfrm>
          <a:prstGeom prst="rect">
            <a:avLst/>
          </a:prstGeom>
          <a:noFill/>
        </p:spPr>
        <p:txBody>
          <a:bodyPr wrap="square" anchor="t" lIns="36576" rIns="36576" tIns="27432" bIns="27432">
            <a:noAutofit/>
          </a:bodyPr>
          <a:lstStyle/>
          <a:p>
            <a:pPr>
              <a:lnSpc>
                <a:spcPct val="105000"/>
              </a:lnSpc>
              <a:spcBef>
                <a:spcPts val="0"/>
              </a:spcBef>
            </a:pPr>
            <a:r>
              <a:rPr sz="1200" b="1" i="0">
                <a:solidFill>
                  <a:srgbClr val="14171C"/>
                </a:solidFill>
                <a:latin typeface="Calibri"/>
              </a:rPr>
              <a:t>Nothing else depends on NP:</a:t>
            </a:r>
            <a:r>
              <a:rPr sz="1200" b="0" i="0">
                <a:solidFill>
                  <a:srgbClr val="14171C"/>
                </a:solidFill>
                <a:latin typeface="Calibri"/>
              </a:rPr>
              <a:t> its column is zero except the diagonal, so the other four rows, and their eigenvalues, never see the load. </a:t>
            </a:r>
            <a:r>
              <a:rPr sz="1200" b="0" i="1">
                <a:solidFill>
                  <a:srgbClr val="14171C"/>
                </a:solidFill>
                <a:latin typeface="Calibri"/>
              </a:rPr>
              <a:t>“The power turbine state is completely decoupled from the other states. The neglected dynamics of the simplified load representation therefore have no effect on the gas-generator turbine or volume dynamics.”</a:t>
            </a:r>
            <a:r>
              <a:rPr sz="1200" b="0" i="0">
                <a:solidFill>
                  <a:srgbClr val="14171C"/>
                </a:solidFill>
                <a:latin typeface="Calibri"/>
              </a:rPr>
              <a:t> [pdf p.29]</a:t>
            </a:r>
          </a:p>
        </p:txBody>
      </p:sp>
      <p:graphicFrame>
        <p:nvGraphicFramePr>
          <p:cNvPr id="14" name="Table 13"/>
          <p:cNvGraphicFramePr>
            <a:graphicFrameLocks noGrp="1"/>
          </p:cNvGraphicFramePr>
          <p:nvPr/>
        </p:nvGraphicFramePr>
        <p:xfrm>
          <a:off x="6537959" y="2427224"/>
          <a:ext cx="5150813" cy="1975104"/>
        </p:xfrm>
        <a:graphic>
          <a:graphicData uri="http://schemas.openxmlformats.org/drawingml/2006/table">
            <a:tbl>
              <a:tblPr firstRow="1">
                <a:tableStyleId>{5C22544A-7EE6-4342-B048-85BDC9FD1C3A}</a:tableStyleId>
              </a:tblPr>
              <a:tblGrid>
                <a:gridCol w="1010907"/>
                <a:gridCol w="1877399"/>
                <a:gridCol w="2262507"/>
              </a:tblGrid>
              <a:tr h="329184">
                <a:tc>
                  <a:txBody>
                    <a:bodyPr wrap="square"/>
                    <a:lstStyle/>
                    <a:p>
                      <a:pPr algn="l"/>
                      <a:r>
                        <a:rPr sz="1200" b="1" i="0">
                          <a:solidFill>
                            <a:srgbClr val="FFFFFF"/>
                          </a:solidFill>
                          <a:latin typeface="Calibri"/>
                        </a:rPr>
                        <a:t>Push</a:t>
                      </a:r>
                    </a:p>
                  </a:txBody>
                  <a:tcPr marL="54864" marR="54864" marT="22860" marB="22860" anchor="ctr">
                    <a:solidFill>
                      <a:srgbClr val="4D5563"/>
                    </a:solidFill>
                  </a:tcPr>
                </a:tc>
                <a:tc>
                  <a:txBody>
                    <a:bodyPr wrap="square"/>
                    <a:lstStyle/>
                    <a:p>
                      <a:pPr algn="l"/>
                      <a:r>
                        <a:rPr sz="1200" b="1" i="0">
                          <a:solidFill>
                            <a:srgbClr val="FFFFFF"/>
                          </a:solidFill>
                          <a:latin typeface="Calibri"/>
                        </a:rPr>
                        <a:t>What changes</a:t>
                      </a:r>
                    </a:p>
                  </a:txBody>
                  <a:tcPr marL="54864" marR="54864" marT="22860" marB="22860" anchor="ctr">
                    <a:solidFill>
                      <a:srgbClr val="4D5563"/>
                    </a:solidFill>
                  </a:tcPr>
                </a:tc>
                <a:tc>
                  <a:txBody>
                    <a:bodyPr wrap="square"/>
                    <a:lstStyle/>
                    <a:p>
                      <a:pPr algn="l"/>
                      <a:r>
                        <a:rPr sz="1200" b="1" i="0">
                          <a:solidFill>
                            <a:srgbClr val="FFFFFF"/>
                          </a:solidFill>
                          <a:latin typeface="Calibri"/>
                        </a:rPr>
                        <a:t>NP-row cell</a:t>
                      </a:r>
                    </a:p>
                  </a:txBody>
                  <a:tcPr marL="54864" marR="54864" marT="22860" marB="22860" anchor="ctr">
                    <a:solidFill>
                      <a:srgbClr val="4D5563"/>
                    </a:solidFill>
                  </a:tcPr>
                </a:tc>
              </a:tr>
              <a:tr h="548640">
                <a:tc>
                  <a:txBody>
                    <a:bodyPr wrap="square"/>
                    <a:lstStyle/>
                    <a:p>
                      <a:pPr algn="l"/>
                      <a:r>
                        <a:rPr sz="1200" b="1" i="0">
                          <a:solidFill>
                            <a:srgbClr val="14171C"/>
                          </a:solidFill>
                          <a:latin typeface="Calibri"/>
                        </a:rPr>
                        <a:t>NG, P3,</a:t>
                      </a:r>
                    </a:p>
                    <a:p>
                      <a:pPr algn="l"/>
                      <a:r>
                        <a:rPr sz="1200" b="1" i="0">
                          <a:solidFill>
                            <a:srgbClr val="14171C"/>
                          </a:solidFill>
                          <a:latin typeface="Calibri"/>
                        </a:rPr>
                        <a:t>P41, P45</a:t>
                      </a:r>
                    </a:p>
                  </a:txBody>
                  <a:tcPr marL="54864" marR="54864" marT="22860" marB="22860" anchor="ctr">
                    <a:solidFill>
                      <a:srgbClr val="FFFFFF"/>
                    </a:solidFill>
                  </a:tcPr>
                </a:tc>
                <a:tc>
                  <a:txBody>
                    <a:bodyPr wrap="square"/>
                    <a:lstStyle/>
                    <a:p>
                      <a:pPr algn="l"/>
                      <a:r>
                        <a:rPr sz="1200" b="0" i="0">
                          <a:solidFill>
                            <a:srgbClr val="14171C"/>
                          </a:solidFill>
                          <a:latin typeface="Calibri"/>
                        </a:rPr>
                        <a:t>Q</a:t>
                      </a:r>
                      <a:r>
                        <a:rPr sz="1200" b="0" i="0" baseline="-25000">
                          <a:solidFill>
                            <a:srgbClr val="14171C"/>
                          </a:solidFill>
                          <a:latin typeface="Calibri"/>
                        </a:rPr>
                        <a:t>PT</a:t>
                      </a:r>
                      <a:r>
                        <a:rPr sz="1200" b="0" i="0">
                          <a:solidFill>
                            <a:srgbClr val="14171C"/>
                          </a:solidFill>
                          <a:latin typeface="Calibri"/>
                        </a:rPr>
                        <a:t> only: the rotor does not feel them</a:t>
                      </a:r>
                    </a:p>
                  </a:txBody>
                  <a:tcPr marL="54864" marR="54864" marT="22860" marB="22860" anchor="ctr">
                    <a:solidFill>
                      <a:srgbClr val="FFFFFF"/>
                    </a:solidFill>
                  </a:tcPr>
                </a:tc>
                <a:tc>
                  <a:txBody>
                    <a:bodyPr wrap="square"/>
                    <a:lstStyle/>
                    <a:p>
                      <a:pPr algn="l"/>
                      <a:r>
                        <a:rPr sz="1200" b="0" i="0">
                          <a:solidFill>
                            <a:srgbClr val="14171C"/>
                          </a:solidFill>
                          <a:latin typeface="Calibri"/>
                        </a:rPr>
                        <a:t>(60/2π) · ΔQ</a:t>
                      </a:r>
                      <a:r>
                        <a:rPr sz="1200" b="0" i="0" baseline="-25000">
                          <a:solidFill>
                            <a:srgbClr val="14171C"/>
                          </a:solidFill>
                          <a:latin typeface="Calibri"/>
                        </a:rPr>
                        <a:t>PT</a:t>
                      </a:r>
                      <a:r>
                        <a:rPr sz="1200" b="0" i="0">
                          <a:solidFill>
                            <a:srgbClr val="14171C"/>
                          </a:solidFill>
                          <a:latin typeface="Calibri"/>
                        </a:rPr>
                        <a:t>/Δx ÷ J</a:t>
                      </a:r>
                    </a:p>
                  </a:txBody>
                  <a:tcPr marL="54864" marR="54864" marT="22860" marB="22860" anchor="ctr">
                    <a:solidFill>
                      <a:srgbClr val="FFFFFF"/>
                    </a:solidFill>
                  </a:tcPr>
                </a:tc>
              </a:tr>
              <a:tr h="548640">
                <a:tc>
                  <a:txBody>
                    <a:bodyPr wrap="square"/>
                    <a:lstStyle/>
                    <a:p>
                      <a:pPr algn="l"/>
                      <a:r>
                        <a:rPr sz="1200" b="1" i="0">
                          <a:solidFill>
                            <a:srgbClr val="14171C"/>
                          </a:solidFill>
                          <a:latin typeface="Calibri"/>
                        </a:rPr>
                        <a:t>W</a:t>
                      </a:r>
                      <a:r>
                        <a:rPr sz="1200" b="1" i="0" baseline="-25000">
                          <a:solidFill>
                            <a:srgbClr val="14171C"/>
                          </a:solidFill>
                          <a:latin typeface="Calibri"/>
                        </a:rPr>
                        <a:t>f</a:t>
                      </a:r>
                    </a:p>
                    <a:p>
                      <a:pPr algn="l"/>
                      <a:r>
                        <a:rPr sz="1200" b="1" i="0">
                          <a:solidFill>
                            <a:srgbClr val="14171C"/>
                          </a:solidFill>
                          <a:latin typeface="Calibri"/>
                        </a:rPr>
                        <a:t>(column b)</a:t>
                      </a:r>
                    </a:p>
                  </a:txBody>
                  <a:tcPr marL="54864" marR="54864" marT="22860" marB="22860" anchor="ctr">
                    <a:solidFill>
                      <a:srgbClr val="F2F3F5"/>
                    </a:solidFill>
                  </a:tcPr>
                </a:tc>
                <a:tc>
                  <a:txBody>
                    <a:bodyPr wrap="square"/>
                    <a:lstStyle/>
                    <a:p>
                      <a:pPr algn="l"/>
                      <a:r>
                        <a:rPr sz="1200" b="0" i="0">
                          <a:solidFill>
                            <a:srgbClr val="14171C"/>
                          </a:solidFill>
                          <a:latin typeface="Calibri"/>
                        </a:rPr>
                        <a:t>Q</a:t>
                      </a:r>
                      <a:r>
                        <a:rPr sz="1200" b="0" i="0" baseline="-25000">
                          <a:solidFill>
                            <a:srgbClr val="14171C"/>
                          </a:solidFill>
                          <a:latin typeface="Calibri"/>
                        </a:rPr>
                        <a:t>PT</a:t>
                      </a:r>
                      <a:r>
                        <a:rPr sz="1200" b="0" i="0">
                          <a:solidFill>
                            <a:srgbClr val="14171C"/>
                          </a:solidFill>
                          <a:latin typeface="Calibri"/>
                        </a:rPr>
                        <a:t> only</a:t>
                      </a:r>
                    </a:p>
                  </a:txBody>
                  <a:tcPr marL="54864" marR="54864" marT="22860" marB="22860" anchor="ctr">
                    <a:solidFill>
                      <a:srgbClr val="F2F3F5"/>
                    </a:solidFill>
                  </a:tcPr>
                </a:tc>
                <a:tc>
                  <a:txBody>
                    <a:bodyPr wrap="square"/>
                    <a:lstStyle/>
                    <a:p>
                      <a:pPr algn="l"/>
                      <a:r>
                        <a:rPr sz="1200" b="0" i="0">
                          <a:solidFill>
                            <a:srgbClr val="14171C"/>
                          </a:solidFill>
                          <a:latin typeface="Calibri"/>
                        </a:rPr>
                        <a:t>(60/2π) · ΔQ</a:t>
                      </a:r>
                      <a:r>
                        <a:rPr sz="1200" b="0" i="0" baseline="-25000">
                          <a:solidFill>
                            <a:srgbClr val="14171C"/>
                          </a:solidFill>
                          <a:latin typeface="Calibri"/>
                        </a:rPr>
                        <a:t>PT</a:t>
                      </a:r>
                      <a:r>
                        <a:rPr sz="1200" b="0" i="0">
                          <a:solidFill>
                            <a:srgbClr val="14171C"/>
                          </a:solidFill>
                          <a:latin typeface="Calibri"/>
                        </a:rPr>
                        <a:t>/ΔW</a:t>
                      </a:r>
                      <a:r>
                        <a:rPr sz="1200" b="0" i="0" baseline="-25000">
                          <a:solidFill>
                            <a:srgbClr val="14171C"/>
                          </a:solidFill>
                          <a:latin typeface="Calibri"/>
                        </a:rPr>
                        <a:t>f</a:t>
                      </a:r>
                      <a:r>
                        <a:rPr sz="1200" b="0" i="0">
                          <a:solidFill>
                            <a:srgbClr val="14171C"/>
                          </a:solidFill>
                          <a:latin typeface="Calibri"/>
                        </a:rPr>
                        <a:t> ÷ J</a:t>
                      </a:r>
                    </a:p>
                  </a:txBody>
                  <a:tcPr marL="54864" marR="54864" marT="22860" marB="22860" anchor="ctr">
                    <a:solidFill>
                      <a:srgbClr val="F2F3F5"/>
                    </a:solidFill>
                  </a:tcPr>
                </a:tc>
              </a:tr>
              <a:tr h="548640">
                <a:tc>
                  <a:txBody>
                    <a:bodyPr wrap="square"/>
                    <a:lstStyle/>
                    <a:p>
                      <a:pPr algn="l"/>
                      <a:r>
                        <a:rPr sz="1200" b="1" i="0">
                          <a:solidFill>
                            <a:srgbClr val="14171C"/>
                          </a:solidFill>
                          <a:latin typeface="Calibri"/>
                        </a:rPr>
                        <a:t>NP itself</a:t>
                      </a:r>
                    </a:p>
                  </a:txBody>
                  <a:tcPr marL="54864" marR="54864" marT="22860" marB="22860" anchor="ctr">
                    <a:solidFill>
                      <a:srgbClr val="FFFFFF"/>
                    </a:solidFill>
                  </a:tcPr>
                </a:tc>
                <a:tc>
                  <a:txBody>
                    <a:bodyPr wrap="square"/>
                    <a:lstStyle/>
                    <a:p>
                      <a:pPr algn="l"/>
                      <a:r>
                        <a:rPr sz="1200" b="0" i="0">
                          <a:solidFill>
                            <a:srgbClr val="14171C"/>
                          </a:solidFill>
                          <a:latin typeface="Calibri"/>
                        </a:rPr>
                        <a:t>Q</a:t>
                      </a:r>
                      <a:r>
                        <a:rPr sz="1200" b="0" i="0" baseline="-25000">
                          <a:solidFill>
                            <a:srgbClr val="14171C"/>
                          </a:solidFill>
                          <a:latin typeface="Calibri"/>
                        </a:rPr>
                        <a:t>PT</a:t>
                      </a:r>
                      <a:r>
                        <a:rPr sz="1200" b="0" i="0">
                          <a:solidFill>
                            <a:srgbClr val="14171C"/>
                          </a:solidFill>
                          <a:latin typeface="Calibri"/>
                        </a:rPr>
                        <a:t> and Q</a:t>
                      </a:r>
                      <a:r>
                        <a:rPr sz="1200" b="0" i="0" baseline="-25000">
                          <a:solidFill>
                            <a:srgbClr val="14171C"/>
                          </a:solidFill>
                          <a:latin typeface="Calibri"/>
                        </a:rPr>
                        <a:t>req</a:t>
                      </a:r>
                    </a:p>
                  </a:txBody>
                  <a:tcPr marL="54864" marR="54864" marT="22860" marB="22860" anchor="ctr">
                    <a:solidFill>
                      <a:srgbClr val="FFFFFF"/>
                    </a:solidFill>
                  </a:tcPr>
                </a:tc>
                <a:tc>
                  <a:txBody>
                    <a:bodyPr wrap="square"/>
                    <a:lstStyle/>
                    <a:p>
                      <a:pPr algn="l"/>
                      <a:r>
                        <a:rPr sz="1200" b="0" i="0">
                          <a:solidFill>
                            <a:srgbClr val="14171C"/>
                          </a:solidFill>
                          <a:latin typeface="Calibri"/>
                        </a:rPr>
                        <a:t>(60/2π) · (ΔQ</a:t>
                      </a:r>
                      <a:r>
                        <a:rPr sz="1200" b="0" i="0" baseline="-25000">
                          <a:solidFill>
                            <a:srgbClr val="14171C"/>
                          </a:solidFill>
                          <a:latin typeface="Calibri"/>
                        </a:rPr>
                        <a:t>PT</a:t>
                      </a:r>
                      <a:r>
                        <a:rPr sz="1200" b="0" i="0">
                          <a:solidFill>
                            <a:srgbClr val="14171C"/>
                          </a:solidFill>
                          <a:latin typeface="Calibri"/>
                        </a:rPr>
                        <a:t>/ΔNP</a:t>
                      </a:r>
                    </a:p>
                    <a:p>
                      <a:pPr algn="l"/>
                      <a:r>
                        <a:rPr sz="1200" b="0" i="0">
                          <a:solidFill>
                            <a:srgbClr val="14171C"/>
                          </a:solidFill>
                          <a:latin typeface="Calibri"/>
                        </a:rPr>
                        <a:t> − ∂Q</a:t>
                      </a:r>
                      <a:r>
                        <a:rPr sz="1200" b="0" i="0" baseline="-25000">
                          <a:solidFill>
                            <a:srgbClr val="14171C"/>
                          </a:solidFill>
                          <a:latin typeface="Calibri"/>
                        </a:rPr>
                        <a:t>req</a:t>
                      </a:r>
                      <a:r>
                        <a:rPr sz="1200" b="0" i="0">
                          <a:solidFill>
                            <a:srgbClr val="14171C"/>
                          </a:solidFill>
                          <a:latin typeface="Calibri"/>
                        </a:rPr>
                        <a:t>/∂NP) ÷ J</a:t>
                      </a:r>
                    </a:p>
                  </a:txBody>
                  <a:tcPr marL="54864" marR="54864" marT="22860" marB="22860" anchor="ctr">
                    <a:solidFill>
                      <a:srgbClr val="AEB4BE"/>
                    </a:solidFill>
                  </a:tcPr>
                </a:tc>
              </a:tr>
            </a:tbl>
          </a:graphicData>
        </a:graphic>
      </p:graphicFrame>
      <p:sp>
        <p:nvSpPr>
          <p:cNvPr id="15" name="TextBox 14"/>
          <p:cNvSpPr txBox="1"/>
          <p:nvPr/>
        </p:nvSpPr>
        <p:spPr>
          <a:xfrm>
            <a:off x="6537959" y="4530344"/>
            <a:ext cx="5150815" cy="20116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Only </a:t>
            </a:r>
            <a:r>
              <a:rPr sz="1400" b="0" i="1">
                <a:solidFill>
                  <a:srgbClr val="14171C"/>
                </a:solidFill>
                <a:latin typeface="Calibri"/>
              </a:rPr>
              <a:t>changes</a:t>
            </a:r>
            <a:r>
              <a:rPr sz="1400" b="0" i="0">
                <a:solidFill>
                  <a:srgbClr val="14171C"/>
                </a:solidFill>
                <a:latin typeface="Calibri"/>
              </a:rPr>
              <a:t> of Q</a:t>
            </a:r>
            <a:r>
              <a:rPr sz="1400" b="0" i="0" baseline="-25000">
                <a:solidFill>
                  <a:srgbClr val="14171C"/>
                </a:solidFill>
                <a:latin typeface="Calibri"/>
              </a:rPr>
              <a:t>req</a:t>
            </a:r>
            <a:r>
              <a:rPr sz="1400" b="0" i="0">
                <a:solidFill>
                  <a:srgbClr val="14171C"/>
                </a:solidFill>
                <a:latin typeface="Calibri"/>
              </a:rPr>
              <a:t> enter, never its value. At trim Q</a:t>
            </a:r>
            <a:r>
              <a:rPr sz="1400" b="0" i="0" baseline="-25000">
                <a:solidFill>
                  <a:srgbClr val="14171C"/>
                </a:solidFill>
                <a:latin typeface="Calibri"/>
              </a:rPr>
              <a:t>req</a:t>
            </a:r>
            <a:r>
              <a:rPr sz="1400" b="0" i="0">
                <a:solidFill>
                  <a:srgbClr val="14171C"/>
                </a:solidFill>
                <a:latin typeface="Calibri"/>
              </a:rPr>
              <a:t> = Q</a:t>
            </a:r>
            <a:r>
              <a:rPr sz="1400" b="0" i="0" baseline="-25000">
                <a:solidFill>
                  <a:srgbClr val="14171C"/>
                </a:solidFill>
                <a:latin typeface="Calibri"/>
              </a:rPr>
              <a:t>PT</a:t>
            </a:r>
            <a:r>
              <a:rPr sz="1400" b="0" i="0">
                <a:solidFill>
                  <a:srgbClr val="14171C"/>
                </a:solidFill>
                <a:latin typeface="Calibri"/>
              </a:rPr>
              <a:t>: 228.9 ft·lbf at hover; Table B.1 prints 229.0 (“Engine torque (ref. shaft)”).</a:t>
            </a:r>
          </a:p>
          <a:p>
            <a:pPr marL="201168" indent="-201168">
              <a:lnSpc>
                <a:spcPct val="105000"/>
              </a:lnSpc>
              <a:spcBef>
                <a:spcPts val="900"/>
              </a:spcBef>
              <a:buFont typeface="Arial"/>
              <a:buChar char="•"/>
            </a:pPr>
            <a:r>
              <a:rPr sz="1400" b="0" i="0">
                <a:solidFill>
                  <a:srgbClr val="14171C"/>
                </a:solidFill>
                <a:latin typeface="Calibri"/>
              </a:rPr>
              <a:t>So the helicopter supplies just </a:t>
            </a:r>
            <a:r>
              <a:rPr sz="1400" b="1" i="0">
                <a:solidFill>
                  <a:srgbClr val="14171C"/>
                </a:solidFill>
                <a:latin typeface="Calibri"/>
              </a:rPr>
              <a:t>two numbers</a:t>
            </a:r>
            <a:r>
              <a:rPr sz="1400" b="0" i="0">
                <a:solidFill>
                  <a:srgbClr val="14171C"/>
                </a:solidFill>
                <a:latin typeface="Calibri"/>
              </a:rPr>
              <a:t>, and the report prints neither: the inertia </a:t>
            </a:r>
            <a:r>
              <a:rPr sz="1400" b="1" i="0">
                <a:solidFill>
                  <a:srgbClr val="14171C"/>
                </a:solidFill>
                <a:latin typeface="Calibri"/>
              </a:rPr>
              <a:t>J</a:t>
            </a:r>
            <a:r>
              <a:rPr sz="1400" b="0" i="0">
                <a:solidFill>
                  <a:srgbClr val="14171C"/>
                </a:solidFill>
                <a:latin typeface="Calibri"/>
              </a:rPr>
              <a:t> and the load slope </a:t>
            </a:r>
            <a:r>
              <a:rPr sz="1400" b="1" i="0">
                <a:solidFill>
                  <a:srgbClr val="14171C"/>
                </a:solidFill>
                <a:latin typeface="Calibri"/>
              </a:rPr>
              <a:t>∂Q</a:t>
            </a:r>
            <a:r>
              <a:rPr sz="1400" b="0" i="0" baseline="-25000">
                <a:solidFill>
                  <a:srgbClr val="14171C"/>
                </a:solidFill>
                <a:latin typeface="Calibri"/>
              </a:rPr>
              <a:t>req</a:t>
            </a:r>
            <a:r>
              <a:rPr sz="1400" b="1" i="0">
                <a:solidFill>
                  <a:srgbClr val="14171C"/>
                </a:solidFill>
                <a:latin typeface="Calibri"/>
              </a:rPr>
              <a:t>/∂NP</a:t>
            </a:r>
            <a:r>
              <a:rPr sz="1400" b="0" i="0">
                <a:solidFill>
                  <a:srgbClr val="14171C"/>
                </a:solidFill>
                <a:latin typeface="Calibri"/>
              </a:rPr>
              <a:t>. Next slide: how we found them.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4 · HOW THE ENGINE IS RUN</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Finding the two load numbers in Appendix B</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Appendix B, Figures B2, B4, B6, pdf pp.68–70; Eqs. 59–62, pdf pp.28–29; Table A.1 (J_PT), pdf p.55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33</a:t>
            </a:r>
          </a:p>
        </p:txBody>
      </p:sp>
      <p:sp>
        <p:nvSpPr>
          <p:cNvPr id="8" name="Rounded Rectangle 7"/>
          <p:cNvSpPr/>
          <p:nvPr/>
        </p:nvSpPr>
        <p:spPr>
          <a:xfrm>
            <a:off x="502920" y="1325880"/>
            <a:ext cx="3611880" cy="233172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p>
        </p:txBody>
      </p:sp>
      <p:sp>
        <p:nvSpPr>
          <p:cNvPr id="9" name="TextBox 8"/>
          <p:cNvSpPr txBox="1"/>
          <p:nvPr/>
        </p:nvSpPr>
        <p:spPr>
          <a:xfrm>
            <a:off x="594360" y="1399032"/>
            <a:ext cx="3429000" cy="365760"/>
          </a:xfrm>
          <a:prstGeom prst="rect">
            <a:avLst/>
          </a:prstGeom>
          <a:noFill/>
        </p:spPr>
        <p:txBody>
          <a:bodyPr wrap="square" anchor="t" lIns="36576" rIns="36576" tIns="27432" bIns="27432">
            <a:noAutofit/>
          </a:bodyPr>
          <a:lstStyle/>
          <a:p>
            <a:pPr>
              <a:lnSpc>
                <a:spcPct val="105000"/>
              </a:lnSpc>
              <a:spcBef>
                <a:spcPts val="0"/>
              </a:spcBef>
            </a:pPr>
            <a:r>
              <a:rPr sz="1300" b="1" i="0">
                <a:solidFill>
                  <a:srgbClr val="14171C"/>
                </a:solidFill>
                <a:latin typeface="Calibri"/>
              </a:rPr>
              <a:t>1 · The inertia J, from the fuel cell b(NP)</a:t>
            </a:r>
          </a:p>
        </p:txBody>
      </p:sp>
      <p:sp>
        <p:nvSpPr>
          <p:cNvPr id="10" name="TextBox 9"/>
          <p:cNvSpPr txBox="1"/>
          <p:nvPr/>
        </p:nvSpPr>
        <p:spPr>
          <a:xfrm>
            <a:off x="594360" y="1783080"/>
            <a:ext cx="3429000" cy="1828799"/>
          </a:xfrm>
          <a:prstGeom prst="rect">
            <a:avLst/>
          </a:prstGeom>
          <a:noFill/>
        </p:spPr>
        <p:txBody>
          <a:bodyPr wrap="square" anchor="t" lIns="36576" rIns="36576" tIns="27432" bIns="27432">
            <a:noAutofit/>
          </a:bodyPr>
          <a:lstStyle/>
          <a:p>
            <a:pPr>
              <a:lnSpc>
                <a:spcPct val="105000"/>
              </a:lnSpc>
              <a:spcBef>
                <a:spcPts val="0"/>
              </a:spcBef>
            </a:pPr>
            <a:r>
              <a:rPr sz="1200" b="0" i="0">
                <a:solidFill>
                  <a:srgbClr val="14171C"/>
                </a:solidFill>
                <a:latin typeface="Calibri"/>
              </a:rPr>
              <a:t>Push W</a:t>
            </a:r>
            <a:r>
              <a:rPr sz="1200" b="0" i="0" baseline="-25000">
                <a:solidFill>
                  <a:srgbClr val="14171C"/>
                </a:solidFill>
                <a:latin typeface="Calibri"/>
              </a:rPr>
              <a:t>f</a:t>
            </a:r>
            <a:r>
              <a:rPr sz="1200" b="0" i="0">
                <a:solidFill>
                  <a:srgbClr val="14171C"/>
                </a:solidFill>
                <a:latin typeface="Calibri"/>
              </a:rPr>
              <a:t> ±2 % (466.8–485.8 lbm/hr): Q</a:t>
            </a:r>
            <a:r>
              <a:rPr sz="1200" b="0" i="0" baseline="-25000">
                <a:solidFill>
                  <a:srgbClr val="14171C"/>
                </a:solidFill>
                <a:latin typeface="Calibri"/>
              </a:rPr>
              <a:t>PT</a:t>
            </a:r>
            <a:r>
              <a:rPr sz="1200" b="0" i="0">
                <a:solidFill>
                  <a:srgbClr val="14171C"/>
                </a:solidFill>
                <a:latin typeface="Calibri"/>
              </a:rPr>
              <a:t> goes 227.78 → 229.96 ft·lbf.</a:t>
            </a:r>
          </a:p>
          <a:p>
            <a:pPr>
              <a:lnSpc>
                <a:spcPct val="105000"/>
              </a:lnSpc>
              <a:spcBef>
                <a:spcPts val="300"/>
              </a:spcBef>
            </a:pPr>
            <a:r>
              <a:rPr sz="1200" b="0" i="0">
                <a:solidFill>
                  <a:srgbClr val="14171C"/>
                </a:solidFill>
                <a:latin typeface="Calibri"/>
              </a:rPr>
              <a:t>With J</a:t>
            </a:r>
            <a:r>
              <a:rPr sz="1200" b="0" i="0" baseline="-25000">
                <a:solidFill>
                  <a:srgbClr val="14171C"/>
                </a:solidFill>
                <a:latin typeface="Calibri"/>
              </a:rPr>
              <a:t>PT</a:t>
            </a:r>
            <a:r>
              <a:rPr sz="1200" b="0" i="0">
                <a:solidFill>
                  <a:srgbClr val="14171C"/>
                </a:solidFill>
                <a:latin typeface="Calibri"/>
              </a:rPr>
              <a:t> alone: b(NP) = 9.549 × 410.8 ÷ 0.062 = 63,275.</a:t>
            </a:r>
          </a:p>
          <a:p>
            <a:pPr>
              <a:lnSpc>
                <a:spcPct val="105000"/>
              </a:lnSpc>
              <a:spcBef>
                <a:spcPts val="300"/>
              </a:spcBef>
            </a:pPr>
            <a:r>
              <a:rPr sz="1200" b="0" i="0">
                <a:solidFill>
                  <a:srgbClr val="14171C"/>
                </a:solidFill>
                <a:latin typeface="Calibri"/>
              </a:rPr>
              <a:t>Ballin prints 6,174: 10.25 times smaller, and the same at all three trims, so it is an inertia:</a:t>
            </a:r>
          </a:p>
          <a:p>
            <a:pPr>
              <a:lnSpc>
                <a:spcPct val="105000"/>
              </a:lnSpc>
              <a:spcBef>
                <a:spcPts val="300"/>
              </a:spcBef>
            </a:pPr>
            <a:r>
              <a:rPr sz="1200" b="1" i="0">
                <a:solidFill>
                  <a:srgbClr val="14171C"/>
                </a:solidFill>
                <a:latin typeface="Calibri"/>
              </a:rPr>
              <a:t>J = 10.25 × J</a:t>
            </a:r>
            <a:r>
              <a:rPr sz="1200" b="0" i="0" baseline="-25000">
                <a:solidFill>
                  <a:srgbClr val="14171C"/>
                </a:solidFill>
                <a:latin typeface="Calibri"/>
              </a:rPr>
              <a:t>PT</a:t>
            </a:r>
            <a:r>
              <a:rPr sz="1200" b="1" i="0">
                <a:solidFill>
                  <a:srgbClr val="14171C"/>
                </a:solidFill>
                <a:latin typeface="Calibri"/>
              </a:rPr>
              <a:t> = 0.636 ft·lbf·s²</a:t>
            </a:r>
          </a:p>
        </p:txBody>
      </p:sp>
      <p:sp>
        <p:nvSpPr>
          <p:cNvPr id="11" name="Rounded Rectangle 10"/>
          <p:cNvSpPr/>
          <p:nvPr/>
        </p:nvSpPr>
        <p:spPr>
          <a:xfrm>
            <a:off x="4265676" y="1325880"/>
            <a:ext cx="3611880" cy="2331720"/>
          </a:xfrm>
          <a:prstGeom prst="roundRect">
            <a:avLst>
              <a:gd name="adj" fmla="val 12000"/>
            </a:avLst>
          </a:prstGeom>
          <a:solidFill>
            <a:srgbClr val="F2F3F5"/>
          </a:solidFill>
          <a:ln w="15875">
            <a:solidFill>
              <a:srgbClr val="4D55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p>
        </p:txBody>
      </p:sp>
      <p:sp>
        <p:nvSpPr>
          <p:cNvPr id="12" name="TextBox 11"/>
          <p:cNvSpPr txBox="1"/>
          <p:nvPr/>
        </p:nvSpPr>
        <p:spPr>
          <a:xfrm>
            <a:off x="4357116" y="1399032"/>
            <a:ext cx="3429000" cy="365760"/>
          </a:xfrm>
          <a:prstGeom prst="rect">
            <a:avLst/>
          </a:prstGeom>
          <a:noFill/>
        </p:spPr>
        <p:txBody>
          <a:bodyPr wrap="square" anchor="t" lIns="36576" rIns="36576" tIns="27432" bIns="27432">
            <a:noAutofit/>
          </a:bodyPr>
          <a:lstStyle/>
          <a:p>
            <a:pPr>
              <a:lnSpc>
                <a:spcPct val="105000"/>
              </a:lnSpc>
              <a:spcBef>
                <a:spcPts val="0"/>
              </a:spcBef>
            </a:pPr>
            <a:r>
              <a:rPr sz="1300" b="1" i="0">
                <a:solidFill>
                  <a:srgbClr val="14171C"/>
                </a:solidFill>
                <a:latin typeface="Calibri"/>
              </a:rPr>
              <a:t>2 · Check: the other four NP cells</a:t>
            </a:r>
          </a:p>
        </p:txBody>
      </p:sp>
      <p:sp>
        <p:nvSpPr>
          <p:cNvPr id="13" name="TextBox 12"/>
          <p:cNvSpPr txBox="1"/>
          <p:nvPr/>
        </p:nvSpPr>
        <p:spPr>
          <a:xfrm>
            <a:off x="4357116" y="1783080"/>
            <a:ext cx="3429000" cy="1828799"/>
          </a:xfrm>
          <a:prstGeom prst="rect">
            <a:avLst/>
          </a:prstGeom>
          <a:noFill/>
        </p:spPr>
        <p:txBody>
          <a:bodyPr wrap="square" anchor="t" lIns="36576" rIns="36576" tIns="27432" bIns="27432">
            <a:noAutofit/>
          </a:bodyPr>
          <a:lstStyle/>
          <a:p>
            <a:pPr>
              <a:lnSpc>
                <a:spcPct val="105000"/>
              </a:lnSpc>
              <a:spcBef>
                <a:spcPts val="0"/>
              </a:spcBef>
            </a:pPr>
            <a:r>
              <a:rPr sz="1200" b="0" i="0">
                <a:solidFill>
                  <a:srgbClr val="14171C"/>
                </a:solidFill>
                <a:latin typeface="Calibri"/>
              </a:rPr>
              <a:t>With that J, nothing fitted (ours vs Ballin, hover):</a:t>
            </a:r>
          </a:p>
          <a:p>
            <a:pPr>
              <a:lnSpc>
                <a:spcPct val="105000"/>
              </a:lnSpc>
              <a:spcBef>
                <a:spcPts val="300"/>
              </a:spcBef>
            </a:pPr>
            <a:r>
              <a:rPr sz="1200" b="0" i="0">
                <a:solidFill>
                  <a:srgbClr val="14171C"/>
                </a:solidFill>
                <a:latin typeface="Calibri"/>
              </a:rPr>
              <a:t>A(NP,NG):  −0.0206  vs  −0.02444</a:t>
            </a:r>
          </a:p>
          <a:p>
            <a:pPr>
              <a:lnSpc>
                <a:spcPct val="105000"/>
              </a:lnSpc>
              <a:spcBef>
                <a:spcPts val="300"/>
              </a:spcBef>
            </a:pPr>
            <a:r>
              <a:rPr sz="1200" b="0" i="0">
                <a:solidFill>
                  <a:srgbClr val="14171C"/>
                </a:solidFill>
                <a:latin typeface="Calibri"/>
              </a:rPr>
              <a:t>A(NP,P3):  −43.8  vs  −41.28</a:t>
            </a:r>
          </a:p>
          <a:p>
            <a:pPr>
              <a:lnSpc>
                <a:spcPct val="105000"/>
              </a:lnSpc>
              <a:spcBef>
                <a:spcPts val="300"/>
              </a:spcBef>
            </a:pPr>
            <a:r>
              <a:rPr sz="1200" b="0" i="0">
                <a:solidFill>
                  <a:srgbClr val="14171C"/>
                </a:solidFill>
                <a:latin typeface="Calibri"/>
              </a:rPr>
              <a:t>A(NP,P41):  35.6  vs  33.02</a:t>
            </a:r>
          </a:p>
          <a:p>
            <a:pPr>
              <a:lnSpc>
                <a:spcPct val="105000"/>
              </a:lnSpc>
              <a:spcBef>
                <a:spcPts val="300"/>
              </a:spcBef>
            </a:pPr>
            <a:r>
              <a:rPr sz="1200" b="0" i="0">
                <a:solidFill>
                  <a:srgbClr val="14171C"/>
                </a:solidFill>
                <a:latin typeface="Calibri"/>
              </a:rPr>
              <a:t>A(NP,P45):  229  vs  232.1</a:t>
            </a:r>
          </a:p>
          <a:p>
            <a:pPr>
              <a:lnSpc>
                <a:spcPct val="105000"/>
              </a:lnSpc>
              <a:spcBef>
                <a:spcPts val="300"/>
              </a:spcBef>
            </a:pPr>
            <a:r>
              <a:rPr sz="1200" b="0" i="0">
                <a:solidFill>
                  <a:srgbClr val="14171C"/>
                </a:solidFill>
                <a:latin typeface="Calibri"/>
              </a:rPr>
              <a:t>At all three trims: 10 of 12 within 8 %, worst 16 %.</a:t>
            </a:r>
          </a:p>
        </p:txBody>
      </p:sp>
      <p:sp>
        <p:nvSpPr>
          <p:cNvPr id="14" name="Rounded Rectangle 13"/>
          <p:cNvSpPr/>
          <p:nvPr/>
        </p:nvSpPr>
        <p:spPr>
          <a:xfrm>
            <a:off x="8028432" y="1325880"/>
            <a:ext cx="3611880" cy="2331720"/>
          </a:xfrm>
          <a:prstGeom prst="roundRect">
            <a:avLst>
              <a:gd name="adj" fmla="val 12000"/>
            </a:avLst>
          </a:prstGeom>
          <a:solidFill>
            <a:srgbClr val="D5DAE1"/>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p>
        </p:txBody>
      </p:sp>
      <p:sp>
        <p:nvSpPr>
          <p:cNvPr id="15" name="TextBox 14"/>
          <p:cNvSpPr txBox="1"/>
          <p:nvPr/>
        </p:nvSpPr>
        <p:spPr>
          <a:xfrm>
            <a:off x="8119872" y="1399032"/>
            <a:ext cx="3429000" cy="365760"/>
          </a:xfrm>
          <a:prstGeom prst="rect">
            <a:avLst/>
          </a:prstGeom>
          <a:noFill/>
        </p:spPr>
        <p:txBody>
          <a:bodyPr wrap="square" anchor="t" lIns="36576" rIns="36576" tIns="27432" bIns="27432">
            <a:noAutofit/>
          </a:bodyPr>
          <a:lstStyle/>
          <a:p>
            <a:pPr>
              <a:lnSpc>
                <a:spcPct val="105000"/>
              </a:lnSpc>
              <a:spcBef>
                <a:spcPts val="0"/>
              </a:spcBef>
            </a:pPr>
            <a:r>
              <a:rPr sz="1300" b="1" i="0">
                <a:solidFill>
                  <a:srgbClr val="14171C"/>
                </a:solidFill>
                <a:latin typeface="Calibri"/>
              </a:rPr>
              <a:t>3 · The load slope, from the NP diagonal</a:t>
            </a:r>
          </a:p>
        </p:txBody>
      </p:sp>
      <p:sp>
        <p:nvSpPr>
          <p:cNvPr id="16" name="TextBox 15"/>
          <p:cNvSpPr txBox="1"/>
          <p:nvPr/>
        </p:nvSpPr>
        <p:spPr>
          <a:xfrm>
            <a:off x="8119872" y="1783080"/>
            <a:ext cx="3429000" cy="1828799"/>
          </a:xfrm>
          <a:prstGeom prst="rect">
            <a:avLst/>
          </a:prstGeom>
          <a:noFill/>
        </p:spPr>
        <p:txBody>
          <a:bodyPr wrap="square" anchor="t" lIns="36576" rIns="36576" tIns="27432" bIns="27432">
            <a:noAutofit/>
          </a:bodyPr>
          <a:lstStyle/>
          <a:p>
            <a:pPr>
              <a:lnSpc>
                <a:spcPct val="105000"/>
              </a:lnSpc>
              <a:spcBef>
                <a:spcPts val="0"/>
              </a:spcBef>
            </a:pPr>
            <a:r>
              <a:rPr sz="1200" b="0" i="0">
                <a:solidFill>
                  <a:srgbClr val="14171C"/>
                </a:solidFill>
                <a:latin typeface="Calibri"/>
              </a:rPr>
              <a:t>Push NP ±2 % (20,477–21,313 rpm): Q</a:t>
            </a:r>
            <a:r>
              <a:rPr sz="1200" b="0" i="0" baseline="-25000">
                <a:solidFill>
                  <a:srgbClr val="14171C"/>
                </a:solidFill>
                <a:latin typeface="Calibri"/>
              </a:rPr>
              <a:t>PT</a:t>
            </a:r>
            <a:r>
              <a:rPr sz="1200" b="0" i="0">
                <a:solidFill>
                  <a:srgbClr val="14171C"/>
                </a:solidFill>
                <a:latin typeface="Calibri"/>
              </a:rPr>
              <a:t> goes 236.5 → 221.4 ft·lbf, −0.0181 ft·lbf/rpm.</a:t>
            </a:r>
          </a:p>
          <a:p>
            <a:pPr>
              <a:lnSpc>
                <a:spcPct val="105000"/>
              </a:lnSpc>
              <a:spcBef>
                <a:spcPts val="300"/>
              </a:spcBef>
            </a:pPr>
            <a:r>
              <a:rPr sz="1200" b="0" i="0">
                <a:solidFill>
                  <a:srgbClr val="14171C"/>
                </a:solidFill>
                <a:latin typeface="Calibri"/>
              </a:rPr>
              <a:t>Engine alone: A(NP,NP) = −0.272 /s. Ballin prints −0.565.</a:t>
            </a:r>
          </a:p>
          <a:p>
            <a:pPr>
              <a:lnSpc>
                <a:spcPct val="105000"/>
              </a:lnSpc>
              <a:spcBef>
                <a:spcPts val="300"/>
              </a:spcBef>
            </a:pPr>
            <a:r>
              <a:rPr sz="1200" b="0" i="0">
                <a:solidFill>
                  <a:srgbClr val="14171C"/>
                </a:solidFill>
                <a:latin typeface="Calibri"/>
              </a:rPr>
              <a:t>The rotor supplies the rest:</a:t>
            </a:r>
          </a:p>
          <a:p>
            <a:pPr>
              <a:lnSpc>
                <a:spcPct val="105000"/>
              </a:lnSpc>
              <a:spcBef>
                <a:spcPts val="300"/>
              </a:spcBef>
            </a:pPr>
            <a:r>
              <a:rPr sz="1200" b="0" i="0">
                <a:solidFill>
                  <a:srgbClr val="14171C"/>
                </a:solidFill>
                <a:latin typeface="Calibri"/>
              </a:rPr>
              <a:t>∂Q</a:t>
            </a:r>
            <a:r>
              <a:rPr sz="1200" b="0" i="0" baseline="-25000">
                <a:solidFill>
                  <a:srgbClr val="14171C"/>
                </a:solidFill>
                <a:latin typeface="Calibri"/>
              </a:rPr>
              <a:t>req</a:t>
            </a:r>
            <a:r>
              <a:rPr sz="1200" b="0" i="0">
                <a:solidFill>
                  <a:srgbClr val="14171C"/>
                </a:solidFill>
                <a:latin typeface="Calibri"/>
              </a:rPr>
              <a:t>/∂NP = −0.0181 + 0.565 × 0.636 ÷ 9.549</a:t>
            </a:r>
          </a:p>
          <a:p>
            <a:pPr>
              <a:lnSpc>
                <a:spcPct val="105000"/>
              </a:lnSpc>
              <a:spcBef>
                <a:spcPts val="300"/>
              </a:spcBef>
            </a:pPr>
            <a:r>
              <a:rPr sz="1200" b="1" i="0">
                <a:solidFill>
                  <a:srgbClr val="14171C"/>
                </a:solidFill>
                <a:latin typeface="Calibri"/>
              </a:rPr>
              <a:t>= 0.0195 ft·lbf/rpm</a:t>
            </a:r>
          </a:p>
        </p:txBody>
      </p:sp>
      <p:graphicFrame>
        <p:nvGraphicFramePr>
          <p:cNvPr id="17" name="Table 16"/>
          <p:cNvGraphicFramePr>
            <a:graphicFrameLocks noGrp="1"/>
          </p:cNvGraphicFramePr>
          <p:nvPr/>
        </p:nvGraphicFramePr>
        <p:xfrm>
          <a:off x="502920" y="3840480"/>
          <a:ext cx="6583680" cy="1645920"/>
        </p:xfrm>
        <a:graphic>
          <a:graphicData uri="http://schemas.openxmlformats.org/drawingml/2006/table">
            <a:tbl>
              <a:tblPr firstRow="1">
                <a:tableStyleId>{5C22544A-7EE6-4342-B048-85BDC9FD1C3A}</a:tableStyleId>
              </a:tblPr>
              <a:tblGrid>
                <a:gridCol w="2743200"/>
                <a:gridCol w="1280160"/>
                <a:gridCol w="1280160"/>
                <a:gridCol w="1280160"/>
              </a:tblGrid>
              <a:tr h="329184">
                <a:tc>
                  <a:txBody>
                    <a:bodyPr wrap="square"/>
                    <a:lstStyle/>
                    <a:p>
                      <a:pPr algn="l"/>
                    </a:p>
                  </a:txBody>
                  <a:tcPr marL="54864" marR="54864" marT="22860" marB="22860" anchor="ctr">
                    <a:solidFill>
                      <a:srgbClr val="4D5563"/>
                    </a:solidFill>
                  </a:tcPr>
                </a:tc>
                <a:tc>
                  <a:txBody>
                    <a:bodyPr wrap="square"/>
                    <a:lstStyle/>
                    <a:p>
                      <a:pPr algn="r"/>
                      <a:r>
                        <a:rPr sz="1200" b="1" i="0">
                          <a:solidFill>
                            <a:srgbClr val="FFFFFF"/>
                          </a:solidFill>
                          <a:latin typeface="Calibri"/>
                        </a:rPr>
                        <a:t>Hover</a:t>
                      </a:r>
                    </a:p>
                  </a:txBody>
                  <a:tcPr marL="54864" marR="54864" marT="22860" marB="22860" anchor="ctr">
                    <a:solidFill>
                      <a:srgbClr val="4D5563"/>
                    </a:solidFill>
                  </a:tcPr>
                </a:tc>
                <a:tc>
                  <a:txBody>
                    <a:bodyPr wrap="square"/>
                    <a:lstStyle/>
                    <a:p>
                      <a:pPr algn="r"/>
                      <a:r>
                        <a:rPr sz="1200" b="1" i="0">
                          <a:solidFill>
                            <a:srgbClr val="FFFFFF"/>
                          </a:solidFill>
                          <a:latin typeface="Calibri"/>
                        </a:rPr>
                        <a:t>Level 80 kt</a:t>
                      </a:r>
                    </a:p>
                  </a:txBody>
                  <a:tcPr marL="54864" marR="54864" marT="22860" marB="22860" anchor="ctr">
                    <a:solidFill>
                      <a:srgbClr val="4D5563"/>
                    </a:solidFill>
                  </a:tcPr>
                </a:tc>
                <a:tc>
                  <a:txBody>
                    <a:bodyPr wrap="square"/>
                    <a:lstStyle/>
                    <a:p>
                      <a:pPr algn="r"/>
                      <a:r>
                        <a:rPr sz="1200" b="1" i="0">
                          <a:solidFill>
                            <a:srgbClr val="FFFFFF"/>
                          </a:solidFill>
                          <a:latin typeface="Calibri"/>
                        </a:rPr>
                        <a:t>Descent 80 kt</a:t>
                      </a:r>
                    </a:p>
                  </a:txBody>
                  <a:tcPr marL="54864" marR="54864" marT="22860" marB="22860" anchor="ctr">
                    <a:solidFill>
                      <a:srgbClr val="4D5563"/>
                    </a:solidFill>
                  </a:tcPr>
                </a:tc>
              </a:tr>
              <a:tr h="329184">
                <a:tc>
                  <a:txBody>
                    <a:bodyPr wrap="square"/>
                    <a:lstStyle/>
                    <a:p>
                      <a:pPr algn="l"/>
                      <a:r>
                        <a:rPr sz="1200" b="1" i="0">
                          <a:solidFill>
                            <a:srgbClr val="14171C"/>
                          </a:solidFill>
                          <a:latin typeface="Calibri"/>
                        </a:rPr>
                        <a:t>b(NP) with J</a:t>
                      </a:r>
                      <a:r>
                        <a:rPr sz="1200" b="1" i="0" baseline="-25000">
                          <a:solidFill>
                            <a:srgbClr val="14171C"/>
                          </a:solidFill>
                          <a:latin typeface="Calibri"/>
                        </a:rPr>
                        <a:t>PT</a:t>
                      </a:r>
                      <a:r>
                        <a:rPr sz="1200" b="1" i="0">
                          <a:solidFill>
                            <a:srgbClr val="14171C"/>
                          </a:solidFill>
                          <a:latin typeface="Calibri"/>
                        </a:rPr>
                        <a:t> alone ÷ Ballin's</a:t>
                      </a:r>
                    </a:p>
                  </a:txBody>
                  <a:tcPr marL="54864" marR="54864" marT="22860" marB="22860" anchor="ctr">
                    <a:solidFill>
                      <a:srgbClr val="FFFFFF"/>
                    </a:solidFill>
                  </a:tcPr>
                </a:tc>
                <a:tc>
                  <a:txBody>
                    <a:bodyPr wrap="square"/>
                    <a:lstStyle/>
                    <a:p>
                      <a:pPr algn="r"/>
                      <a:r>
                        <a:rPr sz="1200" b="0" i="0">
                          <a:solidFill>
                            <a:srgbClr val="14171C"/>
                          </a:solidFill>
                          <a:latin typeface="Calibri"/>
                        </a:rPr>
                        <a:t>10.249</a:t>
                      </a:r>
                    </a:p>
                  </a:txBody>
                  <a:tcPr marL="54864" marR="54864" marT="22860" marB="22860" anchor="ctr">
                    <a:solidFill>
                      <a:srgbClr val="FFFFFF"/>
                    </a:solidFill>
                  </a:tcPr>
                </a:tc>
                <a:tc>
                  <a:txBody>
                    <a:bodyPr wrap="square"/>
                    <a:lstStyle/>
                    <a:p>
                      <a:pPr algn="r"/>
                      <a:r>
                        <a:rPr sz="1200" b="0" i="0">
                          <a:solidFill>
                            <a:srgbClr val="14171C"/>
                          </a:solidFill>
                          <a:latin typeface="Calibri"/>
                        </a:rPr>
                        <a:t>10.260</a:t>
                      </a:r>
                    </a:p>
                  </a:txBody>
                  <a:tcPr marL="54864" marR="54864" marT="22860" marB="22860" anchor="ctr">
                    <a:solidFill>
                      <a:srgbClr val="FFFFFF"/>
                    </a:solidFill>
                  </a:tcPr>
                </a:tc>
                <a:tc>
                  <a:txBody>
                    <a:bodyPr wrap="square"/>
                    <a:lstStyle/>
                    <a:p>
                      <a:pPr algn="r"/>
                      <a:r>
                        <a:rPr sz="1200" b="0" i="0">
                          <a:solidFill>
                            <a:srgbClr val="14171C"/>
                          </a:solidFill>
                          <a:latin typeface="Calibri"/>
                        </a:rPr>
                        <a:t>10.237</a:t>
                      </a:r>
                    </a:p>
                  </a:txBody>
                  <a:tcPr marL="54864" marR="54864" marT="22860" marB="22860" anchor="ctr">
                    <a:solidFill>
                      <a:srgbClr val="FFFFFF"/>
                    </a:solidFill>
                  </a:tcPr>
                </a:tc>
              </a:tr>
              <a:tr h="329184">
                <a:tc>
                  <a:txBody>
                    <a:bodyPr wrap="square"/>
                    <a:lstStyle/>
                    <a:p>
                      <a:pPr algn="l"/>
                      <a:r>
                        <a:rPr sz="1200" b="1" i="0">
                          <a:solidFill>
                            <a:srgbClr val="14171C"/>
                          </a:solidFill>
                          <a:latin typeface="Calibri"/>
                        </a:rPr>
                        <a:t>A(NP,NP), engine alone, 1/s</a:t>
                      </a:r>
                    </a:p>
                  </a:txBody>
                  <a:tcPr marL="54864" marR="54864" marT="22860" marB="22860" anchor="ctr">
                    <a:solidFill>
                      <a:srgbClr val="F2F3F5"/>
                    </a:solidFill>
                  </a:tcPr>
                </a:tc>
                <a:tc>
                  <a:txBody>
                    <a:bodyPr wrap="square"/>
                    <a:lstStyle/>
                    <a:p>
                      <a:pPr algn="r"/>
                      <a:r>
                        <a:rPr sz="1200" b="0" i="0">
                          <a:solidFill>
                            <a:srgbClr val="14171C"/>
                          </a:solidFill>
                          <a:latin typeface="Calibri"/>
                        </a:rPr>
                        <a:t>−0.272</a:t>
                      </a:r>
                    </a:p>
                  </a:txBody>
                  <a:tcPr marL="54864" marR="54864" marT="22860" marB="22860" anchor="ctr">
                    <a:solidFill>
                      <a:srgbClr val="F2F3F5"/>
                    </a:solidFill>
                  </a:tcPr>
                </a:tc>
                <a:tc>
                  <a:txBody>
                    <a:bodyPr wrap="square"/>
                    <a:lstStyle/>
                    <a:p>
                      <a:pPr algn="r"/>
                      <a:r>
                        <a:rPr sz="1200" b="0" i="0">
                          <a:solidFill>
                            <a:srgbClr val="14171C"/>
                          </a:solidFill>
                          <a:latin typeface="Calibri"/>
                        </a:rPr>
                        <a:t>−0.208</a:t>
                      </a:r>
                    </a:p>
                  </a:txBody>
                  <a:tcPr marL="54864" marR="54864" marT="22860" marB="22860" anchor="ctr">
                    <a:solidFill>
                      <a:srgbClr val="F2F3F5"/>
                    </a:solidFill>
                  </a:tcPr>
                </a:tc>
                <a:tc>
                  <a:txBody>
                    <a:bodyPr wrap="square"/>
                    <a:lstStyle/>
                    <a:p>
                      <a:pPr algn="r"/>
                      <a:r>
                        <a:rPr sz="1200" b="0" i="0">
                          <a:solidFill>
                            <a:srgbClr val="14171C"/>
                          </a:solidFill>
                          <a:latin typeface="Calibri"/>
                        </a:rPr>
                        <a:t>−0.162</a:t>
                      </a:r>
                    </a:p>
                  </a:txBody>
                  <a:tcPr marL="54864" marR="54864" marT="22860" marB="22860" anchor="ctr">
                    <a:solidFill>
                      <a:srgbClr val="F2F3F5"/>
                    </a:solidFill>
                  </a:tcPr>
                </a:tc>
              </a:tr>
              <a:tr h="329184">
                <a:tc>
                  <a:txBody>
                    <a:bodyPr wrap="square"/>
                    <a:lstStyle/>
                    <a:p>
                      <a:pPr algn="l"/>
                      <a:r>
                        <a:rPr sz="1200" b="1" i="0">
                          <a:solidFill>
                            <a:srgbClr val="14171C"/>
                          </a:solidFill>
                          <a:latin typeface="Calibri"/>
                        </a:rPr>
                        <a:t>A(NP,NP), printed, 1/s</a:t>
                      </a:r>
                    </a:p>
                  </a:txBody>
                  <a:tcPr marL="54864" marR="54864" marT="22860" marB="22860" anchor="ctr">
                    <a:solidFill>
                      <a:srgbClr val="FFFFFF"/>
                    </a:solidFill>
                  </a:tcPr>
                </a:tc>
                <a:tc>
                  <a:txBody>
                    <a:bodyPr wrap="square"/>
                    <a:lstStyle/>
                    <a:p>
                      <a:pPr algn="r"/>
                      <a:r>
                        <a:rPr sz="1200" b="0" i="0">
                          <a:solidFill>
                            <a:srgbClr val="14171C"/>
                          </a:solidFill>
                          <a:latin typeface="Calibri"/>
                        </a:rPr>
                        <a:t>−0.565</a:t>
                      </a:r>
                    </a:p>
                  </a:txBody>
                  <a:tcPr marL="54864" marR="54864" marT="22860" marB="22860" anchor="ctr">
                    <a:solidFill>
                      <a:srgbClr val="FFFFFF"/>
                    </a:solidFill>
                  </a:tcPr>
                </a:tc>
                <a:tc>
                  <a:txBody>
                    <a:bodyPr wrap="square"/>
                    <a:lstStyle/>
                    <a:p>
                      <a:pPr algn="r"/>
                      <a:r>
                        <a:rPr sz="1200" b="0" i="0">
                          <a:solidFill>
                            <a:srgbClr val="14171C"/>
                          </a:solidFill>
                          <a:latin typeface="Calibri"/>
                        </a:rPr>
                        <a:t>−0.4461</a:t>
                      </a:r>
                    </a:p>
                  </a:txBody>
                  <a:tcPr marL="54864" marR="54864" marT="22860" marB="22860" anchor="ctr">
                    <a:solidFill>
                      <a:srgbClr val="FFFFFF"/>
                    </a:solidFill>
                  </a:tcPr>
                </a:tc>
                <a:tc>
                  <a:txBody>
                    <a:bodyPr wrap="square"/>
                    <a:lstStyle/>
                    <a:p>
                      <a:pPr algn="r"/>
                      <a:r>
                        <a:rPr sz="1200" b="0" i="0">
                          <a:solidFill>
                            <a:srgbClr val="14171C"/>
                          </a:solidFill>
                          <a:latin typeface="Calibri"/>
                        </a:rPr>
                        <a:t>−0.3567</a:t>
                      </a:r>
                    </a:p>
                  </a:txBody>
                  <a:tcPr marL="54864" marR="54864" marT="22860" marB="22860" anchor="ctr">
                    <a:solidFill>
                      <a:srgbClr val="FFFFFF"/>
                    </a:solidFill>
                  </a:tcPr>
                </a:tc>
              </a:tr>
              <a:tr h="329184">
                <a:tc>
                  <a:txBody>
                    <a:bodyPr wrap="square"/>
                    <a:lstStyle/>
                    <a:p>
                      <a:pPr algn="l"/>
                      <a:r>
                        <a:rPr sz="1200" b="1" i="0">
                          <a:solidFill>
                            <a:srgbClr val="14171C"/>
                          </a:solidFill>
                          <a:latin typeface="Calibri"/>
                        </a:rPr>
                        <a:t>Load slope ∂Q</a:t>
                      </a:r>
                      <a:r>
                        <a:rPr sz="1200" b="1" i="0" baseline="-25000">
                          <a:solidFill>
                            <a:srgbClr val="14171C"/>
                          </a:solidFill>
                          <a:latin typeface="Calibri"/>
                        </a:rPr>
                        <a:t>req</a:t>
                      </a:r>
                      <a:r>
                        <a:rPr sz="1200" b="1" i="0">
                          <a:solidFill>
                            <a:srgbClr val="14171C"/>
                          </a:solidFill>
                          <a:latin typeface="Calibri"/>
                        </a:rPr>
                        <a:t>/∂NP, ft·lbf/rpm</a:t>
                      </a:r>
                    </a:p>
                  </a:txBody>
                  <a:tcPr marL="54864" marR="54864" marT="22860" marB="22860" anchor="ctr">
                    <a:solidFill>
                      <a:srgbClr val="F2F3F5"/>
                    </a:solidFill>
                  </a:tcPr>
                </a:tc>
                <a:tc>
                  <a:txBody>
                    <a:bodyPr wrap="square"/>
                    <a:lstStyle/>
                    <a:p>
                      <a:pPr algn="r"/>
                      <a:r>
                        <a:rPr sz="1200" b="0" i="0">
                          <a:solidFill>
                            <a:srgbClr val="14171C"/>
                          </a:solidFill>
                          <a:latin typeface="Calibri"/>
                        </a:rPr>
                        <a:t>0.0195</a:t>
                      </a:r>
                    </a:p>
                  </a:txBody>
                  <a:tcPr marL="54864" marR="54864" marT="22860" marB="22860" anchor="ctr">
                    <a:solidFill>
                      <a:srgbClr val="F2F3F5"/>
                    </a:solidFill>
                  </a:tcPr>
                </a:tc>
                <a:tc>
                  <a:txBody>
                    <a:bodyPr wrap="square"/>
                    <a:lstStyle/>
                    <a:p>
                      <a:pPr algn="r"/>
                      <a:r>
                        <a:rPr sz="1200" b="0" i="0">
                          <a:solidFill>
                            <a:srgbClr val="14171C"/>
                          </a:solidFill>
                          <a:latin typeface="Calibri"/>
                        </a:rPr>
                        <a:t>0.0159</a:t>
                      </a:r>
                    </a:p>
                  </a:txBody>
                  <a:tcPr marL="54864" marR="54864" marT="22860" marB="22860" anchor="ctr">
                    <a:solidFill>
                      <a:srgbClr val="F2F3F5"/>
                    </a:solidFill>
                  </a:tcPr>
                </a:tc>
                <a:tc>
                  <a:txBody>
                    <a:bodyPr wrap="square"/>
                    <a:lstStyle/>
                    <a:p>
                      <a:pPr algn="r"/>
                      <a:r>
                        <a:rPr sz="1200" b="0" i="0">
                          <a:solidFill>
                            <a:srgbClr val="14171C"/>
                          </a:solidFill>
                          <a:latin typeface="Calibri"/>
                        </a:rPr>
                        <a:t>0.0130</a:t>
                      </a:r>
                    </a:p>
                  </a:txBody>
                  <a:tcPr marL="54864" marR="54864" marT="22860" marB="22860" anchor="ctr">
                    <a:solidFill>
                      <a:srgbClr val="F2F3F5"/>
                    </a:solidFill>
                  </a:tcPr>
                </a:tc>
              </a:tr>
            </a:tbl>
          </a:graphicData>
        </a:graphic>
      </p:graphicFrame>
      <p:sp>
        <p:nvSpPr>
          <p:cNvPr id="18" name="Rounded Rectangle 17"/>
          <p:cNvSpPr/>
          <p:nvPr/>
        </p:nvSpPr>
        <p:spPr>
          <a:xfrm>
            <a:off x="7315200" y="3840480"/>
            <a:ext cx="4373575" cy="1645920"/>
          </a:xfrm>
          <a:prstGeom prst="roundRect">
            <a:avLst>
              <a:gd name="adj" fmla="val 12000"/>
            </a:avLst>
          </a:prstGeom>
          <a:solidFill>
            <a:srgbClr val="D5DAE1"/>
          </a:solidFill>
          <a:ln w="15875">
            <a:solidFill>
              <a:srgbClr val="14171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l"/>
            <a:r>
              <a:rPr sz="1200" b="1" i="0">
                <a:solidFill>
                  <a:srgbClr val="14171C"/>
                </a:solidFill>
                <a:latin typeface="Calibri"/>
              </a:rPr>
              <a:t>What this means for the comparison</a:t>
            </a:r>
          </a:p>
          <a:p>
            <a:pPr algn="l"/>
            <a:r>
              <a:rPr sz="1200" b="0" i="0">
                <a:solidFill>
                  <a:srgbClr val="14171C"/>
                </a:solidFill>
                <a:latin typeface="Calibri"/>
              </a:rPr>
              <a:t>The NP eigenvalue is A(NP,NP) itself, so step 3 makes it match by construction: Table 1's 9 NP values are inputs, not tests.</a:t>
            </a:r>
          </a:p>
          <a:p>
            <a:pPr algn="l"/>
            <a:r>
              <a:rPr sz="1200" b="0" i="0">
                <a:solidFill>
                  <a:srgbClr val="14171C"/>
                </a:solidFill>
                <a:latin typeface="Calibri"/>
              </a:rPr>
              <a:t>Its other 18 eigenvalues, and every cell outside the NP row, contain no load: they test the engine model alone.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Scorecard: every comparison the report prints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Deviation = (ours − printed) / printed, unless noted</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34</a:t>
            </a:r>
          </a:p>
        </p:txBody>
      </p:sp>
      <p:graphicFrame>
        <p:nvGraphicFramePr>
          <p:cNvPr id="8" name="Table 7"/>
          <p:cNvGraphicFramePr>
            <a:graphicFrameLocks noGrp="1"/>
          </p:cNvGraphicFramePr>
          <p:nvPr/>
        </p:nvGraphicFramePr>
        <p:xfrm>
          <a:off x="502920" y="1325880"/>
          <a:ext cx="11185853" cy="4114800"/>
        </p:xfrm>
        <a:graphic>
          <a:graphicData uri="http://schemas.openxmlformats.org/drawingml/2006/table">
            <a:tbl>
              <a:tblPr firstRow="1">
                <a:tableStyleId>{5C22544A-7EE6-4342-B048-85BDC9FD1C3A}</a:tableStyleId>
              </a:tblPr>
              <a:tblGrid>
                <a:gridCol w="2573736"/>
                <a:gridCol w="4949493"/>
                <a:gridCol w="692929"/>
                <a:gridCol w="1583837"/>
                <a:gridCol w="1385858"/>
              </a:tblGrid>
              <a:tr h="274320">
                <a:tc>
                  <a:txBody>
                    <a:bodyPr wrap="square"/>
                    <a:lstStyle/>
                    <a:p>
                      <a:pPr algn="l"/>
                      <a:r>
                        <a:rPr sz="1150" b="1" i="0">
                          <a:solidFill>
                            <a:srgbClr val="FFFFFF"/>
                          </a:solidFill>
                          <a:latin typeface="Calibri"/>
                        </a:rPr>
                        <a:t>Comparison</a:t>
                      </a:r>
                    </a:p>
                  </a:txBody>
                  <a:tcPr marL="54864" marR="54864" marT="22860" marB="22860" anchor="ctr">
                    <a:solidFill>
                      <a:srgbClr val="4D5563"/>
                    </a:solidFill>
                  </a:tcPr>
                </a:tc>
                <a:tc>
                  <a:txBody>
                    <a:bodyPr wrap="square"/>
                    <a:lstStyle/>
                    <a:p>
                      <a:pPr algn="l"/>
                      <a:r>
                        <a:rPr sz="1150" b="1" i="0">
                          <a:solidFill>
                            <a:srgbClr val="FFFFFF"/>
                          </a:solidFill>
                          <a:latin typeface="Calibri"/>
                        </a:rPr>
                        <a:t>What is compared</a:t>
                      </a:r>
                    </a:p>
                  </a:txBody>
                  <a:tcPr marL="54864" marR="54864" marT="22860" marB="22860" anchor="ctr">
                    <a:solidFill>
                      <a:srgbClr val="4D5563"/>
                    </a:solidFill>
                  </a:tcPr>
                </a:tc>
                <a:tc>
                  <a:txBody>
                    <a:bodyPr wrap="square"/>
                    <a:lstStyle/>
                    <a:p>
                      <a:pPr algn="r"/>
                      <a:r>
                        <a:rPr sz="1150" b="1" i="0">
                          <a:solidFill>
                            <a:srgbClr val="FFFFFF"/>
                          </a:solidFill>
                          <a:latin typeface="Calibri"/>
                        </a:rPr>
                        <a:t>n</a:t>
                      </a:r>
                    </a:p>
                  </a:txBody>
                  <a:tcPr marL="54864" marR="54864" marT="22860" marB="22860" anchor="ctr">
                    <a:solidFill>
                      <a:srgbClr val="4D5563"/>
                    </a:solidFill>
                  </a:tcPr>
                </a:tc>
                <a:tc>
                  <a:txBody>
                    <a:bodyPr wrap="square"/>
                    <a:lstStyle/>
                    <a:p>
                      <a:pPr algn="r"/>
                      <a:r>
                        <a:rPr sz="1150" b="1" i="0">
                          <a:solidFill>
                            <a:srgbClr val="FFFFFF"/>
                          </a:solidFill>
                          <a:latin typeface="Calibri"/>
                        </a:rPr>
                        <a:t>rms</a:t>
                      </a:r>
                    </a:p>
                  </a:txBody>
                  <a:tcPr marL="54864" marR="54864" marT="22860" marB="22860" anchor="ctr">
                    <a:solidFill>
                      <a:srgbClr val="4D5563"/>
                    </a:solidFill>
                  </a:tcPr>
                </a:tc>
                <a:tc>
                  <a:txBody>
                    <a:bodyPr wrap="square"/>
                    <a:lstStyle/>
                    <a:p>
                      <a:pPr algn="r"/>
                      <a:r>
                        <a:rPr sz="1150" b="1" i="0">
                          <a:solidFill>
                            <a:srgbClr val="FFFFFF"/>
                          </a:solidFill>
                          <a:latin typeface="Calibri"/>
                        </a:rPr>
                        <a:t>worst</a:t>
                      </a:r>
                    </a:p>
                  </a:txBody>
                  <a:tcPr marL="54864" marR="54864" marT="22860" marB="22860" anchor="ctr">
                    <a:solidFill>
                      <a:srgbClr val="4D5563"/>
                    </a:solidFill>
                  </a:tcPr>
                </a:tc>
              </a:tr>
              <a:tr h="274320">
                <a:tc>
                  <a:txBody>
                    <a:bodyPr wrap="square"/>
                    <a:lstStyle/>
                    <a:p>
                      <a:pPr algn="l"/>
                      <a:r>
                        <a:rPr sz="1150" b="1" i="0">
                          <a:solidFill>
                            <a:srgbClr val="14171C"/>
                          </a:solidFill>
                          <a:latin typeface="Calibri"/>
                        </a:rPr>
                        <a:t>Table B.1, open loop</a:t>
                      </a:r>
                    </a:p>
                  </a:txBody>
                  <a:tcPr marL="54864" marR="54864" marT="22860" marB="22860" anchor="ctr">
                    <a:solidFill>
                      <a:srgbClr val="FFFFFF"/>
                    </a:solidFill>
                  </a:tcPr>
                </a:tc>
                <a:tc>
                  <a:txBody>
                    <a:bodyPr wrap="square"/>
                    <a:lstStyle/>
                    <a:p>
                      <a:pPr algn="l"/>
                      <a:r>
                        <a:rPr sz="1150" b="0" i="0">
                          <a:solidFill>
                            <a:srgbClr val="14171C"/>
                          </a:solidFill>
                          <a:latin typeface="Calibri"/>
                        </a:rPr>
                        <a:t>printed engine state at three trims</a:t>
                      </a:r>
                    </a:p>
                  </a:txBody>
                  <a:tcPr marL="54864" marR="54864" marT="22860" marB="22860" anchor="ctr">
                    <a:solidFill>
                      <a:srgbClr val="FFFFFF"/>
                    </a:solidFill>
                  </a:tcPr>
                </a:tc>
                <a:tc>
                  <a:txBody>
                    <a:bodyPr wrap="square"/>
                    <a:lstStyle/>
                    <a:p>
                      <a:pPr algn="r"/>
                      <a:r>
                        <a:rPr sz="1150" b="0" i="0">
                          <a:solidFill>
                            <a:srgbClr val="14171C"/>
                          </a:solidFill>
                          <a:latin typeface="Calibri"/>
                        </a:rPr>
                        <a:t>21</a:t>
                      </a:r>
                    </a:p>
                  </a:txBody>
                  <a:tcPr marL="54864" marR="54864" marT="22860" marB="22860" anchor="ctr">
                    <a:solidFill>
                      <a:srgbClr val="FFFFFF"/>
                    </a:solidFill>
                  </a:tcPr>
                </a:tc>
                <a:tc>
                  <a:txBody>
                    <a:bodyPr wrap="square"/>
                    <a:lstStyle/>
                    <a:p>
                      <a:pPr algn="r"/>
                      <a:r>
                        <a:rPr sz="1150" b="0" i="0">
                          <a:solidFill>
                            <a:srgbClr val="14171C"/>
                          </a:solidFill>
                          <a:latin typeface="Calibri"/>
                        </a:rPr>
                        <a:t>0.22 %</a:t>
                      </a:r>
                    </a:p>
                  </a:txBody>
                  <a:tcPr marL="54864" marR="54864" marT="22860" marB="22860" anchor="ctr">
                    <a:solidFill>
                      <a:srgbClr val="FFFFFF"/>
                    </a:solidFill>
                  </a:tcPr>
                </a:tc>
                <a:tc>
                  <a:txBody>
                    <a:bodyPr wrap="square"/>
                    <a:lstStyle/>
                    <a:p>
                      <a:pPr algn="r"/>
                      <a:r>
                        <a:rPr sz="1150" b="0" i="0">
                          <a:solidFill>
                            <a:srgbClr val="14171C"/>
                          </a:solidFill>
                          <a:latin typeface="Calibri"/>
                        </a:rPr>
                        <a:t>−0.81 %</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Table B.1, closed loop</a:t>
                      </a:r>
                    </a:p>
                  </a:txBody>
                  <a:tcPr marL="54864" marR="54864" marT="22860" marB="22860" anchor="ctr">
                    <a:solidFill>
                      <a:srgbClr val="F2F3F5"/>
                    </a:solidFill>
                  </a:tcPr>
                </a:tc>
                <a:tc>
                  <a:txBody>
                    <a:bodyPr wrap="square"/>
                    <a:lstStyle/>
                    <a:p>
                      <a:pPr algn="l"/>
                      <a:r>
                        <a:rPr sz="1150" b="0" i="0">
                          <a:solidFill>
                            <a:srgbClr val="14171C"/>
                          </a:solidFill>
                          <a:latin typeface="Calibri"/>
                        </a:rPr>
                        <a:t>NG, NP, Wf, Ps3 and shaft power, fuel an output</a:t>
                      </a:r>
                    </a:p>
                  </a:txBody>
                  <a:tcPr marL="54864" marR="54864" marT="22860" marB="22860" anchor="ctr">
                    <a:solidFill>
                      <a:srgbClr val="F2F3F5"/>
                    </a:solidFill>
                  </a:tcPr>
                </a:tc>
                <a:tc>
                  <a:txBody>
                    <a:bodyPr wrap="square"/>
                    <a:lstStyle/>
                    <a:p>
                      <a:pPr algn="r"/>
                      <a:r>
                        <a:rPr sz="1150" b="0" i="0">
                          <a:solidFill>
                            <a:srgbClr val="14171C"/>
                          </a:solidFill>
                          <a:latin typeface="Calibri"/>
                        </a:rPr>
                        <a:t>15</a:t>
                      </a:r>
                    </a:p>
                  </a:txBody>
                  <a:tcPr marL="54864" marR="54864" marT="22860" marB="22860" anchor="ctr">
                    <a:solidFill>
                      <a:srgbClr val="F2F3F5"/>
                    </a:solidFill>
                  </a:tcPr>
                </a:tc>
                <a:tc>
                  <a:txBody>
                    <a:bodyPr wrap="square"/>
                    <a:lstStyle/>
                    <a:p>
                      <a:pPr algn="r"/>
                      <a:r>
                        <a:rPr sz="1150" b="0" i="0">
                          <a:solidFill>
                            <a:srgbClr val="14171C"/>
                          </a:solidFill>
                          <a:latin typeface="Calibri"/>
                        </a:rPr>
                        <a:t>0.08 %</a:t>
                      </a:r>
                    </a:p>
                  </a:txBody>
                  <a:tcPr marL="54864" marR="54864" marT="22860" marB="22860" anchor="ctr">
                    <a:solidFill>
                      <a:srgbClr val="F2F3F5"/>
                    </a:solidFill>
                  </a:tcPr>
                </a:tc>
                <a:tc>
                  <a:txBody>
                    <a:bodyPr wrap="square"/>
                    <a:lstStyle/>
                    <a:p>
                      <a:pPr algn="r"/>
                      <a:r>
                        <a:rPr sz="1150" b="0" i="0">
                          <a:solidFill>
                            <a:srgbClr val="14171C"/>
                          </a:solidFill>
                          <a:latin typeface="Calibri"/>
                        </a:rPr>
                        <a:t>+0.25 %</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Figure 6</a:t>
                      </a:r>
                    </a:p>
                  </a:txBody>
                  <a:tcPr marL="54864" marR="54864" marT="22860" marB="22860" anchor="ctr">
                    <a:solidFill>
                      <a:srgbClr val="FFFFFF"/>
                    </a:solidFill>
                  </a:tcPr>
                </a:tc>
                <a:tc>
                  <a:txBody>
                    <a:bodyPr wrap="square"/>
                    <a:lstStyle/>
                    <a:p>
                      <a:pPr algn="l"/>
                      <a:r>
                        <a:rPr sz="1150" b="0" i="0">
                          <a:solidFill>
                            <a:srgbClr val="14171C"/>
                          </a:solidFill>
                          <a:latin typeface="Calibri"/>
                        </a:rPr>
                        <a:t>NG against fuel flow (in %NG points)</a:t>
                      </a:r>
                    </a:p>
                  </a:txBody>
                  <a:tcPr marL="54864" marR="54864" marT="22860" marB="22860" anchor="ctr">
                    <a:solidFill>
                      <a:srgbClr val="FFFFFF"/>
                    </a:solidFill>
                  </a:tcPr>
                </a:tc>
                <a:tc>
                  <a:txBody>
                    <a:bodyPr wrap="square"/>
                    <a:lstStyle/>
                    <a:p>
                      <a:pPr algn="r"/>
                      <a:r>
                        <a:rPr sz="1150" b="0" i="0">
                          <a:solidFill>
                            <a:srgbClr val="14171C"/>
                          </a:solidFill>
                          <a:latin typeface="Calibri"/>
                        </a:rPr>
                        <a:t>31</a:t>
                      </a:r>
                    </a:p>
                  </a:txBody>
                  <a:tcPr marL="54864" marR="54864" marT="22860" marB="22860" anchor="ctr">
                    <a:solidFill>
                      <a:srgbClr val="FFFFFF"/>
                    </a:solidFill>
                  </a:tcPr>
                </a:tc>
                <a:tc>
                  <a:txBody>
                    <a:bodyPr wrap="square"/>
                    <a:lstStyle/>
                    <a:p>
                      <a:pPr algn="r"/>
                      <a:r>
                        <a:rPr sz="1150" b="0" i="0">
                          <a:solidFill>
                            <a:srgbClr val="14171C"/>
                          </a:solidFill>
                          <a:latin typeface="Calibri"/>
                        </a:rPr>
                        <a:t>0.07</a:t>
                      </a:r>
                    </a:p>
                  </a:txBody>
                  <a:tcPr marL="54864" marR="54864" marT="22860" marB="22860" anchor="ctr">
                    <a:solidFill>
                      <a:srgbClr val="FFFFFF"/>
                    </a:solidFill>
                  </a:tcPr>
                </a:tc>
                <a:tc>
                  <a:txBody>
                    <a:bodyPr wrap="square"/>
                    <a:lstStyle/>
                    <a:p>
                      <a:pPr algn="r"/>
                      <a:r>
                        <a:rPr sz="1150" b="0" i="0">
                          <a:solidFill>
                            <a:srgbClr val="14171C"/>
                          </a:solidFill>
                          <a:latin typeface="Calibri"/>
                        </a:rPr>
                        <a:t>−0.23</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Figure 7</a:t>
                      </a:r>
                    </a:p>
                  </a:txBody>
                  <a:tcPr marL="54864" marR="54864" marT="22860" marB="22860" anchor="ctr">
                    <a:solidFill>
                      <a:srgbClr val="F2F3F5"/>
                    </a:solidFill>
                  </a:tcPr>
                </a:tc>
                <a:tc>
                  <a:txBody>
                    <a:bodyPr wrap="square"/>
                    <a:lstStyle/>
                    <a:p>
                      <a:pPr algn="l"/>
                      <a:r>
                        <a:rPr sz="1150" b="0" i="0">
                          <a:solidFill>
                            <a:srgbClr val="14171C"/>
                          </a:solidFill>
                          <a:latin typeface="Calibri"/>
                        </a:rPr>
                        <a:t>shaft power against fuel flow (in shp)</a:t>
                      </a:r>
                    </a:p>
                  </a:txBody>
                  <a:tcPr marL="54864" marR="54864" marT="22860" marB="22860" anchor="ctr">
                    <a:solidFill>
                      <a:srgbClr val="F2F3F5"/>
                    </a:solidFill>
                  </a:tcPr>
                </a:tc>
                <a:tc>
                  <a:txBody>
                    <a:bodyPr wrap="square"/>
                    <a:lstStyle/>
                    <a:p>
                      <a:pPr algn="r"/>
                      <a:r>
                        <a:rPr sz="1150" b="0" i="0">
                          <a:solidFill>
                            <a:srgbClr val="14171C"/>
                          </a:solidFill>
                          <a:latin typeface="Calibri"/>
                        </a:rPr>
                        <a:t>25</a:t>
                      </a:r>
                    </a:p>
                  </a:txBody>
                  <a:tcPr marL="54864" marR="54864" marT="22860" marB="22860" anchor="ctr">
                    <a:solidFill>
                      <a:srgbClr val="F2F3F5"/>
                    </a:solidFill>
                  </a:tcPr>
                </a:tc>
                <a:tc>
                  <a:txBody>
                    <a:bodyPr wrap="square"/>
                    <a:lstStyle/>
                    <a:p>
                      <a:pPr algn="r"/>
                      <a:r>
                        <a:rPr sz="1150" b="0" i="0">
                          <a:solidFill>
                            <a:srgbClr val="14171C"/>
                          </a:solidFill>
                          <a:latin typeface="Calibri"/>
                        </a:rPr>
                        <a:t>1.81 shp</a:t>
                      </a:r>
                    </a:p>
                  </a:txBody>
                  <a:tcPr marL="54864" marR="54864" marT="22860" marB="22860" anchor="ctr">
                    <a:solidFill>
                      <a:srgbClr val="F2F3F5"/>
                    </a:solidFill>
                  </a:tcPr>
                </a:tc>
                <a:tc>
                  <a:txBody>
                    <a:bodyPr wrap="square"/>
                    <a:lstStyle/>
                    <a:p>
                      <a:pPr algn="r"/>
                      <a:r>
                        <a:rPr sz="1150" b="0" i="0">
                          <a:solidFill>
                            <a:srgbClr val="14171C"/>
                          </a:solidFill>
                          <a:latin typeface="Calibri"/>
                        </a:rPr>
                        <a:t>+5.16 shp</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Figure 8</a:t>
                      </a:r>
                    </a:p>
                  </a:txBody>
                  <a:tcPr marL="54864" marR="54864" marT="22860" marB="22860" anchor="ctr">
                    <a:solidFill>
                      <a:srgbClr val="FFFFFF"/>
                    </a:solidFill>
                  </a:tcPr>
                </a:tc>
                <a:tc>
                  <a:txBody>
                    <a:bodyPr wrap="square"/>
                    <a:lstStyle/>
                    <a:p>
                      <a:pPr algn="l"/>
                      <a:r>
                        <a:rPr sz="1150" b="0" i="0">
                          <a:solidFill>
                            <a:srgbClr val="14171C"/>
                          </a:solidFill>
                          <a:latin typeface="Calibri"/>
                        </a:rPr>
                        <a:t>Ps3 against NG</a:t>
                      </a:r>
                    </a:p>
                  </a:txBody>
                  <a:tcPr marL="54864" marR="54864" marT="22860" marB="22860" anchor="ctr">
                    <a:solidFill>
                      <a:srgbClr val="FFFFFF"/>
                    </a:solidFill>
                  </a:tcPr>
                </a:tc>
                <a:tc>
                  <a:txBody>
                    <a:bodyPr wrap="square"/>
                    <a:lstStyle/>
                    <a:p>
                      <a:pPr algn="r"/>
                      <a:r>
                        <a:rPr sz="1150" b="0" i="0">
                          <a:solidFill>
                            <a:srgbClr val="14171C"/>
                          </a:solidFill>
                          <a:latin typeface="Calibri"/>
                        </a:rPr>
                        <a:t>31</a:t>
                      </a:r>
                    </a:p>
                  </a:txBody>
                  <a:tcPr marL="54864" marR="54864" marT="22860" marB="22860" anchor="ctr">
                    <a:solidFill>
                      <a:srgbClr val="FFFFFF"/>
                    </a:solidFill>
                  </a:tcPr>
                </a:tc>
                <a:tc>
                  <a:txBody>
                    <a:bodyPr wrap="square"/>
                    <a:lstStyle/>
                    <a:p>
                      <a:pPr algn="r"/>
                      <a:r>
                        <a:rPr sz="1150" b="0" i="0">
                          <a:solidFill>
                            <a:srgbClr val="14171C"/>
                          </a:solidFill>
                          <a:latin typeface="Calibri"/>
                        </a:rPr>
                        <a:t>0.22 %</a:t>
                      </a:r>
                    </a:p>
                  </a:txBody>
                  <a:tcPr marL="54864" marR="54864" marT="22860" marB="22860" anchor="ctr">
                    <a:solidFill>
                      <a:srgbClr val="FFFFFF"/>
                    </a:solidFill>
                  </a:tcPr>
                </a:tc>
                <a:tc>
                  <a:txBody>
                    <a:bodyPr wrap="square"/>
                    <a:lstStyle/>
                    <a:p>
                      <a:pPr algn="r"/>
                      <a:r>
                        <a:rPr sz="1150" b="0" i="0">
                          <a:solidFill>
                            <a:srgbClr val="14171C"/>
                          </a:solidFill>
                          <a:latin typeface="Calibri"/>
                        </a:rPr>
                        <a:t>−0.47 %</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Table 3 (characterization)</a:t>
                      </a:r>
                    </a:p>
                  </a:txBody>
                  <a:tcPr marL="54864" marR="54864" marT="22860" marB="22860" anchor="ctr">
                    <a:solidFill>
                      <a:srgbClr val="F2F3F5"/>
                    </a:solidFill>
                  </a:tcPr>
                </a:tc>
                <a:tc>
                  <a:txBody>
                    <a:bodyPr wrap="square"/>
                    <a:lstStyle/>
                    <a:p>
                      <a:pPr algn="l"/>
                      <a:r>
                        <a:rPr sz="1150" b="0" i="0">
                          <a:solidFill>
                            <a:srgbClr val="14171C"/>
                          </a:solidFill>
                          <a:latin typeface="Calibri"/>
                        </a:rPr>
                        <a:t>test engine, cases 2–6, against Ballin's model, which ran other maps</a:t>
                      </a:r>
                    </a:p>
                  </a:txBody>
                  <a:tcPr marL="54864" marR="54864" marT="22860" marB="22860" anchor="ctr">
                    <a:solidFill>
                      <a:srgbClr val="F2F3F5"/>
                    </a:solidFill>
                  </a:tcPr>
                </a:tc>
                <a:tc>
                  <a:txBody>
                    <a:bodyPr wrap="square"/>
                    <a:lstStyle/>
                    <a:p>
                      <a:pPr algn="r"/>
                      <a:r>
                        <a:rPr sz="1150" b="0" i="0">
                          <a:solidFill>
                            <a:srgbClr val="14171C"/>
                          </a:solidFill>
                          <a:latin typeface="Calibri"/>
                        </a:rPr>
                        <a:t>30</a:t>
                      </a:r>
                    </a:p>
                  </a:txBody>
                  <a:tcPr marL="54864" marR="54864" marT="22860" marB="22860" anchor="ctr">
                    <a:solidFill>
                      <a:srgbClr val="F2F3F5"/>
                    </a:solidFill>
                  </a:tcPr>
                </a:tc>
                <a:tc>
                  <a:txBody>
                    <a:bodyPr wrap="square"/>
                    <a:lstStyle/>
                    <a:p>
                      <a:pPr algn="r"/>
                      <a:r>
                        <a:rPr sz="1150" b="0" i="0">
                          <a:solidFill>
                            <a:srgbClr val="14171C"/>
                          </a:solidFill>
                          <a:latin typeface="Calibri"/>
                        </a:rPr>
                        <a:t>7.7 %</a:t>
                      </a:r>
                    </a:p>
                  </a:txBody>
                  <a:tcPr marL="54864" marR="54864" marT="22860" marB="22860" anchor="ctr">
                    <a:solidFill>
                      <a:srgbClr val="F2F3F5"/>
                    </a:solidFill>
                  </a:tcPr>
                </a:tc>
                <a:tc>
                  <a:txBody>
                    <a:bodyPr wrap="square"/>
                    <a:lstStyle/>
                    <a:p>
                      <a:pPr algn="r"/>
                      <a:r>
                        <a:rPr sz="1150" b="0" i="0">
                          <a:solidFill>
                            <a:srgbClr val="14171C"/>
                          </a:solidFill>
                          <a:latin typeface="Calibri"/>
                        </a:rPr>
                        <a:t>+13.4 %</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Figure 9, fuel step</a:t>
                      </a:r>
                    </a:p>
                  </a:txBody>
                  <a:tcPr marL="54864" marR="54864" marT="22860" marB="22860" anchor="ctr">
                    <a:solidFill>
                      <a:srgbClr val="FFFFFF"/>
                    </a:solidFill>
                  </a:tcPr>
                </a:tc>
                <a:tc>
                  <a:txBody>
                    <a:bodyPr wrap="square"/>
                    <a:lstStyle/>
                    <a:p>
                      <a:pPr algn="l"/>
                      <a:r>
                        <a:rPr sz="1150" b="0" i="0">
                          <a:solidFill>
                            <a:srgbClr val="14171C"/>
                          </a:solidFill>
                          <a:latin typeface="Calibri"/>
                        </a:rPr>
                        <a:t>whole curve, five panels, % of each panel's change</a:t>
                      </a:r>
                    </a:p>
                  </a:txBody>
                  <a:tcPr marL="54864" marR="54864" marT="22860" marB="22860" anchor="ctr">
                    <a:solidFill>
                      <a:srgbClr val="FFFFFF"/>
                    </a:solidFill>
                  </a:tcPr>
                </a:tc>
                <a:tc>
                  <a:txBody>
                    <a:bodyPr wrap="square"/>
                    <a:lstStyle/>
                    <a:p>
                      <a:pPr algn="r"/>
                      <a:r>
                        <a:rPr sz="1150" b="0" i="0">
                          <a:solidFill>
                            <a:srgbClr val="14171C"/>
                          </a:solidFill>
                          <a:latin typeface="Calibri"/>
                        </a:rPr>
                        <a:t>5</a:t>
                      </a:r>
                    </a:p>
                  </a:txBody>
                  <a:tcPr marL="54864" marR="54864" marT="22860" marB="22860" anchor="ctr">
                    <a:solidFill>
                      <a:srgbClr val="FFFFFF"/>
                    </a:solidFill>
                  </a:tcPr>
                </a:tc>
                <a:tc>
                  <a:txBody>
                    <a:bodyPr wrap="square"/>
                    <a:lstStyle/>
                    <a:p>
                      <a:pPr algn="r"/>
                      <a:r>
                        <a:rPr sz="1150" b="0" i="0">
                          <a:solidFill>
                            <a:srgbClr val="14171C"/>
                          </a:solidFill>
                          <a:latin typeface="Calibri"/>
                        </a:rPr>
                        <a:t>0.6–1.4 %</a:t>
                      </a:r>
                    </a:p>
                  </a:txBody>
                  <a:tcPr marL="54864" marR="54864" marT="22860" marB="22860" anchor="ctr">
                    <a:solidFill>
                      <a:srgbClr val="FFFFFF"/>
                    </a:solidFill>
                  </a:tcPr>
                </a:tc>
                <a:tc>
                  <a:txBody>
                    <a:bodyPr wrap="square"/>
                    <a:lstStyle/>
                    <a:p>
                      <a:pPr algn="r"/>
                      <a:r>
                        <a:rPr sz="1150" b="0" i="0">
                          <a:solidFill>
                            <a:srgbClr val="14171C"/>
                          </a:solidFill>
                          <a:latin typeface="Calibri"/>
                        </a:rPr>
                        <a:t>—</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Figure 10, fuel chop</a:t>
                      </a:r>
                    </a:p>
                  </a:txBody>
                  <a:tcPr marL="54864" marR="54864" marT="22860" marB="22860" anchor="ctr">
                    <a:solidFill>
                      <a:srgbClr val="F2F3F5"/>
                    </a:solidFill>
                  </a:tcPr>
                </a:tc>
                <a:tc>
                  <a:txBody>
                    <a:bodyPr wrap="square"/>
                    <a:lstStyle/>
                    <a:p>
                      <a:pPr algn="l"/>
                      <a:r>
                        <a:rPr sz="1150" b="0" i="0">
                          <a:solidFill>
                            <a:srgbClr val="14171C"/>
                          </a:solidFill>
                          <a:latin typeface="Calibri"/>
                        </a:rPr>
                        <a:t>whole curve, five panels, % of each panel's change</a:t>
                      </a:r>
                    </a:p>
                  </a:txBody>
                  <a:tcPr marL="54864" marR="54864" marT="22860" marB="22860" anchor="ctr">
                    <a:solidFill>
                      <a:srgbClr val="F2F3F5"/>
                    </a:solidFill>
                  </a:tcPr>
                </a:tc>
                <a:tc>
                  <a:txBody>
                    <a:bodyPr wrap="square"/>
                    <a:lstStyle/>
                    <a:p>
                      <a:pPr algn="r"/>
                      <a:r>
                        <a:rPr sz="1150" b="0" i="0">
                          <a:solidFill>
                            <a:srgbClr val="14171C"/>
                          </a:solidFill>
                          <a:latin typeface="Calibri"/>
                        </a:rPr>
                        <a:t>5</a:t>
                      </a:r>
                    </a:p>
                  </a:txBody>
                  <a:tcPr marL="54864" marR="54864" marT="22860" marB="22860" anchor="ctr">
                    <a:solidFill>
                      <a:srgbClr val="F2F3F5"/>
                    </a:solidFill>
                  </a:tcPr>
                </a:tc>
                <a:tc>
                  <a:txBody>
                    <a:bodyPr wrap="square"/>
                    <a:lstStyle/>
                    <a:p>
                      <a:pPr algn="r"/>
                      <a:r>
                        <a:rPr sz="1150" b="0" i="0">
                          <a:solidFill>
                            <a:srgbClr val="14171C"/>
                          </a:solidFill>
                          <a:latin typeface="Calibri"/>
                        </a:rPr>
                        <a:t>1.4–3.8 %</a:t>
                      </a:r>
                    </a:p>
                  </a:txBody>
                  <a:tcPr marL="54864" marR="54864" marT="22860" marB="22860" anchor="ctr">
                    <a:solidFill>
                      <a:srgbClr val="F2F3F5"/>
                    </a:solidFill>
                  </a:tcPr>
                </a:tc>
                <a:tc>
                  <a:txBody>
                    <a:bodyPr wrap="square"/>
                    <a:lstStyle/>
                    <a:p>
                      <a:pPr algn="r"/>
                      <a:r>
                        <a:rPr sz="1150" b="0" i="0">
                          <a:solidFill>
                            <a:srgbClr val="14171C"/>
                          </a:solidFill>
                          <a:latin typeface="Calibri"/>
                        </a:rPr>
                        <a:t>—</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Figures 11–15 (closed loop)</a:t>
                      </a:r>
                    </a:p>
                  </a:txBody>
                  <a:tcPr marL="54864" marR="54864" marT="22860" marB="22860" anchor="ctr">
                    <a:solidFill>
                      <a:srgbClr val="FFFFFF"/>
                    </a:solidFill>
                  </a:tcPr>
                </a:tc>
                <a:tc>
                  <a:txBody>
                    <a:bodyPr wrap="square"/>
                    <a:lstStyle/>
                    <a:p>
                      <a:pPr algn="l"/>
                      <a:r>
                        <a:rPr sz="1150" b="0" i="0">
                          <a:solidFill>
                            <a:srgbClr val="14171C"/>
                          </a:solidFill>
                          <a:latin typeface="Calibri"/>
                        </a:rPr>
                        <a:t>his rotor speed imposed, or our rotor free; % or % of trim</a:t>
                      </a:r>
                    </a:p>
                  </a:txBody>
                  <a:tcPr marL="54864" marR="54864" marT="22860" marB="22860" anchor="ctr">
                    <a:solidFill>
                      <a:srgbClr val="FFFFFF"/>
                    </a:solidFill>
                  </a:tcPr>
                </a:tc>
                <a:tc>
                  <a:txBody>
                    <a:bodyPr wrap="square"/>
                    <a:lstStyle/>
                    <a:p>
                      <a:pPr algn="r"/>
                      <a:r>
                        <a:rPr sz="1150" b="0" i="0">
                          <a:solidFill>
                            <a:srgbClr val="14171C"/>
                          </a:solidFill>
                          <a:latin typeface="Calibri"/>
                        </a:rPr>
                        <a:t>25</a:t>
                      </a:r>
                    </a:p>
                  </a:txBody>
                  <a:tcPr marL="54864" marR="54864" marT="22860" marB="22860" anchor="ctr">
                    <a:solidFill>
                      <a:srgbClr val="FFFFFF"/>
                    </a:solidFill>
                  </a:tcPr>
                </a:tc>
                <a:tc>
                  <a:txBody>
                    <a:bodyPr wrap="square"/>
                    <a:lstStyle/>
                    <a:p>
                      <a:pPr algn="r"/>
                      <a:r>
                        <a:rPr sz="1150" b="0" i="0">
                          <a:solidFill>
                            <a:srgbClr val="14171C"/>
                          </a:solidFill>
                          <a:latin typeface="Calibri"/>
                        </a:rPr>
                        <a:t>0.02–3.2 %</a:t>
                      </a:r>
                    </a:p>
                  </a:txBody>
                  <a:tcPr marL="54864" marR="54864" marT="22860" marB="22860" anchor="ctr">
                    <a:solidFill>
                      <a:srgbClr val="FFFFFF"/>
                    </a:solidFill>
                  </a:tcPr>
                </a:tc>
                <a:tc>
                  <a:txBody>
                    <a:bodyPr wrap="square"/>
                    <a:lstStyle/>
                    <a:p>
                      <a:pPr algn="r"/>
                      <a:r>
                        <a:rPr sz="1150" b="0" i="0">
                          <a:solidFill>
                            <a:srgbClr val="14171C"/>
                          </a:solidFill>
                          <a:latin typeface="Calibri"/>
                        </a:rPr>
                        <a:t>—</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Table 1</a:t>
                      </a:r>
                    </a:p>
                  </a:txBody>
                  <a:tcPr marL="54864" marR="54864" marT="22860" marB="22860" anchor="ctr">
                    <a:solidFill>
                      <a:srgbClr val="F2F3F5"/>
                    </a:solidFill>
                  </a:tcPr>
                </a:tc>
                <a:tc>
                  <a:txBody>
                    <a:bodyPr wrap="square"/>
                    <a:lstStyle/>
                    <a:p>
                      <a:pPr algn="l"/>
                      <a:r>
                        <a:rPr sz="1150" b="0" i="0">
                          <a:solidFill>
                            <a:srgbClr val="14171C"/>
                          </a:solidFill>
                          <a:latin typeface="Calibri"/>
                        </a:rPr>
                        <a:t>printed eigenvalues: NG, P3, P41, P45 modes</a:t>
                      </a:r>
                    </a:p>
                  </a:txBody>
                  <a:tcPr marL="54864" marR="54864" marT="22860" marB="22860" anchor="ctr">
                    <a:solidFill>
                      <a:srgbClr val="F2F3F5"/>
                    </a:solidFill>
                  </a:tcPr>
                </a:tc>
                <a:tc>
                  <a:txBody>
                    <a:bodyPr wrap="square"/>
                    <a:lstStyle/>
                    <a:p>
                      <a:pPr algn="r"/>
                      <a:r>
                        <a:rPr sz="1150" b="0" i="0">
                          <a:solidFill>
                            <a:srgbClr val="14171C"/>
                          </a:solidFill>
                          <a:latin typeface="Calibri"/>
                        </a:rPr>
                        <a:t>18</a:t>
                      </a:r>
                    </a:p>
                  </a:txBody>
                  <a:tcPr marL="54864" marR="54864" marT="22860" marB="22860" anchor="ctr">
                    <a:solidFill>
                      <a:srgbClr val="F2F3F5"/>
                    </a:solidFill>
                  </a:tcPr>
                </a:tc>
                <a:tc>
                  <a:txBody>
                    <a:bodyPr wrap="square"/>
                    <a:lstStyle/>
                    <a:p>
                      <a:pPr algn="r"/>
                      <a:r>
                        <a:rPr sz="1150" b="0" i="0">
                          <a:solidFill>
                            <a:srgbClr val="14171C"/>
                          </a:solidFill>
                          <a:latin typeface="Calibri"/>
                        </a:rPr>
                        <a:t>2.37 %</a:t>
                      </a:r>
                    </a:p>
                  </a:txBody>
                  <a:tcPr marL="54864" marR="54864" marT="22860" marB="22860" anchor="ctr">
                    <a:solidFill>
                      <a:srgbClr val="F2F3F5"/>
                    </a:solidFill>
                  </a:tcPr>
                </a:tc>
                <a:tc>
                  <a:txBody>
                    <a:bodyPr wrap="square"/>
                    <a:lstStyle/>
                    <a:p>
                      <a:pPr algn="r"/>
                      <a:r>
                        <a:rPr sz="1150" b="0" i="0">
                          <a:solidFill>
                            <a:srgbClr val="14171C"/>
                          </a:solidFill>
                          <a:latin typeface="Calibri"/>
                        </a:rPr>
                        <a:t>+4.70 %</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Table 1, NP mode</a:t>
                      </a:r>
                    </a:p>
                  </a:txBody>
                  <a:tcPr marL="54864" marR="54864" marT="22860" marB="22860" anchor="ctr">
                    <a:solidFill>
                      <a:srgbClr val="FFFFFF"/>
                    </a:solidFill>
                  </a:tcPr>
                </a:tc>
                <a:tc>
                  <a:txBody>
                    <a:bodyPr wrap="square"/>
                    <a:lstStyle/>
                    <a:p>
                      <a:pPr algn="l"/>
                      <a:r>
                        <a:rPr sz="1150" b="0" i="0">
                          <a:solidFill>
                            <a:srgbClr val="14171C"/>
                          </a:solidFill>
                          <a:latin typeface="Calibri"/>
                        </a:rPr>
                        <a:t>supplied from Appendix B (slide 33): not a test</a:t>
                      </a:r>
                    </a:p>
                  </a:txBody>
                  <a:tcPr marL="54864" marR="54864" marT="22860" marB="22860" anchor="ctr">
                    <a:solidFill>
                      <a:srgbClr val="FFFFFF"/>
                    </a:solidFill>
                  </a:tcPr>
                </a:tc>
                <a:tc>
                  <a:txBody>
                    <a:bodyPr wrap="square"/>
                    <a:lstStyle/>
                    <a:p>
                      <a:pPr algn="r"/>
                      <a:r>
                        <a:rPr sz="1150" b="0" i="0">
                          <a:solidFill>
                            <a:srgbClr val="14171C"/>
                          </a:solidFill>
                          <a:latin typeface="Calibri"/>
                        </a:rPr>
                        <a:t>9</a:t>
                      </a:r>
                    </a:p>
                  </a:txBody>
                  <a:tcPr marL="54864" marR="54864" marT="22860" marB="22860" anchor="ctr">
                    <a:solidFill>
                      <a:srgbClr val="FFFFFF"/>
                    </a:solidFill>
                  </a:tcPr>
                </a:tc>
                <a:tc>
                  <a:txBody>
                    <a:bodyPr wrap="square"/>
                    <a:lstStyle/>
                    <a:p>
                      <a:pPr algn="r"/>
                      <a:r>
                        <a:rPr sz="1150" b="0" i="0">
                          <a:solidFill>
                            <a:srgbClr val="14171C"/>
                          </a:solidFill>
                          <a:latin typeface="Calibri"/>
                        </a:rPr>
                        <a:t>—</a:t>
                      </a:r>
                    </a:p>
                  </a:txBody>
                  <a:tcPr marL="54864" marR="54864" marT="22860" marB="22860" anchor="ctr">
                    <a:solidFill>
                      <a:srgbClr val="FFFFFF"/>
                    </a:solidFill>
                  </a:tcPr>
                </a:tc>
                <a:tc>
                  <a:txBody>
                    <a:bodyPr wrap="square"/>
                    <a:lstStyle/>
                    <a:p>
                      <a:pPr algn="r"/>
                      <a:r>
                        <a:rPr sz="1150" b="0" i="0">
                          <a:solidFill>
                            <a:srgbClr val="14171C"/>
                          </a:solidFill>
                          <a:latin typeface="Calibri"/>
                        </a:rPr>
                        <a:t>—</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Appendix B, A</a:t>
                      </a:r>
                    </a:p>
                  </a:txBody>
                  <a:tcPr marL="54864" marR="54864" marT="22860" marB="22860" anchor="ctr">
                    <a:solidFill>
                      <a:srgbClr val="F2F3F5"/>
                    </a:solidFill>
                  </a:tcPr>
                </a:tc>
                <a:tc>
                  <a:txBody>
                    <a:bodyPr wrap="square"/>
                    <a:lstStyle/>
                    <a:p>
                      <a:pPr algn="l"/>
                      <a:r>
                        <a:rPr sz="1150" b="0" i="0">
                          <a:solidFill>
                            <a:srgbClr val="14171C"/>
                          </a:solidFill>
                          <a:latin typeface="Calibri"/>
                        </a:rPr>
                        <a:t>printed state-matrix elements, NP diagonal excluded</a:t>
                      </a:r>
                    </a:p>
                  </a:txBody>
                  <a:tcPr marL="54864" marR="54864" marT="22860" marB="22860" anchor="ctr">
                    <a:solidFill>
                      <a:srgbClr val="F2F3F5"/>
                    </a:solidFill>
                  </a:tcPr>
                </a:tc>
                <a:tc>
                  <a:txBody>
                    <a:bodyPr wrap="square"/>
                    <a:lstStyle/>
                    <a:p>
                      <a:pPr algn="r"/>
                      <a:r>
                        <a:rPr sz="1150" b="0" i="0">
                          <a:solidFill>
                            <a:srgbClr val="14171C"/>
                          </a:solidFill>
                          <a:latin typeface="Calibri"/>
                        </a:rPr>
                        <a:t>146</a:t>
                      </a:r>
                    </a:p>
                  </a:txBody>
                  <a:tcPr marL="54864" marR="54864" marT="22860" marB="22860" anchor="ctr">
                    <a:solidFill>
                      <a:srgbClr val="F2F3F5"/>
                    </a:solidFill>
                  </a:tcPr>
                </a:tc>
                <a:tc>
                  <a:txBody>
                    <a:bodyPr wrap="square"/>
                    <a:lstStyle/>
                    <a:p>
                      <a:pPr algn="r"/>
                      <a:r>
                        <a:rPr sz="1150" b="0" i="0">
                          <a:solidFill>
                            <a:srgbClr val="14171C"/>
                          </a:solidFill>
                          <a:latin typeface="Calibri"/>
                        </a:rPr>
                        <a:t>6.5 %</a:t>
                      </a:r>
                    </a:p>
                  </a:txBody>
                  <a:tcPr marL="54864" marR="54864" marT="22860" marB="22860" anchor="ctr">
                    <a:solidFill>
                      <a:srgbClr val="F2F3F5"/>
                    </a:solidFill>
                  </a:tcPr>
                </a:tc>
                <a:tc>
                  <a:txBody>
                    <a:bodyPr wrap="square"/>
                    <a:lstStyle/>
                    <a:p>
                      <a:pPr algn="r"/>
                      <a:r>
                        <a:rPr sz="1150" b="0" i="0">
                          <a:solidFill>
                            <a:srgbClr val="14171C"/>
                          </a:solidFill>
                          <a:latin typeface="Calibri"/>
                        </a:rPr>
                        <a:t>−33.7 %</a:t>
                      </a:r>
                    </a:p>
                  </a:txBody>
                  <a:tcPr marL="54864" marR="54864" marT="22860" marB="22860" anchor="ctr">
                    <a:solidFill>
                      <a:srgbClr val="F2F3F5"/>
                    </a:solidFill>
                  </a:tcPr>
                </a:tc>
              </a:tr>
              <a:tr h="274320">
                <a:tc>
                  <a:txBody>
                    <a:bodyPr wrap="square"/>
                    <a:lstStyle/>
                    <a:p>
                      <a:pPr algn="l"/>
                      <a:r>
                        <a:rPr sz="1150" b="1" i="0">
                          <a:solidFill>
                            <a:srgbClr val="14171C"/>
                          </a:solidFill>
                          <a:latin typeface="Calibri"/>
                        </a:rPr>
                        <a:t>Appendix B, b</a:t>
                      </a:r>
                    </a:p>
                  </a:txBody>
                  <a:tcPr marL="54864" marR="54864" marT="22860" marB="22860" anchor="ctr">
                    <a:solidFill>
                      <a:srgbClr val="FFFFFF"/>
                    </a:solidFill>
                  </a:tcPr>
                </a:tc>
                <a:tc>
                  <a:txBody>
                    <a:bodyPr wrap="square"/>
                    <a:lstStyle/>
                    <a:p>
                      <a:pPr algn="l"/>
                      <a:r>
                        <a:rPr sz="1150" b="0" i="0">
                          <a:solidFill>
                            <a:srgbClr val="14171C"/>
                          </a:solidFill>
                          <a:latin typeface="Calibri"/>
                        </a:rPr>
                        <a:t>printed fuel-column elements, hover b(NP) excluded</a:t>
                      </a:r>
                    </a:p>
                  </a:txBody>
                  <a:tcPr marL="54864" marR="54864" marT="22860" marB="22860" anchor="ctr">
                    <a:solidFill>
                      <a:srgbClr val="FFFFFF"/>
                    </a:solidFill>
                  </a:tcPr>
                </a:tc>
                <a:tc>
                  <a:txBody>
                    <a:bodyPr wrap="square"/>
                    <a:lstStyle/>
                    <a:p>
                      <a:pPr algn="r"/>
                      <a:r>
                        <a:rPr sz="1150" b="0" i="0">
                          <a:solidFill>
                            <a:srgbClr val="14171C"/>
                          </a:solidFill>
                          <a:latin typeface="Calibri"/>
                        </a:rPr>
                        <a:t>41</a:t>
                      </a:r>
                    </a:p>
                  </a:txBody>
                  <a:tcPr marL="54864" marR="54864" marT="22860" marB="22860" anchor="ctr">
                    <a:solidFill>
                      <a:srgbClr val="FFFFFF"/>
                    </a:solidFill>
                  </a:tcPr>
                </a:tc>
                <a:tc>
                  <a:txBody>
                    <a:bodyPr wrap="square"/>
                    <a:lstStyle/>
                    <a:p>
                      <a:pPr algn="r"/>
                      <a:r>
                        <a:rPr sz="1150" b="0" i="0">
                          <a:solidFill>
                            <a:srgbClr val="14171C"/>
                          </a:solidFill>
                          <a:latin typeface="Calibri"/>
                        </a:rPr>
                        <a:t>6.5 %</a:t>
                      </a:r>
                    </a:p>
                  </a:txBody>
                  <a:tcPr marL="54864" marR="54864" marT="22860" marB="22860" anchor="ctr">
                    <a:solidFill>
                      <a:srgbClr val="FFFFFF"/>
                    </a:solidFill>
                  </a:tcPr>
                </a:tc>
                <a:tc>
                  <a:txBody>
                    <a:bodyPr wrap="square"/>
                    <a:lstStyle/>
                    <a:p>
                      <a:pPr algn="r"/>
                      <a:r>
                        <a:rPr sz="1150" b="0" i="0">
                          <a:solidFill>
                            <a:srgbClr val="14171C"/>
                          </a:solidFill>
                          <a:latin typeface="Calibri"/>
                        </a:rPr>
                        <a:t>+24.3 %</a:t>
                      </a:r>
                    </a:p>
                  </a:txBody>
                  <a:tcPr marL="54864" marR="54864" marT="22860" marB="22860" anchor="ctr">
                    <a:solidFill>
                      <a:srgbClr val="FFFFFF"/>
                    </a:solidFill>
                  </a:tcPr>
                </a:tc>
              </a:tr>
              <a:tr h="274320">
                <a:tc>
                  <a:txBody>
                    <a:bodyPr wrap="square"/>
                    <a:lstStyle/>
                    <a:p>
                      <a:pPr algn="l"/>
                      <a:r>
                        <a:rPr sz="1150" b="1" i="0">
                          <a:solidFill>
                            <a:srgbClr val="14171C"/>
                          </a:solidFill>
                          <a:latin typeface="Calibri"/>
                        </a:rPr>
                        <a:t>Figures 4–5</a:t>
                      </a:r>
                    </a:p>
                  </a:txBody>
                  <a:tcPr marL="54864" marR="54864" marT="22860" marB="22860" anchor="ctr">
                    <a:solidFill>
                      <a:srgbClr val="F2F3F5"/>
                    </a:solidFill>
                  </a:tcPr>
                </a:tc>
                <a:tc>
                  <a:txBody>
                    <a:bodyPr wrap="square"/>
                    <a:lstStyle/>
                    <a:p>
                      <a:pPr algn="l"/>
                      <a:r>
                        <a:rPr sz="1150" b="0" i="0">
                          <a:solidFill>
                            <a:srgbClr val="14171C"/>
                          </a:solidFill>
                          <a:latin typeface="Calibri"/>
                        </a:rPr>
                        <a:t>linear models in time, rms difference from his curves, % of trim</a:t>
                      </a:r>
                    </a:p>
                  </a:txBody>
                  <a:tcPr marL="54864" marR="54864" marT="22860" marB="22860" anchor="ctr">
                    <a:solidFill>
                      <a:srgbClr val="F2F3F5"/>
                    </a:solidFill>
                  </a:tcPr>
                </a:tc>
                <a:tc>
                  <a:txBody>
                    <a:bodyPr wrap="square"/>
                    <a:lstStyle/>
                    <a:p>
                      <a:pPr algn="r"/>
                      <a:r>
                        <a:rPr sz="1150" b="0" i="0">
                          <a:solidFill>
                            <a:srgbClr val="14171C"/>
                          </a:solidFill>
                          <a:latin typeface="Calibri"/>
                        </a:rPr>
                        <a:t>12</a:t>
                      </a:r>
                    </a:p>
                  </a:txBody>
                  <a:tcPr marL="54864" marR="54864" marT="22860" marB="22860" anchor="ctr">
                    <a:solidFill>
                      <a:srgbClr val="F2F3F5"/>
                    </a:solidFill>
                  </a:tcPr>
                </a:tc>
                <a:tc>
                  <a:txBody>
                    <a:bodyPr wrap="square"/>
                    <a:lstStyle/>
                    <a:p>
                      <a:pPr algn="r"/>
                      <a:r>
                        <a:rPr sz="1150" b="0" i="0">
                          <a:solidFill>
                            <a:srgbClr val="14171C"/>
                          </a:solidFill>
                          <a:latin typeface="Calibri"/>
                        </a:rPr>
                        <a:t>0.005–0.045 %</a:t>
                      </a:r>
                    </a:p>
                  </a:txBody>
                  <a:tcPr marL="54864" marR="54864" marT="22860" marB="22860" anchor="ctr">
                    <a:solidFill>
                      <a:srgbClr val="F2F3F5"/>
                    </a:solidFill>
                  </a:tcPr>
                </a:tc>
                <a:tc>
                  <a:txBody>
                    <a:bodyPr wrap="square"/>
                    <a:lstStyle/>
                    <a:p>
                      <a:pPr algn="r"/>
                      <a:r>
                        <a:rPr sz="1150" b="0" i="0">
                          <a:solidFill>
                            <a:srgbClr val="14171C"/>
                          </a:solidFill>
                          <a:latin typeface="Calibri"/>
                        </a:rPr>
                        <a:t>—</a:t>
                      </a:r>
                    </a:p>
                  </a:txBody>
                  <a:tcPr marL="54864" marR="54864" marT="22860" marB="22860" anchor="ctr">
                    <a:solidFill>
                      <a:srgbClr val="F2F3F5"/>
                    </a:solidFill>
                  </a:tcPr>
                </a:tc>
              </a:tr>
            </a:tbl>
          </a:graphicData>
        </a:graphic>
      </p:graphicFrame>
      <p:sp>
        <p:nvSpPr>
          <p:cNvPr id="9" name="TextBox 8"/>
          <p:cNvSpPr txBox="1"/>
          <p:nvPr/>
        </p:nvSpPr>
        <p:spPr>
          <a:xfrm>
            <a:off x="502920" y="5852160"/>
            <a:ext cx="11185855" cy="457200"/>
          </a:xfrm>
          <a:prstGeom prst="rect">
            <a:avLst/>
          </a:prstGeom>
          <a:noFill/>
        </p:spPr>
        <p:txBody>
          <a:bodyPr wrap="square" anchor="t" lIns="36576" rIns="36576" tIns="27432" bIns="27432">
            <a:noAutofit/>
          </a:bodyPr>
          <a:lstStyle/>
          <a:p>
            <a:pPr>
              <a:lnSpc>
                <a:spcPct val="105000"/>
              </a:lnSpc>
              <a:spcBef>
                <a:spcPts val="0"/>
              </a:spcBef>
            </a:pPr>
            <a:r>
              <a:rPr sz="1300" b="0" i="0">
                <a:solidFill>
                  <a:srgbClr val="4D5563"/>
                </a:solidFill>
                <a:latin typeface="Calibri"/>
              </a:rPr>
              <a:t>Each comparison has an acceptance bound in the project, set from the scan's read error or today's result, and never widened to pass.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Table B.1: the printed engine state at three trims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B.1, pdf p.67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35</a:t>
            </a:r>
          </a:p>
        </p:txBody>
      </p:sp>
      <p:pic>
        <p:nvPicPr>
          <p:cNvPr id="8" name="Picture 7" descr="table-b1.png"/>
          <p:cNvPicPr>
            <a:picLocks noChangeAspect="1"/>
          </p:cNvPicPr>
          <p:nvPr/>
        </p:nvPicPr>
        <p:blipFill>
          <a:blip r:embed="rId2"/>
          <a:stretch>
            <a:fillRect/>
          </a:stretch>
        </p:blipFill>
        <p:spPr>
          <a:xfrm>
            <a:off x="502920" y="1398651"/>
            <a:ext cx="6949439" cy="2780536"/>
          </a:xfrm>
          <a:prstGeom prst="rect">
            <a:avLst/>
          </a:prstGeom>
        </p:spPr>
      </p:pic>
      <p:graphicFrame>
        <p:nvGraphicFramePr>
          <p:cNvPr id="9" name="Table 8"/>
          <p:cNvGraphicFramePr>
            <a:graphicFrameLocks noGrp="1"/>
          </p:cNvGraphicFramePr>
          <p:nvPr/>
        </p:nvGraphicFramePr>
        <p:xfrm>
          <a:off x="7635240" y="1325880"/>
          <a:ext cx="4069078" cy="3291840"/>
        </p:xfrm>
        <a:graphic>
          <a:graphicData uri="http://schemas.openxmlformats.org/drawingml/2006/table">
            <a:tbl>
              <a:tblPr firstRow="1">
                <a:tableStyleId>{5C22544A-7EE6-4342-B048-85BDC9FD1C3A}</a:tableStyleId>
              </a:tblPr>
              <a:tblGrid>
                <a:gridCol w="921301"/>
                <a:gridCol w="767750"/>
                <a:gridCol w="844526"/>
                <a:gridCol w="844526"/>
                <a:gridCol w="690975"/>
              </a:tblGrid>
              <a:tr h="329184">
                <a:tc>
                  <a:txBody>
                    <a:bodyPr wrap="square"/>
                    <a:lstStyle/>
                    <a:p>
                      <a:pPr algn="l"/>
                      <a:r>
                        <a:rPr sz="1100" b="1" i="0">
                          <a:solidFill>
                            <a:srgbClr val="FFFFFF"/>
                          </a:solidFill>
                          <a:latin typeface="Calibri"/>
                        </a:rPr>
                        <a:t>Trim</a:t>
                      </a:r>
                    </a:p>
                  </a:txBody>
                  <a:tcPr marL="54864" marR="54864" marT="22860" marB="22860" anchor="ctr">
                    <a:solidFill>
                      <a:srgbClr val="4D5563"/>
                    </a:solidFill>
                  </a:tcPr>
                </a:tc>
                <a:tc>
                  <a:txBody>
                    <a:bodyPr wrap="square"/>
                    <a:lstStyle/>
                    <a:p>
                      <a:pPr algn="r"/>
                      <a:r>
                        <a:rPr sz="1100" b="1" i="0">
                          <a:solidFill>
                            <a:srgbClr val="FFFFFF"/>
                          </a:solidFill>
                          <a:latin typeface="Calibri"/>
                        </a:rPr>
                        <a:t>Quantity</a:t>
                      </a:r>
                    </a:p>
                  </a:txBody>
                  <a:tcPr marL="54864" marR="54864" marT="22860" marB="22860" anchor="ctr">
                    <a:solidFill>
                      <a:srgbClr val="4D5563"/>
                    </a:solidFill>
                  </a:tcPr>
                </a:tc>
                <a:tc>
                  <a:txBody>
                    <a:bodyPr wrap="square"/>
                    <a:lstStyle/>
                    <a:p>
                      <a:pPr algn="r"/>
                      <a:r>
                        <a:rPr sz="1100" b="1" i="0">
                          <a:solidFill>
                            <a:srgbClr val="FFFFFF"/>
                          </a:solidFill>
                          <a:latin typeface="Calibri"/>
                        </a:rPr>
                        <a:t>Printed</a:t>
                      </a:r>
                    </a:p>
                  </a:txBody>
                  <a:tcPr marL="54864" marR="54864" marT="22860" marB="22860" anchor="ctr">
                    <a:solidFill>
                      <a:srgbClr val="4D5563"/>
                    </a:solidFill>
                  </a:tcPr>
                </a:tc>
                <a:tc>
                  <a:txBody>
                    <a:bodyPr wrap="square"/>
                    <a:lstStyle/>
                    <a:p>
                      <a:pPr algn="r"/>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Dev. %</a:t>
                      </a:r>
                    </a:p>
                  </a:txBody>
                  <a:tcPr marL="54864" marR="54864" marT="22860" marB="22860" anchor="ctr">
                    <a:solidFill>
                      <a:srgbClr val="4D5563"/>
                    </a:solidFill>
                  </a:tcPr>
                </a:tc>
              </a:tr>
              <a:tr h="329184">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NG</a:t>
                      </a:r>
                    </a:p>
                  </a:txBody>
                  <a:tcPr marL="54864" marR="54864" marT="22860" marB="22860" anchor="ctr">
                    <a:solidFill>
                      <a:srgbClr val="FFFFFF"/>
                    </a:solidFill>
                  </a:tcPr>
                </a:tc>
                <a:tc>
                  <a:txBody>
                    <a:bodyPr wrap="square"/>
                    <a:lstStyle/>
                    <a:p>
                      <a:pPr algn="r"/>
                      <a:r>
                        <a:rPr sz="1100" b="0" i="0">
                          <a:solidFill>
                            <a:srgbClr val="14171C"/>
                          </a:solidFill>
                          <a:latin typeface="Calibri"/>
                        </a:rPr>
                        <a:t>41,638</a:t>
                      </a:r>
                    </a:p>
                  </a:txBody>
                  <a:tcPr marL="54864" marR="54864" marT="22860" marB="22860" anchor="ctr">
                    <a:solidFill>
                      <a:srgbClr val="FFFFFF"/>
                    </a:solidFill>
                  </a:tcPr>
                </a:tc>
                <a:tc>
                  <a:txBody>
                    <a:bodyPr wrap="square"/>
                    <a:lstStyle/>
                    <a:p>
                      <a:pPr algn="r"/>
                      <a:r>
                        <a:rPr sz="1100" b="0" i="0">
                          <a:solidFill>
                            <a:srgbClr val="14171C"/>
                          </a:solidFill>
                          <a:latin typeface="Calibri"/>
                        </a:rPr>
                        <a:t>41,638</a:t>
                      </a:r>
                    </a:p>
                  </a:txBody>
                  <a:tcPr marL="54864" marR="54864" marT="22860" marB="22860" anchor="ctr">
                    <a:solidFill>
                      <a:srgbClr val="FFFFFF"/>
                    </a:solidFill>
                  </a:tcPr>
                </a:tc>
                <a:tc>
                  <a:txBody>
                    <a:bodyPr wrap="square"/>
                    <a:lstStyle/>
                    <a:p>
                      <a:pPr algn="r"/>
                      <a:r>
                        <a:rPr sz="1100" b="0" i="0">
                          <a:solidFill>
                            <a:srgbClr val="14171C"/>
                          </a:solidFill>
                          <a:latin typeface="Calibri"/>
                        </a:rPr>
                        <a:t>+0.00</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hover</a:t>
                      </a:r>
                    </a:p>
                  </a:txBody>
                  <a:tcPr marL="54864" marR="54864" marT="22860" marB="22860" anchor="ctr">
                    <a:solidFill>
                      <a:srgbClr val="F2F3F5"/>
                    </a:solidFill>
                  </a:tcPr>
                </a:tc>
                <a:tc>
                  <a:txBody>
                    <a:bodyPr wrap="square"/>
                    <a:lstStyle/>
                    <a:p>
                      <a:pPr algn="r"/>
                      <a:r>
                        <a:rPr sz="1100" b="0" i="0">
                          <a:solidFill>
                            <a:srgbClr val="14171C"/>
                          </a:solidFill>
                          <a:latin typeface="Calibri"/>
                        </a:rPr>
                        <a:t>T41</a:t>
                      </a:r>
                    </a:p>
                  </a:txBody>
                  <a:tcPr marL="54864" marR="54864" marT="22860" marB="22860" anchor="ctr">
                    <a:solidFill>
                      <a:srgbClr val="F2F3F5"/>
                    </a:solidFill>
                  </a:tcPr>
                </a:tc>
                <a:tc>
                  <a:txBody>
                    <a:bodyPr wrap="square"/>
                    <a:lstStyle/>
                    <a:p>
                      <a:pPr algn="r"/>
                      <a:r>
                        <a:rPr sz="1100" b="0" i="0">
                          <a:solidFill>
                            <a:srgbClr val="14171C"/>
                          </a:solidFill>
                          <a:latin typeface="Calibri"/>
                        </a:rPr>
                        <a:t>2,292</a:t>
                      </a:r>
                    </a:p>
                  </a:txBody>
                  <a:tcPr marL="54864" marR="54864" marT="22860" marB="22860" anchor="ctr">
                    <a:solidFill>
                      <a:srgbClr val="F2F3F5"/>
                    </a:solidFill>
                  </a:tcPr>
                </a:tc>
                <a:tc>
                  <a:txBody>
                    <a:bodyPr wrap="square"/>
                    <a:lstStyle/>
                    <a:p>
                      <a:pPr algn="r"/>
                      <a:r>
                        <a:rPr sz="1100" b="0" i="0">
                          <a:solidFill>
                            <a:srgbClr val="14171C"/>
                          </a:solidFill>
                          <a:latin typeface="Calibri"/>
                        </a:rPr>
                        <a:t>2,292</a:t>
                      </a:r>
                    </a:p>
                  </a:txBody>
                  <a:tcPr marL="54864" marR="54864" marT="22860" marB="22860" anchor="ctr">
                    <a:solidFill>
                      <a:srgbClr val="F2F3F5"/>
                    </a:solidFill>
                  </a:tcPr>
                </a:tc>
                <a:tc>
                  <a:txBody>
                    <a:bodyPr wrap="square"/>
                    <a:lstStyle/>
                    <a:p>
                      <a:pPr algn="r"/>
                      <a:r>
                        <a:rPr sz="1100" b="0" i="0">
                          <a:solidFill>
                            <a:srgbClr val="14171C"/>
                          </a:solidFill>
                          <a:latin typeface="Calibri"/>
                        </a:rPr>
                        <a:t>+0.01</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SHP</a:t>
                      </a:r>
                    </a:p>
                  </a:txBody>
                  <a:tcPr marL="54864" marR="54864" marT="22860" marB="22860" anchor="ctr">
                    <a:solidFill>
                      <a:srgbClr val="FFFFFF"/>
                    </a:solidFill>
                  </a:tcPr>
                </a:tc>
                <a:tc>
                  <a:txBody>
                    <a:bodyPr wrap="square"/>
                    <a:lstStyle/>
                    <a:p>
                      <a:pPr algn="r"/>
                      <a:r>
                        <a:rPr sz="1100" b="0" i="0">
                          <a:solidFill>
                            <a:srgbClr val="14171C"/>
                          </a:solidFill>
                          <a:latin typeface="Calibri"/>
                        </a:rPr>
                        <a:t>911.1</a:t>
                      </a:r>
                    </a:p>
                  </a:txBody>
                  <a:tcPr marL="54864" marR="54864" marT="22860" marB="22860" anchor="ctr">
                    <a:solidFill>
                      <a:srgbClr val="FFFFFF"/>
                    </a:solidFill>
                  </a:tcPr>
                </a:tc>
                <a:tc>
                  <a:txBody>
                    <a:bodyPr wrap="square"/>
                    <a:lstStyle/>
                    <a:p>
                      <a:pPr algn="r"/>
                      <a:r>
                        <a:rPr sz="1100" b="0" i="0">
                          <a:solidFill>
                            <a:srgbClr val="14171C"/>
                          </a:solidFill>
                          <a:latin typeface="Calibri"/>
                        </a:rPr>
                        <a:t>910.6</a:t>
                      </a:r>
                    </a:p>
                  </a:txBody>
                  <a:tcPr marL="54864" marR="54864" marT="22860" marB="22860" anchor="ctr">
                    <a:solidFill>
                      <a:srgbClr val="FFFFFF"/>
                    </a:solidFill>
                  </a:tcPr>
                </a:tc>
                <a:tc>
                  <a:txBody>
                    <a:bodyPr wrap="square"/>
                    <a:lstStyle/>
                    <a:p>
                      <a:pPr algn="r"/>
                      <a:r>
                        <a:rPr sz="1100" b="0" i="0">
                          <a:solidFill>
                            <a:srgbClr val="14171C"/>
                          </a:solidFill>
                          <a:latin typeface="Calibri"/>
                        </a:rPr>
                        <a:t>−0.06</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level</a:t>
                      </a:r>
                    </a:p>
                  </a:txBody>
                  <a:tcPr marL="54864" marR="54864" marT="22860" marB="22860" anchor="ctr">
                    <a:solidFill>
                      <a:srgbClr val="F2F3F5"/>
                    </a:solidFill>
                  </a:tcPr>
                </a:tc>
                <a:tc>
                  <a:txBody>
                    <a:bodyPr wrap="square"/>
                    <a:lstStyle/>
                    <a:p>
                      <a:pPr algn="r"/>
                      <a:r>
                        <a:rPr sz="1100" b="0" i="0">
                          <a:solidFill>
                            <a:srgbClr val="14171C"/>
                          </a:solidFill>
                          <a:latin typeface="Calibri"/>
                        </a:rPr>
                        <a:t>NG</a:t>
                      </a:r>
                    </a:p>
                  </a:txBody>
                  <a:tcPr marL="54864" marR="54864" marT="22860" marB="22860" anchor="ctr">
                    <a:solidFill>
                      <a:srgbClr val="F2F3F5"/>
                    </a:solidFill>
                  </a:tcPr>
                </a:tc>
                <a:tc>
                  <a:txBody>
                    <a:bodyPr wrap="square"/>
                    <a:lstStyle/>
                    <a:p>
                      <a:pPr algn="r"/>
                      <a:r>
                        <a:rPr sz="1100" b="0" i="0">
                          <a:solidFill>
                            <a:srgbClr val="14171C"/>
                          </a:solidFill>
                          <a:latin typeface="Calibri"/>
                        </a:rPr>
                        <a:t>39,768</a:t>
                      </a:r>
                    </a:p>
                  </a:txBody>
                  <a:tcPr marL="54864" marR="54864" marT="22860" marB="22860" anchor="ctr">
                    <a:solidFill>
                      <a:srgbClr val="F2F3F5"/>
                    </a:solidFill>
                  </a:tcPr>
                </a:tc>
                <a:tc>
                  <a:txBody>
                    <a:bodyPr wrap="square"/>
                    <a:lstStyle/>
                    <a:p>
                      <a:pPr algn="r"/>
                      <a:r>
                        <a:rPr sz="1100" b="0" i="0">
                          <a:solidFill>
                            <a:srgbClr val="14171C"/>
                          </a:solidFill>
                          <a:latin typeface="Calibri"/>
                        </a:rPr>
                        <a:t>39,816</a:t>
                      </a:r>
                    </a:p>
                  </a:txBody>
                  <a:tcPr marL="54864" marR="54864" marT="22860" marB="22860" anchor="ctr">
                    <a:solidFill>
                      <a:srgbClr val="F2F3F5"/>
                    </a:solidFill>
                  </a:tcPr>
                </a:tc>
                <a:tc>
                  <a:txBody>
                    <a:bodyPr wrap="square"/>
                    <a:lstStyle/>
                    <a:p>
                      <a:pPr algn="r"/>
                      <a:r>
                        <a:rPr sz="1100" b="0" i="0">
                          <a:solidFill>
                            <a:srgbClr val="14171C"/>
                          </a:solidFill>
                          <a:latin typeface="Calibri"/>
                        </a:rPr>
                        <a:t>+0.12</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level</a:t>
                      </a:r>
                    </a:p>
                  </a:txBody>
                  <a:tcPr marL="54864" marR="54864" marT="22860" marB="22860" anchor="ctr">
                    <a:solidFill>
                      <a:srgbClr val="FFFFFF"/>
                    </a:solidFill>
                  </a:tcPr>
                </a:tc>
                <a:tc>
                  <a:txBody>
                    <a:bodyPr wrap="square"/>
                    <a:lstStyle/>
                    <a:p>
                      <a:pPr algn="r"/>
                      <a:r>
                        <a:rPr sz="1100" b="0" i="0">
                          <a:solidFill>
                            <a:srgbClr val="14171C"/>
                          </a:solidFill>
                          <a:latin typeface="Calibri"/>
                        </a:rPr>
                        <a:t>T41</a:t>
                      </a:r>
                    </a:p>
                  </a:txBody>
                  <a:tcPr marL="54864" marR="54864" marT="22860" marB="22860" anchor="ctr">
                    <a:solidFill>
                      <a:srgbClr val="FFFFFF"/>
                    </a:solidFill>
                  </a:tcPr>
                </a:tc>
                <a:tc>
                  <a:txBody>
                    <a:bodyPr wrap="square"/>
                    <a:lstStyle/>
                    <a:p>
                      <a:pPr algn="r"/>
                      <a:r>
                        <a:rPr sz="1100" b="0" i="0">
                          <a:solidFill>
                            <a:srgbClr val="14171C"/>
                          </a:solidFill>
                          <a:latin typeface="Calibri"/>
                        </a:rPr>
                        <a:t>2,102</a:t>
                      </a:r>
                    </a:p>
                  </a:txBody>
                  <a:tcPr marL="54864" marR="54864" marT="22860" marB="22860" anchor="ctr">
                    <a:solidFill>
                      <a:srgbClr val="FFFFFF"/>
                    </a:solidFill>
                  </a:tcPr>
                </a:tc>
                <a:tc>
                  <a:txBody>
                    <a:bodyPr wrap="square"/>
                    <a:lstStyle/>
                    <a:p>
                      <a:pPr algn="r"/>
                      <a:r>
                        <a:rPr sz="1100" b="0" i="0">
                          <a:solidFill>
                            <a:srgbClr val="14171C"/>
                          </a:solidFill>
                          <a:latin typeface="Calibri"/>
                        </a:rPr>
                        <a:t>2,101</a:t>
                      </a:r>
                    </a:p>
                  </a:txBody>
                  <a:tcPr marL="54864" marR="54864" marT="22860" marB="22860" anchor="ctr">
                    <a:solidFill>
                      <a:srgbClr val="FFFFFF"/>
                    </a:solidFill>
                  </a:tcPr>
                </a:tc>
                <a:tc>
                  <a:txBody>
                    <a:bodyPr wrap="square"/>
                    <a:lstStyle/>
                    <a:p>
                      <a:pPr algn="r"/>
                      <a:r>
                        <a:rPr sz="1100" b="0" i="0">
                          <a:solidFill>
                            <a:srgbClr val="14171C"/>
                          </a:solidFill>
                          <a:latin typeface="Calibri"/>
                        </a:rPr>
                        <a:t>−0.02</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level</a:t>
                      </a:r>
                    </a:p>
                  </a:txBody>
                  <a:tcPr marL="54864" marR="54864" marT="22860" marB="22860" anchor="ctr">
                    <a:solidFill>
                      <a:srgbClr val="F2F3F5"/>
                    </a:solidFill>
                  </a:tcPr>
                </a:tc>
                <a:tc>
                  <a:txBody>
                    <a:bodyPr wrap="square"/>
                    <a:lstStyle/>
                    <a:p>
                      <a:pPr algn="r"/>
                      <a:r>
                        <a:rPr sz="1100" b="0" i="0">
                          <a:solidFill>
                            <a:srgbClr val="14171C"/>
                          </a:solidFill>
                          <a:latin typeface="Calibri"/>
                        </a:rPr>
                        <a:t>SHP</a:t>
                      </a:r>
                    </a:p>
                  </a:txBody>
                  <a:tcPr marL="54864" marR="54864" marT="22860" marB="22860" anchor="ctr">
                    <a:solidFill>
                      <a:srgbClr val="F2F3F5"/>
                    </a:solidFill>
                  </a:tcPr>
                </a:tc>
                <a:tc>
                  <a:txBody>
                    <a:bodyPr wrap="square"/>
                    <a:lstStyle/>
                    <a:p>
                      <a:pPr algn="r"/>
                      <a:r>
                        <a:rPr sz="1100" b="0" i="0">
                          <a:solidFill>
                            <a:srgbClr val="14171C"/>
                          </a:solidFill>
                          <a:latin typeface="Calibri"/>
                        </a:rPr>
                        <a:t>552.6</a:t>
                      </a:r>
                    </a:p>
                  </a:txBody>
                  <a:tcPr marL="54864" marR="54864" marT="22860" marB="22860" anchor="ctr">
                    <a:solidFill>
                      <a:srgbClr val="F2F3F5"/>
                    </a:solidFill>
                  </a:tcPr>
                </a:tc>
                <a:tc>
                  <a:txBody>
                    <a:bodyPr wrap="square"/>
                    <a:lstStyle/>
                    <a:p>
                      <a:pPr algn="r"/>
                      <a:r>
                        <a:rPr sz="1100" b="0" i="0">
                          <a:solidFill>
                            <a:srgbClr val="14171C"/>
                          </a:solidFill>
                          <a:latin typeface="Calibri"/>
                        </a:rPr>
                        <a:t>552.2</a:t>
                      </a:r>
                    </a:p>
                  </a:txBody>
                  <a:tcPr marL="54864" marR="54864" marT="22860" marB="22860" anchor="ctr">
                    <a:solidFill>
                      <a:srgbClr val="F2F3F5"/>
                    </a:solidFill>
                  </a:tcPr>
                </a:tc>
                <a:tc>
                  <a:txBody>
                    <a:bodyPr wrap="square"/>
                    <a:lstStyle/>
                    <a:p>
                      <a:pPr algn="r"/>
                      <a:r>
                        <a:rPr sz="1100" b="0" i="0">
                          <a:solidFill>
                            <a:srgbClr val="14171C"/>
                          </a:solidFill>
                          <a:latin typeface="Calibri"/>
                        </a:rPr>
                        <a:t>−0.08</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descent</a:t>
                      </a:r>
                    </a:p>
                  </a:txBody>
                  <a:tcPr marL="54864" marR="54864" marT="22860" marB="22860" anchor="ctr">
                    <a:solidFill>
                      <a:srgbClr val="FFFFFF"/>
                    </a:solidFill>
                  </a:tcPr>
                </a:tc>
                <a:tc>
                  <a:txBody>
                    <a:bodyPr wrap="square"/>
                    <a:lstStyle/>
                    <a:p>
                      <a:pPr algn="r"/>
                      <a:r>
                        <a:rPr sz="1100" b="0" i="0">
                          <a:solidFill>
                            <a:srgbClr val="14171C"/>
                          </a:solidFill>
                          <a:latin typeface="Calibri"/>
                        </a:rPr>
                        <a:t>NG</a:t>
                      </a:r>
                    </a:p>
                  </a:txBody>
                  <a:tcPr marL="54864" marR="54864" marT="22860" marB="22860" anchor="ctr">
                    <a:solidFill>
                      <a:srgbClr val="FFFFFF"/>
                    </a:solidFill>
                  </a:tcPr>
                </a:tc>
                <a:tc>
                  <a:txBody>
                    <a:bodyPr wrap="square"/>
                    <a:lstStyle/>
                    <a:p>
                      <a:pPr algn="r"/>
                      <a:r>
                        <a:rPr sz="1100" b="0" i="0">
                          <a:solidFill>
                            <a:srgbClr val="14171C"/>
                          </a:solidFill>
                          <a:latin typeface="Calibri"/>
                        </a:rPr>
                        <a:t>38,072</a:t>
                      </a:r>
                    </a:p>
                  </a:txBody>
                  <a:tcPr marL="54864" marR="54864" marT="22860" marB="22860" anchor="ctr">
                    <a:solidFill>
                      <a:srgbClr val="FFFFFF"/>
                    </a:solidFill>
                  </a:tcPr>
                </a:tc>
                <a:tc>
                  <a:txBody>
                    <a:bodyPr wrap="square"/>
                    <a:lstStyle/>
                    <a:p>
                      <a:pPr algn="r"/>
                      <a:r>
                        <a:rPr sz="1100" b="0" i="0">
                          <a:solidFill>
                            <a:srgbClr val="14171C"/>
                          </a:solidFill>
                          <a:latin typeface="Calibri"/>
                        </a:rPr>
                        <a:t>38,054</a:t>
                      </a:r>
                    </a:p>
                  </a:txBody>
                  <a:tcPr marL="54864" marR="54864" marT="22860" marB="22860" anchor="ctr">
                    <a:solidFill>
                      <a:srgbClr val="FFFFFF"/>
                    </a:solidFill>
                  </a:tcPr>
                </a:tc>
                <a:tc>
                  <a:txBody>
                    <a:bodyPr wrap="square"/>
                    <a:lstStyle/>
                    <a:p>
                      <a:pPr algn="r"/>
                      <a:r>
                        <a:rPr sz="1100" b="0" i="0">
                          <a:solidFill>
                            <a:srgbClr val="14171C"/>
                          </a:solidFill>
                          <a:latin typeface="Calibri"/>
                        </a:rPr>
                        <a:t>−0.05</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descent</a:t>
                      </a:r>
                    </a:p>
                  </a:txBody>
                  <a:tcPr marL="54864" marR="54864" marT="22860" marB="22860" anchor="ctr">
                    <a:solidFill>
                      <a:srgbClr val="F2F3F5"/>
                    </a:solidFill>
                  </a:tcPr>
                </a:tc>
                <a:tc>
                  <a:txBody>
                    <a:bodyPr wrap="square"/>
                    <a:lstStyle/>
                    <a:p>
                      <a:pPr algn="r"/>
                      <a:r>
                        <a:rPr sz="1100" b="0" i="0">
                          <a:solidFill>
                            <a:srgbClr val="14171C"/>
                          </a:solidFill>
                          <a:latin typeface="Calibri"/>
                        </a:rPr>
                        <a:t>T41</a:t>
                      </a:r>
                    </a:p>
                  </a:txBody>
                  <a:tcPr marL="54864" marR="54864" marT="22860" marB="22860" anchor="ctr">
                    <a:solidFill>
                      <a:srgbClr val="F2F3F5"/>
                    </a:solidFill>
                  </a:tcPr>
                </a:tc>
                <a:tc>
                  <a:txBody>
                    <a:bodyPr wrap="square"/>
                    <a:lstStyle/>
                    <a:p>
                      <a:pPr algn="r"/>
                      <a:r>
                        <a:rPr sz="1100" b="0" i="0">
                          <a:solidFill>
                            <a:srgbClr val="14171C"/>
                          </a:solidFill>
                          <a:latin typeface="Calibri"/>
                        </a:rPr>
                        <a:t>1,982</a:t>
                      </a:r>
                    </a:p>
                  </a:txBody>
                  <a:tcPr marL="54864" marR="54864" marT="22860" marB="22860" anchor="ctr">
                    <a:solidFill>
                      <a:srgbClr val="F2F3F5"/>
                    </a:solidFill>
                  </a:tcPr>
                </a:tc>
                <a:tc>
                  <a:txBody>
                    <a:bodyPr wrap="square"/>
                    <a:lstStyle/>
                    <a:p>
                      <a:pPr algn="r"/>
                      <a:r>
                        <a:rPr sz="1100" b="0" i="0">
                          <a:solidFill>
                            <a:srgbClr val="14171C"/>
                          </a:solidFill>
                          <a:latin typeface="Calibri"/>
                        </a:rPr>
                        <a:t>1,984</a:t>
                      </a:r>
                    </a:p>
                  </a:txBody>
                  <a:tcPr marL="54864" marR="54864" marT="22860" marB="22860" anchor="ctr">
                    <a:solidFill>
                      <a:srgbClr val="F2F3F5"/>
                    </a:solidFill>
                  </a:tcPr>
                </a:tc>
                <a:tc>
                  <a:txBody>
                    <a:bodyPr wrap="square"/>
                    <a:lstStyle/>
                    <a:p>
                      <a:pPr algn="r"/>
                      <a:r>
                        <a:rPr sz="1100" b="0" i="0">
                          <a:solidFill>
                            <a:srgbClr val="14171C"/>
                          </a:solidFill>
                          <a:latin typeface="Calibri"/>
                        </a:rPr>
                        <a:t>+0.09</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descent</a:t>
                      </a:r>
                    </a:p>
                  </a:txBody>
                  <a:tcPr marL="54864" marR="54864" marT="22860" marB="22860" anchor="ctr">
                    <a:solidFill>
                      <a:srgbClr val="FFFFFF"/>
                    </a:solidFill>
                  </a:tcPr>
                </a:tc>
                <a:tc>
                  <a:txBody>
                    <a:bodyPr wrap="square"/>
                    <a:lstStyle/>
                    <a:p>
                      <a:pPr algn="r"/>
                      <a:r>
                        <a:rPr sz="1100" b="0" i="0">
                          <a:solidFill>
                            <a:srgbClr val="14171C"/>
                          </a:solidFill>
                          <a:latin typeface="Calibri"/>
                        </a:rPr>
                        <a:t>SHP</a:t>
                      </a:r>
                    </a:p>
                  </a:txBody>
                  <a:tcPr marL="54864" marR="54864" marT="22860" marB="22860" anchor="ctr">
                    <a:solidFill>
                      <a:srgbClr val="FFFFFF"/>
                    </a:solidFill>
                  </a:tcPr>
                </a:tc>
                <a:tc>
                  <a:txBody>
                    <a:bodyPr wrap="square"/>
                    <a:lstStyle/>
                    <a:p>
                      <a:pPr algn="r"/>
                      <a:r>
                        <a:rPr sz="1100" b="0" i="0">
                          <a:solidFill>
                            <a:srgbClr val="14171C"/>
                          </a:solidFill>
                          <a:latin typeface="Calibri"/>
                        </a:rPr>
                        <a:t>302.6</a:t>
                      </a:r>
                    </a:p>
                  </a:txBody>
                  <a:tcPr marL="54864" marR="54864" marT="22860" marB="22860" anchor="ctr">
                    <a:solidFill>
                      <a:srgbClr val="FFFFFF"/>
                    </a:solidFill>
                  </a:tcPr>
                </a:tc>
                <a:tc>
                  <a:txBody>
                    <a:bodyPr wrap="square"/>
                    <a:lstStyle/>
                    <a:p>
                      <a:pPr algn="r"/>
                      <a:r>
                        <a:rPr sz="1100" b="0" i="0">
                          <a:solidFill>
                            <a:srgbClr val="14171C"/>
                          </a:solidFill>
                          <a:latin typeface="Calibri"/>
                        </a:rPr>
                        <a:t>300.2</a:t>
                      </a:r>
                    </a:p>
                  </a:txBody>
                  <a:tcPr marL="54864" marR="54864" marT="22860" marB="22860" anchor="ctr">
                    <a:solidFill>
                      <a:srgbClr val="FFFFFF"/>
                    </a:solidFill>
                  </a:tcPr>
                </a:tc>
                <a:tc>
                  <a:txBody>
                    <a:bodyPr wrap="square"/>
                    <a:lstStyle/>
                    <a:p>
                      <a:pPr algn="r"/>
                      <a:r>
                        <a:rPr sz="1100" b="0" i="0">
                          <a:solidFill>
                            <a:srgbClr val="14171C"/>
                          </a:solidFill>
                          <a:latin typeface="Calibri"/>
                        </a:rPr>
                        <a:t>−0.81</a:t>
                      </a:r>
                    </a:p>
                  </a:txBody>
                  <a:tcPr marL="54864" marR="54864" marT="22860" marB="22860" anchor="ctr">
                    <a:solidFill>
                      <a:srgbClr val="FFFFFF"/>
                    </a:solidFill>
                  </a:tcPr>
                </a:tc>
              </a:tr>
            </a:tbl>
          </a:graphicData>
        </a:graphic>
      </p:graphicFrame>
      <p:sp>
        <p:nvSpPr>
          <p:cNvPr id="10" name="TextBox 9"/>
          <p:cNvSpPr txBox="1"/>
          <p:nvPr/>
        </p:nvSpPr>
        <p:spPr>
          <a:xfrm>
            <a:off x="502920" y="4480560"/>
            <a:ext cx="6949440" cy="17373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21 printed numbers: NG, Ps3, P41, T41, P45, T45 and shaft power at hover, level flight and descent. Open loop rms 0.22 %, worst −0.81 % (descent shaft power).</a:t>
            </a:r>
          </a:p>
          <a:p>
            <a:pPr marL="201168" indent="-201168">
              <a:lnSpc>
                <a:spcPct val="105000"/>
              </a:lnSpc>
              <a:spcBef>
                <a:spcPts val="800"/>
              </a:spcBef>
              <a:buFont typeface="Arial"/>
              <a:buChar char="•"/>
            </a:pPr>
            <a:r>
              <a:rPr sz="1400" b="0" i="0">
                <a:solidFill>
                  <a:srgbClr val="14171C"/>
                </a:solidFill>
                <a:latin typeface="Calibri"/>
              </a:rPr>
              <a:t>Bars: open loop, fuel prescribed. Diamonds: closed loop, where fuel is an output and the engine must find the printed state by itself.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Figures 6–8: the steady sweeps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6–8, pdf pp.40–42</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36</a:t>
            </a:r>
          </a:p>
        </p:txBody>
      </p:sp>
      <p:pic>
        <p:nvPicPr>
          <p:cNvPr id="8" name="Picture 7" descr="figures-6-8-overlay.png"/>
          <p:cNvPicPr>
            <a:picLocks noChangeAspect="1"/>
          </p:cNvPicPr>
          <p:nvPr/>
        </p:nvPicPr>
        <p:blipFill>
          <a:blip r:embed="rId2"/>
          <a:stretch>
            <a:fillRect/>
          </a:stretch>
        </p:blipFill>
        <p:spPr>
          <a:xfrm>
            <a:off x="502920" y="1300537"/>
            <a:ext cx="11185855" cy="3251085"/>
          </a:xfrm>
          <a:prstGeom prst="rect">
            <a:avLst/>
          </a:prstGeom>
        </p:spPr>
      </p:pic>
      <p:graphicFrame>
        <p:nvGraphicFramePr>
          <p:cNvPr id="9" name="Table 8"/>
          <p:cNvGraphicFramePr>
            <a:graphicFrameLocks noGrp="1"/>
          </p:cNvGraphicFramePr>
          <p:nvPr/>
        </p:nvGraphicFramePr>
        <p:xfrm>
          <a:off x="502920" y="4663440"/>
          <a:ext cx="6583676" cy="1316736"/>
        </p:xfrm>
        <a:graphic>
          <a:graphicData uri="http://schemas.openxmlformats.org/drawingml/2006/table">
            <a:tbl>
              <a:tblPr firstRow="1">
                <a:tableStyleId>{5C22544A-7EE6-4342-B048-85BDC9FD1C3A}</a:tableStyleId>
              </a:tblPr>
              <a:tblGrid>
                <a:gridCol w="3066371"/>
                <a:gridCol w="811686"/>
                <a:gridCol w="901873"/>
                <a:gridCol w="901873"/>
                <a:gridCol w="901873"/>
              </a:tblGrid>
              <a:tr h="329184">
                <a:tc>
                  <a:txBody>
                    <a:bodyPr wrap="square"/>
                    <a:lstStyle/>
                    <a:p>
                      <a:pPr algn="l"/>
                      <a:r>
                        <a:rPr sz="1200" b="1" i="0">
                          <a:solidFill>
                            <a:srgbClr val="FFFFFF"/>
                          </a:solidFill>
                          <a:latin typeface="Calibri"/>
                        </a:rPr>
                        <a:t>Figure</a:t>
                      </a:r>
                    </a:p>
                  </a:txBody>
                  <a:tcPr marL="54864" marR="54864" marT="22860" marB="22860" anchor="ctr">
                    <a:solidFill>
                      <a:srgbClr val="4D5563"/>
                    </a:solidFill>
                  </a:tcPr>
                </a:tc>
                <a:tc>
                  <a:txBody>
                    <a:bodyPr wrap="square"/>
                    <a:lstStyle/>
                    <a:p>
                      <a:pPr algn="r"/>
                      <a:r>
                        <a:rPr sz="1200" b="1" i="0">
                          <a:solidFill>
                            <a:srgbClr val="FFFFFF"/>
                          </a:solidFill>
                          <a:latin typeface="Calibri"/>
                        </a:rPr>
                        <a:t>Points</a:t>
                      </a:r>
                    </a:p>
                  </a:txBody>
                  <a:tcPr marL="54864" marR="54864" marT="22860" marB="22860" anchor="ctr">
                    <a:solidFill>
                      <a:srgbClr val="4D5563"/>
                    </a:solidFill>
                  </a:tcPr>
                </a:tc>
                <a:tc>
                  <a:txBody>
                    <a:bodyPr wrap="square"/>
                    <a:lstStyle/>
                    <a:p>
                      <a:pPr algn="r"/>
                      <a:r>
                        <a:rPr sz="1200" b="1" i="0">
                          <a:solidFill>
                            <a:srgbClr val="FFFFFF"/>
                          </a:solidFill>
                          <a:latin typeface="Calibri"/>
                        </a:rPr>
                        <a:t>mean</a:t>
                      </a:r>
                    </a:p>
                  </a:txBody>
                  <a:tcPr marL="54864" marR="54864" marT="22860" marB="22860" anchor="ctr">
                    <a:solidFill>
                      <a:srgbClr val="4D5563"/>
                    </a:solidFill>
                  </a:tcPr>
                </a:tc>
                <a:tc>
                  <a:txBody>
                    <a:bodyPr wrap="square"/>
                    <a:lstStyle/>
                    <a:p>
                      <a:pPr algn="r"/>
                      <a:r>
                        <a:rPr sz="1200" b="1" i="0">
                          <a:solidFill>
                            <a:srgbClr val="FFFFFF"/>
                          </a:solidFill>
                          <a:latin typeface="Calibri"/>
                        </a:rPr>
                        <a:t>rms</a:t>
                      </a:r>
                    </a:p>
                  </a:txBody>
                  <a:tcPr marL="54864" marR="54864" marT="22860" marB="22860" anchor="ctr">
                    <a:solidFill>
                      <a:srgbClr val="4D5563"/>
                    </a:solidFill>
                  </a:tcPr>
                </a:tc>
                <a:tc>
                  <a:txBody>
                    <a:bodyPr wrap="square"/>
                    <a:lstStyle/>
                    <a:p>
                      <a:pPr algn="r"/>
                      <a:r>
                        <a:rPr sz="1200" b="1" i="0">
                          <a:solidFill>
                            <a:srgbClr val="FFFFFF"/>
                          </a:solidFill>
                          <a:latin typeface="Calibri"/>
                        </a:rPr>
                        <a:t>worst</a:t>
                      </a:r>
                    </a:p>
                  </a:txBody>
                  <a:tcPr marL="54864" marR="54864" marT="22860" marB="22860" anchor="ctr">
                    <a:solidFill>
                      <a:srgbClr val="4D5563"/>
                    </a:solidFill>
                  </a:tcPr>
                </a:tc>
              </a:tr>
              <a:tr h="329184">
                <a:tc>
                  <a:txBody>
                    <a:bodyPr wrap="square"/>
                    <a:lstStyle/>
                    <a:p>
                      <a:pPr algn="l"/>
                      <a:r>
                        <a:rPr sz="1200" b="0" i="0">
                          <a:solidFill>
                            <a:srgbClr val="14171C"/>
                          </a:solidFill>
                          <a:latin typeface="Calibri"/>
                        </a:rPr>
                        <a:t>6: NG vs fuel flow (%NG pts)</a:t>
                      </a:r>
                    </a:p>
                  </a:txBody>
                  <a:tcPr marL="54864" marR="54864" marT="22860" marB="22860" anchor="ctr">
                    <a:solidFill>
                      <a:srgbClr val="FFFFFF"/>
                    </a:solidFill>
                  </a:tcPr>
                </a:tc>
                <a:tc>
                  <a:txBody>
                    <a:bodyPr wrap="square"/>
                    <a:lstStyle/>
                    <a:p>
                      <a:pPr algn="r"/>
                      <a:r>
                        <a:rPr sz="1200" b="0" i="0">
                          <a:solidFill>
                            <a:srgbClr val="14171C"/>
                          </a:solidFill>
                          <a:latin typeface="Calibri"/>
                        </a:rPr>
                        <a:t>31</a:t>
                      </a:r>
                    </a:p>
                  </a:txBody>
                  <a:tcPr marL="54864" marR="54864" marT="22860" marB="22860" anchor="ctr">
                    <a:solidFill>
                      <a:srgbClr val="FFFFFF"/>
                    </a:solidFill>
                  </a:tcPr>
                </a:tc>
                <a:tc>
                  <a:txBody>
                    <a:bodyPr wrap="square"/>
                    <a:lstStyle/>
                    <a:p>
                      <a:pPr algn="r"/>
                      <a:r>
                        <a:rPr sz="1200" b="0" i="0">
                          <a:solidFill>
                            <a:srgbClr val="14171C"/>
                          </a:solidFill>
                          <a:latin typeface="Calibri"/>
                        </a:rPr>
                        <a:t>−0.01</a:t>
                      </a:r>
                    </a:p>
                  </a:txBody>
                  <a:tcPr marL="54864" marR="54864" marT="22860" marB="22860" anchor="ctr">
                    <a:solidFill>
                      <a:srgbClr val="FFFFFF"/>
                    </a:solidFill>
                  </a:tcPr>
                </a:tc>
                <a:tc>
                  <a:txBody>
                    <a:bodyPr wrap="square"/>
                    <a:lstStyle/>
                    <a:p>
                      <a:pPr algn="r"/>
                      <a:r>
                        <a:rPr sz="1200" b="0" i="0">
                          <a:solidFill>
                            <a:srgbClr val="14171C"/>
                          </a:solidFill>
                          <a:latin typeface="Calibri"/>
                        </a:rPr>
                        <a:t>0.07</a:t>
                      </a:r>
                    </a:p>
                  </a:txBody>
                  <a:tcPr marL="54864" marR="54864" marT="22860" marB="22860" anchor="ctr">
                    <a:solidFill>
                      <a:srgbClr val="FFFFFF"/>
                    </a:solidFill>
                  </a:tcPr>
                </a:tc>
                <a:tc>
                  <a:txBody>
                    <a:bodyPr wrap="square"/>
                    <a:lstStyle/>
                    <a:p>
                      <a:pPr algn="r"/>
                      <a:r>
                        <a:rPr sz="1200" b="0" i="0">
                          <a:solidFill>
                            <a:srgbClr val="14171C"/>
                          </a:solidFill>
                          <a:latin typeface="Calibri"/>
                        </a:rPr>
                        <a:t>−0.23</a:t>
                      </a:r>
                    </a:p>
                  </a:txBody>
                  <a:tcPr marL="54864" marR="54864" marT="22860" marB="22860" anchor="ctr">
                    <a:solidFill>
                      <a:srgbClr val="FFFFFF"/>
                    </a:solidFill>
                  </a:tcPr>
                </a:tc>
              </a:tr>
              <a:tr h="329184">
                <a:tc>
                  <a:txBody>
                    <a:bodyPr wrap="square"/>
                    <a:lstStyle/>
                    <a:p>
                      <a:pPr algn="l"/>
                      <a:r>
                        <a:rPr sz="1200" b="0" i="0">
                          <a:solidFill>
                            <a:srgbClr val="14171C"/>
                          </a:solidFill>
                          <a:latin typeface="Calibri"/>
                        </a:rPr>
                        <a:t>7: shaft power vs fuel flow (shp)</a:t>
                      </a:r>
                    </a:p>
                  </a:txBody>
                  <a:tcPr marL="54864" marR="54864" marT="22860" marB="22860" anchor="ctr">
                    <a:solidFill>
                      <a:srgbClr val="F2F3F5"/>
                    </a:solidFill>
                  </a:tcPr>
                </a:tc>
                <a:tc>
                  <a:txBody>
                    <a:bodyPr wrap="square"/>
                    <a:lstStyle/>
                    <a:p>
                      <a:pPr algn="r"/>
                      <a:r>
                        <a:rPr sz="1200" b="0" i="0">
                          <a:solidFill>
                            <a:srgbClr val="14171C"/>
                          </a:solidFill>
                          <a:latin typeface="Calibri"/>
                        </a:rPr>
                        <a:t>25</a:t>
                      </a:r>
                    </a:p>
                  </a:txBody>
                  <a:tcPr marL="54864" marR="54864" marT="22860" marB="22860" anchor="ctr">
                    <a:solidFill>
                      <a:srgbClr val="F2F3F5"/>
                    </a:solidFill>
                  </a:tcPr>
                </a:tc>
                <a:tc>
                  <a:txBody>
                    <a:bodyPr wrap="square"/>
                    <a:lstStyle/>
                    <a:p>
                      <a:pPr algn="r"/>
                      <a:r>
                        <a:rPr sz="1200" b="0" i="0">
                          <a:solidFill>
                            <a:srgbClr val="14171C"/>
                          </a:solidFill>
                          <a:latin typeface="Calibri"/>
                        </a:rPr>
                        <a:t>+0.96</a:t>
                      </a:r>
                    </a:p>
                  </a:txBody>
                  <a:tcPr marL="54864" marR="54864" marT="22860" marB="22860" anchor="ctr">
                    <a:solidFill>
                      <a:srgbClr val="F2F3F5"/>
                    </a:solidFill>
                  </a:tcPr>
                </a:tc>
                <a:tc>
                  <a:txBody>
                    <a:bodyPr wrap="square"/>
                    <a:lstStyle/>
                    <a:p>
                      <a:pPr algn="r"/>
                      <a:r>
                        <a:rPr sz="1200" b="0" i="0">
                          <a:solidFill>
                            <a:srgbClr val="14171C"/>
                          </a:solidFill>
                          <a:latin typeface="Calibri"/>
                        </a:rPr>
                        <a:t>1.81</a:t>
                      </a:r>
                    </a:p>
                  </a:txBody>
                  <a:tcPr marL="54864" marR="54864" marT="22860" marB="22860" anchor="ctr">
                    <a:solidFill>
                      <a:srgbClr val="F2F3F5"/>
                    </a:solidFill>
                  </a:tcPr>
                </a:tc>
                <a:tc>
                  <a:txBody>
                    <a:bodyPr wrap="square"/>
                    <a:lstStyle/>
                    <a:p>
                      <a:pPr algn="r"/>
                      <a:r>
                        <a:rPr sz="1200" b="0" i="0">
                          <a:solidFill>
                            <a:srgbClr val="14171C"/>
                          </a:solidFill>
                          <a:latin typeface="Calibri"/>
                        </a:rPr>
                        <a:t>+5.16</a:t>
                      </a:r>
                    </a:p>
                  </a:txBody>
                  <a:tcPr marL="54864" marR="54864" marT="22860" marB="22860" anchor="ctr">
                    <a:solidFill>
                      <a:srgbClr val="F2F3F5"/>
                    </a:solidFill>
                  </a:tcPr>
                </a:tc>
              </a:tr>
              <a:tr h="329184">
                <a:tc>
                  <a:txBody>
                    <a:bodyPr wrap="square"/>
                    <a:lstStyle/>
                    <a:p>
                      <a:pPr algn="l"/>
                      <a:r>
                        <a:rPr sz="1200" b="0" i="0">
                          <a:solidFill>
                            <a:srgbClr val="14171C"/>
                          </a:solidFill>
                          <a:latin typeface="Calibri"/>
                        </a:rPr>
                        <a:t>8: Ps3 vs NG (%)</a:t>
                      </a:r>
                    </a:p>
                  </a:txBody>
                  <a:tcPr marL="54864" marR="54864" marT="22860" marB="22860" anchor="ctr">
                    <a:solidFill>
                      <a:srgbClr val="FFFFFF"/>
                    </a:solidFill>
                  </a:tcPr>
                </a:tc>
                <a:tc>
                  <a:txBody>
                    <a:bodyPr wrap="square"/>
                    <a:lstStyle/>
                    <a:p>
                      <a:pPr algn="r"/>
                      <a:r>
                        <a:rPr sz="1200" b="0" i="0">
                          <a:solidFill>
                            <a:srgbClr val="14171C"/>
                          </a:solidFill>
                          <a:latin typeface="Calibri"/>
                        </a:rPr>
                        <a:t>31</a:t>
                      </a:r>
                    </a:p>
                  </a:txBody>
                  <a:tcPr marL="54864" marR="54864" marT="22860" marB="22860" anchor="ctr">
                    <a:solidFill>
                      <a:srgbClr val="FFFFFF"/>
                    </a:solidFill>
                  </a:tcPr>
                </a:tc>
                <a:tc>
                  <a:txBody>
                    <a:bodyPr wrap="square"/>
                    <a:lstStyle/>
                    <a:p>
                      <a:pPr algn="r"/>
                      <a:r>
                        <a:rPr sz="1200" b="0" i="0">
                          <a:solidFill>
                            <a:srgbClr val="14171C"/>
                          </a:solidFill>
                          <a:latin typeface="Calibri"/>
                        </a:rPr>
                        <a:t>+0.04</a:t>
                      </a:r>
                    </a:p>
                  </a:txBody>
                  <a:tcPr marL="54864" marR="54864" marT="22860" marB="22860" anchor="ctr">
                    <a:solidFill>
                      <a:srgbClr val="FFFFFF"/>
                    </a:solidFill>
                  </a:tcPr>
                </a:tc>
                <a:tc>
                  <a:txBody>
                    <a:bodyPr wrap="square"/>
                    <a:lstStyle/>
                    <a:p>
                      <a:pPr algn="r"/>
                      <a:r>
                        <a:rPr sz="1200" b="0" i="0">
                          <a:solidFill>
                            <a:srgbClr val="14171C"/>
                          </a:solidFill>
                          <a:latin typeface="Calibri"/>
                        </a:rPr>
                        <a:t>0.22</a:t>
                      </a:r>
                    </a:p>
                  </a:txBody>
                  <a:tcPr marL="54864" marR="54864" marT="22860" marB="22860" anchor="ctr">
                    <a:solidFill>
                      <a:srgbClr val="FFFFFF"/>
                    </a:solidFill>
                  </a:tcPr>
                </a:tc>
                <a:tc>
                  <a:txBody>
                    <a:bodyPr wrap="square"/>
                    <a:lstStyle/>
                    <a:p>
                      <a:pPr algn="r"/>
                      <a:r>
                        <a:rPr sz="1200" b="0" i="0">
                          <a:solidFill>
                            <a:srgbClr val="14171C"/>
                          </a:solidFill>
                          <a:latin typeface="Calibri"/>
                        </a:rPr>
                        <a:t>−0.47</a:t>
                      </a:r>
                    </a:p>
                  </a:txBody>
                  <a:tcPr marL="54864" marR="54864" marT="22860" marB="22860" anchor="ctr">
                    <a:solidFill>
                      <a:srgbClr val="FFFFFF"/>
                    </a:solidFill>
                  </a:tcPr>
                </a:tc>
              </a:tr>
            </a:tbl>
          </a:graphicData>
        </a:graphic>
      </p:graphicFrame>
      <p:sp>
        <p:nvSpPr>
          <p:cNvPr id="10" name="TextBox 9"/>
          <p:cNvSpPr txBox="1"/>
          <p:nvPr/>
        </p:nvSpPr>
        <p:spPr>
          <a:xfrm>
            <a:off x="7315200" y="4663440"/>
            <a:ext cx="4389120" cy="146304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Blue: ours. Orange: Ballin's model, the target (diamonds: Table B.1's printed numbers). Green: GE's two computer models [pdf p.38], for context only (triangles status 81, squares unbalanced torque).</a:t>
            </a:r>
          </a:p>
          <a:p>
            <a:pPr marL="201168" indent="-201168">
              <a:lnSpc>
                <a:spcPct val="105000"/>
              </a:lnSpc>
              <a:spcBef>
                <a:spcPts val="600"/>
              </a:spcBef>
              <a:buFont typeface="Arial"/>
              <a:buChar char="•"/>
            </a:pPr>
            <a:r>
              <a:rPr sz="1300" b="0" i="0">
                <a:solidFill>
                  <a:srgbClr val="14171C"/>
                </a:solidFill>
                <a:latin typeface="Calibri"/>
              </a:rPr>
              <a:t>Agreeing with GE more closely than Ballin does would not be evidence of anything.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Figures 6–8: each point's miss, in units and in percent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6–8, pdf pp.40–42; decision log #83.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37</a:t>
            </a:r>
          </a:p>
        </p:txBody>
      </p:sp>
      <p:pic>
        <p:nvPicPr>
          <p:cNvPr id="8" name="Picture 7" descr="figures-6-8-misses.png"/>
          <p:cNvPicPr>
            <a:picLocks noChangeAspect="1"/>
          </p:cNvPicPr>
          <p:nvPr/>
        </p:nvPicPr>
        <p:blipFill>
          <a:blip r:embed="rId2"/>
          <a:stretch>
            <a:fillRect/>
          </a:stretch>
        </p:blipFill>
        <p:spPr>
          <a:xfrm>
            <a:off x="502920" y="1261872"/>
            <a:ext cx="7818120" cy="3506185"/>
          </a:xfrm>
          <a:prstGeom prst="rect">
            <a:avLst/>
          </a:prstGeom>
        </p:spPr>
      </p:pic>
      <p:graphicFrame>
        <p:nvGraphicFramePr>
          <p:cNvPr id="9" name="Table 8"/>
          <p:cNvGraphicFramePr>
            <a:graphicFrameLocks noGrp="1"/>
          </p:cNvGraphicFramePr>
          <p:nvPr/>
        </p:nvGraphicFramePr>
        <p:xfrm>
          <a:off x="502920" y="4877785"/>
          <a:ext cx="7818116" cy="1170432"/>
        </p:xfrm>
        <a:graphic>
          <a:graphicData uri="http://schemas.openxmlformats.org/drawingml/2006/table">
            <a:tbl>
              <a:tblPr firstRow="1">
                <a:tableStyleId>{5C22544A-7EE6-4342-B048-85BDC9FD1C3A}</a:tableStyleId>
              </a:tblPr>
              <a:tblGrid>
                <a:gridCol w="737558"/>
                <a:gridCol w="1524287"/>
                <a:gridCol w="835899"/>
                <a:gridCol w="934240"/>
                <a:gridCol w="1327605"/>
                <a:gridCol w="983411"/>
                <a:gridCol w="1475116"/>
              </a:tblGrid>
              <a:tr h="292608">
                <a:tc>
                  <a:txBody>
                    <a:bodyPr wrap="square"/>
                    <a:lstStyle/>
                    <a:p>
                      <a:pPr algn="ctr"/>
                      <a:r>
                        <a:rPr sz="1100" b="1" i="0">
                          <a:solidFill>
                            <a:srgbClr val="FFFFFF"/>
                          </a:solidFill>
                          <a:latin typeface="Calibri"/>
                        </a:rPr>
                        <a:t>Figure</a:t>
                      </a:r>
                    </a:p>
                  </a:txBody>
                  <a:tcPr marL="54864" marR="54864" marT="22860" marB="22860" anchor="ctr">
                    <a:solidFill>
                      <a:srgbClr val="4D5563"/>
                    </a:solidFill>
                  </a:tcPr>
                </a:tc>
                <a:tc>
                  <a:txBody>
                    <a:bodyPr wrap="square"/>
                    <a:lstStyle/>
                    <a:p>
                      <a:pPr algn="l"/>
                      <a:r>
                        <a:rPr sz="1100" b="1" i="0">
                          <a:solidFill>
                            <a:srgbClr val="FFFFFF"/>
                          </a:solidFill>
                          <a:latin typeface="Calibri"/>
                        </a:rPr>
                        <a:t>Units</a:t>
                      </a:r>
                    </a:p>
                  </a:txBody>
                  <a:tcPr marL="54864" marR="54864" marT="22860" marB="22860" anchor="ctr">
                    <a:solidFill>
                      <a:srgbClr val="4D5563"/>
                    </a:solidFill>
                  </a:tcPr>
                </a:tc>
                <a:tc>
                  <a:txBody>
                    <a:bodyPr wrap="square"/>
                    <a:lstStyle/>
                    <a:p>
                      <a:pPr algn="r"/>
                      <a:r>
                        <a:rPr sz="1100" b="1" i="0">
                          <a:solidFill>
                            <a:srgbClr val="FFFFFF"/>
                          </a:solidFill>
                          <a:latin typeface="Calibri"/>
                        </a:rPr>
                        <a:t>rms</a:t>
                      </a:r>
                    </a:p>
                  </a:txBody>
                  <a:tcPr marL="54864" marR="54864" marT="22860" marB="22860" anchor="ctr">
                    <a:solidFill>
                      <a:srgbClr val="4D5563"/>
                    </a:solidFill>
                  </a:tcPr>
                </a:tc>
                <a:tc>
                  <a:txBody>
                    <a:bodyPr wrap="square"/>
                    <a:lstStyle/>
                    <a:p>
                      <a:pPr algn="r"/>
                      <a:r>
                        <a:rPr sz="1100" b="1" i="0">
                          <a:solidFill>
                            <a:srgbClr val="FFFFFF"/>
                          </a:solidFill>
                          <a:latin typeface="Calibri"/>
                        </a:rPr>
                        <a:t>worst</a:t>
                      </a:r>
                    </a:p>
                  </a:txBody>
                  <a:tcPr marL="54864" marR="54864" marT="22860" marB="22860" anchor="ctr">
                    <a:solidFill>
                      <a:srgbClr val="4D5563"/>
                    </a:solidFill>
                  </a:tcPr>
                </a:tc>
                <a:tc>
                  <a:txBody>
                    <a:bodyPr wrap="square"/>
                    <a:lstStyle/>
                    <a:p>
                      <a:pPr algn="r"/>
                      <a:r>
                        <a:rPr sz="1100" b="1" i="0">
                          <a:solidFill>
                            <a:srgbClr val="FFFFFF"/>
                          </a:solidFill>
                          <a:latin typeface="Calibri"/>
                        </a:rPr>
                        <a:t>rms, %</a:t>
                      </a:r>
                    </a:p>
                  </a:txBody>
                  <a:tcPr marL="54864" marR="54864" marT="22860" marB="22860" anchor="ctr">
                    <a:solidFill>
                      <a:srgbClr val="4D5563"/>
                    </a:solidFill>
                  </a:tcPr>
                </a:tc>
                <a:tc>
                  <a:txBody>
                    <a:bodyPr wrap="square"/>
                    <a:lstStyle/>
                    <a:p>
                      <a:pPr algn="r"/>
                      <a:r>
                        <a:rPr sz="1100" b="1" i="0">
                          <a:solidFill>
                            <a:srgbClr val="FFFFFF"/>
                          </a:solidFill>
                          <a:latin typeface="Calibri"/>
                        </a:rPr>
                        <a:t>worst, %</a:t>
                      </a:r>
                    </a:p>
                  </a:txBody>
                  <a:tcPr marL="54864" marR="54864" marT="22860" marB="22860" anchor="ctr">
                    <a:solidFill>
                      <a:srgbClr val="4D5563"/>
                    </a:solidFill>
                  </a:tcPr>
                </a:tc>
                <a:tc>
                  <a:txBody>
                    <a:bodyPr wrap="square"/>
                    <a:lstStyle/>
                    <a:p>
                      <a:pPr algn="r"/>
                      <a:r>
                        <a:rPr sz="1100" b="1" i="0">
                          <a:solidFill>
                            <a:srgbClr val="FFFFFF"/>
                          </a:solidFill>
                          <a:latin typeface="Calibri"/>
                        </a:rPr>
                        <a:t>Read error</a:t>
                      </a:r>
                    </a:p>
                  </a:txBody>
                  <a:tcPr marL="54864" marR="54864" marT="22860" marB="22860" anchor="ctr">
                    <a:solidFill>
                      <a:srgbClr val="4D5563"/>
                    </a:solidFill>
                  </a:tcPr>
                </a:tc>
              </a:tr>
              <a:tr h="292608">
                <a:tc>
                  <a:txBody>
                    <a:bodyPr wrap="square"/>
                    <a:lstStyle/>
                    <a:p>
                      <a:pPr algn="ctr"/>
                      <a:r>
                        <a:rPr sz="1100" b="0" i="0">
                          <a:solidFill>
                            <a:srgbClr val="14171C"/>
                          </a:solidFill>
                          <a:latin typeface="Calibri"/>
                        </a:rPr>
                        <a:t>6</a:t>
                      </a:r>
                    </a:p>
                  </a:txBody>
                  <a:tcPr marL="54864" marR="54864" marT="22860" marB="22860" anchor="ctr">
                    <a:solidFill>
                      <a:srgbClr val="FFFFFF"/>
                    </a:solidFill>
                  </a:tcPr>
                </a:tc>
                <a:tc>
                  <a:txBody>
                    <a:bodyPr wrap="square"/>
                    <a:lstStyle/>
                    <a:p>
                      <a:pPr algn="l"/>
                      <a:r>
                        <a:rPr sz="1100" b="0" i="0">
                          <a:solidFill>
                            <a:srgbClr val="14171C"/>
                          </a:solidFill>
                          <a:latin typeface="Calibri"/>
                        </a:rPr>
                        <a:t>%NG (scored)</a:t>
                      </a:r>
                    </a:p>
                  </a:txBody>
                  <a:tcPr marL="54864" marR="54864" marT="22860" marB="22860" anchor="ctr">
                    <a:solidFill>
                      <a:srgbClr val="FFFFFF"/>
                    </a:solidFill>
                  </a:tcPr>
                </a:tc>
                <a:tc>
                  <a:txBody>
                    <a:bodyPr wrap="square"/>
                    <a:lstStyle/>
                    <a:p>
                      <a:pPr algn="r"/>
                      <a:r>
                        <a:rPr sz="1100" b="0" i="0">
                          <a:solidFill>
                            <a:srgbClr val="14171C"/>
                          </a:solidFill>
                          <a:latin typeface="Calibri"/>
                        </a:rPr>
                        <a:t>0.070</a:t>
                      </a:r>
                    </a:p>
                  </a:txBody>
                  <a:tcPr marL="54864" marR="54864" marT="22860" marB="22860" anchor="ctr">
                    <a:solidFill>
                      <a:srgbClr val="FFFFFF"/>
                    </a:solidFill>
                  </a:tcPr>
                </a:tc>
                <a:tc>
                  <a:txBody>
                    <a:bodyPr wrap="square"/>
                    <a:lstStyle/>
                    <a:p>
                      <a:pPr algn="r"/>
                      <a:r>
                        <a:rPr sz="1100" b="0" i="0">
                          <a:solidFill>
                            <a:srgbClr val="14171C"/>
                          </a:solidFill>
                          <a:latin typeface="Calibri"/>
                        </a:rPr>
                        <a:t>−0.227</a:t>
                      </a:r>
                    </a:p>
                  </a:txBody>
                  <a:tcPr marL="54864" marR="54864" marT="22860" marB="22860" anchor="ctr">
                    <a:solidFill>
                      <a:srgbClr val="FFFFFF"/>
                    </a:solidFill>
                  </a:tcPr>
                </a:tc>
                <a:tc>
                  <a:txBody>
                    <a:bodyPr wrap="square"/>
                    <a:lstStyle/>
                    <a:p>
                      <a:pPr algn="r"/>
                      <a:r>
                        <a:rPr sz="1100" b="0" i="0">
                          <a:solidFill>
                            <a:srgbClr val="14171C"/>
                          </a:solidFill>
                          <a:latin typeface="Calibri"/>
                        </a:rPr>
                        <a:t>0.08</a:t>
                      </a:r>
                    </a:p>
                  </a:txBody>
                  <a:tcPr marL="54864" marR="54864" marT="22860" marB="22860" anchor="ctr">
                    <a:solidFill>
                      <a:srgbClr val="FFFFFF"/>
                    </a:solidFill>
                  </a:tcPr>
                </a:tc>
                <a:tc>
                  <a:txBody>
                    <a:bodyPr wrap="square"/>
                    <a:lstStyle/>
                    <a:p>
                      <a:pPr algn="r"/>
                      <a:r>
                        <a:rPr sz="1100" b="0" i="0">
                          <a:solidFill>
                            <a:srgbClr val="14171C"/>
                          </a:solidFill>
                          <a:latin typeface="Calibri"/>
                        </a:rPr>
                        <a:t>−0.28</a:t>
                      </a:r>
                    </a:p>
                  </a:txBody>
                  <a:tcPr marL="54864" marR="54864" marT="22860" marB="22860" anchor="ctr">
                    <a:solidFill>
                      <a:srgbClr val="FFFFFF"/>
                    </a:solidFill>
                  </a:tcPr>
                </a:tc>
                <a:tc>
                  <a:txBody>
                    <a:bodyPr wrap="square"/>
                    <a:lstStyle/>
                    <a:p>
                      <a:pPr algn="r"/>
                      <a:r>
                        <a:rPr sz="1100" b="0" i="0">
                          <a:solidFill>
                            <a:srgbClr val="14171C"/>
                          </a:solidFill>
                          <a:latin typeface="Calibri"/>
                        </a:rPr>
                        <a:t>±0.024 %NG</a:t>
                      </a:r>
                    </a:p>
                  </a:txBody>
                  <a:tcPr marL="54864" marR="54864" marT="22860" marB="22860" anchor="ctr">
                    <a:solidFill>
                      <a:srgbClr val="FFFFFF"/>
                    </a:solidFill>
                  </a:tcPr>
                </a:tc>
              </a:tr>
              <a:tr h="292608">
                <a:tc>
                  <a:txBody>
                    <a:bodyPr wrap="square"/>
                    <a:lstStyle/>
                    <a:p>
                      <a:pPr algn="ctr"/>
                      <a:r>
                        <a:rPr sz="1100" b="0" i="0">
                          <a:solidFill>
                            <a:srgbClr val="14171C"/>
                          </a:solidFill>
                          <a:latin typeface="Calibri"/>
                        </a:rPr>
                        <a:t>7</a:t>
                      </a:r>
                    </a:p>
                  </a:txBody>
                  <a:tcPr marL="54864" marR="54864" marT="22860" marB="22860" anchor="ctr">
                    <a:solidFill>
                      <a:srgbClr val="F2F3F5"/>
                    </a:solidFill>
                  </a:tcPr>
                </a:tc>
                <a:tc>
                  <a:txBody>
                    <a:bodyPr wrap="square"/>
                    <a:lstStyle/>
                    <a:p>
                      <a:pPr algn="l"/>
                      <a:r>
                        <a:rPr sz="1100" b="0" i="0">
                          <a:solidFill>
                            <a:srgbClr val="14171C"/>
                          </a:solidFill>
                          <a:latin typeface="Calibri"/>
                        </a:rPr>
                        <a:t>shp (scored)</a:t>
                      </a:r>
                    </a:p>
                  </a:txBody>
                  <a:tcPr marL="54864" marR="54864" marT="22860" marB="22860" anchor="ctr">
                    <a:solidFill>
                      <a:srgbClr val="F2F3F5"/>
                    </a:solidFill>
                  </a:tcPr>
                </a:tc>
                <a:tc>
                  <a:txBody>
                    <a:bodyPr wrap="square"/>
                    <a:lstStyle/>
                    <a:p>
                      <a:pPr algn="r"/>
                      <a:r>
                        <a:rPr sz="1100" b="0" i="0">
                          <a:solidFill>
                            <a:srgbClr val="14171C"/>
                          </a:solidFill>
                          <a:latin typeface="Calibri"/>
                        </a:rPr>
                        <a:t>1.81</a:t>
                      </a:r>
                    </a:p>
                  </a:txBody>
                  <a:tcPr marL="54864" marR="54864" marT="22860" marB="22860" anchor="ctr">
                    <a:solidFill>
                      <a:srgbClr val="F2F3F5"/>
                    </a:solidFill>
                  </a:tcPr>
                </a:tc>
                <a:tc>
                  <a:txBody>
                    <a:bodyPr wrap="square"/>
                    <a:lstStyle/>
                    <a:p>
                      <a:pPr algn="r"/>
                      <a:r>
                        <a:rPr sz="1100" b="0" i="0">
                          <a:solidFill>
                            <a:srgbClr val="14171C"/>
                          </a:solidFill>
                          <a:latin typeface="Calibri"/>
                        </a:rPr>
                        <a:t>+5.16</a:t>
                      </a:r>
                    </a:p>
                  </a:txBody>
                  <a:tcPr marL="54864" marR="54864" marT="22860" marB="22860" anchor="ctr">
                    <a:solidFill>
                      <a:srgbClr val="F2F3F5"/>
                    </a:solidFill>
                  </a:tcPr>
                </a:tc>
                <a:tc>
                  <a:txBody>
                    <a:bodyPr wrap="square"/>
                    <a:lstStyle/>
                    <a:p>
                      <a:pPr algn="r"/>
                      <a:r>
                        <a:rPr sz="1100" b="0" i="0">
                          <a:solidFill>
                            <a:srgbClr val="14171C"/>
                          </a:solidFill>
                          <a:latin typeface="Calibri"/>
                        </a:rPr>
                        <a:t>2.22</a:t>
                      </a:r>
                    </a:p>
                  </a:txBody>
                  <a:tcPr marL="54864" marR="54864" marT="22860" marB="22860" anchor="ctr">
                    <a:solidFill>
                      <a:srgbClr val="F2F3F5"/>
                    </a:solidFill>
                  </a:tcPr>
                </a:tc>
                <a:tc>
                  <a:txBody>
                    <a:bodyPr wrap="square"/>
                    <a:lstStyle/>
                    <a:p>
                      <a:pPr algn="r"/>
                      <a:r>
                        <a:rPr sz="1100" b="0" i="0">
                          <a:solidFill>
                            <a:srgbClr val="14171C"/>
                          </a:solidFill>
                          <a:latin typeface="Calibri"/>
                        </a:rPr>
                        <a:t>+10.57</a:t>
                      </a:r>
                    </a:p>
                  </a:txBody>
                  <a:tcPr marL="54864" marR="54864" marT="22860" marB="22860" anchor="ctr">
                    <a:solidFill>
                      <a:srgbClr val="F2F3F5"/>
                    </a:solidFill>
                  </a:tcPr>
                </a:tc>
                <a:tc>
                  <a:txBody>
                    <a:bodyPr wrap="square"/>
                    <a:lstStyle/>
                    <a:p>
                      <a:pPr algn="r"/>
                      <a:r>
                        <a:rPr sz="1100" b="0" i="0">
                          <a:solidFill>
                            <a:srgbClr val="14171C"/>
                          </a:solidFill>
                          <a:latin typeface="Calibri"/>
                        </a:rPr>
                        <a:t>±1.40 shp</a:t>
                      </a:r>
                    </a:p>
                  </a:txBody>
                  <a:tcPr marL="54864" marR="54864" marT="22860" marB="22860" anchor="ctr">
                    <a:solidFill>
                      <a:srgbClr val="F2F3F5"/>
                    </a:solidFill>
                  </a:tcPr>
                </a:tc>
              </a:tr>
              <a:tr h="292608">
                <a:tc>
                  <a:txBody>
                    <a:bodyPr wrap="square"/>
                    <a:lstStyle/>
                    <a:p>
                      <a:pPr algn="ctr"/>
                      <a:r>
                        <a:rPr sz="1100" b="0" i="0">
                          <a:solidFill>
                            <a:srgbClr val="14171C"/>
                          </a:solidFill>
                          <a:latin typeface="Calibri"/>
                        </a:rPr>
                        <a:t>8</a:t>
                      </a:r>
                    </a:p>
                  </a:txBody>
                  <a:tcPr marL="54864" marR="54864" marT="22860" marB="22860" anchor="ctr">
                    <a:solidFill>
                      <a:srgbClr val="FFFFFF"/>
                    </a:solidFill>
                  </a:tcPr>
                </a:tc>
                <a:tc>
                  <a:txBody>
                    <a:bodyPr wrap="square"/>
                    <a:lstStyle/>
                    <a:p>
                      <a:pPr algn="l"/>
                      <a:r>
                        <a:rPr sz="1100" b="0" i="0">
                          <a:solidFill>
                            <a:srgbClr val="14171C"/>
                          </a:solidFill>
                          <a:latin typeface="Calibri"/>
                        </a:rPr>
                        <a:t>psia</a:t>
                      </a:r>
                    </a:p>
                  </a:txBody>
                  <a:tcPr marL="54864" marR="54864" marT="22860" marB="22860" anchor="ctr">
                    <a:solidFill>
                      <a:srgbClr val="FFFFFF"/>
                    </a:solidFill>
                  </a:tcPr>
                </a:tc>
                <a:tc>
                  <a:txBody>
                    <a:bodyPr wrap="square"/>
                    <a:lstStyle/>
                    <a:p>
                      <a:pPr algn="r"/>
                      <a:r>
                        <a:rPr sz="1100" b="0" i="0">
                          <a:solidFill>
                            <a:srgbClr val="14171C"/>
                          </a:solidFill>
                          <a:latin typeface="Calibri"/>
                        </a:rPr>
                        <a:t>0.28</a:t>
                      </a:r>
                    </a:p>
                  </a:txBody>
                  <a:tcPr marL="54864" marR="54864" marT="22860" marB="22860" anchor="ctr">
                    <a:solidFill>
                      <a:srgbClr val="FFFFFF"/>
                    </a:solidFill>
                  </a:tcPr>
                </a:tc>
                <a:tc>
                  <a:txBody>
                    <a:bodyPr wrap="square"/>
                    <a:lstStyle/>
                    <a:p>
                      <a:pPr algn="r"/>
                      <a:r>
                        <a:rPr sz="1100" b="0" i="0">
                          <a:solidFill>
                            <a:srgbClr val="14171C"/>
                          </a:solidFill>
                          <a:latin typeface="Calibri"/>
                        </a:rPr>
                        <a:t>−0.74</a:t>
                      </a:r>
                    </a:p>
                  </a:txBody>
                  <a:tcPr marL="54864" marR="54864" marT="22860" marB="22860" anchor="ctr">
                    <a:solidFill>
                      <a:srgbClr val="FFFFFF"/>
                    </a:solidFill>
                  </a:tcPr>
                </a:tc>
                <a:tc>
                  <a:txBody>
                    <a:bodyPr wrap="square"/>
                    <a:lstStyle/>
                    <a:p>
                      <a:pPr algn="r"/>
                      <a:r>
                        <a:rPr sz="1100" b="0" i="0">
                          <a:solidFill>
                            <a:srgbClr val="14171C"/>
                          </a:solidFill>
                          <a:latin typeface="Calibri"/>
                        </a:rPr>
                        <a:t>0.22 (scored)</a:t>
                      </a:r>
                    </a:p>
                  </a:txBody>
                  <a:tcPr marL="54864" marR="54864" marT="22860" marB="22860" anchor="ctr">
                    <a:solidFill>
                      <a:srgbClr val="FFFFFF"/>
                    </a:solidFill>
                  </a:tcPr>
                </a:tc>
                <a:tc>
                  <a:txBody>
                    <a:bodyPr wrap="square"/>
                    <a:lstStyle/>
                    <a:p>
                      <a:pPr algn="r"/>
                      <a:r>
                        <a:rPr sz="1100" b="0" i="0">
                          <a:solidFill>
                            <a:srgbClr val="14171C"/>
                          </a:solidFill>
                          <a:latin typeface="Calibri"/>
                        </a:rPr>
                        <a:t>−0.47</a:t>
                      </a:r>
                    </a:p>
                  </a:txBody>
                  <a:tcPr marL="54864" marR="54864" marT="22860" marB="22860" anchor="ctr">
                    <a:solidFill>
                      <a:srgbClr val="FFFFFF"/>
                    </a:solidFill>
                  </a:tcPr>
                </a:tc>
                <a:tc>
                  <a:txBody>
                    <a:bodyPr wrap="square"/>
                    <a:lstStyle/>
                    <a:p>
                      <a:pPr algn="r"/>
                      <a:r>
                        <a:rPr sz="1100" b="0" i="0">
                          <a:solidFill>
                            <a:srgbClr val="14171C"/>
                          </a:solidFill>
                          <a:latin typeface="Calibri"/>
                        </a:rPr>
                        <a:t>±0.15 psia</a:t>
                      </a:r>
                    </a:p>
                  </a:txBody>
                  <a:tcPr marL="54864" marR="54864" marT="22860" marB="22860" anchor="ctr">
                    <a:solidFill>
                      <a:srgbClr val="FFFFFF"/>
                    </a:solidFill>
                  </a:tcPr>
                </a:tc>
              </a:tr>
            </a:tbl>
          </a:graphicData>
        </a:graphic>
      </p:graphicFrame>
      <p:sp>
        <p:nvSpPr>
          <p:cNvPr id="10" name="TextBox 9"/>
          <p:cNvSpPr txBox="1"/>
          <p:nvPr/>
        </p:nvSpPr>
        <p:spPr>
          <a:xfrm>
            <a:off x="8595360" y="1280160"/>
            <a:ext cx="3093415" cy="4754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200" b="1" i="0">
                <a:solidFill>
                  <a:srgbClr val="14171C"/>
                </a:solidFill>
                <a:latin typeface="Calibri"/>
              </a:rPr>
              <a:t>Grey:</a:t>
            </a:r>
            <a:r>
              <a:rPr sz="1200" b="0" i="0">
                <a:solidFill>
                  <a:srgbClr val="14171C"/>
                </a:solidFill>
                <a:latin typeface="Calibri"/>
              </a:rPr>
              <a:t> the axis read error each digitized file publishes. In the figure's units it is constant; in percent it grows as his value falls.</a:t>
            </a:r>
          </a:p>
          <a:p>
            <a:pPr marL="201168" indent="-201168">
              <a:lnSpc>
                <a:spcPct val="105000"/>
              </a:lnSpc>
              <a:spcBef>
                <a:spcPts val="800"/>
              </a:spcBef>
              <a:buFont typeface="Arial"/>
              <a:buChar char="•"/>
            </a:pPr>
            <a:r>
              <a:rPr sz="1200" b="1" i="0">
                <a:solidFill>
                  <a:srgbClr val="14171C"/>
                </a:solidFill>
                <a:latin typeface="Calibri"/>
              </a:rPr>
              <a:t>Figure 7</a:t>
            </a:r>
            <a:r>
              <a:rPr sz="1200" b="0" i="0">
                <a:solidFill>
                  <a:srgbClr val="14171C"/>
                </a:solidFill>
                <a:latin typeface="Calibri"/>
              </a:rPr>
              <a:t> falls to 9 shp at low power, where the read error alone is 15 % of the value. Its worst miss in percent, +10.6 %, is +1.0 shp. So Figure 7 is scored in shp.</a:t>
            </a:r>
          </a:p>
          <a:p>
            <a:pPr marL="201168" indent="-201168">
              <a:lnSpc>
                <a:spcPct val="105000"/>
              </a:lnSpc>
              <a:spcBef>
                <a:spcPts val="800"/>
              </a:spcBef>
              <a:buFont typeface="Arial"/>
              <a:buChar char="•"/>
            </a:pPr>
            <a:r>
              <a:rPr sz="1200" b="1" i="0">
                <a:solidFill>
                  <a:srgbClr val="14171C"/>
                </a:solidFill>
                <a:latin typeface="Calibri"/>
              </a:rPr>
              <a:t>Figure 6</a:t>
            </a:r>
            <a:r>
              <a:rPr sz="1200" b="0" i="0">
                <a:solidFill>
                  <a:srgbClr val="14171C"/>
                </a:solidFill>
                <a:latin typeface="Calibri"/>
              </a:rPr>
              <a:t> is already a percentage, and </a:t>
            </a:r>
            <a:r>
              <a:rPr sz="1200" b="1" i="0">
                <a:solidFill>
                  <a:srgbClr val="14171C"/>
                </a:solidFill>
                <a:latin typeface="Calibri"/>
              </a:rPr>
              <a:t>Figure 8</a:t>
            </a:r>
            <a:r>
              <a:rPr sz="1200" b="0" i="0">
                <a:solidFill>
                  <a:srgbClr val="14171C"/>
                </a:solidFill>
                <a:latin typeface="Calibri"/>
              </a:rPr>
              <a:t>'s Ps3 never falls below 61 psia: either way tells the same story.</a:t>
            </a:r>
          </a:p>
          <a:p>
            <a:pPr marL="201168" indent="-201168">
              <a:lnSpc>
                <a:spcPct val="105000"/>
              </a:lnSpc>
              <a:spcBef>
                <a:spcPts val="800"/>
              </a:spcBef>
              <a:buFont typeface="Arial"/>
              <a:buChar char="•"/>
            </a:pPr>
            <a:r>
              <a:rPr sz="1200" b="0" i="0">
                <a:solidFill>
                  <a:srgbClr val="14171C"/>
                </a:solidFill>
                <a:latin typeface="Calibri"/>
              </a:rPr>
              <a:t>Outside the grey, the gap is larger than the axis reading can explain: up to 5.2 shp on Figure 7 and 0.74 psia on Figure 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report disagrees with itself</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B.1, pdf p.67; Figures 6–7, pdf pp.40–41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38</a:t>
            </a:r>
          </a:p>
        </p:txBody>
      </p:sp>
      <p:sp>
        <p:nvSpPr>
          <p:cNvPr id="8" name="TextBox 7"/>
          <p:cNvSpPr txBox="1"/>
          <p:nvPr/>
        </p:nvSpPr>
        <p:spPr>
          <a:xfrm>
            <a:off x="502920" y="1325880"/>
            <a:ext cx="11185855" cy="731520"/>
          </a:xfrm>
          <a:prstGeom prst="rect">
            <a:avLst/>
          </a:prstGeom>
          <a:noFill/>
        </p:spPr>
        <p:txBody>
          <a:bodyPr wrap="square" anchor="t" lIns="36576" rIns="36576" tIns="27432" bIns="27432">
            <a:noAutofit/>
          </a:bodyPr>
          <a:lstStyle/>
          <a:p>
            <a:pPr>
              <a:lnSpc>
                <a:spcPct val="105000"/>
              </a:lnSpc>
              <a:spcBef>
                <a:spcPts val="0"/>
              </a:spcBef>
            </a:pPr>
            <a:r>
              <a:rPr sz="1500" b="0" i="0">
                <a:solidFill>
                  <a:srgbClr val="14171C"/>
                </a:solidFill>
                <a:latin typeface="Calibri"/>
              </a:rPr>
              <a:t>Table B.1 and Figures 6–7 describe the same three operating points. Where they differ, Table B.1 is primary: it has no digitizing error of ours, and Appendix B and Table 1 come from the same trims.</a:t>
            </a:r>
          </a:p>
        </p:txBody>
      </p:sp>
      <p:graphicFrame>
        <p:nvGraphicFramePr>
          <p:cNvPr id="9" name="Table 8"/>
          <p:cNvGraphicFramePr>
            <a:graphicFrameLocks noGrp="1"/>
          </p:cNvGraphicFramePr>
          <p:nvPr/>
        </p:nvGraphicFramePr>
        <p:xfrm>
          <a:off x="502920" y="2194560"/>
          <a:ext cx="7680960" cy="2432304"/>
        </p:xfrm>
        <a:graphic>
          <a:graphicData uri="http://schemas.openxmlformats.org/drawingml/2006/table">
            <a:tbl>
              <a:tblPr firstRow="1">
                <a:tableStyleId>{5C22544A-7EE6-4342-B048-85BDC9FD1C3A}</a:tableStyleId>
              </a:tblPr>
              <a:tblGrid>
                <a:gridCol w="1097280"/>
                <a:gridCol w="1005840"/>
                <a:gridCol w="1188720"/>
                <a:gridCol w="2377440"/>
                <a:gridCol w="2011680"/>
              </a:tblGrid>
              <a:tr h="347472">
                <a:tc>
                  <a:txBody>
                    <a:bodyPr wrap="square"/>
                    <a:lstStyle/>
                    <a:p>
                      <a:pPr algn="l"/>
                      <a:r>
                        <a:rPr sz="1200" b="1" i="0">
                          <a:solidFill>
                            <a:srgbClr val="FFFFFF"/>
                          </a:solidFill>
                          <a:latin typeface="Calibri"/>
                        </a:rPr>
                        <a:t>Trim</a:t>
                      </a:r>
                    </a:p>
                  </a:txBody>
                  <a:tcPr marL="54864" marR="54864" marT="22860" marB="22860" anchor="ctr">
                    <a:solidFill>
                      <a:srgbClr val="4D5563"/>
                    </a:solidFill>
                  </a:tcPr>
                </a:tc>
                <a:tc>
                  <a:txBody>
                    <a:bodyPr wrap="square"/>
                    <a:lstStyle/>
                    <a:p>
                      <a:pPr algn="r"/>
                      <a:r>
                        <a:rPr sz="1200" b="1" i="0">
                          <a:solidFill>
                            <a:srgbClr val="FFFFFF"/>
                          </a:solidFill>
                          <a:latin typeface="Calibri"/>
                        </a:rPr>
                        <a:t>Quantity</a:t>
                      </a:r>
                    </a:p>
                  </a:txBody>
                  <a:tcPr marL="54864" marR="54864" marT="22860" marB="22860" anchor="ctr">
                    <a:solidFill>
                      <a:srgbClr val="4D5563"/>
                    </a:solidFill>
                  </a:tcPr>
                </a:tc>
                <a:tc>
                  <a:txBody>
                    <a:bodyPr wrap="square"/>
                    <a:lstStyle/>
                    <a:p>
                      <a:pPr algn="r"/>
                      <a:r>
                        <a:rPr sz="1200" b="1" i="0">
                          <a:solidFill>
                            <a:srgbClr val="FFFFFF"/>
                          </a:solidFill>
                          <a:latin typeface="Calibri"/>
                        </a:rPr>
                        <a:t>Wf, lbm/hr</a:t>
                      </a:r>
                    </a:p>
                  </a:txBody>
                  <a:tcPr marL="54864" marR="54864" marT="22860" marB="22860" anchor="ctr">
                    <a:solidFill>
                      <a:srgbClr val="4D5563"/>
                    </a:solidFill>
                  </a:tcPr>
                </a:tc>
                <a:tc>
                  <a:txBody>
                    <a:bodyPr wrap="square"/>
                    <a:lstStyle/>
                    <a:p>
                      <a:pPr algn="r"/>
                      <a:r>
                        <a:rPr sz="1200" b="1" i="0">
                          <a:solidFill>
                            <a:srgbClr val="FFFFFF"/>
                          </a:solidFill>
                          <a:latin typeface="Calibri"/>
                        </a:rPr>
                        <a:t>Table B.1 vs Ballin's figure</a:t>
                      </a:r>
                    </a:p>
                  </a:txBody>
                  <a:tcPr marL="54864" marR="54864" marT="22860" marB="22860" anchor="ctr">
                    <a:solidFill>
                      <a:srgbClr val="4D5563"/>
                    </a:solidFill>
                  </a:tcPr>
                </a:tc>
                <a:tc>
                  <a:txBody>
                    <a:bodyPr wrap="square"/>
                    <a:lstStyle/>
                    <a:p>
                      <a:pPr algn="r"/>
                      <a:r>
                        <a:rPr sz="1200" b="1" i="0">
                          <a:solidFill>
                            <a:srgbClr val="FFFFFF"/>
                          </a:solidFill>
                          <a:latin typeface="Calibri"/>
                        </a:rPr>
                        <a:t>Ours vs Table B.1</a:t>
                      </a:r>
                    </a:p>
                  </a:txBody>
                  <a:tcPr marL="54864" marR="54864" marT="22860" marB="22860" anchor="ctr">
                    <a:solidFill>
                      <a:srgbClr val="4D5563"/>
                    </a:solidFill>
                  </a:tcPr>
                </a:tc>
              </a:tr>
              <a:tr h="347472">
                <a:tc>
                  <a:txBody>
                    <a:bodyPr wrap="square"/>
                    <a:lstStyle/>
                    <a:p>
                      <a:pPr algn="l"/>
                      <a:r>
                        <a:rPr sz="1200" b="0" i="0">
                          <a:solidFill>
                            <a:srgbClr val="14171C"/>
                          </a:solidFill>
                          <a:latin typeface="Calibri"/>
                        </a:rPr>
                        <a:t>hover</a:t>
                      </a:r>
                    </a:p>
                  </a:txBody>
                  <a:tcPr marL="54864" marR="54864" marT="22860" marB="22860" anchor="ctr">
                    <a:solidFill>
                      <a:srgbClr val="FFFFFF"/>
                    </a:solidFill>
                  </a:tcPr>
                </a:tc>
                <a:tc>
                  <a:txBody>
                    <a:bodyPr wrap="square"/>
                    <a:lstStyle/>
                    <a:p>
                      <a:pPr algn="r"/>
                      <a:r>
                        <a:rPr sz="1200" b="0" i="0">
                          <a:solidFill>
                            <a:srgbClr val="14171C"/>
                          </a:solidFill>
                          <a:latin typeface="Calibri"/>
                        </a:rPr>
                        <a:t>NG</a:t>
                      </a:r>
                    </a:p>
                  </a:txBody>
                  <a:tcPr marL="54864" marR="54864" marT="22860" marB="22860" anchor="ctr">
                    <a:solidFill>
                      <a:srgbClr val="FFFFFF"/>
                    </a:solidFill>
                  </a:tcPr>
                </a:tc>
                <a:tc>
                  <a:txBody>
                    <a:bodyPr wrap="square"/>
                    <a:lstStyle/>
                    <a:p>
                      <a:pPr algn="r"/>
                      <a:r>
                        <a:rPr sz="1200" b="0" i="0">
                          <a:solidFill>
                            <a:srgbClr val="14171C"/>
                          </a:solidFill>
                          <a:latin typeface="Calibri"/>
                        </a:rPr>
                        <a:t>476.3</a:t>
                      </a:r>
                    </a:p>
                  </a:txBody>
                  <a:tcPr marL="54864" marR="54864" marT="22860" marB="22860" anchor="ctr">
                    <a:solidFill>
                      <a:srgbClr val="FFFFFF"/>
                    </a:solidFill>
                  </a:tcPr>
                </a:tc>
                <a:tc>
                  <a:txBody>
                    <a:bodyPr wrap="square"/>
                    <a:lstStyle/>
                    <a:p>
                      <a:pPr algn="r"/>
                      <a:r>
                        <a:rPr sz="1200" b="0" i="0">
                          <a:solidFill>
                            <a:srgbClr val="14171C"/>
                          </a:solidFill>
                          <a:latin typeface="Calibri"/>
                        </a:rPr>
                        <a:t>+0.00 %NG pts</a:t>
                      </a:r>
                    </a:p>
                  </a:txBody>
                  <a:tcPr marL="54864" marR="54864" marT="22860" marB="22860" anchor="ctr">
                    <a:solidFill>
                      <a:srgbClr val="FFFFFF"/>
                    </a:solidFill>
                  </a:tcPr>
                </a:tc>
                <a:tc>
                  <a:txBody>
                    <a:bodyPr wrap="square"/>
                    <a:lstStyle/>
                    <a:p>
                      <a:pPr algn="r"/>
                      <a:r>
                        <a:rPr sz="1200" b="0" i="0">
                          <a:solidFill>
                            <a:srgbClr val="14171C"/>
                          </a:solidFill>
                          <a:latin typeface="Calibri"/>
                        </a:rPr>
                        <a:t>+0.00 %NG pts</a:t>
                      </a:r>
                    </a:p>
                  </a:txBody>
                  <a:tcPr marL="54864" marR="54864" marT="22860" marB="22860" anchor="ctr">
                    <a:solidFill>
                      <a:srgbClr val="FFFFFF"/>
                    </a:solidFill>
                  </a:tcPr>
                </a:tc>
              </a:tr>
              <a:tr h="347472">
                <a:tc>
                  <a:txBody>
                    <a:bodyPr wrap="square"/>
                    <a:lstStyle/>
                    <a:p>
                      <a:pPr algn="l"/>
                      <a:r>
                        <a:rPr sz="1200" b="0" i="0">
                          <a:solidFill>
                            <a:srgbClr val="14171C"/>
                          </a:solidFill>
                          <a:latin typeface="Calibri"/>
                        </a:rPr>
                        <a:t>hover</a:t>
                      </a:r>
                    </a:p>
                  </a:txBody>
                  <a:tcPr marL="54864" marR="54864" marT="22860" marB="22860" anchor="ctr">
                    <a:solidFill>
                      <a:srgbClr val="F2F3F5"/>
                    </a:solidFill>
                  </a:tcPr>
                </a:tc>
                <a:tc>
                  <a:txBody>
                    <a:bodyPr wrap="square"/>
                    <a:lstStyle/>
                    <a:p>
                      <a:pPr algn="r"/>
                      <a:r>
                        <a:rPr sz="1200" b="0" i="0">
                          <a:solidFill>
                            <a:srgbClr val="14171C"/>
                          </a:solidFill>
                          <a:latin typeface="Calibri"/>
                        </a:rPr>
                        <a:t>SHP</a:t>
                      </a:r>
                    </a:p>
                  </a:txBody>
                  <a:tcPr marL="54864" marR="54864" marT="22860" marB="22860" anchor="ctr">
                    <a:solidFill>
                      <a:srgbClr val="F2F3F5"/>
                    </a:solidFill>
                  </a:tcPr>
                </a:tc>
                <a:tc>
                  <a:txBody>
                    <a:bodyPr wrap="square"/>
                    <a:lstStyle/>
                    <a:p>
                      <a:pPr algn="r"/>
                      <a:r>
                        <a:rPr sz="1200" b="0" i="0">
                          <a:solidFill>
                            <a:srgbClr val="14171C"/>
                          </a:solidFill>
                          <a:latin typeface="Calibri"/>
                        </a:rPr>
                        <a:t>476.3</a:t>
                      </a:r>
                    </a:p>
                  </a:txBody>
                  <a:tcPr marL="54864" marR="54864" marT="22860" marB="22860" anchor="ctr">
                    <a:solidFill>
                      <a:srgbClr val="F2F3F5"/>
                    </a:solidFill>
                  </a:tcPr>
                </a:tc>
                <a:tc>
                  <a:txBody>
                    <a:bodyPr wrap="square"/>
                    <a:lstStyle/>
                    <a:p>
                      <a:pPr algn="r"/>
                      <a:r>
                        <a:rPr sz="1200" b="0" i="0">
                          <a:solidFill>
                            <a:srgbClr val="14171C"/>
                          </a:solidFill>
                          <a:latin typeface="Calibri"/>
                        </a:rPr>
                        <a:t>−0.03 %</a:t>
                      </a:r>
                    </a:p>
                  </a:txBody>
                  <a:tcPr marL="54864" marR="54864" marT="22860" marB="22860" anchor="ctr">
                    <a:solidFill>
                      <a:srgbClr val="F2F3F5"/>
                    </a:solidFill>
                  </a:tcPr>
                </a:tc>
                <a:tc>
                  <a:txBody>
                    <a:bodyPr wrap="square"/>
                    <a:lstStyle/>
                    <a:p>
                      <a:pPr algn="r"/>
                      <a:r>
                        <a:rPr sz="1200" b="0" i="0">
                          <a:solidFill>
                            <a:srgbClr val="14171C"/>
                          </a:solidFill>
                          <a:latin typeface="Calibri"/>
                        </a:rPr>
                        <a:t>−0.06 %</a:t>
                      </a:r>
                    </a:p>
                  </a:txBody>
                  <a:tcPr marL="54864" marR="54864" marT="22860" marB="22860" anchor="ctr">
                    <a:solidFill>
                      <a:srgbClr val="F2F3F5"/>
                    </a:solidFill>
                  </a:tcPr>
                </a:tc>
              </a:tr>
              <a:tr h="347472">
                <a:tc>
                  <a:txBody>
                    <a:bodyPr wrap="square"/>
                    <a:lstStyle/>
                    <a:p>
                      <a:pPr algn="l"/>
                      <a:r>
                        <a:rPr sz="1200" b="0" i="0">
                          <a:solidFill>
                            <a:srgbClr val="14171C"/>
                          </a:solidFill>
                          <a:latin typeface="Calibri"/>
                        </a:rPr>
                        <a:t>level</a:t>
                      </a:r>
                    </a:p>
                  </a:txBody>
                  <a:tcPr marL="54864" marR="54864" marT="22860" marB="22860" anchor="ctr">
                    <a:solidFill>
                      <a:srgbClr val="FFFFFF"/>
                    </a:solidFill>
                  </a:tcPr>
                </a:tc>
                <a:tc>
                  <a:txBody>
                    <a:bodyPr wrap="square"/>
                    <a:lstStyle/>
                    <a:p>
                      <a:pPr algn="r"/>
                      <a:r>
                        <a:rPr sz="1200" b="0" i="0">
                          <a:solidFill>
                            <a:srgbClr val="14171C"/>
                          </a:solidFill>
                          <a:latin typeface="Calibri"/>
                        </a:rPr>
                        <a:t>NG</a:t>
                      </a:r>
                    </a:p>
                  </a:txBody>
                  <a:tcPr marL="54864" marR="54864" marT="22860" marB="22860" anchor="ctr">
                    <a:solidFill>
                      <a:srgbClr val="FFFFFF"/>
                    </a:solidFill>
                  </a:tcPr>
                </a:tc>
                <a:tc>
                  <a:txBody>
                    <a:bodyPr wrap="square"/>
                    <a:lstStyle/>
                    <a:p>
                      <a:pPr algn="r"/>
                      <a:r>
                        <a:rPr sz="1200" b="0" i="0">
                          <a:solidFill>
                            <a:srgbClr val="14171C"/>
                          </a:solidFill>
                          <a:latin typeface="Calibri"/>
                        </a:rPr>
                        <a:t>349.3</a:t>
                      </a:r>
                    </a:p>
                  </a:txBody>
                  <a:tcPr marL="54864" marR="54864" marT="22860" marB="22860" anchor="ctr">
                    <a:solidFill>
                      <a:srgbClr val="FFFFFF"/>
                    </a:solidFill>
                  </a:tcPr>
                </a:tc>
                <a:tc>
                  <a:txBody>
                    <a:bodyPr wrap="square"/>
                    <a:lstStyle/>
                    <a:p>
                      <a:pPr algn="r"/>
                      <a:r>
                        <a:rPr sz="1200" b="0" i="0">
                          <a:solidFill>
                            <a:srgbClr val="14171C"/>
                          </a:solidFill>
                          <a:latin typeface="Calibri"/>
                        </a:rPr>
                        <a:t>−0.02 %NG pts</a:t>
                      </a:r>
                    </a:p>
                  </a:txBody>
                  <a:tcPr marL="54864" marR="54864" marT="22860" marB="22860" anchor="ctr">
                    <a:solidFill>
                      <a:srgbClr val="FFFFFF"/>
                    </a:solidFill>
                  </a:tcPr>
                </a:tc>
                <a:tc>
                  <a:txBody>
                    <a:bodyPr wrap="square"/>
                    <a:lstStyle/>
                    <a:p>
                      <a:pPr algn="r"/>
                      <a:r>
                        <a:rPr sz="1200" b="0" i="0">
                          <a:solidFill>
                            <a:srgbClr val="14171C"/>
                          </a:solidFill>
                          <a:latin typeface="Calibri"/>
                        </a:rPr>
                        <a:t>+0.12 %NG pts</a:t>
                      </a:r>
                    </a:p>
                  </a:txBody>
                  <a:tcPr marL="54864" marR="54864" marT="22860" marB="22860" anchor="ctr">
                    <a:solidFill>
                      <a:srgbClr val="FFFFFF"/>
                    </a:solidFill>
                  </a:tcPr>
                </a:tc>
              </a:tr>
              <a:tr h="347472">
                <a:tc>
                  <a:txBody>
                    <a:bodyPr wrap="square"/>
                    <a:lstStyle/>
                    <a:p>
                      <a:pPr algn="l"/>
                      <a:r>
                        <a:rPr sz="1200" b="0" i="0">
                          <a:solidFill>
                            <a:srgbClr val="14171C"/>
                          </a:solidFill>
                          <a:latin typeface="Calibri"/>
                        </a:rPr>
                        <a:t>level</a:t>
                      </a:r>
                    </a:p>
                  </a:txBody>
                  <a:tcPr marL="54864" marR="54864" marT="22860" marB="22860" anchor="ctr">
                    <a:solidFill>
                      <a:srgbClr val="F2F3F5"/>
                    </a:solidFill>
                  </a:tcPr>
                </a:tc>
                <a:tc>
                  <a:txBody>
                    <a:bodyPr wrap="square"/>
                    <a:lstStyle/>
                    <a:p>
                      <a:pPr algn="r"/>
                      <a:r>
                        <a:rPr sz="1200" b="0" i="0">
                          <a:solidFill>
                            <a:srgbClr val="14171C"/>
                          </a:solidFill>
                          <a:latin typeface="Calibri"/>
                        </a:rPr>
                        <a:t>SHP</a:t>
                      </a:r>
                    </a:p>
                  </a:txBody>
                  <a:tcPr marL="54864" marR="54864" marT="22860" marB="22860" anchor="ctr">
                    <a:solidFill>
                      <a:srgbClr val="F2F3F5"/>
                    </a:solidFill>
                  </a:tcPr>
                </a:tc>
                <a:tc>
                  <a:txBody>
                    <a:bodyPr wrap="square"/>
                    <a:lstStyle/>
                    <a:p>
                      <a:pPr algn="r"/>
                      <a:r>
                        <a:rPr sz="1200" b="0" i="0">
                          <a:solidFill>
                            <a:srgbClr val="14171C"/>
                          </a:solidFill>
                          <a:latin typeface="Calibri"/>
                        </a:rPr>
                        <a:t>349.3</a:t>
                      </a:r>
                    </a:p>
                  </a:txBody>
                  <a:tcPr marL="54864" marR="54864" marT="22860" marB="22860" anchor="ctr">
                    <a:solidFill>
                      <a:srgbClr val="F2F3F5"/>
                    </a:solidFill>
                  </a:tcPr>
                </a:tc>
                <a:tc>
                  <a:txBody>
                    <a:bodyPr wrap="square"/>
                    <a:lstStyle/>
                    <a:p>
                      <a:pPr algn="r"/>
                      <a:r>
                        <a:rPr sz="1200" b="0" i="0">
                          <a:solidFill>
                            <a:srgbClr val="14171C"/>
                          </a:solidFill>
                          <a:latin typeface="Calibri"/>
                        </a:rPr>
                        <a:t>+0.72 %</a:t>
                      </a:r>
                    </a:p>
                  </a:txBody>
                  <a:tcPr marL="54864" marR="54864" marT="22860" marB="22860" anchor="ctr">
                    <a:solidFill>
                      <a:srgbClr val="F2F3F5"/>
                    </a:solidFill>
                  </a:tcPr>
                </a:tc>
                <a:tc>
                  <a:txBody>
                    <a:bodyPr wrap="square"/>
                    <a:lstStyle/>
                    <a:p>
                      <a:pPr algn="r"/>
                      <a:r>
                        <a:rPr sz="1200" b="0" i="0">
                          <a:solidFill>
                            <a:srgbClr val="14171C"/>
                          </a:solidFill>
                          <a:latin typeface="Calibri"/>
                        </a:rPr>
                        <a:t>−0.08 %</a:t>
                      </a:r>
                    </a:p>
                  </a:txBody>
                  <a:tcPr marL="54864" marR="54864" marT="22860" marB="22860" anchor="ctr">
                    <a:solidFill>
                      <a:srgbClr val="F2F3F5"/>
                    </a:solidFill>
                  </a:tcPr>
                </a:tc>
              </a:tr>
              <a:tr h="347472">
                <a:tc>
                  <a:txBody>
                    <a:bodyPr wrap="square"/>
                    <a:lstStyle/>
                    <a:p>
                      <a:pPr algn="l"/>
                      <a:r>
                        <a:rPr sz="1200" b="0" i="0">
                          <a:solidFill>
                            <a:srgbClr val="14171C"/>
                          </a:solidFill>
                          <a:latin typeface="Calibri"/>
                        </a:rPr>
                        <a:t>descent</a:t>
                      </a:r>
                    </a:p>
                  </a:txBody>
                  <a:tcPr marL="54864" marR="54864" marT="22860" marB="22860" anchor="ctr">
                    <a:solidFill>
                      <a:srgbClr val="FFFFFF"/>
                    </a:solidFill>
                  </a:tcPr>
                </a:tc>
                <a:tc>
                  <a:txBody>
                    <a:bodyPr wrap="square"/>
                    <a:lstStyle/>
                    <a:p>
                      <a:pPr algn="r"/>
                      <a:r>
                        <a:rPr sz="1200" b="0" i="0">
                          <a:solidFill>
                            <a:srgbClr val="14171C"/>
                          </a:solidFill>
                          <a:latin typeface="Calibri"/>
                        </a:rPr>
                        <a:t>NG</a:t>
                      </a:r>
                    </a:p>
                  </a:txBody>
                  <a:tcPr marL="54864" marR="54864" marT="22860" marB="22860" anchor="ctr">
                    <a:solidFill>
                      <a:srgbClr val="FFFFFF"/>
                    </a:solidFill>
                  </a:tcPr>
                </a:tc>
                <a:tc>
                  <a:txBody>
                    <a:bodyPr wrap="square"/>
                    <a:lstStyle/>
                    <a:p>
                      <a:pPr algn="r"/>
                      <a:r>
                        <a:rPr sz="1200" b="0" i="0">
                          <a:solidFill>
                            <a:srgbClr val="14171C"/>
                          </a:solidFill>
                          <a:latin typeface="Calibri"/>
                        </a:rPr>
                        <a:t>267.7</a:t>
                      </a:r>
                    </a:p>
                  </a:txBody>
                  <a:tcPr marL="54864" marR="54864" marT="22860" marB="22860" anchor="ctr">
                    <a:solidFill>
                      <a:srgbClr val="FFFFFF"/>
                    </a:solidFill>
                  </a:tcPr>
                </a:tc>
                <a:tc>
                  <a:txBody>
                    <a:bodyPr wrap="square"/>
                    <a:lstStyle/>
                    <a:p>
                      <a:pPr algn="r"/>
                      <a:r>
                        <a:rPr sz="1200" b="0" i="0">
                          <a:solidFill>
                            <a:srgbClr val="14171C"/>
                          </a:solidFill>
                          <a:latin typeface="Calibri"/>
                        </a:rPr>
                        <a:t>+0.02 %NG pts</a:t>
                      </a:r>
                    </a:p>
                  </a:txBody>
                  <a:tcPr marL="54864" marR="54864" marT="22860" marB="22860" anchor="ctr">
                    <a:solidFill>
                      <a:srgbClr val="FFFFFF"/>
                    </a:solidFill>
                  </a:tcPr>
                </a:tc>
                <a:tc>
                  <a:txBody>
                    <a:bodyPr wrap="square"/>
                    <a:lstStyle/>
                    <a:p>
                      <a:pPr algn="r"/>
                      <a:r>
                        <a:rPr sz="1200" b="0" i="0">
                          <a:solidFill>
                            <a:srgbClr val="14171C"/>
                          </a:solidFill>
                          <a:latin typeface="Calibri"/>
                        </a:rPr>
                        <a:t>−0.05 %NG pts</a:t>
                      </a:r>
                    </a:p>
                  </a:txBody>
                  <a:tcPr marL="54864" marR="54864" marT="22860" marB="22860" anchor="ctr">
                    <a:solidFill>
                      <a:srgbClr val="FFFFFF"/>
                    </a:solidFill>
                  </a:tcPr>
                </a:tc>
              </a:tr>
              <a:tr h="347472">
                <a:tc>
                  <a:txBody>
                    <a:bodyPr wrap="square"/>
                    <a:lstStyle/>
                    <a:p>
                      <a:pPr algn="l"/>
                      <a:r>
                        <a:rPr sz="1200" b="0" i="0">
                          <a:solidFill>
                            <a:srgbClr val="14171C"/>
                          </a:solidFill>
                          <a:latin typeface="Calibri"/>
                        </a:rPr>
                        <a:t>descent</a:t>
                      </a:r>
                    </a:p>
                  </a:txBody>
                  <a:tcPr marL="54864" marR="54864" marT="22860" marB="22860" anchor="ctr">
                    <a:solidFill>
                      <a:srgbClr val="F2F3F5"/>
                    </a:solidFill>
                  </a:tcPr>
                </a:tc>
                <a:tc>
                  <a:txBody>
                    <a:bodyPr wrap="square"/>
                    <a:lstStyle/>
                    <a:p>
                      <a:pPr algn="r"/>
                      <a:r>
                        <a:rPr sz="1200" b="0" i="0">
                          <a:solidFill>
                            <a:srgbClr val="14171C"/>
                          </a:solidFill>
                          <a:latin typeface="Calibri"/>
                        </a:rPr>
                        <a:t>SHP</a:t>
                      </a:r>
                    </a:p>
                  </a:txBody>
                  <a:tcPr marL="54864" marR="54864" marT="22860" marB="22860" anchor="ctr">
                    <a:solidFill>
                      <a:srgbClr val="F2F3F5"/>
                    </a:solidFill>
                  </a:tcPr>
                </a:tc>
                <a:tc>
                  <a:txBody>
                    <a:bodyPr wrap="square"/>
                    <a:lstStyle/>
                    <a:p>
                      <a:pPr algn="r"/>
                      <a:r>
                        <a:rPr sz="1200" b="0" i="0">
                          <a:solidFill>
                            <a:srgbClr val="14171C"/>
                          </a:solidFill>
                          <a:latin typeface="Calibri"/>
                        </a:rPr>
                        <a:t>267.7</a:t>
                      </a:r>
                    </a:p>
                  </a:txBody>
                  <a:tcPr marL="54864" marR="54864" marT="22860" marB="22860" anchor="ctr">
                    <a:solidFill>
                      <a:srgbClr val="F2F3F5"/>
                    </a:solidFill>
                  </a:tcPr>
                </a:tc>
                <a:tc>
                  <a:txBody>
                    <a:bodyPr wrap="square"/>
                    <a:lstStyle/>
                    <a:p>
                      <a:pPr algn="r"/>
                      <a:r>
                        <a:rPr sz="1200" b="0" i="0">
                          <a:solidFill>
                            <a:srgbClr val="14171C"/>
                          </a:solidFill>
                          <a:latin typeface="Calibri"/>
                        </a:rPr>
                        <a:t>+1.20 %</a:t>
                      </a:r>
                    </a:p>
                  </a:txBody>
                  <a:tcPr marL="54864" marR="54864" marT="22860" marB="22860" anchor="ctr">
                    <a:solidFill>
                      <a:srgbClr val="F2F3F5"/>
                    </a:solidFill>
                  </a:tcPr>
                </a:tc>
                <a:tc>
                  <a:txBody>
                    <a:bodyPr wrap="square"/>
                    <a:lstStyle/>
                    <a:p>
                      <a:pPr algn="r"/>
                      <a:r>
                        <a:rPr sz="1200" b="0" i="0">
                          <a:solidFill>
                            <a:srgbClr val="14171C"/>
                          </a:solidFill>
                          <a:latin typeface="Calibri"/>
                        </a:rPr>
                        <a:t>−0.81 %</a:t>
                      </a:r>
                    </a:p>
                  </a:txBody>
                  <a:tcPr marL="54864" marR="54864" marT="22860" marB="22860" anchor="ctr">
                    <a:solidFill>
                      <a:srgbClr val="F2F3F5"/>
                    </a:solidFill>
                  </a:tcPr>
                </a:tc>
              </a:tr>
            </a:tbl>
          </a:graphicData>
        </a:graphic>
      </p:graphicFrame>
      <p:sp>
        <p:nvSpPr>
          <p:cNvPr id="10" name="TextBox 9"/>
          <p:cNvSpPr txBox="1"/>
          <p:nvPr/>
        </p:nvSpPr>
        <p:spPr>
          <a:xfrm>
            <a:off x="8412480" y="2194560"/>
            <a:ext cx="3291840" cy="39319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The widest self-disagreement: 1.20 % (descent shaft power).</a:t>
            </a:r>
          </a:p>
          <a:p>
            <a:pPr marL="201168" indent="-201168">
              <a:lnSpc>
                <a:spcPct val="105000"/>
              </a:lnSpc>
              <a:spcBef>
                <a:spcPts val="1000"/>
              </a:spcBef>
              <a:buFont typeface="Arial"/>
              <a:buChar char="•"/>
            </a:pPr>
            <a:r>
              <a:rPr sz="1400" b="0" i="0">
                <a:solidFill>
                  <a:srgbClr val="14171C"/>
                </a:solidFill>
                <a:latin typeface="Calibri"/>
              </a:rPr>
              <a:t>There our gap to Table B.1 is smaller than the report's own.</a:t>
            </a:r>
          </a:p>
          <a:p>
            <a:pPr marL="201168" indent="-201168">
              <a:lnSpc>
                <a:spcPct val="105000"/>
              </a:lnSpc>
              <a:spcBef>
                <a:spcPts val="1000"/>
              </a:spcBef>
              <a:buFont typeface="Arial"/>
              <a:buChar char="•"/>
            </a:pPr>
            <a:r>
              <a:rPr sz="1400" b="0" i="0">
                <a:solidFill>
                  <a:srgbClr val="14171C"/>
                </a:solidFill>
                <a:latin typeface="Calibri"/>
              </a:rPr>
              <a:t>Other places the report disagrees with itself are in Part 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Table 3: a prototype test engine, Ballin's model and ours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Tables 2–3, pdf pp.43–44; setup pdf p.39</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39</a:t>
            </a:r>
          </a:p>
        </p:txBody>
      </p:sp>
      <p:graphicFrame>
        <p:nvGraphicFramePr>
          <p:cNvPr id="8" name="Table 7"/>
          <p:cNvGraphicFramePr>
            <a:graphicFrameLocks noGrp="1"/>
          </p:cNvGraphicFramePr>
          <p:nvPr/>
        </p:nvGraphicFramePr>
        <p:xfrm>
          <a:off x="502920" y="1280160"/>
          <a:ext cx="7223754" cy="4586616"/>
        </p:xfrm>
        <a:graphic>
          <a:graphicData uri="http://schemas.openxmlformats.org/drawingml/2006/table">
            <a:tbl>
              <a:tblPr firstRow="1">
                <a:tableStyleId>{5C22544A-7EE6-4342-B048-85BDC9FD1C3A}</a:tableStyleId>
              </a:tblPr>
              <a:tblGrid>
                <a:gridCol w="544255"/>
                <a:gridCol w="1434856"/>
                <a:gridCol w="791644"/>
                <a:gridCol w="791644"/>
                <a:gridCol w="1039033"/>
                <a:gridCol w="940078"/>
                <a:gridCol w="841122"/>
                <a:gridCol w="841122"/>
              </a:tblGrid>
              <a:tr h="274320">
                <a:tc>
                  <a:txBody>
                    <a:bodyPr wrap="square"/>
                    <a:lstStyle/>
                    <a:p>
                      <a:pPr algn="ctr"/>
                      <a:r>
                        <a:rPr sz="950" b="1" i="0">
                          <a:solidFill>
                            <a:srgbClr val="FFFFFF"/>
                          </a:solidFill>
                          <a:latin typeface="Calibri"/>
                        </a:rPr>
                        <a:t>Case</a:t>
                      </a:r>
                    </a:p>
                  </a:txBody>
                  <a:tcPr marL="54864" marR="54864" marT="22860" marB="22860" anchor="ctr">
                    <a:solidFill>
                      <a:srgbClr val="4D5563"/>
                    </a:solidFill>
                  </a:tcPr>
                </a:tc>
                <a:tc>
                  <a:txBody>
                    <a:bodyPr wrap="square"/>
                    <a:lstStyle/>
                    <a:p>
                      <a:pPr algn="l"/>
                      <a:r>
                        <a:rPr sz="950" b="1" i="0">
                          <a:solidFill>
                            <a:srgbClr val="FFFFFF"/>
                          </a:solidFill>
                          <a:latin typeface="Calibri"/>
                        </a:rPr>
                        <a:t>Source</a:t>
                      </a:r>
                    </a:p>
                  </a:txBody>
                  <a:tcPr marL="54864" marR="54864" marT="22860" marB="22860" anchor="ctr">
                    <a:solidFill>
                      <a:srgbClr val="4D5563"/>
                    </a:solidFill>
                  </a:tcPr>
                </a:tc>
                <a:tc>
                  <a:txBody>
                    <a:bodyPr wrap="square"/>
                    <a:lstStyle/>
                    <a:p>
                      <a:pPr algn="r"/>
                      <a:r>
                        <a:rPr sz="950" b="1" i="0">
                          <a:solidFill>
                            <a:srgbClr val="FFFFFF"/>
                          </a:solidFill>
                          <a:latin typeface="Calibri"/>
                        </a:rPr>
                        <a:t>NG, %</a:t>
                      </a:r>
                    </a:p>
                  </a:txBody>
                  <a:tcPr marL="54864" marR="54864" marT="22860" marB="22860" anchor="ctr">
                    <a:solidFill>
                      <a:srgbClr val="4D5563"/>
                    </a:solidFill>
                  </a:tcPr>
                </a:tc>
                <a:tc>
                  <a:txBody>
                    <a:bodyPr wrap="square"/>
                    <a:lstStyle/>
                    <a:p>
                      <a:pPr algn="r"/>
                      <a:r>
                        <a:rPr sz="950" b="1" i="0">
                          <a:solidFill>
                            <a:srgbClr val="FFFFFF"/>
                          </a:solidFill>
                          <a:latin typeface="Calibri"/>
                        </a:rPr>
                        <a:t>NP, %</a:t>
                      </a:r>
                    </a:p>
                  </a:txBody>
                  <a:tcPr marL="54864" marR="54864" marT="22860" marB="22860" anchor="ctr">
                    <a:solidFill>
                      <a:srgbClr val="4D5563"/>
                    </a:solidFill>
                  </a:tcPr>
                </a:tc>
                <a:tc>
                  <a:txBody>
                    <a:bodyPr wrap="square"/>
                    <a:lstStyle/>
                    <a:p>
                      <a:pPr algn="r"/>
                      <a:r>
                        <a:rPr sz="950" b="1" i="0">
                          <a:solidFill>
                            <a:srgbClr val="FFFFFF"/>
                          </a:solidFill>
                          <a:latin typeface="Calibri"/>
                        </a:rPr>
                        <a:t>WA2, lbm/s</a:t>
                      </a:r>
                    </a:p>
                  </a:txBody>
                  <a:tcPr marL="54864" marR="54864" marT="22860" marB="22860" anchor="ctr">
                    <a:solidFill>
                      <a:srgbClr val="4D5563"/>
                    </a:solidFill>
                  </a:tcPr>
                </a:tc>
                <a:tc>
                  <a:txBody>
                    <a:bodyPr wrap="square"/>
                    <a:lstStyle/>
                    <a:p>
                      <a:pPr algn="r"/>
                      <a:r>
                        <a:rPr sz="950" b="1" i="0">
                          <a:solidFill>
                            <a:srgbClr val="FFFFFF"/>
                          </a:solidFill>
                          <a:latin typeface="Calibri"/>
                        </a:rPr>
                        <a:t>P3, psia</a:t>
                      </a:r>
                    </a:p>
                  </a:txBody>
                  <a:tcPr marL="54864" marR="54864" marT="22860" marB="22860" anchor="ctr">
                    <a:solidFill>
                      <a:srgbClr val="4D5563"/>
                    </a:solidFill>
                  </a:tcPr>
                </a:tc>
                <a:tc>
                  <a:txBody>
                    <a:bodyPr wrap="square"/>
                    <a:lstStyle/>
                    <a:p>
                      <a:pPr algn="r"/>
                      <a:r>
                        <a:rPr sz="950" b="1" i="0">
                          <a:solidFill>
                            <a:srgbClr val="FFFFFF"/>
                          </a:solidFill>
                          <a:latin typeface="Calibri"/>
                        </a:rPr>
                        <a:t>T3, °R</a:t>
                      </a:r>
                    </a:p>
                  </a:txBody>
                  <a:tcPr marL="54864" marR="54864" marT="22860" marB="22860" anchor="ctr">
                    <a:solidFill>
                      <a:srgbClr val="4D5563"/>
                    </a:solidFill>
                  </a:tcPr>
                </a:tc>
                <a:tc>
                  <a:txBody>
                    <a:bodyPr wrap="square"/>
                    <a:lstStyle/>
                    <a:p>
                      <a:pPr algn="r"/>
                      <a:r>
                        <a:rPr sz="950" b="1" i="0">
                          <a:solidFill>
                            <a:srgbClr val="FFFFFF"/>
                          </a:solidFill>
                          <a:latin typeface="Calibri"/>
                        </a:rPr>
                        <a:t>T45, °R</a:t>
                      </a:r>
                    </a:p>
                  </a:txBody>
                  <a:tcPr marL="54864" marR="54864" marT="22860" marB="22860" anchor="ctr">
                    <a:solidFill>
                      <a:srgbClr val="4D5563"/>
                    </a:solidFill>
                  </a:tcPr>
                </a:tc>
              </a:tr>
              <a:tr h="239572">
                <a:tc>
                  <a:txBody>
                    <a:bodyPr wrap="square"/>
                    <a:lstStyle/>
                    <a:p>
                      <a:pPr algn="ctr"/>
                      <a:r>
                        <a:rPr sz="950" b="0" i="0">
                          <a:solidFill>
                            <a:srgbClr val="14171C"/>
                          </a:solidFill>
                          <a:latin typeface="Calibri"/>
                        </a:rPr>
                        <a:t>1</a:t>
                      </a:r>
                    </a:p>
                  </a:txBody>
                  <a:tcPr marL="54864" marR="54864" marT="22860" marB="22860" anchor="ctr">
                    <a:solidFill>
                      <a:srgbClr val="FFFFFF"/>
                    </a:solidFill>
                  </a:tcPr>
                </a:tc>
                <a:tc>
                  <a:txBody>
                    <a:bodyPr wrap="square"/>
                    <a:lstStyle/>
                    <a:p>
                      <a:pPr algn="l"/>
                      <a:r>
                        <a:rPr sz="950" b="0" i="0">
                          <a:solidFill>
                            <a:srgbClr val="14171C"/>
                          </a:solidFill>
                          <a:latin typeface="Calibri"/>
                        </a:rPr>
                        <a:t>Test engine</a:t>
                      </a:r>
                    </a:p>
                  </a:txBody>
                  <a:tcPr marL="54864" marR="54864" marT="22860" marB="22860" anchor="ctr">
                    <a:solidFill>
                      <a:srgbClr val="FFFFFF"/>
                    </a:solidFill>
                  </a:tcPr>
                </a:tc>
                <a:tc>
                  <a:txBody>
                    <a:bodyPr wrap="square"/>
                    <a:lstStyle/>
                    <a:p>
                      <a:pPr algn="r"/>
                      <a:r>
                        <a:rPr sz="950" b="0" i="0">
                          <a:solidFill>
                            <a:srgbClr val="14171C"/>
                          </a:solidFill>
                          <a:latin typeface="Calibri"/>
                        </a:rPr>
                        <a:t>65.9</a:t>
                      </a:r>
                    </a:p>
                  </a:txBody>
                  <a:tcPr marL="54864" marR="54864" marT="22860" marB="22860" anchor="ctr">
                    <a:solidFill>
                      <a:srgbClr val="FFFFFF"/>
                    </a:solidFill>
                  </a:tcPr>
                </a:tc>
                <a:tc>
                  <a:txBody>
                    <a:bodyPr wrap="square"/>
                    <a:lstStyle/>
                    <a:p>
                      <a:pPr algn="r"/>
                      <a:r>
                        <a:rPr sz="950" b="0" i="0">
                          <a:solidFill>
                            <a:srgbClr val="14171C"/>
                          </a:solidFill>
                          <a:latin typeface="Calibri"/>
                        </a:rPr>
                        <a:t>52.6</a:t>
                      </a:r>
                    </a:p>
                  </a:txBody>
                  <a:tcPr marL="54864" marR="54864" marT="22860" marB="22860" anchor="ctr">
                    <a:solidFill>
                      <a:srgbClr val="FFFFFF"/>
                    </a:solidFill>
                  </a:tcPr>
                </a:tc>
                <a:tc>
                  <a:txBody>
                    <a:bodyPr wrap="square"/>
                    <a:lstStyle/>
                    <a:p>
                      <a:pPr algn="r"/>
                      <a:r>
                        <a:rPr sz="950" b="0" i="0">
                          <a:solidFill>
                            <a:srgbClr val="14171C"/>
                          </a:solidFill>
                          <a:latin typeface="Calibri"/>
                        </a:rPr>
                        <a:t>3.20</a:t>
                      </a:r>
                    </a:p>
                  </a:txBody>
                  <a:tcPr marL="54864" marR="54864" marT="22860" marB="22860" anchor="ctr">
                    <a:solidFill>
                      <a:srgbClr val="FFFFFF"/>
                    </a:solidFill>
                  </a:tcPr>
                </a:tc>
                <a:tc>
                  <a:txBody>
                    <a:bodyPr wrap="square"/>
                    <a:lstStyle/>
                    <a:p>
                      <a:pPr algn="r"/>
                      <a:r>
                        <a:rPr sz="950" b="0" i="0">
                          <a:solidFill>
                            <a:srgbClr val="14171C"/>
                          </a:solidFill>
                          <a:latin typeface="Calibri"/>
                        </a:rPr>
                        <a:t>58.0</a:t>
                      </a:r>
                    </a:p>
                  </a:txBody>
                  <a:tcPr marL="54864" marR="54864" marT="22860" marB="22860" anchor="ctr">
                    <a:solidFill>
                      <a:srgbClr val="FFFFFF"/>
                    </a:solidFill>
                  </a:tcPr>
                </a:tc>
                <a:tc>
                  <a:txBody>
                    <a:bodyPr wrap="square"/>
                    <a:lstStyle/>
                    <a:p>
                      <a:pPr algn="r"/>
                      <a:r>
                        <a:rPr sz="950" b="0" i="0">
                          <a:solidFill>
                            <a:srgbClr val="14171C"/>
                          </a:solidFill>
                          <a:latin typeface="Calibri"/>
                        </a:rPr>
                        <a:t>832.0</a:t>
                      </a:r>
                    </a:p>
                  </a:txBody>
                  <a:tcPr marL="54864" marR="54864" marT="22860" marB="22860" anchor="ctr">
                    <a:solidFill>
                      <a:srgbClr val="FFFFFF"/>
                    </a:solidFill>
                  </a:tcPr>
                </a:tc>
                <a:tc>
                  <a:txBody>
                    <a:bodyPr wrap="square"/>
                    <a:lstStyle/>
                    <a:p>
                      <a:pPr algn="r"/>
                      <a:r>
                        <a:rPr sz="950" b="0" i="0">
                          <a:solidFill>
                            <a:srgbClr val="14171C"/>
                          </a:solidFill>
                          <a:latin typeface="Calibri"/>
                        </a:rPr>
                        <a:t>1,413</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2F3F5"/>
                    </a:solidFill>
                  </a:tcPr>
                </a:tc>
                <a:tc>
                  <a:txBody>
                    <a:bodyPr wrap="square"/>
                    <a:lstStyle/>
                    <a:p>
                      <a:pPr algn="l"/>
                      <a:r>
                        <a:rPr sz="950" b="0" i="0">
                          <a:solidFill>
                            <a:srgbClr val="14171C"/>
                          </a:solidFill>
                          <a:latin typeface="Calibri"/>
                        </a:rPr>
                        <a:t>Ballin's model</a:t>
                      </a:r>
                    </a:p>
                  </a:txBody>
                  <a:tcPr marL="54864" marR="54864" marT="22860" marB="22860" anchor="ctr">
                    <a:solidFill>
                      <a:srgbClr val="F2F3F5"/>
                    </a:solidFill>
                  </a:tcPr>
                </a:tc>
                <a:tc>
                  <a:txBody>
                    <a:bodyPr wrap="square"/>
                    <a:lstStyle/>
                    <a:p>
                      <a:pPr algn="r"/>
                      <a:r>
                        <a:rPr sz="950" b="0" i="0">
                          <a:solidFill>
                            <a:srgbClr val="14171C"/>
                          </a:solidFill>
                          <a:latin typeface="Calibri"/>
                        </a:rPr>
                        <a:t>70.0</a:t>
                      </a:r>
                    </a:p>
                  </a:txBody>
                  <a:tcPr marL="54864" marR="54864" marT="22860" marB="22860" anchor="ctr">
                    <a:solidFill>
                      <a:srgbClr val="F2F3F5"/>
                    </a:solidFill>
                  </a:tcPr>
                </a:tc>
                <a:tc>
                  <a:txBody>
                    <a:bodyPr wrap="square"/>
                    <a:lstStyle/>
                    <a:p>
                      <a:pPr algn="r"/>
                      <a:r>
                        <a:rPr sz="950" b="0" i="0">
                          <a:solidFill>
                            <a:srgbClr val="14171C"/>
                          </a:solidFill>
                          <a:latin typeface="Calibri"/>
                        </a:rPr>
                        <a:t>83.8</a:t>
                      </a:r>
                    </a:p>
                  </a:txBody>
                  <a:tcPr marL="54864" marR="54864" marT="22860" marB="22860" anchor="ctr">
                    <a:solidFill>
                      <a:srgbClr val="F2F3F5"/>
                    </a:solidFill>
                  </a:tcPr>
                </a:tc>
                <a:tc>
                  <a:txBody>
                    <a:bodyPr wrap="square"/>
                    <a:lstStyle/>
                    <a:p>
                      <a:pPr algn="r"/>
                      <a:r>
                        <a:rPr sz="950" b="0" i="0">
                          <a:solidFill>
                            <a:srgbClr val="14171C"/>
                          </a:solidFill>
                          <a:latin typeface="Calibri"/>
                        </a:rPr>
                        <a:t>3.59</a:t>
                      </a:r>
                    </a:p>
                  </a:txBody>
                  <a:tcPr marL="54864" marR="54864" marT="22860" marB="22860" anchor="ctr">
                    <a:solidFill>
                      <a:srgbClr val="F2F3F5"/>
                    </a:solidFill>
                  </a:tcPr>
                </a:tc>
                <a:tc>
                  <a:txBody>
                    <a:bodyPr wrap="square"/>
                    <a:lstStyle/>
                    <a:p>
                      <a:pPr algn="r"/>
                      <a:r>
                        <a:rPr sz="950" b="0" i="0">
                          <a:solidFill>
                            <a:srgbClr val="14171C"/>
                          </a:solidFill>
                          <a:latin typeface="Calibri"/>
                        </a:rPr>
                        <a:t>63.4</a:t>
                      </a:r>
                    </a:p>
                  </a:txBody>
                  <a:tcPr marL="54864" marR="54864" marT="22860" marB="22860" anchor="ctr">
                    <a:solidFill>
                      <a:srgbClr val="F2F3F5"/>
                    </a:solidFill>
                  </a:tcPr>
                </a:tc>
                <a:tc>
                  <a:txBody>
                    <a:bodyPr wrap="square"/>
                    <a:lstStyle/>
                    <a:p>
                      <a:pPr algn="r"/>
                      <a:r>
                        <a:rPr sz="950" b="0" i="0">
                          <a:solidFill>
                            <a:srgbClr val="14171C"/>
                          </a:solidFill>
                          <a:latin typeface="Calibri"/>
                        </a:rPr>
                        <a:t>855.9</a:t>
                      </a:r>
                    </a:p>
                  </a:txBody>
                  <a:tcPr marL="54864" marR="54864" marT="22860" marB="22860" anchor="ctr">
                    <a:solidFill>
                      <a:srgbClr val="F2F3F5"/>
                    </a:solidFill>
                  </a:tcPr>
                </a:tc>
                <a:tc>
                  <a:txBody>
                    <a:bodyPr wrap="square"/>
                    <a:lstStyle/>
                    <a:p>
                      <a:pPr algn="r"/>
                      <a:r>
                        <a:rPr sz="950" b="0" i="0">
                          <a:solidFill>
                            <a:srgbClr val="14171C"/>
                          </a:solidFill>
                          <a:latin typeface="Calibri"/>
                        </a:rPr>
                        <a:t>1,372</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75.2</a:t>
                      </a:r>
                    </a:p>
                  </a:txBody>
                  <a:tcPr marL="54864" marR="54864" marT="22860" marB="22860" anchor="ctr">
                    <a:solidFill>
                      <a:srgbClr val="EEF3FA"/>
                    </a:solidFill>
                  </a:tcPr>
                </a:tc>
                <a:tc>
                  <a:txBody>
                    <a:bodyPr wrap="square"/>
                    <a:lstStyle/>
                    <a:p>
                      <a:pPr algn="r"/>
                      <a:r>
                        <a:rPr sz="950" b="0" i="0">
                          <a:solidFill>
                            <a:srgbClr val="14171C"/>
                          </a:solidFill>
                          <a:latin typeface="Calibri"/>
                        </a:rPr>
                        <a:t>84.3</a:t>
                      </a:r>
                    </a:p>
                  </a:txBody>
                  <a:tcPr marL="54864" marR="54864" marT="22860" marB="22860" anchor="ctr">
                    <a:solidFill>
                      <a:srgbClr val="EEF3FA"/>
                    </a:solidFill>
                  </a:tcPr>
                </a:tc>
                <a:tc>
                  <a:txBody>
                    <a:bodyPr wrap="square"/>
                    <a:lstStyle/>
                    <a:p>
                      <a:pPr algn="r"/>
                      <a:r>
                        <a:rPr sz="950" b="0" i="0">
                          <a:solidFill>
                            <a:srgbClr val="14171C"/>
                          </a:solidFill>
                          <a:latin typeface="Calibri"/>
                        </a:rPr>
                        <a:t>4.17</a:t>
                      </a:r>
                    </a:p>
                  </a:txBody>
                  <a:tcPr marL="54864" marR="54864" marT="22860" marB="22860" anchor="ctr">
                    <a:solidFill>
                      <a:srgbClr val="EEF3FA"/>
                    </a:solidFill>
                  </a:tcPr>
                </a:tc>
                <a:tc>
                  <a:txBody>
                    <a:bodyPr wrap="square"/>
                    <a:lstStyle/>
                    <a:p>
                      <a:pPr algn="r"/>
                      <a:r>
                        <a:rPr sz="950" b="0" i="0">
                          <a:solidFill>
                            <a:srgbClr val="14171C"/>
                          </a:solidFill>
                          <a:latin typeface="Calibri"/>
                        </a:rPr>
                        <a:t>72.6</a:t>
                      </a:r>
                    </a:p>
                  </a:txBody>
                  <a:tcPr marL="54864" marR="54864" marT="22860" marB="22860" anchor="ctr">
                    <a:solidFill>
                      <a:srgbClr val="EEF3FA"/>
                    </a:solidFill>
                  </a:tcPr>
                </a:tc>
                <a:tc>
                  <a:txBody>
                    <a:bodyPr wrap="square"/>
                    <a:lstStyle/>
                    <a:p>
                      <a:pPr algn="r"/>
                      <a:r>
                        <a:rPr sz="950" b="0" i="0">
                          <a:solidFill>
                            <a:srgbClr val="14171C"/>
                          </a:solidFill>
                          <a:latin typeface="Calibri"/>
                        </a:rPr>
                        <a:t>911.9</a:t>
                      </a:r>
                    </a:p>
                  </a:txBody>
                  <a:tcPr marL="54864" marR="54864" marT="22860" marB="22860" anchor="ctr">
                    <a:solidFill>
                      <a:srgbClr val="EEF3FA"/>
                    </a:solidFill>
                  </a:tcPr>
                </a:tc>
                <a:tc>
                  <a:txBody>
                    <a:bodyPr wrap="square"/>
                    <a:lstStyle/>
                    <a:p>
                      <a:pPr algn="r"/>
                      <a:r>
                        <a:rPr sz="950" b="0" i="0">
                          <a:solidFill>
                            <a:srgbClr val="14171C"/>
                          </a:solidFill>
                          <a:latin typeface="Calibri"/>
                        </a:rPr>
                        <a:t>1,251</a:t>
                      </a:r>
                    </a:p>
                  </a:txBody>
                  <a:tcPr marL="54864" marR="54864" marT="22860" marB="22860" anchor="ctr">
                    <a:solidFill>
                      <a:srgbClr val="EEF3FA"/>
                    </a:solidFill>
                  </a:tcPr>
                </a:tc>
              </a:tr>
              <a:tr h="239572">
                <a:tc>
                  <a:txBody>
                    <a:bodyPr wrap="square"/>
                    <a:lstStyle/>
                    <a:p>
                      <a:pPr algn="ctr"/>
                      <a:r>
                        <a:rPr sz="950" b="0" i="0">
                          <a:solidFill>
                            <a:srgbClr val="14171C"/>
                          </a:solidFill>
                          <a:latin typeface="Calibri"/>
                        </a:rPr>
                        <a:t>2</a:t>
                      </a:r>
                    </a:p>
                  </a:txBody>
                  <a:tcPr marL="54864" marR="54864" marT="22860" marB="22860" anchor="ctr">
                    <a:solidFill>
                      <a:srgbClr val="F2F3F5"/>
                    </a:solidFill>
                  </a:tcPr>
                </a:tc>
                <a:tc>
                  <a:txBody>
                    <a:bodyPr wrap="square"/>
                    <a:lstStyle/>
                    <a:p>
                      <a:pPr algn="l"/>
                      <a:r>
                        <a:rPr sz="950" b="0" i="0">
                          <a:solidFill>
                            <a:srgbClr val="14171C"/>
                          </a:solidFill>
                          <a:latin typeface="Calibri"/>
                        </a:rPr>
                        <a:t>Test engine</a:t>
                      </a:r>
                    </a:p>
                  </a:txBody>
                  <a:tcPr marL="54864" marR="54864" marT="22860" marB="22860" anchor="ctr">
                    <a:solidFill>
                      <a:srgbClr val="F2F3F5"/>
                    </a:solidFill>
                  </a:tcPr>
                </a:tc>
                <a:tc>
                  <a:txBody>
                    <a:bodyPr wrap="square"/>
                    <a:lstStyle/>
                    <a:p>
                      <a:pPr algn="r"/>
                      <a:r>
                        <a:rPr sz="950" b="0" i="0">
                          <a:solidFill>
                            <a:srgbClr val="14171C"/>
                          </a:solidFill>
                          <a:latin typeface="Calibri"/>
                        </a:rPr>
                        <a:t>84.7</a:t>
                      </a:r>
                    </a:p>
                  </a:txBody>
                  <a:tcPr marL="54864" marR="54864" marT="22860" marB="22860" anchor="ctr">
                    <a:solidFill>
                      <a:srgbClr val="F2F3F5"/>
                    </a:solidFill>
                  </a:tcPr>
                </a:tc>
                <a:tc>
                  <a:txBody>
                    <a:bodyPr wrap="square"/>
                    <a:lstStyle/>
                    <a:p>
                      <a:pPr algn="r"/>
                      <a:r>
                        <a:rPr sz="950" b="0" i="0">
                          <a:solidFill>
                            <a:srgbClr val="14171C"/>
                          </a:solidFill>
                          <a:latin typeface="Calibri"/>
                        </a:rPr>
                        <a:t>95.7</a:t>
                      </a:r>
                    </a:p>
                  </a:txBody>
                  <a:tcPr marL="54864" marR="54864" marT="22860" marB="22860" anchor="ctr">
                    <a:solidFill>
                      <a:srgbClr val="F2F3F5"/>
                    </a:solidFill>
                  </a:tcPr>
                </a:tc>
                <a:tc>
                  <a:txBody>
                    <a:bodyPr wrap="square"/>
                    <a:lstStyle/>
                    <a:p>
                      <a:pPr algn="r"/>
                      <a:r>
                        <a:rPr sz="950" b="0" i="0">
                          <a:solidFill>
                            <a:srgbClr val="14171C"/>
                          </a:solidFill>
                          <a:latin typeface="Calibri"/>
                        </a:rPr>
                        <a:t>5.16</a:t>
                      </a:r>
                    </a:p>
                  </a:txBody>
                  <a:tcPr marL="54864" marR="54864" marT="22860" marB="22860" anchor="ctr">
                    <a:solidFill>
                      <a:srgbClr val="F2F3F5"/>
                    </a:solidFill>
                  </a:tcPr>
                </a:tc>
                <a:tc>
                  <a:txBody>
                    <a:bodyPr wrap="square"/>
                    <a:lstStyle/>
                    <a:p>
                      <a:pPr algn="r"/>
                      <a:r>
                        <a:rPr sz="950" b="0" i="0">
                          <a:solidFill>
                            <a:srgbClr val="14171C"/>
                          </a:solidFill>
                          <a:latin typeface="Calibri"/>
                        </a:rPr>
                        <a:t>113.1</a:t>
                      </a:r>
                    </a:p>
                  </a:txBody>
                  <a:tcPr marL="54864" marR="54864" marT="22860" marB="22860" anchor="ctr">
                    <a:solidFill>
                      <a:srgbClr val="F2F3F5"/>
                    </a:solidFill>
                  </a:tcPr>
                </a:tc>
                <a:tc>
                  <a:txBody>
                    <a:bodyPr wrap="square"/>
                    <a:lstStyle/>
                    <a:p>
                      <a:pPr algn="r"/>
                      <a:r>
                        <a:rPr sz="950" b="0" i="0">
                          <a:solidFill>
                            <a:srgbClr val="14171C"/>
                          </a:solidFill>
                          <a:latin typeface="Calibri"/>
                        </a:rPr>
                        <a:t>1,026</a:t>
                      </a:r>
                    </a:p>
                  </a:txBody>
                  <a:tcPr marL="54864" marR="54864" marT="22860" marB="22860" anchor="ctr">
                    <a:solidFill>
                      <a:srgbClr val="F2F3F5"/>
                    </a:solidFill>
                  </a:tcPr>
                </a:tc>
                <a:tc>
                  <a:txBody>
                    <a:bodyPr wrap="square"/>
                    <a:lstStyle/>
                    <a:p>
                      <a:pPr algn="r"/>
                      <a:r>
                        <a:rPr sz="950" b="0" i="0">
                          <a:solidFill>
                            <a:srgbClr val="14171C"/>
                          </a:solidFill>
                          <a:latin typeface="Calibri"/>
                        </a:rPr>
                        <a:t>1,577</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FFFFF"/>
                    </a:solidFill>
                  </a:tcPr>
                </a:tc>
                <a:tc>
                  <a:txBody>
                    <a:bodyPr wrap="square"/>
                    <a:lstStyle/>
                    <a:p>
                      <a:pPr algn="l"/>
                      <a:r>
                        <a:rPr sz="950" b="0" i="0">
                          <a:solidFill>
                            <a:srgbClr val="14171C"/>
                          </a:solidFill>
                          <a:latin typeface="Calibri"/>
                        </a:rPr>
                        <a:t>Ballin's model</a:t>
                      </a:r>
                    </a:p>
                  </a:txBody>
                  <a:tcPr marL="54864" marR="54864" marT="22860" marB="22860" anchor="ctr">
                    <a:solidFill>
                      <a:srgbClr val="FFFFFF"/>
                    </a:solidFill>
                  </a:tcPr>
                </a:tc>
                <a:tc>
                  <a:txBody>
                    <a:bodyPr wrap="square"/>
                    <a:lstStyle/>
                    <a:p>
                      <a:pPr algn="r"/>
                      <a:r>
                        <a:rPr sz="950" b="0" i="0">
                          <a:solidFill>
                            <a:srgbClr val="14171C"/>
                          </a:solidFill>
                          <a:latin typeface="Calibri"/>
                        </a:rPr>
                        <a:t>86.4</a:t>
                      </a:r>
                    </a:p>
                  </a:txBody>
                  <a:tcPr marL="54864" marR="54864" marT="22860" marB="22860" anchor="ctr">
                    <a:solidFill>
                      <a:srgbClr val="FFFFFF"/>
                    </a:solidFill>
                  </a:tcPr>
                </a:tc>
                <a:tc>
                  <a:txBody>
                    <a:bodyPr wrap="square"/>
                    <a:lstStyle/>
                    <a:p>
                      <a:pPr algn="r"/>
                      <a:r>
                        <a:rPr sz="950" b="0" i="0">
                          <a:solidFill>
                            <a:srgbClr val="14171C"/>
                          </a:solidFill>
                          <a:latin typeface="Calibri"/>
                        </a:rPr>
                        <a:t>100.6</a:t>
                      </a:r>
                    </a:p>
                  </a:txBody>
                  <a:tcPr marL="54864" marR="54864" marT="22860" marB="22860" anchor="ctr">
                    <a:solidFill>
                      <a:srgbClr val="FFFFFF"/>
                    </a:solidFill>
                  </a:tcPr>
                </a:tc>
                <a:tc>
                  <a:txBody>
                    <a:bodyPr wrap="square"/>
                    <a:lstStyle/>
                    <a:p>
                      <a:pPr algn="r"/>
                      <a:r>
                        <a:rPr sz="950" b="0" i="0">
                          <a:solidFill>
                            <a:srgbClr val="14171C"/>
                          </a:solidFill>
                          <a:latin typeface="Calibri"/>
                        </a:rPr>
                        <a:t>5.52</a:t>
                      </a:r>
                    </a:p>
                  </a:txBody>
                  <a:tcPr marL="54864" marR="54864" marT="22860" marB="22860" anchor="ctr">
                    <a:solidFill>
                      <a:srgbClr val="FFFFFF"/>
                    </a:solidFill>
                  </a:tcPr>
                </a:tc>
                <a:tc>
                  <a:txBody>
                    <a:bodyPr wrap="square"/>
                    <a:lstStyle/>
                    <a:p>
                      <a:pPr algn="r"/>
                      <a:r>
                        <a:rPr sz="950" b="0" i="0">
                          <a:solidFill>
                            <a:srgbClr val="14171C"/>
                          </a:solidFill>
                          <a:latin typeface="Calibri"/>
                        </a:rPr>
                        <a:t>119.0</a:t>
                      </a:r>
                    </a:p>
                  </a:txBody>
                  <a:tcPr marL="54864" marR="54864" marT="22860" marB="22860" anchor="ctr">
                    <a:solidFill>
                      <a:srgbClr val="FFFFFF"/>
                    </a:solidFill>
                  </a:tcPr>
                </a:tc>
                <a:tc>
                  <a:txBody>
                    <a:bodyPr wrap="square"/>
                    <a:lstStyle/>
                    <a:p>
                      <a:pPr algn="r"/>
                      <a:r>
                        <a:rPr sz="950" b="0" i="0">
                          <a:solidFill>
                            <a:srgbClr val="14171C"/>
                          </a:solidFill>
                          <a:latin typeface="Calibri"/>
                        </a:rPr>
                        <a:t>1,043</a:t>
                      </a:r>
                    </a:p>
                  </a:txBody>
                  <a:tcPr marL="54864" marR="54864" marT="22860" marB="22860" anchor="ctr">
                    <a:solidFill>
                      <a:srgbClr val="FFFFFF"/>
                    </a:solidFill>
                  </a:tcPr>
                </a:tc>
                <a:tc>
                  <a:txBody>
                    <a:bodyPr wrap="square"/>
                    <a:lstStyle/>
                    <a:p>
                      <a:pPr algn="r"/>
                      <a:r>
                        <a:rPr sz="950" b="0" i="0">
                          <a:solidFill>
                            <a:srgbClr val="14171C"/>
                          </a:solidFill>
                          <a:latin typeface="Calibri"/>
                        </a:rPr>
                        <a:t>1,555</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86.9</a:t>
                      </a:r>
                    </a:p>
                  </a:txBody>
                  <a:tcPr marL="54864" marR="54864" marT="22860" marB="22860" anchor="ctr">
                    <a:solidFill>
                      <a:srgbClr val="EEF3FA"/>
                    </a:solidFill>
                  </a:tcPr>
                </a:tc>
                <a:tc>
                  <a:txBody>
                    <a:bodyPr wrap="square"/>
                    <a:lstStyle/>
                    <a:p>
                      <a:pPr algn="r"/>
                      <a:r>
                        <a:rPr sz="950" b="0" i="0">
                          <a:solidFill>
                            <a:srgbClr val="14171C"/>
                          </a:solidFill>
                          <a:latin typeface="Calibri"/>
                        </a:rPr>
                        <a:t>106.7</a:t>
                      </a:r>
                    </a:p>
                  </a:txBody>
                  <a:tcPr marL="54864" marR="54864" marT="22860" marB="22860" anchor="ctr">
                    <a:solidFill>
                      <a:srgbClr val="EEF3FA"/>
                    </a:solidFill>
                  </a:tcPr>
                </a:tc>
                <a:tc>
                  <a:txBody>
                    <a:bodyPr wrap="square"/>
                    <a:lstStyle/>
                    <a:p>
                      <a:pPr algn="r"/>
                      <a:r>
                        <a:rPr sz="950" b="0" i="0">
                          <a:solidFill>
                            <a:srgbClr val="14171C"/>
                          </a:solidFill>
                          <a:latin typeface="Calibri"/>
                        </a:rPr>
                        <a:t>6.11</a:t>
                      </a:r>
                    </a:p>
                  </a:txBody>
                  <a:tcPr marL="54864" marR="54864" marT="22860" marB="22860" anchor="ctr">
                    <a:solidFill>
                      <a:srgbClr val="EEF3FA"/>
                    </a:solidFill>
                  </a:tcPr>
                </a:tc>
                <a:tc>
                  <a:txBody>
                    <a:bodyPr wrap="square"/>
                    <a:lstStyle/>
                    <a:p>
                      <a:pPr algn="r"/>
                      <a:r>
                        <a:rPr sz="950" b="0" i="0">
                          <a:solidFill>
                            <a:srgbClr val="14171C"/>
                          </a:solidFill>
                          <a:latin typeface="Calibri"/>
                        </a:rPr>
                        <a:t>130.7</a:t>
                      </a:r>
                    </a:p>
                  </a:txBody>
                  <a:tcPr marL="54864" marR="54864" marT="22860" marB="22860" anchor="ctr">
                    <a:solidFill>
                      <a:srgbClr val="EEF3FA"/>
                    </a:solidFill>
                  </a:tcPr>
                </a:tc>
                <a:tc>
                  <a:txBody>
                    <a:bodyPr wrap="square"/>
                    <a:lstStyle/>
                    <a:p>
                      <a:pPr algn="r"/>
                      <a:r>
                        <a:rPr sz="950" b="0" i="0">
                          <a:solidFill>
                            <a:srgbClr val="14171C"/>
                          </a:solidFill>
                          <a:latin typeface="Calibri"/>
                        </a:rPr>
                        <a:t>1,071</a:t>
                      </a:r>
                    </a:p>
                  </a:txBody>
                  <a:tcPr marL="54864" marR="54864" marT="22860" marB="22860" anchor="ctr">
                    <a:solidFill>
                      <a:srgbClr val="EEF3FA"/>
                    </a:solidFill>
                  </a:tcPr>
                </a:tc>
                <a:tc>
                  <a:txBody>
                    <a:bodyPr wrap="square"/>
                    <a:lstStyle/>
                    <a:p>
                      <a:pPr algn="r"/>
                      <a:r>
                        <a:rPr sz="950" b="0" i="0">
                          <a:solidFill>
                            <a:srgbClr val="14171C"/>
                          </a:solidFill>
                          <a:latin typeface="Calibri"/>
                        </a:rPr>
                        <a:t>1,451</a:t>
                      </a:r>
                    </a:p>
                  </a:txBody>
                  <a:tcPr marL="54864" marR="54864" marT="22860" marB="22860" anchor="ctr">
                    <a:solidFill>
                      <a:srgbClr val="EEF3FA"/>
                    </a:solidFill>
                  </a:tcPr>
                </a:tc>
              </a:tr>
              <a:tr h="239572">
                <a:tc>
                  <a:txBody>
                    <a:bodyPr wrap="square"/>
                    <a:lstStyle/>
                    <a:p>
                      <a:pPr algn="ctr"/>
                      <a:r>
                        <a:rPr sz="950" b="0" i="0">
                          <a:solidFill>
                            <a:srgbClr val="14171C"/>
                          </a:solidFill>
                          <a:latin typeface="Calibri"/>
                        </a:rPr>
                        <a:t>3</a:t>
                      </a:r>
                    </a:p>
                  </a:txBody>
                  <a:tcPr marL="54864" marR="54864" marT="22860" marB="22860" anchor="ctr">
                    <a:solidFill>
                      <a:srgbClr val="FFFFFF"/>
                    </a:solidFill>
                  </a:tcPr>
                </a:tc>
                <a:tc>
                  <a:txBody>
                    <a:bodyPr wrap="square"/>
                    <a:lstStyle/>
                    <a:p>
                      <a:pPr algn="l"/>
                      <a:r>
                        <a:rPr sz="950" b="0" i="0">
                          <a:solidFill>
                            <a:srgbClr val="14171C"/>
                          </a:solidFill>
                          <a:latin typeface="Calibri"/>
                        </a:rPr>
                        <a:t>Test engine</a:t>
                      </a:r>
                    </a:p>
                  </a:txBody>
                  <a:tcPr marL="54864" marR="54864" marT="22860" marB="22860" anchor="ctr">
                    <a:solidFill>
                      <a:srgbClr val="FFFFFF"/>
                    </a:solidFill>
                  </a:tcPr>
                </a:tc>
                <a:tc>
                  <a:txBody>
                    <a:bodyPr wrap="square"/>
                    <a:lstStyle/>
                    <a:p>
                      <a:pPr algn="r"/>
                      <a:r>
                        <a:rPr sz="950" b="0" i="0">
                          <a:solidFill>
                            <a:srgbClr val="14171C"/>
                          </a:solidFill>
                          <a:latin typeface="Calibri"/>
                        </a:rPr>
                        <a:t>87.7</a:t>
                      </a:r>
                    </a:p>
                  </a:txBody>
                  <a:tcPr marL="54864" marR="54864" marT="22860" marB="22860" anchor="ctr">
                    <a:solidFill>
                      <a:srgbClr val="FFFFFF"/>
                    </a:solidFill>
                  </a:tcPr>
                </a:tc>
                <a:tc>
                  <a:txBody>
                    <a:bodyPr wrap="square"/>
                    <a:lstStyle/>
                    <a:p>
                      <a:pPr algn="r"/>
                      <a:r>
                        <a:rPr sz="950" b="0" i="0">
                          <a:solidFill>
                            <a:srgbClr val="14171C"/>
                          </a:solidFill>
                          <a:latin typeface="Calibri"/>
                        </a:rPr>
                        <a:t>95.7</a:t>
                      </a:r>
                    </a:p>
                  </a:txBody>
                  <a:tcPr marL="54864" marR="54864" marT="22860" marB="22860" anchor="ctr">
                    <a:solidFill>
                      <a:srgbClr val="FFFFFF"/>
                    </a:solidFill>
                  </a:tcPr>
                </a:tc>
                <a:tc>
                  <a:txBody>
                    <a:bodyPr wrap="square"/>
                    <a:lstStyle/>
                    <a:p>
                      <a:pPr algn="r"/>
                      <a:r>
                        <a:rPr sz="950" b="0" i="0">
                          <a:solidFill>
                            <a:srgbClr val="14171C"/>
                          </a:solidFill>
                          <a:latin typeface="Calibri"/>
                        </a:rPr>
                        <a:t>6.16</a:t>
                      </a:r>
                    </a:p>
                  </a:txBody>
                  <a:tcPr marL="54864" marR="54864" marT="22860" marB="22860" anchor="ctr">
                    <a:solidFill>
                      <a:srgbClr val="FFFFFF"/>
                    </a:solidFill>
                  </a:tcPr>
                </a:tc>
                <a:tc>
                  <a:txBody>
                    <a:bodyPr wrap="square"/>
                    <a:lstStyle/>
                    <a:p>
                      <a:pPr algn="r"/>
                      <a:r>
                        <a:rPr sz="950" b="0" i="0">
                          <a:solidFill>
                            <a:srgbClr val="14171C"/>
                          </a:solidFill>
                          <a:latin typeface="Calibri"/>
                        </a:rPr>
                        <a:t>139.0</a:t>
                      </a:r>
                    </a:p>
                  </a:txBody>
                  <a:tcPr marL="54864" marR="54864" marT="22860" marB="22860" anchor="ctr">
                    <a:solidFill>
                      <a:srgbClr val="FFFFFF"/>
                    </a:solidFill>
                  </a:tcPr>
                </a:tc>
                <a:tc>
                  <a:txBody>
                    <a:bodyPr wrap="square"/>
                    <a:lstStyle/>
                    <a:p>
                      <a:pPr algn="r"/>
                      <a:r>
                        <a:rPr sz="950" b="0" i="0">
                          <a:solidFill>
                            <a:srgbClr val="14171C"/>
                          </a:solidFill>
                          <a:latin typeface="Calibri"/>
                        </a:rPr>
                        <a:t>1,081</a:t>
                      </a:r>
                    </a:p>
                  </a:txBody>
                  <a:tcPr marL="54864" marR="54864" marT="22860" marB="22860" anchor="ctr">
                    <a:solidFill>
                      <a:srgbClr val="FFFFFF"/>
                    </a:solidFill>
                  </a:tcPr>
                </a:tc>
                <a:tc>
                  <a:txBody>
                    <a:bodyPr wrap="square"/>
                    <a:lstStyle/>
                    <a:p>
                      <a:pPr algn="r"/>
                      <a:r>
                        <a:rPr sz="950" b="0" i="0">
                          <a:solidFill>
                            <a:srgbClr val="14171C"/>
                          </a:solidFill>
                          <a:latin typeface="Calibri"/>
                        </a:rPr>
                        <a:t>1,626</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2F3F5"/>
                    </a:solidFill>
                  </a:tcPr>
                </a:tc>
                <a:tc>
                  <a:txBody>
                    <a:bodyPr wrap="square"/>
                    <a:lstStyle/>
                    <a:p>
                      <a:pPr algn="l"/>
                      <a:r>
                        <a:rPr sz="950" b="0" i="0">
                          <a:solidFill>
                            <a:srgbClr val="14171C"/>
                          </a:solidFill>
                          <a:latin typeface="Calibri"/>
                        </a:rPr>
                        <a:t>Ballin's model</a:t>
                      </a:r>
                    </a:p>
                  </a:txBody>
                  <a:tcPr marL="54864" marR="54864" marT="22860" marB="22860" anchor="ctr">
                    <a:solidFill>
                      <a:srgbClr val="F2F3F5"/>
                    </a:solidFill>
                  </a:tcPr>
                </a:tc>
                <a:tc>
                  <a:txBody>
                    <a:bodyPr wrap="square"/>
                    <a:lstStyle/>
                    <a:p>
                      <a:pPr algn="r"/>
                      <a:r>
                        <a:rPr sz="950" b="0" i="0">
                          <a:solidFill>
                            <a:srgbClr val="14171C"/>
                          </a:solidFill>
                          <a:latin typeface="Calibri"/>
                        </a:rPr>
                        <a:t>88.1</a:t>
                      </a:r>
                    </a:p>
                  </a:txBody>
                  <a:tcPr marL="54864" marR="54864" marT="22860" marB="22860" anchor="ctr">
                    <a:solidFill>
                      <a:srgbClr val="F2F3F5"/>
                    </a:solidFill>
                  </a:tcPr>
                </a:tc>
                <a:tc>
                  <a:txBody>
                    <a:bodyPr wrap="square"/>
                    <a:lstStyle/>
                    <a:p>
                      <a:pPr algn="r"/>
                      <a:r>
                        <a:rPr sz="950" b="0" i="0">
                          <a:solidFill>
                            <a:srgbClr val="14171C"/>
                          </a:solidFill>
                          <a:latin typeface="Calibri"/>
                        </a:rPr>
                        <a:t>97.8</a:t>
                      </a:r>
                    </a:p>
                  </a:txBody>
                  <a:tcPr marL="54864" marR="54864" marT="22860" marB="22860" anchor="ctr">
                    <a:solidFill>
                      <a:srgbClr val="F2F3F5"/>
                    </a:solidFill>
                  </a:tcPr>
                </a:tc>
                <a:tc>
                  <a:txBody>
                    <a:bodyPr wrap="square"/>
                    <a:lstStyle/>
                    <a:p>
                      <a:pPr algn="r"/>
                      <a:r>
                        <a:rPr sz="950" b="0" i="0">
                          <a:solidFill>
                            <a:srgbClr val="14171C"/>
                          </a:solidFill>
                          <a:latin typeface="Calibri"/>
                        </a:rPr>
                        <a:t>6.27</a:t>
                      </a:r>
                    </a:p>
                  </a:txBody>
                  <a:tcPr marL="54864" marR="54864" marT="22860" marB="22860" anchor="ctr">
                    <a:solidFill>
                      <a:srgbClr val="F2F3F5"/>
                    </a:solidFill>
                  </a:tcPr>
                </a:tc>
                <a:tc>
                  <a:txBody>
                    <a:bodyPr wrap="square"/>
                    <a:lstStyle/>
                    <a:p>
                      <a:pPr algn="r"/>
                      <a:r>
                        <a:rPr sz="950" b="0" i="0">
                          <a:solidFill>
                            <a:srgbClr val="14171C"/>
                          </a:solidFill>
                          <a:latin typeface="Calibri"/>
                        </a:rPr>
                        <a:t>141.7</a:t>
                      </a:r>
                    </a:p>
                  </a:txBody>
                  <a:tcPr marL="54864" marR="54864" marT="22860" marB="22860" anchor="ctr">
                    <a:solidFill>
                      <a:srgbClr val="F2F3F5"/>
                    </a:solidFill>
                  </a:tcPr>
                </a:tc>
                <a:tc>
                  <a:txBody>
                    <a:bodyPr wrap="square"/>
                    <a:lstStyle/>
                    <a:p>
                      <a:pPr algn="r"/>
                      <a:r>
                        <a:rPr sz="950" b="0" i="0">
                          <a:solidFill>
                            <a:srgbClr val="14171C"/>
                          </a:solidFill>
                          <a:latin typeface="Calibri"/>
                        </a:rPr>
                        <a:t>1,084</a:t>
                      </a:r>
                    </a:p>
                  </a:txBody>
                  <a:tcPr marL="54864" marR="54864" marT="22860" marB="22860" anchor="ctr">
                    <a:solidFill>
                      <a:srgbClr val="F2F3F5"/>
                    </a:solidFill>
                  </a:tcPr>
                </a:tc>
                <a:tc>
                  <a:txBody>
                    <a:bodyPr wrap="square"/>
                    <a:lstStyle/>
                    <a:p>
                      <a:pPr algn="r"/>
                      <a:r>
                        <a:rPr sz="950" b="0" i="0">
                          <a:solidFill>
                            <a:srgbClr val="14171C"/>
                          </a:solidFill>
                          <a:latin typeface="Calibri"/>
                        </a:rPr>
                        <a:t>1,629</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89.8</a:t>
                      </a:r>
                    </a:p>
                  </a:txBody>
                  <a:tcPr marL="54864" marR="54864" marT="22860" marB="22860" anchor="ctr">
                    <a:solidFill>
                      <a:srgbClr val="EEF3FA"/>
                    </a:solidFill>
                  </a:tcPr>
                </a:tc>
                <a:tc>
                  <a:txBody>
                    <a:bodyPr wrap="square"/>
                    <a:lstStyle/>
                    <a:p>
                      <a:pPr algn="r"/>
                      <a:r>
                        <a:rPr sz="950" b="0" i="0">
                          <a:solidFill>
                            <a:srgbClr val="14171C"/>
                          </a:solidFill>
                          <a:latin typeface="Calibri"/>
                        </a:rPr>
                        <a:t>104.3</a:t>
                      </a:r>
                    </a:p>
                  </a:txBody>
                  <a:tcPr marL="54864" marR="54864" marT="22860" marB="22860" anchor="ctr">
                    <a:solidFill>
                      <a:srgbClr val="EEF3FA"/>
                    </a:solidFill>
                  </a:tcPr>
                </a:tc>
                <a:tc>
                  <a:txBody>
                    <a:bodyPr wrap="square"/>
                    <a:lstStyle/>
                    <a:p>
                      <a:pPr algn="r"/>
                      <a:r>
                        <a:rPr sz="950" b="0" i="0">
                          <a:solidFill>
                            <a:srgbClr val="14171C"/>
                          </a:solidFill>
                          <a:latin typeface="Calibri"/>
                        </a:rPr>
                        <a:t>7.05</a:t>
                      </a:r>
                    </a:p>
                  </a:txBody>
                  <a:tcPr marL="54864" marR="54864" marT="22860" marB="22860" anchor="ctr">
                    <a:solidFill>
                      <a:srgbClr val="EEF3FA"/>
                    </a:solidFill>
                  </a:tcPr>
                </a:tc>
                <a:tc>
                  <a:txBody>
                    <a:bodyPr wrap="square"/>
                    <a:lstStyle/>
                    <a:p>
                      <a:pPr algn="r"/>
                      <a:r>
                        <a:rPr sz="950" b="0" i="0">
                          <a:solidFill>
                            <a:srgbClr val="14171C"/>
                          </a:solidFill>
                          <a:latin typeface="Calibri"/>
                        </a:rPr>
                        <a:t>156.1</a:t>
                      </a:r>
                    </a:p>
                  </a:txBody>
                  <a:tcPr marL="54864" marR="54864" marT="22860" marB="22860" anchor="ctr">
                    <a:solidFill>
                      <a:srgbClr val="EEF3FA"/>
                    </a:solidFill>
                  </a:tcPr>
                </a:tc>
                <a:tc>
                  <a:txBody>
                    <a:bodyPr wrap="square"/>
                    <a:lstStyle/>
                    <a:p>
                      <a:pPr algn="r"/>
                      <a:r>
                        <a:rPr sz="950" b="0" i="0">
                          <a:solidFill>
                            <a:srgbClr val="14171C"/>
                          </a:solidFill>
                          <a:latin typeface="Calibri"/>
                        </a:rPr>
                        <a:t>1,109</a:t>
                      </a:r>
                    </a:p>
                  </a:txBody>
                  <a:tcPr marL="54864" marR="54864" marT="22860" marB="22860" anchor="ctr">
                    <a:solidFill>
                      <a:srgbClr val="EEF3FA"/>
                    </a:solidFill>
                  </a:tcPr>
                </a:tc>
                <a:tc>
                  <a:txBody>
                    <a:bodyPr wrap="square"/>
                    <a:lstStyle/>
                    <a:p>
                      <a:pPr algn="r"/>
                      <a:r>
                        <a:rPr sz="950" b="0" i="0">
                          <a:solidFill>
                            <a:srgbClr val="14171C"/>
                          </a:solidFill>
                          <a:latin typeface="Calibri"/>
                        </a:rPr>
                        <a:t>1,509</a:t>
                      </a:r>
                    </a:p>
                  </a:txBody>
                  <a:tcPr marL="54864" marR="54864" marT="22860" marB="22860" anchor="ctr">
                    <a:solidFill>
                      <a:srgbClr val="EEF3FA"/>
                    </a:solidFill>
                  </a:tcPr>
                </a:tc>
              </a:tr>
              <a:tr h="239572">
                <a:tc>
                  <a:txBody>
                    <a:bodyPr wrap="square"/>
                    <a:lstStyle/>
                    <a:p>
                      <a:pPr algn="ctr"/>
                      <a:r>
                        <a:rPr sz="950" b="0" i="0">
                          <a:solidFill>
                            <a:srgbClr val="14171C"/>
                          </a:solidFill>
                          <a:latin typeface="Calibri"/>
                        </a:rPr>
                        <a:t>4</a:t>
                      </a:r>
                    </a:p>
                  </a:txBody>
                  <a:tcPr marL="54864" marR="54864" marT="22860" marB="22860" anchor="ctr">
                    <a:solidFill>
                      <a:srgbClr val="F2F3F5"/>
                    </a:solidFill>
                  </a:tcPr>
                </a:tc>
                <a:tc>
                  <a:txBody>
                    <a:bodyPr wrap="square"/>
                    <a:lstStyle/>
                    <a:p>
                      <a:pPr algn="l"/>
                      <a:r>
                        <a:rPr sz="950" b="0" i="0">
                          <a:solidFill>
                            <a:srgbClr val="14171C"/>
                          </a:solidFill>
                          <a:latin typeface="Calibri"/>
                        </a:rPr>
                        <a:t>Test engine</a:t>
                      </a:r>
                    </a:p>
                  </a:txBody>
                  <a:tcPr marL="54864" marR="54864" marT="22860" marB="22860" anchor="ctr">
                    <a:solidFill>
                      <a:srgbClr val="F2F3F5"/>
                    </a:solidFill>
                  </a:tcPr>
                </a:tc>
                <a:tc>
                  <a:txBody>
                    <a:bodyPr wrap="square"/>
                    <a:lstStyle/>
                    <a:p>
                      <a:pPr algn="r"/>
                      <a:r>
                        <a:rPr sz="950" b="0" i="0">
                          <a:solidFill>
                            <a:srgbClr val="14171C"/>
                          </a:solidFill>
                          <a:latin typeface="Calibri"/>
                        </a:rPr>
                        <a:t>90.4</a:t>
                      </a:r>
                    </a:p>
                  </a:txBody>
                  <a:tcPr marL="54864" marR="54864" marT="22860" marB="22860" anchor="ctr">
                    <a:solidFill>
                      <a:srgbClr val="F2F3F5"/>
                    </a:solidFill>
                  </a:tcPr>
                </a:tc>
                <a:tc>
                  <a:txBody>
                    <a:bodyPr wrap="square"/>
                    <a:lstStyle/>
                    <a:p>
                      <a:pPr algn="r"/>
                      <a:r>
                        <a:rPr sz="950" b="0" i="0">
                          <a:solidFill>
                            <a:srgbClr val="14171C"/>
                          </a:solidFill>
                          <a:latin typeface="Calibri"/>
                        </a:rPr>
                        <a:t>95.7</a:t>
                      </a:r>
                    </a:p>
                  </a:txBody>
                  <a:tcPr marL="54864" marR="54864" marT="22860" marB="22860" anchor="ctr">
                    <a:solidFill>
                      <a:srgbClr val="F2F3F5"/>
                    </a:solidFill>
                  </a:tcPr>
                </a:tc>
                <a:tc>
                  <a:txBody>
                    <a:bodyPr wrap="square"/>
                    <a:lstStyle/>
                    <a:p>
                      <a:pPr algn="r"/>
                      <a:r>
                        <a:rPr sz="950" b="0" i="0">
                          <a:solidFill>
                            <a:srgbClr val="14171C"/>
                          </a:solidFill>
                          <a:latin typeface="Calibri"/>
                        </a:rPr>
                        <a:t>6.92</a:t>
                      </a:r>
                    </a:p>
                  </a:txBody>
                  <a:tcPr marL="54864" marR="54864" marT="22860" marB="22860" anchor="ctr">
                    <a:solidFill>
                      <a:srgbClr val="F2F3F5"/>
                    </a:solidFill>
                  </a:tcPr>
                </a:tc>
                <a:tc>
                  <a:txBody>
                    <a:bodyPr wrap="square"/>
                    <a:lstStyle/>
                    <a:p>
                      <a:pPr algn="r"/>
                      <a:r>
                        <a:rPr sz="950" b="0" i="0">
                          <a:solidFill>
                            <a:srgbClr val="14171C"/>
                          </a:solidFill>
                          <a:latin typeface="Calibri"/>
                        </a:rPr>
                        <a:t>161.1</a:t>
                      </a:r>
                    </a:p>
                  </a:txBody>
                  <a:tcPr marL="54864" marR="54864" marT="22860" marB="22860" anchor="ctr">
                    <a:solidFill>
                      <a:srgbClr val="F2F3F5"/>
                    </a:solidFill>
                  </a:tcPr>
                </a:tc>
                <a:tc>
                  <a:txBody>
                    <a:bodyPr wrap="square"/>
                    <a:lstStyle/>
                    <a:p>
                      <a:pPr algn="r"/>
                      <a:r>
                        <a:rPr sz="950" b="0" i="0">
                          <a:solidFill>
                            <a:srgbClr val="14171C"/>
                          </a:solidFill>
                          <a:latin typeface="Calibri"/>
                        </a:rPr>
                        <a:t>1,127</a:t>
                      </a:r>
                    </a:p>
                  </a:txBody>
                  <a:tcPr marL="54864" marR="54864" marT="22860" marB="22860" anchor="ctr">
                    <a:solidFill>
                      <a:srgbClr val="F2F3F5"/>
                    </a:solidFill>
                  </a:tcPr>
                </a:tc>
                <a:tc>
                  <a:txBody>
                    <a:bodyPr wrap="square"/>
                    <a:lstStyle/>
                    <a:p>
                      <a:pPr algn="r"/>
                      <a:r>
                        <a:rPr sz="950" b="0" i="0">
                          <a:solidFill>
                            <a:srgbClr val="14171C"/>
                          </a:solidFill>
                          <a:latin typeface="Calibri"/>
                        </a:rPr>
                        <a:t>1,731</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FFFFF"/>
                    </a:solidFill>
                  </a:tcPr>
                </a:tc>
                <a:tc>
                  <a:txBody>
                    <a:bodyPr wrap="square"/>
                    <a:lstStyle/>
                    <a:p>
                      <a:pPr algn="l"/>
                      <a:r>
                        <a:rPr sz="950" b="0" i="0">
                          <a:solidFill>
                            <a:srgbClr val="14171C"/>
                          </a:solidFill>
                          <a:latin typeface="Calibri"/>
                        </a:rPr>
                        <a:t>Ballin's model</a:t>
                      </a:r>
                    </a:p>
                  </a:txBody>
                  <a:tcPr marL="54864" marR="54864" marT="22860" marB="22860" anchor="ctr">
                    <a:solidFill>
                      <a:srgbClr val="FFFFFF"/>
                    </a:solidFill>
                  </a:tcPr>
                </a:tc>
                <a:tc>
                  <a:txBody>
                    <a:bodyPr wrap="square"/>
                    <a:lstStyle/>
                    <a:p>
                      <a:pPr algn="r"/>
                      <a:r>
                        <a:rPr sz="950" b="0" i="0">
                          <a:solidFill>
                            <a:srgbClr val="14171C"/>
                          </a:solidFill>
                          <a:latin typeface="Calibri"/>
                        </a:rPr>
                        <a:t>90.7</a:t>
                      </a:r>
                    </a:p>
                  </a:txBody>
                  <a:tcPr marL="54864" marR="54864" marT="22860" marB="22860" anchor="ctr">
                    <a:solidFill>
                      <a:srgbClr val="FFFFFF"/>
                    </a:solidFill>
                  </a:tcPr>
                </a:tc>
                <a:tc>
                  <a:txBody>
                    <a:bodyPr wrap="square"/>
                    <a:lstStyle/>
                    <a:p>
                      <a:pPr algn="r"/>
                      <a:r>
                        <a:rPr sz="950" b="0" i="0">
                          <a:solidFill>
                            <a:srgbClr val="14171C"/>
                          </a:solidFill>
                          <a:latin typeface="Calibri"/>
                        </a:rPr>
                        <a:t>97.3</a:t>
                      </a:r>
                    </a:p>
                  </a:txBody>
                  <a:tcPr marL="54864" marR="54864" marT="22860" marB="22860" anchor="ctr">
                    <a:solidFill>
                      <a:srgbClr val="FFFFFF"/>
                    </a:solidFill>
                  </a:tcPr>
                </a:tc>
                <a:tc>
                  <a:txBody>
                    <a:bodyPr wrap="square"/>
                    <a:lstStyle/>
                    <a:p>
                      <a:pPr algn="r"/>
                      <a:r>
                        <a:rPr sz="950" b="0" i="0">
                          <a:solidFill>
                            <a:srgbClr val="14171C"/>
                          </a:solidFill>
                          <a:latin typeface="Calibri"/>
                        </a:rPr>
                        <a:t>7.00</a:t>
                      </a:r>
                    </a:p>
                  </a:txBody>
                  <a:tcPr marL="54864" marR="54864" marT="22860" marB="22860" anchor="ctr">
                    <a:solidFill>
                      <a:srgbClr val="FFFFFF"/>
                    </a:solidFill>
                  </a:tcPr>
                </a:tc>
                <a:tc>
                  <a:txBody>
                    <a:bodyPr wrap="square"/>
                    <a:lstStyle/>
                    <a:p>
                      <a:pPr algn="r"/>
                      <a:r>
                        <a:rPr sz="950" b="0" i="0">
                          <a:solidFill>
                            <a:srgbClr val="14171C"/>
                          </a:solidFill>
                          <a:latin typeface="Calibri"/>
                        </a:rPr>
                        <a:t>163.3</a:t>
                      </a:r>
                    </a:p>
                  </a:txBody>
                  <a:tcPr marL="54864" marR="54864" marT="22860" marB="22860" anchor="ctr">
                    <a:solidFill>
                      <a:srgbClr val="FFFFFF"/>
                    </a:solidFill>
                  </a:tcPr>
                </a:tc>
                <a:tc>
                  <a:txBody>
                    <a:bodyPr wrap="square"/>
                    <a:lstStyle/>
                    <a:p>
                      <a:pPr algn="r"/>
                      <a:r>
                        <a:rPr sz="950" b="0" i="0">
                          <a:solidFill>
                            <a:srgbClr val="14171C"/>
                          </a:solidFill>
                          <a:latin typeface="Calibri"/>
                        </a:rPr>
                        <a:t>1,130</a:t>
                      </a:r>
                    </a:p>
                  </a:txBody>
                  <a:tcPr marL="54864" marR="54864" marT="22860" marB="22860" anchor="ctr">
                    <a:solidFill>
                      <a:srgbClr val="FFFFFF"/>
                    </a:solidFill>
                  </a:tcPr>
                </a:tc>
                <a:tc>
                  <a:txBody>
                    <a:bodyPr wrap="square"/>
                    <a:lstStyle/>
                    <a:p>
                      <a:pPr algn="r"/>
                      <a:r>
                        <a:rPr sz="950" b="0" i="0">
                          <a:solidFill>
                            <a:srgbClr val="14171C"/>
                          </a:solidFill>
                          <a:latin typeface="Calibri"/>
                        </a:rPr>
                        <a:t>1,734</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92.6</a:t>
                      </a:r>
                    </a:p>
                  </a:txBody>
                  <a:tcPr marL="54864" marR="54864" marT="22860" marB="22860" anchor="ctr">
                    <a:solidFill>
                      <a:srgbClr val="EEF3FA"/>
                    </a:solidFill>
                  </a:tcPr>
                </a:tc>
                <a:tc>
                  <a:txBody>
                    <a:bodyPr wrap="square"/>
                    <a:lstStyle/>
                    <a:p>
                      <a:pPr algn="r"/>
                      <a:r>
                        <a:rPr sz="950" b="0" i="0">
                          <a:solidFill>
                            <a:srgbClr val="14171C"/>
                          </a:solidFill>
                          <a:latin typeface="Calibri"/>
                        </a:rPr>
                        <a:t>104.4</a:t>
                      </a:r>
                    </a:p>
                  </a:txBody>
                  <a:tcPr marL="54864" marR="54864" marT="22860" marB="22860" anchor="ctr">
                    <a:solidFill>
                      <a:srgbClr val="EEF3FA"/>
                    </a:solidFill>
                  </a:tcPr>
                </a:tc>
                <a:tc>
                  <a:txBody>
                    <a:bodyPr wrap="square"/>
                    <a:lstStyle/>
                    <a:p>
                      <a:pPr algn="r"/>
                      <a:r>
                        <a:rPr sz="950" b="0" i="0">
                          <a:solidFill>
                            <a:srgbClr val="14171C"/>
                          </a:solidFill>
                          <a:latin typeface="Calibri"/>
                        </a:rPr>
                        <a:t>7.88</a:t>
                      </a:r>
                    </a:p>
                  </a:txBody>
                  <a:tcPr marL="54864" marR="54864" marT="22860" marB="22860" anchor="ctr">
                    <a:solidFill>
                      <a:srgbClr val="EEF3FA"/>
                    </a:solidFill>
                  </a:tcPr>
                </a:tc>
                <a:tc>
                  <a:txBody>
                    <a:bodyPr wrap="square"/>
                    <a:lstStyle/>
                    <a:p>
                      <a:pPr algn="r"/>
                      <a:r>
                        <a:rPr sz="950" b="0" i="0">
                          <a:solidFill>
                            <a:srgbClr val="14171C"/>
                          </a:solidFill>
                          <a:latin typeface="Calibri"/>
                        </a:rPr>
                        <a:t>179.9</a:t>
                      </a:r>
                    </a:p>
                  </a:txBody>
                  <a:tcPr marL="54864" marR="54864" marT="22860" marB="22860" anchor="ctr">
                    <a:solidFill>
                      <a:srgbClr val="EEF3FA"/>
                    </a:solidFill>
                  </a:tcPr>
                </a:tc>
                <a:tc>
                  <a:txBody>
                    <a:bodyPr wrap="square"/>
                    <a:lstStyle/>
                    <a:p>
                      <a:pPr algn="r"/>
                      <a:r>
                        <a:rPr sz="950" b="0" i="0">
                          <a:solidFill>
                            <a:srgbClr val="14171C"/>
                          </a:solidFill>
                          <a:latin typeface="Calibri"/>
                        </a:rPr>
                        <a:t>1,156</a:t>
                      </a:r>
                    </a:p>
                  </a:txBody>
                  <a:tcPr marL="54864" marR="54864" marT="22860" marB="22860" anchor="ctr">
                    <a:solidFill>
                      <a:srgbClr val="EEF3FA"/>
                    </a:solidFill>
                  </a:tcPr>
                </a:tc>
                <a:tc>
                  <a:txBody>
                    <a:bodyPr wrap="square"/>
                    <a:lstStyle/>
                    <a:p>
                      <a:pPr algn="r"/>
                      <a:r>
                        <a:rPr sz="950" b="0" i="0">
                          <a:solidFill>
                            <a:srgbClr val="14171C"/>
                          </a:solidFill>
                          <a:latin typeface="Calibri"/>
                        </a:rPr>
                        <a:t>1,601</a:t>
                      </a:r>
                    </a:p>
                  </a:txBody>
                  <a:tcPr marL="54864" marR="54864" marT="22860" marB="22860" anchor="ctr">
                    <a:solidFill>
                      <a:srgbClr val="EEF3FA"/>
                    </a:solidFill>
                  </a:tcPr>
                </a:tc>
              </a:tr>
              <a:tr h="239572">
                <a:tc>
                  <a:txBody>
                    <a:bodyPr wrap="square"/>
                    <a:lstStyle/>
                    <a:p>
                      <a:pPr algn="ctr"/>
                      <a:r>
                        <a:rPr sz="950" b="0" i="0">
                          <a:solidFill>
                            <a:srgbClr val="14171C"/>
                          </a:solidFill>
                          <a:latin typeface="Calibri"/>
                        </a:rPr>
                        <a:t>5</a:t>
                      </a:r>
                    </a:p>
                  </a:txBody>
                  <a:tcPr marL="54864" marR="54864" marT="22860" marB="22860" anchor="ctr">
                    <a:solidFill>
                      <a:srgbClr val="FFFFFF"/>
                    </a:solidFill>
                  </a:tcPr>
                </a:tc>
                <a:tc>
                  <a:txBody>
                    <a:bodyPr wrap="square"/>
                    <a:lstStyle/>
                    <a:p>
                      <a:pPr algn="l"/>
                      <a:r>
                        <a:rPr sz="950" b="0" i="0">
                          <a:solidFill>
                            <a:srgbClr val="14171C"/>
                          </a:solidFill>
                          <a:latin typeface="Calibri"/>
                        </a:rPr>
                        <a:t>Test engine</a:t>
                      </a:r>
                    </a:p>
                  </a:txBody>
                  <a:tcPr marL="54864" marR="54864" marT="22860" marB="22860" anchor="ctr">
                    <a:solidFill>
                      <a:srgbClr val="FFFFFF"/>
                    </a:solidFill>
                  </a:tcPr>
                </a:tc>
                <a:tc>
                  <a:txBody>
                    <a:bodyPr wrap="square"/>
                    <a:lstStyle/>
                    <a:p>
                      <a:pPr algn="r"/>
                      <a:r>
                        <a:rPr sz="950" b="0" i="0">
                          <a:solidFill>
                            <a:srgbClr val="14171C"/>
                          </a:solidFill>
                          <a:latin typeface="Calibri"/>
                        </a:rPr>
                        <a:t>92.6</a:t>
                      </a:r>
                    </a:p>
                  </a:txBody>
                  <a:tcPr marL="54864" marR="54864" marT="22860" marB="22860" anchor="ctr">
                    <a:solidFill>
                      <a:srgbClr val="FFFFFF"/>
                    </a:solidFill>
                  </a:tcPr>
                </a:tc>
                <a:tc>
                  <a:txBody>
                    <a:bodyPr wrap="square"/>
                    <a:lstStyle/>
                    <a:p>
                      <a:pPr algn="r"/>
                      <a:r>
                        <a:rPr sz="950" b="0" i="0">
                          <a:solidFill>
                            <a:srgbClr val="14171C"/>
                          </a:solidFill>
                          <a:latin typeface="Calibri"/>
                        </a:rPr>
                        <a:t>95.7</a:t>
                      </a:r>
                    </a:p>
                  </a:txBody>
                  <a:tcPr marL="54864" marR="54864" marT="22860" marB="22860" anchor="ctr">
                    <a:solidFill>
                      <a:srgbClr val="FFFFFF"/>
                    </a:solidFill>
                  </a:tcPr>
                </a:tc>
                <a:tc>
                  <a:txBody>
                    <a:bodyPr wrap="square"/>
                    <a:lstStyle/>
                    <a:p>
                      <a:pPr algn="r"/>
                      <a:r>
                        <a:rPr sz="950" b="0" i="0">
                          <a:solidFill>
                            <a:srgbClr val="14171C"/>
                          </a:solidFill>
                          <a:latin typeface="Calibri"/>
                        </a:rPr>
                        <a:t>7.66</a:t>
                      </a:r>
                    </a:p>
                  </a:txBody>
                  <a:tcPr marL="54864" marR="54864" marT="22860" marB="22860" anchor="ctr">
                    <a:solidFill>
                      <a:srgbClr val="FFFFFF"/>
                    </a:solidFill>
                  </a:tcPr>
                </a:tc>
                <a:tc>
                  <a:txBody>
                    <a:bodyPr wrap="square"/>
                    <a:lstStyle/>
                    <a:p>
                      <a:pPr algn="r"/>
                      <a:r>
                        <a:rPr sz="950" b="0" i="0">
                          <a:solidFill>
                            <a:srgbClr val="14171C"/>
                          </a:solidFill>
                          <a:latin typeface="Calibri"/>
                        </a:rPr>
                        <a:t>184.8</a:t>
                      </a:r>
                    </a:p>
                  </a:txBody>
                  <a:tcPr marL="54864" marR="54864" marT="22860" marB="22860" anchor="ctr">
                    <a:solidFill>
                      <a:srgbClr val="FFFFFF"/>
                    </a:solidFill>
                  </a:tcPr>
                </a:tc>
                <a:tc>
                  <a:txBody>
                    <a:bodyPr wrap="square"/>
                    <a:lstStyle/>
                    <a:p>
                      <a:pPr algn="r"/>
                      <a:r>
                        <a:rPr sz="950" b="0" i="0">
                          <a:solidFill>
                            <a:srgbClr val="14171C"/>
                          </a:solidFill>
                          <a:latin typeface="Calibri"/>
                        </a:rPr>
                        <a:t>1,173</a:t>
                      </a:r>
                    </a:p>
                  </a:txBody>
                  <a:tcPr marL="54864" marR="54864" marT="22860" marB="22860" anchor="ctr">
                    <a:solidFill>
                      <a:srgbClr val="FFFFFF"/>
                    </a:solidFill>
                  </a:tcPr>
                </a:tc>
                <a:tc>
                  <a:txBody>
                    <a:bodyPr wrap="square"/>
                    <a:lstStyle/>
                    <a:p>
                      <a:pPr algn="r"/>
                      <a:r>
                        <a:rPr sz="950" b="0" i="0">
                          <a:solidFill>
                            <a:srgbClr val="14171C"/>
                          </a:solidFill>
                          <a:latin typeface="Calibri"/>
                        </a:rPr>
                        <a:t>1,838</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2F3F5"/>
                    </a:solidFill>
                  </a:tcPr>
                </a:tc>
                <a:tc>
                  <a:txBody>
                    <a:bodyPr wrap="square"/>
                    <a:lstStyle/>
                    <a:p>
                      <a:pPr algn="l"/>
                      <a:r>
                        <a:rPr sz="950" b="0" i="0">
                          <a:solidFill>
                            <a:srgbClr val="14171C"/>
                          </a:solidFill>
                          <a:latin typeface="Calibri"/>
                        </a:rPr>
                        <a:t>Ballin's model</a:t>
                      </a:r>
                    </a:p>
                  </a:txBody>
                  <a:tcPr marL="54864" marR="54864" marT="22860" marB="22860" anchor="ctr">
                    <a:solidFill>
                      <a:srgbClr val="F2F3F5"/>
                    </a:solidFill>
                  </a:tcPr>
                </a:tc>
                <a:tc>
                  <a:txBody>
                    <a:bodyPr wrap="square"/>
                    <a:lstStyle/>
                    <a:p>
                      <a:pPr algn="r"/>
                      <a:r>
                        <a:rPr sz="950" b="0" i="0">
                          <a:solidFill>
                            <a:srgbClr val="14171C"/>
                          </a:solidFill>
                          <a:latin typeface="Calibri"/>
                        </a:rPr>
                        <a:t>92.8</a:t>
                      </a:r>
                    </a:p>
                  </a:txBody>
                  <a:tcPr marL="54864" marR="54864" marT="22860" marB="22860" anchor="ctr">
                    <a:solidFill>
                      <a:srgbClr val="F2F3F5"/>
                    </a:solidFill>
                  </a:tcPr>
                </a:tc>
                <a:tc>
                  <a:txBody>
                    <a:bodyPr wrap="square"/>
                    <a:lstStyle/>
                    <a:p>
                      <a:pPr algn="r"/>
                      <a:r>
                        <a:rPr sz="950" b="0" i="0">
                          <a:solidFill>
                            <a:srgbClr val="14171C"/>
                          </a:solidFill>
                          <a:latin typeface="Calibri"/>
                        </a:rPr>
                        <a:t>98.2</a:t>
                      </a:r>
                    </a:p>
                  </a:txBody>
                  <a:tcPr marL="54864" marR="54864" marT="22860" marB="22860" anchor="ctr">
                    <a:solidFill>
                      <a:srgbClr val="F2F3F5"/>
                    </a:solidFill>
                  </a:tcPr>
                </a:tc>
                <a:tc>
                  <a:txBody>
                    <a:bodyPr wrap="square"/>
                    <a:lstStyle/>
                    <a:p>
                      <a:pPr algn="r"/>
                      <a:r>
                        <a:rPr sz="950" b="0" i="0">
                          <a:solidFill>
                            <a:srgbClr val="14171C"/>
                          </a:solidFill>
                          <a:latin typeface="Calibri"/>
                        </a:rPr>
                        <a:t>7.73</a:t>
                      </a:r>
                    </a:p>
                  </a:txBody>
                  <a:tcPr marL="54864" marR="54864" marT="22860" marB="22860" anchor="ctr">
                    <a:solidFill>
                      <a:srgbClr val="F2F3F5"/>
                    </a:solidFill>
                  </a:tcPr>
                </a:tc>
                <a:tc>
                  <a:txBody>
                    <a:bodyPr wrap="square"/>
                    <a:lstStyle/>
                    <a:p>
                      <a:pPr algn="r"/>
                      <a:r>
                        <a:rPr sz="950" b="0" i="0">
                          <a:solidFill>
                            <a:srgbClr val="14171C"/>
                          </a:solidFill>
                          <a:latin typeface="Calibri"/>
                        </a:rPr>
                        <a:t>186.4</a:t>
                      </a:r>
                    </a:p>
                  </a:txBody>
                  <a:tcPr marL="54864" marR="54864" marT="22860" marB="22860" anchor="ctr">
                    <a:solidFill>
                      <a:srgbClr val="F2F3F5"/>
                    </a:solidFill>
                  </a:tcPr>
                </a:tc>
                <a:tc>
                  <a:txBody>
                    <a:bodyPr wrap="square"/>
                    <a:lstStyle/>
                    <a:p>
                      <a:pPr algn="r"/>
                      <a:r>
                        <a:rPr sz="950" b="0" i="0">
                          <a:solidFill>
                            <a:srgbClr val="14171C"/>
                          </a:solidFill>
                          <a:latin typeface="Calibri"/>
                        </a:rPr>
                        <a:t>1,178</a:t>
                      </a:r>
                    </a:p>
                  </a:txBody>
                  <a:tcPr marL="54864" marR="54864" marT="22860" marB="22860" anchor="ctr">
                    <a:solidFill>
                      <a:srgbClr val="F2F3F5"/>
                    </a:solidFill>
                  </a:tcPr>
                </a:tc>
                <a:tc>
                  <a:txBody>
                    <a:bodyPr wrap="square"/>
                    <a:lstStyle/>
                    <a:p>
                      <a:pPr algn="r"/>
                      <a:r>
                        <a:rPr sz="950" b="0" i="0">
                          <a:solidFill>
                            <a:srgbClr val="14171C"/>
                          </a:solidFill>
                          <a:latin typeface="Calibri"/>
                        </a:rPr>
                        <a:t>1,855</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95.2</a:t>
                      </a:r>
                    </a:p>
                  </a:txBody>
                  <a:tcPr marL="54864" marR="54864" marT="22860" marB="22860" anchor="ctr">
                    <a:solidFill>
                      <a:srgbClr val="EEF3FA"/>
                    </a:solidFill>
                  </a:tcPr>
                </a:tc>
                <a:tc>
                  <a:txBody>
                    <a:bodyPr wrap="square"/>
                    <a:lstStyle/>
                    <a:p>
                      <a:pPr algn="r"/>
                      <a:r>
                        <a:rPr sz="950" b="0" i="0">
                          <a:solidFill>
                            <a:srgbClr val="14171C"/>
                          </a:solidFill>
                          <a:latin typeface="Calibri"/>
                        </a:rPr>
                        <a:t>105.5</a:t>
                      </a:r>
                    </a:p>
                  </a:txBody>
                  <a:tcPr marL="54864" marR="54864" marT="22860" marB="22860" anchor="ctr">
                    <a:solidFill>
                      <a:srgbClr val="EEF3FA"/>
                    </a:solidFill>
                  </a:tcPr>
                </a:tc>
                <a:tc>
                  <a:txBody>
                    <a:bodyPr wrap="square"/>
                    <a:lstStyle/>
                    <a:p>
                      <a:pPr algn="r"/>
                      <a:r>
                        <a:rPr sz="950" b="0" i="0">
                          <a:solidFill>
                            <a:srgbClr val="14171C"/>
                          </a:solidFill>
                          <a:latin typeface="Calibri"/>
                        </a:rPr>
                        <a:t>8.77</a:t>
                      </a:r>
                    </a:p>
                  </a:txBody>
                  <a:tcPr marL="54864" marR="54864" marT="22860" marB="22860" anchor="ctr">
                    <a:solidFill>
                      <a:srgbClr val="EEF3FA"/>
                    </a:solidFill>
                  </a:tcPr>
                </a:tc>
                <a:tc>
                  <a:txBody>
                    <a:bodyPr wrap="square"/>
                    <a:lstStyle/>
                    <a:p>
                      <a:pPr algn="r"/>
                      <a:r>
                        <a:rPr sz="950" b="0" i="0">
                          <a:solidFill>
                            <a:srgbClr val="14171C"/>
                          </a:solidFill>
                          <a:latin typeface="Calibri"/>
                        </a:rPr>
                        <a:t>206.6</a:t>
                      </a:r>
                    </a:p>
                  </a:txBody>
                  <a:tcPr marL="54864" marR="54864" marT="22860" marB="22860" anchor="ctr">
                    <a:solidFill>
                      <a:srgbClr val="EEF3FA"/>
                    </a:solidFill>
                  </a:tcPr>
                </a:tc>
                <a:tc>
                  <a:txBody>
                    <a:bodyPr wrap="square"/>
                    <a:lstStyle/>
                    <a:p>
                      <a:pPr algn="r"/>
                      <a:r>
                        <a:rPr sz="950" b="0" i="0">
                          <a:solidFill>
                            <a:srgbClr val="14171C"/>
                          </a:solidFill>
                          <a:latin typeface="Calibri"/>
                        </a:rPr>
                        <a:t>1,207</a:t>
                      </a:r>
                    </a:p>
                  </a:txBody>
                  <a:tcPr marL="54864" marR="54864" marT="22860" marB="22860" anchor="ctr">
                    <a:solidFill>
                      <a:srgbClr val="EEF3FA"/>
                    </a:solidFill>
                  </a:tcPr>
                </a:tc>
                <a:tc>
                  <a:txBody>
                    <a:bodyPr wrap="square"/>
                    <a:lstStyle/>
                    <a:p>
                      <a:pPr algn="r"/>
                      <a:r>
                        <a:rPr sz="950" b="0" i="0">
                          <a:solidFill>
                            <a:srgbClr val="14171C"/>
                          </a:solidFill>
                          <a:latin typeface="Calibri"/>
                        </a:rPr>
                        <a:t>1,699</a:t>
                      </a:r>
                    </a:p>
                  </a:txBody>
                  <a:tcPr marL="54864" marR="54864" marT="22860" marB="22860" anchor="ctr">
                    <a:solidFill>
                      <a:srgbClr val="EEF3FA"/>
                    </a:solidFill>
                  </a:tcPr>
                </a:tc>
              </a:tr>
              <a:tr h="239572">
                <a:tc>
                  <a:txBody>
                    <a:bodyPr wrap="square"/>
                    <a:lstStyle/>
                    <a:p>
                      <a:pPr algn="ctr"/>
                      <a:r>
                        <a:rPr sz="950" b="0" i="0">
                          <a:solidFill>
                            <a:srgbClr val="14171C"/>
                          </a:solidFill>
                          <a:latin typeface="Calibri"/>
                        </a:rPr>
                        <a:t>6</a:t>
                      </a:r>
                    </a:p>
                  </a:txBody>
                  <a:tcPr marL="54864" marR="54864" marT="22860" marB="22860" anchor="ctr">
                    <a:solidFill>
                      <a:srgbClr val="F2F3F5"/>
                    </a:solidFill>
                  </a:tcPr>
                </a:tc>
                <a:tc>
                  <a:txBody>
                    <a:bodyPr wrap="square"/>
                    <a:lstStyle/>
                    <a:p>
                      <a:pPr algn="l"/>
                      <a:r>
                        <a:rPr sz="950" b="0" i="0">
                          <a:solidFill>
                            <a:srgbClr val="14171C"/>
                          </a:solidFill>
                          <a:latin typeface="Calibri"/>
                        </a:rPr>
                        <a:t>Test engine</a:t>
                      </a:r>
                    </a:p>
                  </a:txBody>
                  <a:tcPr marL="54864" marR="54864" marT="22860" marB="22860" anchor="ctr">
                    <a:solidFill>
                      <a:srgbClr val="F2F3F5"/>
                    </a:solidFill>
                  </a:tcPr>
                </a:tc>
                <a:tc>
                  <a:txBody>
                    <a:bodyPr wrap="square"/>
                    <a:lstStyle/>
                    <a:p>
                      <a:pPr algn="r"/>
                      <a:r>
                        <a:rPr sz="950" b="0" i="0">
                          <a:solidFill>
                            <a:srgbClr val="14171C"/>
                          </a:solidFill>
                          <a:latin typeface="Calibri"/>
                        </a:rPr>
                        <a:t>95.9</a:t>
                      </a:r>
                    </a:p>
                  </a:txBody>
                  <a:tcPr marL="54864" marR="54864" marT="22860" marB="22860" anchor="ctr">
                    <a:solidFill>
                      <a:srgbClr val="F2F3F5"/>
                    </a:solidFill>
                  </a:tcPr>
                </a:tc>
                <a:tc>
                  <a:txBody>
                    <a:bodyPr wrap="square"/>
                    <a:lstStyle/>
                    <a:p>
                      <a:pPr algn="r"/>
                      <a:r>
                        <a:rPr sz="950" b="0" i="0">
                          <a:solidFill>
                            <a:srgbClr val="14171C"/>
                          </a:solidFill>
                          <a:latin typeface="Calibri"/>
                        </a:rPr>
                        <a:t>95.7</a:t>
                      </a:r>
                    </a:p>
                  </a:txBody>
                  <a:tcPr marL="54864" marR="54864" marT="22860" marB="22860" anchor="ctr">
                    <a:solidFill>
                      <a:srgbClr val="F2F3F5"/>
                    </a:solidFill>
                  </a:tcPr>
                </a:tc>
                <a:tc>
                  <a:txBody>
                    <a:bodyPr wrap="square"/>
                    <a:lstStyle/>
                    <a:p>
                      <a:pPr algn="r"/>
                      <a:r>
                        <a:rPr sz="950" b="0" i="0">
                          <a:solidFill>
                            <a:srgbClr val="14171C"/>
                          </a:solidFill>
                          <a:latin typeface="Calibri"/>
                        </a:rPr>
                        <a:t>8.50</a:t>
                      </a:r>
                    </a:p>
                  </a:txBody>
                  <a:tcPr marL="54864" marR="54864" marT="22860" marB="22860" anchor="ctr">
                    <a:solidFill>
                      <a:srgbClr val="F2F3F5"/>
                    </a:solidFill>
                  </a:tcPr>
                </a:tc>
                <a:tc>
                  <a:txBody>
                    <a:bodyPr wrap="square"/>
                    <a:lstStyle/>
                    <a:p>
                      <a:pPr algn="r"/>
                      <a:r>
                        <a:rPr sz="950" b="0" i="0">
                          <a:solidFill>
                            <a:srgbClr val="14171C"/>
                          </a:solidFill>
                          <a:latin typeface="Calibri"/>
                        </a:rPr>
                        <a:t>211.9</a:t>
                      </a:r>
                    </a:p>
                  </a:txBody>
                  <a:tcPr marL="54864" marR="54864" marT="22860" marB="22860" anchor="ctr">
                    <a:solidFill>
                      <a:srgbClr val="F2F3F5"/>
                    </a:solidFill>
                  </a:tcPr>
                </a:tc>
                <a:tc>
                  <a:txBody>
                    <a:bodyPr wrap="square"/>
                    <a:lstStyle/>
                    <a:p>
                      <a:pPr algn="r"/>
                      <a:r>
                        <a:rPr sz="950" b="0" i="0">
                          <a:solidFill>
                            <a:srgbClr val="14171C"/>
                          </a:solidFill>
                          <a:latin typeface="Calibri"/>
                        </a:rPr>
                        <a:t>1,228</a:t>
                      </a:r>
                    </a:p>
                  </a:txBody>
                  <a:tcPr marL="54864" marR="54864" marT="22860" marB="22860" anchor="ctr">
                    <a:solidFill>
                      <a:srgbClr val="F2F3F5"/>
                    </a:solidFill>
                  </a:tcPr>
                </a:tc>
                <a:tc>
                  <a:txBody>
                    <a:bodyPr wrap="square"/>
                    <a:lstStyle/>
                    <a:p>
                      <a:pPr algn="r"/>
                      <a:r>
                        <a:rPr sz="950" b="0" i="0">
                          <a:solidFill>
                            <a:srgbClr val="14171C"/>
                          </a:solidFill>
                          <a:latin typeface="Calibri"/>
                        </a:rPr>
                        <a:t>1,974</a:t>
                      </a:r>
                    </a:p>
                  </a:txBody>
                  <a:tcPr marL="54864" marR="54864" marT="22860" marB="22860" anchor="ctr">
                    <a:solidFill>
                      <a:srgbClr val="F2F3F5"/>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FFFFFF"/>
                    </a:solidFill>
                  </a:tcPr>
                </a:tc>
                <a:tc>
                  <a:txBody>
                    <a:bodyPr wrap="square"/>
                    <a:lstStyle/>
                    <a:p>
                      <a:pPr algn="l"/>
                      <a:r>
                        <a:rPr sz="950" b="0" i="0">
                          <a:solidFill>
                            <a:srgbClr val="14171C"/>
                          </a:solidFill>
                          <a:latin typeface="Calibri"/>
                        </a:rPr>
                        <a:t>Ballin's model</a:t>
                      </a:r>
                    </a:p>
                  </a:txBody>
                  <a:tcPr marL="54864" marR="54864" marT="22860" marB="22860" anchor="ctr">
                    <a:solidFill>
                      <a:srgbClr val="FFFFFF"/>
                    </a:solidFill>
                  </a:tcPr>
                </a:tc>
                <a:tc>
                  <a:txBody>
                    <a:bodyPr wrap="square"/>
                    <a:lstStyle/>
                    <a:p>
                      <a:pPr algn="r"/>
                      <a:r>
                        <a:rPr sz="950" b="0" i="0">
                          <a:solidFill>
                            <a:srgbClr val="14171C"/>
                          </a:solidFill>
                          <a:latin typeface="Calibri"/>
                        </a:rPr>
                        <a:t>96.1</a:t>
                      </a:r>
                    </a:p>
                  </a:txBody>
                  <a:tcPr marL="54864" marR="54864" marT="22860" marB="22860" anchor="ctr">
                    <a:solidFill>
                      <a:srgbClr val="FFFFFF"/>
                    </a:solidFill>
                  </a:tcPr>
                </a:tc>
                <a:tc>
                  <a:txBody>
                    <a:bodyPr wrap="square"/>
                    <a:lstStyle/>
                    <a:p>
                      <a:pPr algn="r"/>
                      <a:r>
                        <a:rPr sz="950" b="0" i="0">
                          <a:solidFill>
                            <a:srgbClr val="14171C"/>
                          </a:solidFill>
                          <a:latin typeface="Calibri"/>
                        </a:rPr>
                        <a:t>99.4</a:t>
                      </a:r>
                    </a:p>
                  </a:txBody>
                  <a:tcPr marL="54864" marR="54864" marT="22860" marB="22860" anchor="ctr">
                    <a:solidFill>
                      <a:srgbClr val="FFFFFF"/>
                    </a:solidFill>
                  </a:tcPr>
                </a:tc>
                <a:tc>
                  <a:txBody>
                    <a:bodyPr wrap="square"/>
                    <a:lstStyle/>
                    <a:p>
                      <a:pPr algn="r"/>
                      <a:r>
                        <a:rPr sz="950" b="0" i="0">
                          <a:solidFill>
                            <a:srgbClr val="14171C"/>
                          </a:solidFill>
                          <a:latin typeface="Calibri"/>
                        </a:rPr>
                        <a:t>8.53</a:t>
                      </a:r>
                    </a:p>
                  </a:txBody>
                  <a:tcPr marL="54864" marR="54864" marT="22860" marB="22860" anchor="ctr">
                    <a:solidFill>
                      <a:srgbClr val="FFFFFF"/>
                    </a:solidFill>
                  </a:tcPr>
                </a:tc>
                <a:tc>
                  <a:txBody>
                    <a:bodyPr wrap="square"/>
                    <a:lstStyle/>
                    <a:p>
                      <a:pPr algn="r"/>
                      <a:r>
                        <a:rPr sz="950" b="0" i="0">
                          <a:solidFill>
                            <a:srgbClr val="14171C"/>
                          </a:solidFill>
                          <a:latin typeface="Calibri"/>
                        </a:rPr>
                        <a:t>213.8</a:t>
                      </a:r>
                    </a:p>
                  </a:txBody>
                  <a:tcPr marL="54864" marR="54864" marT="22860" marB="22860" anchor="ctr">
                    <a:solidFill>
                      <a:srgbClr val="FFFFFF"/>
                    </a:solidFill>
                  </a:tcPr>
                </a:tc>
                <a:tc>
                  <a:txBody>
                    <a:bodyPr wrap="square"/>
                    <a:lstStyle/>
                    <a:p>
                      <a:pPr algn="r"/>
                      <a:r>
                        <a:rPr sz="950" b="0" i="0">
                          <a:solidFill>
                            <a:srgbClr val="14171C"/>
                          </a:solidFill>
                          <a:latin typeface="Calibri"/>
                        </a:rPr>
                        <a:t>1,233</a:t>
                      </a:r>
                    </a:p>
                  </a:txBody>
                  <a:tcPr marL="54864" marR="54864" marT="22860" marB="22860" anchor="ctr">
                    <a:solidFill>
                      <a:srgbClr val="FFFFFF"/>
                    </a:solidFill>
                  </a:tcPr>
                </a:tc>
                <a:tc>
                  <a:txBody>
                    <a:bodyPr wrap="square"/>
                    <a:lstStyle/>
                    <a:p>
                      <a:pPr algn="r"/>
                      <a:r>
                        <a:rPr sz="950" b="0" i="0">
                          <a:solidFill>
                            <a:srgbClr val="14171C"/>
                          </a:solidFill>
                          <a:latin typeface="Calibri"/>
                        </a:rPr>
                        <a:t>2,009</a:t>
                      </a:r>
                    </a:p>
                  </a:txBody>
                  <a:tcPr marL="54864" marR="54864" marT="22860" marB="22860" anchor="ctr">
                    <a:solidFill>
                      <a:srgbClr val="FFFFFF"/>
                    </a:solidFill>
                  </a:tcPr>
                </a:tc>
              </a:tr>
              <a:tr h="239572">
                <a:tc>
                  <a:txBody>
                    <a:bodyPr wrap="square"/>
                    <a:lstStyle/>
                    <a:p>
                      <a:pPr algn="ctr"/>
                      <a:r>
                        <a:rPr sz="950" b="0" i="0">
                          <a:solidFill>
                            <a:srgbClr val="14171C"/>
                          </a:solidFill>
                          <a:latin typeface="Calibri"/>
                        </a:rPr>
                        <a:t> </a:t>
                      </a:r>
                    </a:p>
                  </a:txBody>
                  <a:tcPr marL="54864" marR="54864" marT="22860" marB="22860" anchor="ctr">
                    <a:solidFill>
                      <a:srgbClr val="EEF3FA"/>
                    </a:solidFill>
                  </a:tcPr>
                </a:tc>
                <a:tc>
                  <a:txBody>
                    <a:bodyPr wrap="square"/>
                    <a:lstStyle/>
                    <a:p>
                      <a:pPr algn="l"/>
                      <a:r>
                        <a:rPr sz="950" b="0" i="0">
                          <a:solidFill>
                            <a:srgbClr val="14171C"/>
                          </a:solidFill>
                          <a:latin typeface="Calibri"/>
                        </a:rPr>
                        <a:t>Ours</a:t>
                      </a:r>
                    </a:p>
                  </a:txBody>
                  <a:tcPr marL="54864" marR="54864" marT="22860" marB="22860" anchor="ctr">
                    <a:solidFill>
                      <a:srgbClr val="EEF3FA"/>
                    </a:solidFill>
                  </a:tcPr>
                </a:tc>
                <a:tc>
                  <a:txBody>
                    <a:bodyPr wrap="square"/>
                    <a:lstStyle/>
                    <a:p>
                      <a:pPr algn="r"/>
                      <a:r>
                        <a:rPr sz="950" b="0" i="0">
                          <a:solidFill>
                            <a:srgbClr val="14171C"/>
                          </a:solidFill>
                          <a:latin typeface="Calibri"/>
                        </a:rPr>
                        <a:t>98.0</a:t>
                      </a:r>
                    </a:p>
                  </a:txBody>
                  <a:tcPr marL="54864" marR="54864" marT="22860" marB="22860" anchor="ctr">
                    <a:solidFill>
                      <a:srgbClr val="EEF3FA"/>
                    </a:solidFill>
                  </a:tcPr>
                </a:tc>
                <a:tc>
                  <a:txBody>
                    <a:bodyPr wrap="square"/>
                    <a:lstStyle/>
                    <a:p>
                      <a:pPr algn="r"/>
                      <a:r>
                        <a:rPr sz="950" b="0" i="0">
                          <a:solidFill>
                            <a:srgbClr val="14171C"/>
                          </a:solidFill>
                          <a:latin typeface="Calibri"/>
                        </a:rPr>
                        <a:t>104.9</a:t>
                      </a:r>
                    </a:p>
                  </a:txBody>
                  <a:tcPr marL="54864" marR="54864" marT="22860" marB="22860" anchor="ctr">
                    <a:solidFill>
                      <a:srgbClr val="EEF3FA"/>
                    </a:solidFill>
                  </a:tcPr>
                </a:tc>
                <a:tc>
                  <a:txBody>
                    <a:bodyPr wrap="square"/>
                    <a:lstStyle/>
                    <a:p>
                      <a:pPr algn="r"/>
                      <a:r>
                        <a:rPr sz="950" b="0" i="0">
                          <a:solidFill>
                            <a:srgbClr val="14171C"/>
                          </a:solidFill>
                          <a:latin typeface="Calibri"/>
                        </a:rPr>
                        <a:t>9.48</a:t>
                      </a:r>
                    </a:p>
                  </a:txBody>
                  <a:tcPr marL="54864" marR="54864" marT="22860" marB="22860" anchor="ctr">
                    <a:solidFill>
                      <a:srgbClr val="EEF3FA"/>
                    </a:solidFill>
                  </a:tcPr>
                </a:tc>
                <a:tc>
                  <a:txBody>
                    <a:bodyPr wrap="square"/>
                    <a:lstStyle/>
                    <a:p>
                      <a:pPr algn="r"/>
                      <a:r>
                        <a:rPr sz="950" b="0" i="0">
                          <a:solidFill>
                            <a:srgbClr val="14171C"/>
                          </a:solidFill>
                          <a:latin typeface="Calibri"/>
                        </a:rPr>
                        <a:t>233.2</a:t>
                      </a:r>
                    </a:p>
                  </a:txBody>
                  <a:tcPr marL="54864" marR="54864" marT="22860" marB="22860" anchor="ctr">
                    <a:solidFill>
                      <a:srgbClr val="EEF3FA"/>
                    </a:solidFill>
                  </a:tcPr>
                </a:tc>
                <a:tc>
                  <a:txBody>
                    <a:bodyPr wrap="square"/>
                    <a:lstStyle/>
                    <a:p>
                      <a:pPr algn="r"/>
                      <a:r>
                        <a:rPr sz="950" b="0" i="0">
                          <a:solidFill>
                            <a:srgbClr val="14171C"/>
                          </a:solidFill>
                          <a:latin typeface="Calibri"/>
                        </a:rPr>
                        <a:t>1,265</a:t>
                      </a:r>
                    </a:p>
                  </a:txBody>
                  <a:tcPr marL="54864" marR="54864" marT="22860" marB="22860" anchor="ctr">
                    <a:solidFill>
                      <a:srgbClr val="EEF3FA"/>
                    </a:solidFill>
                  </a:tcPr>
                </a:tc>
                <a:tc>
                  <a:txBody>
                    <a:bodyPr wrap="square"/>
                    <a:lstStyle/>
                    <a:p>
                      <a:pPr algn="r"/>
                      <a:r>
                        <a:rPr sz="950" b="0" i="0">
                          <a:solidFill>
                            <a:srgbClr val="14171C"/>
                          </a:solidFill>
                          <a:latin typeface="Calibri"/>
                        </a:rPr>
                        <a:t>1,860</a:t>
                      </a:r>
                    </a:p>
                  </a:txBody>
                  <a:tcPr marL="54864" marR="54864" marT="22860" marB="22860" anchor="ctr">
                    <a:solidFill>
                      <a:srgbClr val="EEF3FA"/>
                    </a:solidFill>
                  </a:tcPr>
                </a:tc>
              </a:tr>
            </a:tbl>
          </a:graphicData>
        </a:graphic>
      </p:graphicFrame>
      <p:sp>
        <p:nvSpPr>
          <p:cNvPr id="9" name="TextBox 8"/>
          <p:cNvSpPr txBox="1"/>
          <p:nvPr/>
        </p:nvSpPr>
        <p:spPr>
          <a:xfrm>
            <a:off x="8001000" y="1280160"/>
            <a:ext cx="3687775"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0" i="0">
                <a:solidFill>
                  <a:srgbClr val="14171C"/>
                </a:solidFill>
                <a:latin typeface="Calibri"/>
              </a:rPr>
              <a:t>Six test-cell points [pdf p.43]: inlet P2 and T2, fuel flow, exhaust P49 and the dynamometer torque. Power-turbine speed floats until its torque meets the load, as Ballin did [pdf p.39].</a:t>
            </a:r>
          </a:p>
          <a:p>
            <a:pPr marL="201168" indent="-201168">
              <a:lnSpc>
                <a:spcPct val="105000"/>
              </a:lnSpc>
              <a:spcBef>
                <a:spcPts val="600"/>
              </a:spcBef>
              <a:buFont typeface="Arial"/>
              <a:buChar char="•"/>
            </a:pPr>
            <a:r>
              <a:rPr sz="1150" b="1" i="0">
                <a:solidFill>
                  <a:srgbClr val="14171C"/>
                </a:solidFill>
                <a:latin typeface="Calibri"/>
              </a:rPr>
              <a:t>Ballin's column ran the test engine's own maps</a:t>
            </a:r>
            <a:r>
              <a:rPr sz="1150" b="0" i="0">
                <a:solidFill>
                  <a:srgbClr val="14171C"/>
                </a:solidFill>
                <a:latin typeface="Calibri"/>
              </a:rPr>
              <a:t>, printed nowhere: “compressor-mass-flow and turbine-energy functions derived from this test engine were used in place of the standard functions” [pdf p.39]. Ours runs the standard ones.</a:t>
            </a:r>
          </a:p>
          <a:p>
            <a:pPr marL="201168" indent="-201168">
              <a:lnSpc>
                <a:spcPct val="105000"/>
              </a:lnSpc>
              <a:spcBef>
                <a:spcPts val="600"/>
              </a:spcBef>
              <a:buFont typeface="Arial"/>
              <a:buChar char="•"/>
            </a:pPr>
            <a:r>
              <a:rPr sz="1150" b="1" i="0">
                <a:solidFill>
                  <a:srgbClr val="14171C"/>
                </a:solidFill>
                <a:latin typeface="Calibri"/>
              </a:rPr>
              <a:t>Cases 2–6, ours against his:</a:t>
            </a:r>
            <a:r>
              <a:rPr sz="1150" b="0" i="0">
                <a:solidFill>
                  <a:srgbClr val="14171C"/>
                </a:solidFill>
                <a:latin typeface="Calibri"/>
              </a:rPr>
              <a:t> airflow +12.0 %, P3 +10.0 %, T45 −7.5 %, NP +6.6 %, the same sign every time: the standard maps describe a stronger engine than the prototype.</a:t>
            </a:r>
          </a:p>
          <a:p>
            <a:pPr marL="201168" indent="-201168">
              <a:lnSpc>
                <a:spcPct val="105000"/>
              </a:lnSpc>
              <a:spcBef>
                <a:spcPts val="600"/>
              </a:spcBef>
              <a:buFont typeface="Arial"/>
              <a:buChar char="•"/>
            </a:pPr>
            <a:r>
              <a:rPr sz="1150" b="0" i="0">
                <a:solidFill>
                  <a:srgbClr val="14171C"/>
                </a:solidFill>
                <a:latin typeface="Calibri"/>
              </a:rPr>
              <a:t>So the gap measures the prototype against the specification T700, not our model against his. Nothing is tuned toward either column.</a:t>
            </a:r>
          </a:p>
          <a:p>
            <a:pPr marL="201168" indent="-201168">
              <a:lnSpc>
                <a:spcPct val="105000"/>
              </a:lnSpc>
              <a:spcBef>
                <a:spcPts val="600"/>
              </a:spcBef>
              <a:buFont typeface="Arial"/>
              <a:buChar char="•"/>
            </a:pPr>
            <a:r>
              <a:rPr sz="1150" b="1" i="0">
                <a:solidFill>
                  <a:srgbClr val="14171C"/>
                </a:solidFill>
                <a:latin typeface="Calibri"/>
              </a:rPr>
              <a:t>Not the inlet, not the heat:</a:t>
            </a:r>
            <a:r>
              <a:rPr sz="1150" b="0" i="0">
                <a:solidFill>
                  <a:srgbClr val="14171C"/>
                </a:solidFill>
                <a:latin typeface="Calibri"/>
              </a:rPr>
              <a:t> with P2 and T2 free, matching his column needs P2 25–28 % below Table 2's and T2 37–43 °R colder (cases 2–5), and still misses by 1.3–1.8 % rms. The cooler T45 is the extra air at the same fuel.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9: fuel step, 400 → 775 lbm/hr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9, pdf p.45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40</a:t>
            </a:r>
          </a:p>
        </p:txBody>
      </p:sp>
      <p:pic>
        <p:nvPicPr>
          <p:cNvPr id="8" name="Picture 7" descr="figure-9-overlay.png"/>
          <p:cNvPicPr>
            <a:picLocks noChangeAspect="1"/>
          </p:cNvPicPr>
          <p:nvPr/>
        </p:nvPicPr>
        <p:blipFill>
          <a:blip r:embed="rId2"/>
          <a:stretch>
            <a:fillRect/>
          </a:stretch>
        </p:blipFill>
        <p:spPr>
          <a:xfrm>
            <a:off x="502920" y="1292137"/>
            <a:ext cx="7406640" cy="3679365"/>
          </a:xfrm>
          <a:prstGeom prst="rect">
            <a:avLst/>
          </a:prstGeom>
        </p:spPr>
      </p:pic>
      <p:graphicFrame>
        <p:nvGraphicFramePr>
          <p:cNvPr id="9" name="Table 8"/>
          <p:cNvGraphicFramePr>
            <a:graphicFrameLocks noGrp="1"/>
          </p:cNvGraphicFramePr>
          <p:nvPr/>
        </p:nvGraphicFramePr>
        <p:xfrm>
          <a:off x="8092440" y="1325880"/>
          <a:ext cx="3611876" cy="2194560"/>
        </p:xfrm>
        <a:graphic>
          <a:graphicData uri="http://schemas.openxmlformats.org/drawingml/2006/table">
            <a:tbl>
              <a:tblPr firstRow="1">
                <a:tableStyleId>{5C22544A-7EE6-4342-B048-85BDC9FD1C3A}</a:tableStyleId>
              </a:tblPr>
              <a:tblGrid>
                <a:gridCol w="992274"/>
                <a:gridCol w="714437"/>
                <a:gridCol w="714437"/>
                <a:gridCol w="595364"/>
                <a:gridCol w="595364"/>
              </a:tblGrid>
              <a:tr h="365760">
                <a:tc>
                  <a:txBody>
                    <a:bodyPr wrap="square"/>
                    <a:lstStyle/>
                    <a:p>
                      <a:pPr algn="l"/>
                      <a:r>
                        <a:rPr sz="1100" b="1" i="0">
                          <a:solidFill>
                            <a:srgbClr val="FFFFFF"/>
                          </a:solidFill>
                          <a:latin typeface="Calibri"/>
                        </a:rPr>
                        <a:t>Panel</a:t>
                      </a:r>
                    </a:p>
                  </a:txBody>
                  <a:tcPr marL="54864" marR="54864" marT="22860" marB="22860" anchor="ctr">
                    <a:solidFill>
                      <a:srgbClr val="4D5563"/>
                    </a:solidFill>
                  </a:tcPr>
                </a:tc>
                <a:tc>
                  <a:txBody>
                    <a:bodyPr wrap="square"/>
                    <a:lstStyle/>
                    <a:p>
                      <a:pPr algn="r"/>
                      <a:r>
                        <a:rPr sz="1100" b="1" i="0">
                          <a:solidFill>
                            <a:srgbClr val="FFFFFF"/>
                          </a:solidFill>
                          <a:latin typeface="Calibri"/>
                        </a:rPr>
                        <a:t>Ballin</a:t>
                      </a:r>
                    </a:p>
                  </a:txBody>
                  <a:tcPr marL="54864" marR="54864" marT="22860" marB="22860" anchor="ctr">
                    <a:solidFill>
                      <a:srgbClr val="4D5563"/>
                    </a:solidFill>
                  </a:tcPr>
                </a:tc>
                <a:tc>
                  <a:txBody>
                    <a:bodyPr wrap="square"/>
                    <a:lstStyle/>
                    <a:p>
                      <a:pPr algn="r"/>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Dev. %</a:t>
                      </a:r>
                    </a:p>
                  </a:txBody>
                  <a:tcPr marL="54864" marR="54864" marT="22860" marB="22860" anchor="ctr">
                    <a:solidFill>
                      <a:srgbClr val="4D5563"/>
                    </a:solidFill>
                  </a:tcPr>
                </a:tc>
                <a:tc>
                  <a:txBody>
                    <a:bodyPr wrap="square"/>
                    <a:lstStyle/>
                    <a:p>
                      <a:pPr algn="r"/>
                      <a:r>
                        <a:rPr sz="1100" b="1" i="0">
                          <a:solidFill>
                            <a:srgbClr val="FFFFFF"/>
                          </a:solidFill>
                          <a:latin typeface="Calibri"/>
                        </a:rPr>
                        <a:t>Shape</a:t>
                      </a:r>
                    </a:p>
                  </a:txBody>
                  <a:tcPr marL="54864" marR="54864" marT="22860" marB="22860" anchor="ctr">
                    <a:solidFill>
                      <a:srgbClr val="4D5563"/>
                    </a:solidFill>
                  </a:tcPr>
                </a:tc>
              </a:tr>
              <a:tr h="365760">
                <a:tc>
                  <a:txBody>
                    <a:bodyPr wrap="square"/>
                    <a:lstStyle/>
                    <a:p>
                      <a:pPr algn="l"/>
                      <a:r>
                        <a:rPr sz="1100" b="0" i="0">
                          <a:solidFill>
                            <a:srgbClr val="14171C"/>
                          </a:solidFill>
                          <a:latin typeface="Calibri"/>
                        </a:rPr>
                        <a:t>NG, %</a:t>
                      </a:r>
                    </a:p>
                  </a:txBody>
                  <a:tcPr marL="54864" marR="54864" marT="22860" marB="22860" anchor="ctr">
                    <a:solidFill>
                      <a:srgbClr val="FFFFFF"/>
                    </a:solidFill>
                  </a:tcPr>
                </a:tc>
                <a:tc>
                  <a:txBody>
                    <a:bodyPr wrap="square"/>
                    <a:lstStyle/>
                    <a:p>
                      <a:pPr algn="r"/>
                      <a:r>
                        <a:rPr sz="1100" b="0" i="0">
                          <a:solidFill>
                            <a:srgbClr val="14171C"/>
                          </a:solidFill>
                          <a:latin typeface="Calibri"/>
                        </a:rPr>
                        <a:t>98.98</a:t>
                      </a:r>
                    </a:p>
                  </a:txBody>
                  <a:tcPr marL="54864" marR="54864" marT="22860" marB="22860" anchor="ctr">
                    <a:solidFill>
                      <a:srgbClr val="FFFFFF"/>
                    </a:solidFill>
                  </a:tcPr>
                </a:tc>
                <a:tc>
                  <a:txBody>
                    <a:bodyPr wrap="square"/>
                    <a:lstStyle/>
                    <a:p>
                      <a:pPr algn="r"/>
                      <a:r>
                        <a:rPr sz="1100" b="0" i="0">
                          <a:solidFill>
                            <a:srgbClr val="14171C"/>
                          </a:solidFill>
                          <a:latin typeface="Calibri"/>
                        </a:rPr>
                        <a:t>98.97</a:t>
                      </a:r>
                    </a:p>
                  </a:txBody>
                  <a:tcPr marL="54864" marR="54864" marT="22860" marB="22860" anchor="ctr">
                    <a:solidFill>
                      <a:srgbClr val="FFFFFF"/>
                    </a:solidFill>
                  </a:tcPr>
                </a:tc>
                <a:tc>
                  <a:txBody>
                    <a:bodyPr wrap="square"/>
                    <a:lstStyle/>
                    <a:p>
                      <a:pPr algn="r"/>
                      <a:r>
                        <a:rPr sz="1100" b="0" i="0">
                          <a:solidFill>
                            <a:srgbClr val="14171C"/>
                          </a:solidFill>
                          <a:latin typeface="Calibri"/>
                        </a:rPr>
                        <a:t>−0.01</a:t>
                      </a:r>
                    </a:p>
                  </a:txBody>
                  <a:tcPr marL="54864" marR="54864" marT="22860" marB="22860" anchor="ctr">
                    <a:solidFill>
                      <a:srgbClr val="FFFFFF"/>
                    </a:solidFill>
                  </a:tcPr>
                </a:tc>
                <a:tc>
                  <a:txBody>
                    <a:bodyPr wrap="square"/>
                    <a:lstStyle/>
                    <a:p>
                      <a:pPr algn="r"/>
                      <a:r>
                        <a:rPr sz="1100" b="0" i="0">
                          <a:solidFill>
                            <a:srgbClr val="14171C"/>
                          </a:solidFill>
                          <a:latin typeface="Calibri"/>
                        </a:rPr>
                        <a:t>1.43</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Ps3, psia</a:t>
                      </a:r>
                    </a:p>
                  </a:txBody>
                  <a:tcPr marL="54864" marR="54864" marT="22860" marB="22860" anchor="ctr">
                    <a:solidFill>
                      <a:srgbClr val="F2F3F5"/>
                    </a:solidFill>
                  </a:tcPr>
                </a:tc>
                <a:tc>
                  <a:txBody>
                    <a:bodyPr wrap="square"/>
                    <a:lstStyle/>
                    <a:p>
                      <a:pPr algn="r"/>
                      <a:r>
                        <a:rPr sz="1100" b="0" i="0">
                          <a:solidFill>
                            <a:srgbClr val="14171C"/>
                          </a:solidFill>
                          <a:latin typeface="Calibri"/>
                        </a:rPr>
                        <a:t>235.72</a:t>
                      </a:r>
                    </a:p>
                  </a:txBody>
                  <a:tcPr marL="54864" marR="54864" marT="22860" marB="22860" anchor="ctr">
                    <a:solidFill>
                      <a:srgbClr val="F2F3F5"/>
                    </a:solidFill>
                  </a:tcPr>
                </a:tc>
                <a:tc>
                  <a:txBody>
                    <a:bodyPr wrap="square"/>
                    <a:lstStyle/>
                    <a:p>
                      <a:pPr algn="r"/>
                      <a:r>
                        <a:rPr sz="1100" b="0" i="0">
                          <a:solidFill>
                            <a:srgbClr val="14171C"/>
                          </a:solidFill>
                          <a:latin typeface="Calibri"/>
                        </a:rPr>
                        <a:t>235.79</a:t>
                      </a:r>
                    </a:p>
                  </a:txBody>
                  <a:tcPr marL="54864" marR="54864" marT="22860" marB="22860" anchor="ctr">
                    <a:solidFill>
                      <a:srgbClr val="F2F3F5"/>
                    </a:solidFill>
                  </a:tcPr>
                </a:tc>
                <a:tc>
                  <a:txBody>
                    <a:bodyPr wrap="square"/>
                    <a:lstStyle/>
                    <a:p>
                      <a:pPr algn="r"/>
                      <a:r>
                        <a:rPr sz="1100" b="0" i="0">
                          <a:solidFill>
                            <a:srgbClr val="14171C"/>
                          </a:solidFill>
                          <a:latin typeface="Calibri"/>
                        </a:rPr>
                        <a:t>+0.03</a:t>
                      </a:r>
                    </a:p>
                  </a:txBody>
                  <a:tcPr marL="54864" marR="54864" marT="22860" marB="22860" anchor="ctr">
                    <a:solidFill>
                      <a:srgbClr val="F2F3F5"/>
                    </a:solidFill>
                  </a:tcPr>
                </a:tc>
                <a:tc>
                  <a:txBody>
                    <a:bodyPr wrap="square"/>
                    <a:lstStyle/>
                    <a:p>
                      <a:pPr algn="r"/>
                      <a:r>
                        <a:rPr sz="1100" b="0" i="0">
                          <a:solidFill>
                            <a:srgbClr val="14171C"/>
                          </a:solidFill>
                          <a:latin typeface="Calibri"/>
                        </a:rPr>
                        <a:t>0.71</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T41, °R</a:t>
                      </a:r>
                    </a:p>
                  </a:txBody>
                  <a:tcPr marL="54864" marR="54864" marT="22860" marB="22860" anchor="ctr">
                    <a:solidFill>
                      <a:srgbClr val="FFFFFF"/>
                    </a:solidFill>
                  </a:tcPr>
                </a:tc>
                <a:tc>
                  <a:txBody>
                    <a:bodyPr wrap="square"/>
                    <a:lstStyle/>
                    <a:p>
                      <a:pPr algn="r"/>
                      <a:r>
                        <a:rPr sz="1100" b="0" i="0">
                          <a:solidFill>
                            <a:srgbClr val="14171C"/>
                          </a:solidFill>
                          <a:latin typeface="Calibri"/>
                        </a:rPr>
                        <a:t>2,682.0</a:t>
                      </a:r>
                    </a:p>
                  </a:txBody>
                  <a:tcPr marL="54864" marR="54864" marT="22860" marB="22860" anchor="ctr">
                    <a:solidFill>
                      <a:srgbClr val="FFFFFF"/>
                    </a:solidFill>
                  </a:tcPr>
                </a:tc>
                <a:tc>
                  <a:txBody>
                    <a:bodyPr wrap="square"/>
                    <a:lstStyle/>
                    <a:p>
                      <a:pPr algn="r"/>
                      <a:r>
                        <a:rPr sz="1100" b="0" i="0">
                          <a:solidFill>
                            <a:srgbClr val="14171C"/>
                          </a:solidFill>
                          <a:latin typeface="Calibri"/>
                        </a:rPr>
                        <a:t>2,679.0</a:t>
                      </a:r>
                    </a:p>
                  </a:txBody>
                  <a:tcPr marL="54864" marR="54864" marT="22860" marB="22860" anchor="ctr">
                    <a:solidFill>
                      <a:srgbClr val="FFFFFF"/>
                    </a:solidFill>
                  </a:tcPr>
                </a:tc>
                <a:tc>
                  <a:txBody>
                    <a:bodyPr wrap="square"/>
                    <a:lstStyle/>
                    <a:p>
                      <a:pPr algn="r"/>
                      <a:r>
                        <a:rPr sz="1100" b="0" i="0">
                          <a:solidFill>
                            <a:srgbClr val="14171C"/>
                          </a:solidFill>
                          <a:latin typeface="Calibri"/>
                        </a:rPr>
                        <a:t>−0.11</a:t>
                      </a:r>
                    </a:p>
                  </a:txBody>
                  <a:tcPr marL="54864" marR="54864" marT="22860" marB="22860" anchor="ctr">
                    <a:solidFill>
                      <a:srgbClr val="FFFFFF"/>
                    </a:solidFill>
                  </a:tcPr>
                </a:tc>
                <a:tc>
                  <a:txBody>
                    <a:bodyPr wrap="square"/>
                    <a:lstStyle/>
                    <a:p>
                      <a:pPr algn="r"/>
                      <a:r>
                        <a:rPr sz="1100" b="0" i="0">
                          <a:solidFill>
                            <a:srgbClr val="14171C"/>
                          </a:solidFill>
                          <a:latin typeface="Calibri"/>
                        </a:rPr>
                        <a:t>0.67</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T45, °R</a:t>
                      </a:r>
                    </a:p>
                  </a:txBody>
                  <a:tcPr marL="54864" marR="54864" marT="22860" marB="22860" anchor="ctr">
                    <a:solidFill>
                      <a:srgbClr val="F2F3F5"/>
                    </a:solidFill>
                  </a:tcPr>
                </a:tc>
                <a:tc>
                  <a:txBody>
                    <a:bodyPr wrap="square"/>
                    <a:lstStyle/>
                    <a:p>
                      <a:pPr algn="r"/>
                      <a:r>
                        <a:rPr sz="1100" b="0" i="0">
                          <a:solidFill>
                            <a:srgbClr val="14171C"/>
                          </a:solidFill>
                          <a:latin typeface="Calibri"/>
                        </a:rPr>
                        <a:t>1,924.4</a:t>
                      </a:r>
                    </a:p>
                  </a:txBody>
                  <a:tcPr marL="54864" marR="54864" marT="22860" marB="22860" anchor="ctr">
                    <a:solidFill>
                      <a:srgbClr val="F2F3F5"/>
                    </a:solidFill>
                  </a:tcPr>
                </a:tc>
                <a:tc>
                  <a:txBody>
                    <a:bodyPr wrap="square"/>
                    <a:lstStyle/>
                    <a:p>
                      <a:pPr algn="r"/>
                      <a:r>
                        <a:rPr sz="1100" b="0" i="0">
                          <a:solidFill>
                            <a:srgbClr val="14171C"/>
                          </a:solidFill>
                          <a:latin typeface="Calibri"/>
                        </a:rPr>
                        <a:t>1,921.3</a:t>
                      </a:r>
                    </a:p>
                  </a:txBody>
                  <a:tcPr marL="54864" marR="54864" marT="22860" marB="22860" anchor="ctr">
                    <a:solidFill>
                      <a:srgbClr val="F2F3F5"/>
                    </a:solidFill>
                  </a:tcPr>
                </a:tc>
                <a:tc>
                  <a:txBody>
                    <a:bodyPr wrap="square"/>
                    <a:lstStyle/>
                    <a:p>
                      <a:pPr algn="r"/>
                      <a:r>
                        <a:rPr sz="1100" b="0" i="0">
                          <a:solidFill>
                            <a:srgbClr val="14171C"/>
                          </a:solidFill>
                          <a:latin typeface="Calibri"/>
                        </a:rPr>
                        <a:t>−0.16</a:t>
                      </a:r>
                    </a:p>
                  </a:txBody>
                  <a:tcPr marL="54864" marR="54864" marT="22860" marB="22860" anchor="ctr">
                    <a:solidFill>
                      <a:srgbClr val="F2F3F5"/>
                    </a:solidFill>
                  </a:tcPr>
                </a:tc>
                <a:tc>
                  <a:txBody>
                    <a:bodyPr wrap="square"/>
                    <a:lstStyle/>
                    <a:p>
                      <a:pPr algn="r"/>
                      <a:r>
                        <a:rPr sz="1100" b="0" i="0">
                          <a:solidFill>
                            <a:srgbClr val="14171C"/>
                          </a:solidFill>
                          <a:latin typeface="Calibri"/>
                        </a:rPr>
                        <a:t>0.82</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PT torque</a:t>
                      </a:r>
                    </a:p>
                  </a:txBody>
                  <a:tcPr marL="54864" marR="54864" marT="22860" marB="22860" anchor="ctr">
                    <a:solidFill>
                      <a:srgbClr val="FFFFFF"/>
                    </a:solidFill>
                  </a:tcPr>
                </a:tc>
                <a:tc>
                  <a:txBody>
                    <a:bodyPr wrap="square"/>
                    <a:lstStyle/>
                    <a:p>
                      <a:pPr algn="r"/>
                      <a:r>
                        <a:rPr sz="1100" b="0" i="0">
                          <a:solidFill>
                            <a:srgbClr val="14171C"/>
                          </a:solidFill>
                          <a:latin typeface="Calibri"/>
                        </a:rPr>
                        <a:t>415.98</a:t>
                      </a:r>
                    </a:p>
                  </a:txBody>
                  <a:tcPr marL="54864" marR="54864" marT="22860" marB="22860" anchor="ctr">
                    <a:solidFill>
                      <a:srgbClr val="FFFFFF"/>
                    </a:solidFill>
                  </a:tcPr>
                </a:tc>
                <a:tc>
                  <a:txBody>
                    <a:bodyPr wrap="square"/>
                    <a:lstStyle/>
                    <a:p>
                      <a:pPr algn="r"/>
                      <a:r>
                        <a:rPr sz="1100" b="0" i="0">
                          <a:solidFill>
                            <a:srgbClr val="14171C"/>
                          </a:solidFill>
                          <a:latin typeface="Calibri"/>
                        </a:rPr>
                        <a:t>416.60</a:t>
                      </a:r>
                    </a:p>
                  </a:txBody>
                  <a:tcPr marL="54864" marR="54864" marT="22860" marB="22860" anchor="ctr">
                    <a:solidFill>
                      <a:srgbClr val="FFFFFF"/>
                    </a:solidFill>
                  </a:tcPr>
                </a:tc>
                <a:tc>
                  <a:txBody>
                    <a:bodyPr wrap="square"/>
                    <a:lstStyle/>
                    <a:p>
                      <a:pPr algn="r"/>
                      <a:r>
                        <a:rPr sz="1100" b="0" i="0">
                          <a:solidFill>
                            <a:srgbClr val="14171C"/>
                          </a:solidFill>
                          <a:latin typeface="Calibri"/>
                        </a:rPr>
                        <a:t>+0.15</a:t>
                      </a:r>
                    </a:p>
                  </a:txBody>
                  <a:tcPr marL="54864" marR="54864" marT="22860" marB="22860" anchor="ctr">
                    <a:solidFill>
                      <a:srgbClr val="FFFFFF"/>
                    </a:solidFill>
                  </a:tcPr>
                </a:tc>
                <a:tc>
                  <a:txBody>
                    <a:bodyPr wrap="square"/>
                    <a:lstStyle/>
                    <a:p>
                      <a:pPr algn="r"/>
                      <a:r>
                        <a:rPr sz="1100" b="0" i="0">
                          <a:solidFill>
                            <a:srgbClr val="14171C"/>
                          </a:solidFill>
                          <a:latin typeface="Calibri"/>
                        </a:rPr>
                        <a:t>0.62</a:t>
                      </a:r>
                    </a:p>
                  </a:txBody>
                  <a:tcPr marL="54864" marR="54864" marT="22860" marB="22860" anchor="ctr">
                    <a:solidFill>
                      <a:srgbClr val="FFFFFF"/>
                    </a:solidFill>
                  </a:tcPr>
                </a:tc>
              </a:tr>
            </a:tbl>
          </a:graphicData>
        </a:graphic>
      </p:graphicFrame>
      <p:sp>
        <p:nvSpPr>
          <p:cNvPr id="10" name="TextBox 9"/>
          <p:cNvSpPr txBox="1"/>
          <p:nvPr/>
        </p:nvSpPr>
        <p:spPr>
          <a:xfrm>
            <a:off x="8092440" y="3657600"/>
            <a:ext cx="3611880" cy="2468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200" b="0" i="0">
                <a:solidFill>
                  <a:srgbClr val="4D5563"/>
                </a:solidFill>
                <a:latin typeface="Calibri"/>
              </a:rPr>
              <a:t>Ballin / Ours / Dev.: the end state, over his final window.</a:t>
            </a:r>
          </a:p>
          <a:p>
            <a:pPr marL="201168" indent="-201168">
              <a:lnSpc>
                <a:spcPct val="105000"/>
              </a:lnSpc>
              <a:spcBef>
                <a:spcPts val="500"/>
              </a:spcBef>
              <a:buFont typeface="Arial"/>
              <a:buChar char="•"/>
            </a:pPr>
            <a:r>
              <a:rPr sz="1200" b="0" i="0">
                <a:solidFill>
                  <a:srgbClr val="4D5563"/>
                </a:solidFill>
                <a:latin typeface="Calibri"/>
              </a:rPr>
              <a:t>Shape: rms gap over the whole curve, % of the panel's own change.</a:t>
            </a:r>
          </a:p>
        </p:txBody>
      </p:sp>
      <p:sp>
        <p:nvSpPr>
          <p:cNvPr id="11" name="TextBox 10"/>
          <p:cNvSpPr txBox="1"/>
          <p:nvPr/>
        </p:nvSpPr>
        <p:spPr>
          <a:xfrm>
            <a:off x="502920" y="5074920"/>
            <a:ext cx="7406640" cy="10972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The sixth panel is the input: both levels are printed in the caption, so drawing it shows our model was given Ballin's step, at the instant read off the figure.</a:t>
            </a:r>
          </a:p>
          <a:p>
            <a:pPr marL="201168" indent="-201168">
              <a:lnSpc>
                <a:spcPct val="105000"/>
              </a:lnSpc>
              <a:spcBef>
                <a:spcPts val="500"/>
              </a:spcBef>
              <a:buFont typeface="Arial"/>
              <a:buChar char="•"/>
            </a:pPr>
            <a:r>
              <a:rPr sz="1300" b="0" i="0">
                <a:solidFill>
                  <a:srgbClr val="14171C"/>
                </a:solidFill>
                <a:latin typeface="Calibri"/>
              </a:rPr>
              <a:t>Without the heat sink our T41 spike overshot about three times as far as Ballin's and NG rose too fast. With it the spike is close to his and NG lags slightly (63 % at 0.32 s against 0.28 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10: fuel chop, 400 → 125 lbm/hr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10, pdf p.46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41</a:t>
            </a:r>
          </a:p>
        </p:txBody>
      </p:sp>
      <p:pic>
        <p:nvPicPr>
          <p:cNvPr id="8" name="Picture 7" descr="figure-10-overlay.png"/>
          <p:cNvPicPr>
            <a:picLocks noChangeAspect="1"/>
          </p:cNvPicPr>
          <p:nvPr/>
        </p:nvPicPr>
        <p:blipFill>
          <a:blip r:embed="rId2"/>
          <a:stretch>
            <a:fillRect/>
          </a:stretch>
        </p:blipFill>
        <p:spPr>
          <a:xfrm>
            <a:off x="502920" y="1292137"/>
            <a:ext cx="7406640" cy="3679365"/>
          </a:xfrm>
          <a:prstGeom prst="rect">
            <a:avLst/>
          </a:prstGeom>
        </p:spPr>
      </p:pic>
      <p:graphicFrame>
        <p:nvGraphicFramePr>
          <p:cNvPr id="9" name="Table 8"/>
          <p:cNvGraphicFramePr>
            <a:graphicFrameLocks noGrp="1"/>
          </p:cNvGraphicFramePr>
          <p:nvPr/>
        </p:nvGraphicFramePr>
        <p:xfrm>
          <a:off x="8092440" y="1325880"/>
          <a:ext cx="3611876" cy="2194560"/>
        </p:xfrm>
        <a:graphic>
          <a:graphicData uri="http://schemas.openxmlformats.org/drawingml/2006/table">
            <a:tbl>
              <a:tblPr firstRow="1">
                <a:tableStyleId>{5C22544A-7EE6-4342-B048-85BDC9FD1C3A}</a:tableStyleId>
              </a:tblPr>
              <a:tblGrid>
                <a:gridCol w="992274"/>
                <a:gridCol w="714437"/>
                <a:gridCol w="714437"/>
                <a:gridCol w="595364"/>
                <a:gridCol w="595364"/>
              </a:tblGrid>
              <a:tr h="365760">
                <a:tc>
                  <a:txBody>
                    <a:bodyPr wrap="square"/>
                    <a:lstStyle/>
                    <a:p>
                      <a:pPr algn="l"/>
                      <a:r>
                        <a:rPr sz="1100" b="1" i="0">
                          <a:solidFill>
                            <a:srgbClr val="FFFFFF"/>
                          </a:solidFill>
                          <a:latin typeface="Calibri"/>
                        </a:rPr>
                        <a:t>Panel</a:t>
                      </a:r>
                    </a:p>
                  </a:txBody>
                  <a:tcPr marL="54864" marR="54864" marT="22860" marB="22860" anchor="ctr">
                    <a:solidFill>
                      <a:srgbClr val="4D5563"/>
                    </a:solidFill>
                  </a:tcPr>
                </a:tc>
                <a:tc>
                  <a:txBody>
                    <a:bodyPr wrap="square"/>
                    <a:lstStyle/>
                    <a:p>
                      <a:pPr algn="r"/>
                      <a:r>
                        <a:rPr sz="1100" b="1" i="0">
                          <a:solidFill>
                            <a:srgbClr val="FFFFFF"/>
                          </a:solidFill>
                          <a:latin typeface="Calibri"/>
                        </a:rPr>
                        <a:t>Ballin</a:t>
                      </a:r>
                    </a:p>
                  </a:txBody>
                  <a:tcPr marL="54864" marR="54864" marT="22860" marB="22860" anchor="ctr">
                    <a:solidFill>
                      <a:srgbClr val="4D5563"/>
                    </a:solidFill>
                  </a:tcPr>
                </a:tc>
                <a:tc>
                  <a:txBody>
                    <a:bodyPr wrap="square"/>
                    <a:lstStyle/>
                    <a:p>
                      <a:pPr algn="r"/>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Dev. %</a:t>
                      </a:r>
                    </a:p>
                  </a:txBody>
                  <a:tcPr marL="54864" marR="54864" marT="22860" marB="22860" anchor="ctr">
                    <a:solidFill>
                      <a:srgbClr val="4D5563"/>
                    </a:solidFill>
                  </a:tcPr>
                </a:tc>
                <a:tc>
                  <a:txBody>
                    <a:bodyPr wrap="square"/>
                    <a:lstStyle/>
                    <a:p>
                      <a:pPr algn="r"/>
                      <a:r>
                        <a:rPr sz="1100" b="1" i="0">
                          <a:solidFill>
                            <a:srgbClr val="FFFFFF"/>
                          </a:solidFill>
                          <a:latin typeface="Calibri"/>
                        </a:rPr>
                        <a:t>Shape</a:t>
                      </a:r>
                    </a:p>
                  </a:txBody>
                  <a:tcPr marL="54864" marR="54864" marT="22860" marB="22860" anchor="ctr">
                    <a:solidFill>
                      <a:srgbClr val="4D5563"/>
                    </a:solidFill>
                  </a:tcPr>
                </a:tc>
              </a:tr>
              <a:tr h="365760">
                <a:tc>
                  <a:txBody>
                    <a:bodyPr wrap="square"/>
                    <a:lstStyle/>
                    <a:p>
                      <a:pPr algn="l"/>
                      <a:r>
                        <a:rPr sz="1100" b="0" i="0">
                          <a:solidFill>
                            <a:srgbClr val="14171C"/>
                          </a:solidFill>
                          <a:latin typeface="Calibri"/>
                        </a:rPr>
                        <a:t>NG, %</a:t>
                      </a:r>
                    </a:p>
                  </a:txBody>
                  <a:tcPr marL="54864" marR="54864" marT="22860" marB="22860" anchor="ctr">
                    <a:solidFill>
                      <a:srgbClr val="FFFFFF"/>
                    </a:solidFill>
                  </a:tcPr>
                </a:tc>
                <a:tc>
                  <a:txBody>
                    <a:bodyPr wrap="square"/>
                    <a:lstStyle/>
                    <a:p>
                      <a:pPr algn="r"/>
                      <a:r>
                        <a:rPr sz="1100" b="0" i="0">
                          <a:solidFill>
                            <a:srgbClr val="14171C"/>
                          </a:solidFill>
                          <a:latin typeface="Calibri"/>
                        </a:rPr>
                        <a:t>75.44</a:t>
                      </a:r>
                    </a:p>
                  </a:txBody>
                  <a:tcPr marL="54864" marR="54864" marT="22860" marB="22860" anchor="ctr">
                    <a:solidFill>
                      <a:srgbClr val="FFFFFF"/>
                    </a:solidFill>
                  </a:tcPr>
                </a:tc>
                <a:tc>
                  <a:txBody>
                    <a:bodyPr wrap="square"/>
                    <a:lstStyle/>
                    <a:p>
                      <a:pPr algn="r"/>
                      <a:r>
                        <a:rPr sz="1100" b="0" i="0">
                          <a:solidFill>
                            <a:srgbClr val="14171C"/>
                          </a:solidFill>
                          <a:latin typeface="Calibri"/>
                        </a:rPr>
                        <a:t>75.20</a:t>
                      </a:r>
                    </a:p>
                  </a:txBody>
                  <a:tcPr marL="54864" marR="54864" marT="22860" marB="22860" anchor="ctr">
                    <a:solidFill>
                      <a:srgbClr val="FFFFFF"/>
                    </a:solidFill>
                  </a:tcPr>
                </a:tc>
                <a:tc>
                  <a:txBody>
                    <a:bodyPr wrap="square"/>
                    <a:lstStyle/>
                    <a:p>
                      <a:pPr algn="r"/>
                      <a:r>
                        <a:rPr sz="1100" b="0" i="0">
                          <a:solidFill>
                            <a:srgbClr val="14171C"/>
                          </a:solidFill>
                          <a:latin typeface="Calibri"/>
                        </a:rPr>
                        <a:t>−0.31</a:t>
                      </a:r>
                    </a:p>
                  </a:txBody>
                  <a:tcPr marL="54864" marR="54864" marT="22860" marB="22860" anchor="ctr">
                    <a:solidFill>
                      <a:srgbClr val="FFFFFF"/>
                    </a:solidFill>
                  </a:tcPr>
                </a:tc>
                <a:tc>
                  <a:txBody>
                    <a:bodyPr wrap="square"/>
                    <a:lstStyle/>
                    <a:p>
                      <a:pPr algn="r"/>
                      <a:r>
                        <a:rPr sz="1100" b="0" i="0">
                          <a:solidFill>
                            <a:srgbClr val="14171C"/>
                          </a:solidFill>
                          <a:latin typeface="Calibri"/>
                        </a:rPr>
                        <a:t>1.44</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Ps3, psia</a:t>
                      </a:r>
                    </a:p>
                  </a:txBody>
                  <a:tcPr marL="54864" marR="54864" marT="22860" marB="22860" anchor="ctr">
                    <a:solidFill>
                      <a:srgbClr val="F2F3F5"/>
                    </a:solidFill>
                  </a:tcPr>
                </a:tc>
                <a:tc>
                  <a:txBody>
                    <a:bodyPr wrap="square"/>
                    <a:lstStyle/>
                    <a:p>
                      <a:pPr algn="r"/>
                      <a:r>
                        <a:rPr sz="1100" b="0" i="0">
                          <a:solidFill>
                            <a:srgbClr val="14171C"/>
                          </a:solidFill>
                          <a:latin typeface="Calibri"/>
                        </a:rPr>
                        <a:t>70.83</a:t>
                      </a:r>
                    </a:p>
                  </a:txBody>
                  <a:tcPr marL="54864" marR="54864" marT="22860" marB="22860" anchor="ctr">
                    <a:solidFill>
                      <a:srgbClr val="F2F3F5"/>
                    </a:solidFill>
                  </a:tcPr>
                </a:tc>
                <a:tc>
                  <a:txBody>
                    <a:bodyPr wrap="square"/>
                    <a:lstStyle/>
                    <a:p>
                      <a:pPr algn="r"/>
                      <a:r>
                        <a:rPr sz="1100" b="0" i="0">
                          <a:solidFill>
                            <a:srgbClr val="14171C"/>
                          </a:solidFill>
                          <a:latin typeface="Calibri"/>
                        </a:rPr>
                        <a:t>70.38</a:t>
                      </a:r>
                    </a:p>
                  </a:txBody>
                  <a:tcPr marL="54864" marR="54864" marT="22860" marB="22860" anchor="ctr">
                    <a:solidFill>
                      <a:srgbClr val="F2F3F5"/>
                    </a:solidFill>
                  </a:tcPr>
                </a:tc>
                <a:tc>
                  <a:txBody>
                    <a:bodyPr wrap="square"/>
                    <a:lstStyle/>
                    <a:p>
                      <a:pPr algn="r"/>
                      <a:r>
                        <a:rPr sz="1100" b="0" i="0">
                          <a:solidFill>
                            <a:srgbClr val="14171C"/>
                          </a:solidFill>
                          <a:latin typeface="Calibri"/>
                        </a:rPr>
                        <a:t>−0.63</a:t>
                      </a:r>
                    </a:p>
                  </a:txBody>
                  <a:tcPr marL="54864" marR="54864" marT="22860" marB="22860" anchor="ctr">
                    <a:solidFill>
                      <a:srgbClr val="F2F3F5"/>
                    </a:solidFill>
                  </a:tcPr>
                </a:tc>
                <a:tc>
                  <a:txBody>
                    <a:bodyPr wrap="square"/>
                    <a:lstStyle/>
                    <a:p>
                      <a:pPr algn="r"/>
                      <a:r>
                        <a:rPr sz="1100" b="0" i="0">
                          <a:solidFill>
                            <a:srgbClr val="14171C"/>
                          </a:solidFill>
                          <a:latin typeface="Calibri"/>
                        </a:rPr>
                        <a:t>1.68</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T41, °R</a:t>
                      </a:r>
                    </a:p>
                  </a:txBody>
                  <a:tcPr marL="54864" marR="54864" marT="22860" marB="22860" anchor="ctr">
                    <a:solidFill>
                      <a:srgbClr val="FFFFFF"/>
                    </a:solidFill>
                  </a:tcPr>
                </a:tc>
                <a:tc>
                  <a:txBody>
                    <a:bodyPr wrap="square"/>
                    <a:lstStyle/>
                    <a:p>
                      <a:pPr algn="r"/>
                      <a:r>
                        <a:rPr sz="1100" b="0" i="0">
                          <a:solidFill>
                            <a:srgbClr val="14171C"/>
                          </a:solidFill>
                          <a:latin typeface="Calibri"/>
                        </a:rPr>
                        <a:t>1,684.0</a:t>
                      </a:r>
                    </a:p>
                  </a:txBody>
                  <a:tcPr marL="54864" marR="54864" marT="22860" marB="22860" anchor="ctr">
                    <a:solidFill>
                      <a:srgbClr val="FFFFFF"/>
                    </a:solidFill>
                  </a:tcPr>
                </a:tc>
                <a:tc>
                  <a:txBody>
                    <a:bodyPr wrap="square"/>
                    <a:lstStyle/>
                    <a:p>
                      <a:pPr algn="r"/>
                      <a:r>
                        <a:rPr sz="1100" b="0" i="0">
                          <a:solidFill>
                            <a:srgbClr val="14171C"/>
                          </a:solidFill>
                          <a:latin typeface="Calibri"/>
                        </a:rPr>
                        <a:t>1,691.0</a:t>
                      </a:r>
                    </a:p>
                  </a:txBody>
                  <a:tcPr marL="54864" marR="54864" marT="22860" marB="22860" anchor="ctr">
                    <a:solidFill>
                      <a:srgbClr val="FFFFFF"/>
                    </a:solidFill>
                  </a:tcPr>
                </a:tc>
                <a:tc>
                  <a:txBody>
                    <a:bodyPr wrap="square"/>
                    <a:lstStyle/>
                    <a:p>
                      <a:pPr algn="r"/>
                      <a:r>
                        <a:rPr sz="1100" b="0" i="0">
                          <a:solidFill>
                            <a:srgbClr val="14171C"/>
                          </a:solidFill>
                          <a:latin typeface="Calibri"/>
                        </a:rPr>
                        <a:t>+0.42</a:t>
                      </a:r>
                    </a:p>
                  </a:txBody>
                  <a:tcPr marL="54864" marR="54864" marT="22860" marB="22860" anchor="ctr">
                    <a:solidFill>
                      <a:srgbClr val="FFFFFF"/>
                    </a:solidFill>
                  </a:tcPr>
                </a:tc>
                <a:tc>
                  <a:txBody>
                    <a:bodyPr wrap="square"/>
                    <a:lstStyle/>
                    <a:p>
                      <a:pPr algn="r"/>
                      <a:r>
                        <a:rPr sz="1100" b="0" i="0">
                          <a:solidFill>
                            <a:srgbClr val="14171C"/>
                          </a:solidFill>
                          <a:latin typeface="Calibri"/>
                        </a:rPr>
                        <a:t>3.80</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T45, °R</a:t>
                      </a:r>
                    </a:p>
                  </a:txBody>
                  <a:tcPr marL="54864" marR="54864" marT="22860" marB="22860" anchor="ctr">
                    <a:solidFill>
                      <a:srgbClr val="F2F3F5"/>
                    </a:solidFill>
                  </a:tcPr>
                </a:tc>
                <a:tc>
                  <a:txBody>
                    <a:bodyPr wrap="square"/>
                    <a:lstStyle/>
                    <a:p>
                      <a:pPr algn="r"/>
                      <a:r>
                        <a:rPr sz="1100" b="0" i="0">
                          <a:solidFill>
                            <a:srgbClr val="14171C"/>
                          </a:solidFill>
                          <a:latin typeface="Calibri"/>
                        </a:rPr>
                        <a:t>1,250.6</a:t>
                      </a:r>
                    </a:p>
                  </a:txBody>
                  <a:tcPr marL="54864" marR="54864" marT="22860" marB="22860" anchor="ctr">
                    <a:solidFill>
                      <a:srgbClr val="F2F3F5"/>
                    </a:solidFill>
                  </a:tcPr>
                </a:tc>
                <a:tc>
                  <a:txBody>
                    <a:bodyPr wrap="square"/>
                    <a:lstStyle/>
                    <a:p>
                      <a:pPr algn="r"/>
                      <a:r>
                        <a:rPr sz="1100" b="0" i="0">
                          <a:solidFill>
                            <a:srgbClr val="14171C"/>
                          </a:solidFill>
                          <a:latin typeface="Calibri"/>
                        </a:rPr>
                        <a:t>1,256.0</a:t>
                      </a:r>
                    </a:p>
                  </a:txBody>
                  <a:tcPr marL="54864" marR="54864" marT="22860" marB="22860" anchor="ctr">
                    <a:solidFill>
                      <a:srgbClr val="F2F3F5"/>
                    </a:solidFill>
                  </a:tcPr>
                </a:tc>
                <a:tc>
                  <a:txBody>
                    <a:bodyPr wrap="square"/>
                    <a:lstStyle/>
                    <a:p>
                      <a:pPr algn="r"/>
                      <a:r>
                        <a:rPr sz="1100" b="0" i="0">
                          <a:solidFill>
                            <a:srgbClr val="14171C"/>
                          </a:solidFill>
                          <a:latin typeface="Calibri"/>
                        </a:rPr>
                        <a:t>+0.43</a:t>
                      </a:r>
                    </a:p>
                  </a:txBody>
                  <a:tcPr marL="54864" marR="54864" marT="22860" marB="22860" anchor="ctr">
                    <a:solidFill>
                      <a:srgbClr val="F2F3F5"/>
                    </a:solidFill>
                  </a:tcPr>
                </a:tc>
                <a:tc>
                  <a:txBody>
                    <a:bodyPr wrap="square"/>
                    <a:lstStyle/>
                    <a:p>
                      <a:pPr algn="r"/>
                      <a:r>
                        <a:rPr sz="1100" b="0" i="0">
                          <a:solidFill>
                            <a:srgbClr val="14171C"/>
                          </a:solidFill>
                          <a:latin typeface="Calibri"/>
                        </a:rPr>
                        <a:t>2.90</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PT torque</a:t>
                      </a:r>
                    </a:p>
                  </a:txBody>
                  <a:tcPr marL="54864" marR="54864" marT="22860" marB="22860" anchor="ctr">
                    <a:solidFill>
                      <a:srgbClr val="FFFFFF"/>
                    </a:solidFill>
                  </a:tcPr>
                </a:tc>
                <a:tc>
                  <a:txBody>
                    <a:bodyPr wrap="square"/>
                    <a:lstStyle/>
                    <a:p>
                      <a:pPr algn="r"/>
                      <a:r>
                        <a:rPr sz="1100" b="0" i="0">
                          <a:solidFill>
                            <a:srgbClr val="14171C"/>
                          </a:solidFill>
                          <a:latin typeface="Calibri"/>
                        </a:rPr>
                        <a:t>—</a:t>
                      </a:r>
                    </a:p>
                  </a:txBody>
                  <a:tcPr marL="54864" marR="54864" marT="22860" marB="22860" anchor="ctr">
                    <a:solidFill>
                      <a:srgbClr val="FFFFFF"/>
                    </a:solidFill>
                  </a:tcPr>
                </a:tc>
                <a:tc>
                  <a:txBody>
                    <a:bodyPr wrap="square"/>
                    <a:lstStyle/>
                    <a:p>
                      <a:pPr algn="r"/>
                      <a:r>
                        <a:rPr sz="1100" b="0" i="0">
                          <a:solidFill>
                            <a:srgbClr val="14171C"/>
                          </a:solidFill>
                          <a:latin typeface="Calibri"/>
                        </a:rPr>
                        <a:t>—</a:t>
                      </a:r>
                    </a:p>
                  </a:txBody>
                  <a:tcPr marL="54864" marR="54864" marT="22860" marB="22860" anchor="ctr">
                    <a:solidFill>
                      <a:srgbClr val="FFFFFF"/>
                    </a:solidFill>
                  </a:tcPr>
                </a:tc>
                <a:tc>
                  <a:txBody>
                    <a:bodyPr wrap="square"/>
                    <a:lstStyle/>
                    <a:p>
                      <a:pPr algn="r"/>
                      <a:r>
                        <a:rPr sz="1100" b="0" i="0">
                          <a:solidFill>
                            <a:srgbClr val="14171C"/>
                          </a:solidFill>
                          <a:latin typeface="Calibri"/>
                        </a:rPr>
                        <a:t>—</a:t>
                      </a:r>
                    </a:p>
                  </a:txBody>
                  <a:tcPr marL="54864" marR="54864" marT="22860" marB="22860" anchor="ctr">
                    <a:solidFill>
                      <a:srgbClr val="FFFFFF"/>
                    </a:solidFill>
                  </a:tcPr>
                </a:tc>
                <a:tc>
                  <a:txBody>
                    <a:bodyPr wrap="square"/>
                    <a:lstStyle/>
                    <a:p>
                      <a:pPr algn="r"/>
                      <a:r>
                        <a:rPr sz="1100" b="0" i="0">
                          <a:solidFill>
                            <a:srgbClr val="14171C"/>
                          </a:solidFill>
                          <a:latin typeface="Calibri"/>
                        </a:rPr>
                        <a:t>2.39</a:t>
                      </a:r>
                    </a:p>
                  </a:txBody>
                  <a:tcPr marL="54864" marR="54864" marT="22860" marB="22860" anchor="ctr">
                    <a:solidFill>
                      <a:srgbClr val="FFFFFF"/>
                    </a:solidFill>
                  </a:tcPr>
                </a:tc>
              </a:tr>
            </a:tbl>
          </a:graphicData>
        </a:graphic>
      </p:graphicFrame>
      <p:sp>
        <p:nvSpPr>
          <p:cNvPr id="10" name="TextBox 9"/>
          <p:cNvSpPr txBox="1"/>
          <p:nvPr/>
        </p:nvSpPr>
        <p:spPr>
          <a:xfrm>
            <a:off x="8092440" y="3657600"/>
            <a:ext cx="3611880" cy="24688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200" b="0" i="0">
                <a:solidFill>
                  <a:srgbClr val="4D5563"/>
                </a:solidFill>
                <a:latin typeface="Calibri"/>
              </a:rPr>
              <a:t>Ballin / Ours / Dev.: the end state, over his final window.</a:t>
            </a:r>
          </a:p>
          <a:p>
            <a:pPr marL="201168" indent="-201168">
              <a:lnSpc>
                <a:spcPct val="105000"/>
              </a:lnSpc>
              <a:spcBef>
                <a:spcPts val="500"/>
              </a:spcBef>
              <a:buFont typeface="Arial"/>
              <a:buChar char="•"/>
            </a:pPr>
            <a:r>
              <a:rPr sz="1200" b="0" i="0">
                <a:solidFill>
                  <a:srgbClr val="4D5563"/>
                </a:solidFill>
                <a:latin typeface="Calibri"/>
              </a:rPr>
              <a:t>Shape: rms gap over the whole curve, % of the panel's own change.</a:t>
            </a:r>
          </a:p>
        </p:txBody>
      </p:sp>
      <p:sp>
        <p:nvSpPr>
          <p:cNvPr id="11" name="TextBox 10"/>
          <p:cNvSpPr txBox="1"/>
          <p:nvPr/>
        </p:nvSpPr>
        <p:spPr>
          <a:xfrm>
            <a:off x="502920" y="5074920"/>
            <a:ext cx="7406640" cy="10972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Ballin's traces stop at about t = 4.47 s with the speed still falling, so neither has settled; comparisons are made at matched times. His torque line merges with the panel's zero line after about 2 s, so that panel has no end state.</a:t>
            </a:r>
          </a:p>
          <a:p>
            <a:pPr marL="201168" indent="-201168">
              <a:lnSpc>
                <a:spcPct val="105000"/>
              </a:lnSpc>
              <a:spcBef>
                <a:spcPts val="500"/>
              </a:spcBef>
              <a:buFont typeface="Arial"/>
              <a:buChar char="•"/>
            </a:pPr>
            <a:r>
              <a:rPr sz="1300" b="0" i="0">
                <a:solidFill>
                  <a:srgbClr val="14171C"/>
                </a:solidFill>
                <a:latin typeface="Calibri"/>
              </a:rPr>
              <a:t>The chop runs off the printed range of f8, and is where the printed P45 iteration fails (Part 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Both transients without the time axis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8–10, pdf pp.42, 45–46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42</a:t>
            </a:r>
          </a:p>
        </p:txBody>
      </p:sp>
      <p:pic>
        <p:nvPicPr>
          <p:cNvPr id="8" name="Picture 7" descr="phase-plane.png"/>
          <p:cNvPicPr>
            <a:picLocks noChangeAspect="1"/>
          </p:cNvPicPr>
          <p:nvPr/>
        </p:nvPicPr>
        <p:blipFill>
          <a:blip r:embed="rId2"/>
          <a:stretch>
            <a:fillRect/>
          </a:stretch>
        </p:blipFill>
        <p:spPr>
          <a:xfrm>
            <a:off x="1065322" y="1280160"/>
            <a:ext cx="10061050" cy="4023360"/>
          </a:xfrm>
          <a:prstGeom prst="rect">
            <a:avLst/>
          </a:prstGeom>
        </p:spPr>
      </p:pic>
      <p:sp>
        <p:nvSpPr>
          <p:cNvPr id="9" name="TextBox 8"/>
          <p:cNvSpPr txBox="1"/>
          <p:nvPr/>
        </p:nvSpPr>
        <p:spPr>
          <a:xfrm>
            <a:off x="502920" y="5349240"/>
            <a:ext cx="11185855" cy="8229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0" i="0">
                <a:solidFill>
                  <a:srgbClr val="14171C"/>
                </a:solidFill>
                <a:latin typeface="Calibri"/>
              </a:rPr>
              <a:t>Ps3 against NG, so the comparison does not depend on when the step happened. Both transients run below the steady line (orange dots, Figure 8): a choked station 4.1 nozzle passes the same flow at a lower pressure once the temperature falls. Gap to Ballin's path: rms 0.67 % (Figure 9), 1.27 % (Figure 10).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same runs on Ballin's compressor map</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A1, pdf p.56; Table B.1, pdf p.67; Figures 9–10, pdf pp.45–46; pdf p.20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43</a:t>
            </a:r>
          </a:p>
        </p:txBody>
      </p:sp>
      <p:pic>
        <p:nvPicPr>
          <p:cNvPr id="8" name="Picture 7" descr="compressor-map.png"/>
          <p:cNvPicPr>
            <a:picLocks noChangeAspect="1"/>
          </p:cNvPicPr>
          <p:nvPr/>
        </p:nvPicPr>
        <p:blipFill>
          <a:blip r:embed="rId2"/>
          <a:stretch>
            <a:fillRect/>
          </a:stretch>
        </p:blipFill>
        <p:spPr>
          <a:xfrm>
            <a:off x="502919" y="1469381"/>
            <a:ext cx="7040880" cy="4376437"/>
          </a:xfrm>
          <a:prstGeom prst="rect">
            <a:avLst/>
          </a:prstGeom>
        </p:spPr>
      </p:pic>
      <p:sp>
        <p:nvSpPr>
          <p:cNvPr id="9" name="TextBox 8"/>
          <p:cNvSpPr txBox="1"/>
          <p:nvPr/>
        </p:nvSpPr>
        <p:spPr>
          <a:xfrm>
            <a:off x="7726679" y="1325880"/>
            <a:ext cx="3962095"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1" i="0">
                <a:solidFill>
                  <a:srgbClr val="14171C"/>
                </a:solidFill>
                <a:latin typeface="Calibri"/>
              </a:rPr>
              <a:t>Steady operating line</a:t>
            </a:r>
            <a:r>
              <a:rPr sz="1300" b="0" i="0">
                <a:solidFill>
                  <a:srgbClr val="14171C"/>
                </a:solidFill>
                <a:latin typeface="Calibri"/>
              </a:rPr>
              <a:t> at NP 20,900 rpm, 68–100 %NGc, across the knees of the speed lines. Diamonds: our trims at Table B.1's fuel flows. Orange dots: Ballin's printed map points; everything blue is ours.</a:t>
            </a:r>
          </a:p>
          <a:p>
            <a:pPr marL="201168" indent="-201168">
              <a:lnSpc>
                <a:spcPct val="105000"/>
              </a:lnSpc>
              <a:spcBef>
                <a:spcPts val="600"/>
              </a:spcBef>
              <a:buFont typeface="Arial"/>
              <a:buChar char="•"/>
            </a:pPr>
            <a:r>
              <a:rPr sz="1300" b="1" i="0">
                <a:solidFill>
                  <a:srgbClr val="14171C"/>
                </a:solidFill>
                <a:latin typeface="Calibri"/>
              </a:rPr>
              <a:t>Fuel step (Figure 9):</a:t>
            </a:r>
            <a:r>
              <a:rPr sz="1300" b="0" i="0">
                <a:solidFill>
                  <a:srgbClr val="14171C"/>
                </a:solidFill>
                <a:latin typeface="Calibri"/>
              </a:rPr>
              <a:t> the path swings toward the high-pressure-ratio end of the speed lines, as an acceleration does, and stays inside the drawn lines.</a:t>
            </a:r>
          </a:p>
          <a:p>
            <a:pPr marL="201168" indent="-201168">
              <a:lnSpc>
                <a:spcPct val="105000"/>
              </a:lnSpc>
              <a:spcBef>
                <a:spcPts val="600"/>
              </a:spcBef>
              <a:buFont typeface="Arial"/>
              <a:buChar char="•"/>
            </a:pPr>
            <a:r>
              <a:rPr sz="1300" b="1" i="0">
                <a:solidFill>
                  <a:srgbClr val="14171C"/>
                </a:solidFill>
                <a:latin typeface="Calibri"/>
              </a:rPr>
              <a:t>Fuel chop (Figure 10):</a:t>
            </a:r>
            <a:r>
              <a:rPr sz="1300" b="0" i="0">
                <a:solidFill>
                  <a:srgbClr val="14171C"/>
                </a:solidFill>
                <a:latin typeface="Calibri"/>
              </a:rPr>
              <a:t> toward lower pressure ratio.</a:t>
            </a:r>
          </a:p>
          <a:p>
            <a:pPr marL="201168" indent="-201168">
              <a:lnSpc>
                <a:spcPct val="105000"/>
              </a:lnSpc>
              <a:spcBef>
                <a:spcPts val="600"/>
              </a:spcBef>
              <a:buFont typeface="Arial"/>
              <a:buChar char="•"/>
            </a:pPr>
            <a:r>
              <a:rPr sz="1300" b="0" i="0">
                <a:solidFill>
                  <a:srgbClr val="14171C"/>
                </a:solidFill>
                <a:latin typeface="Calibri"/>
              </a:rPr>
              <a:t>Neither leaves the compressor map. The turbine maps are where they run off the data: f7, f9 on the step, f8 on the chop.</a:t>
            </a:r>
          </a:p>
          <a:p>
            <a:pPr marL="201168" indent="-201168">
              <a:lnSpc>
                <a:spcPct val="105000"/>
              </a:lnSpc>
              <a:spcBef>
                <a:spcPts val="600"/>
              </a:spcBef>
              <a:buFont typeface="Arial"/>
              <a:buChar char="•"/>
            </a:pPr>
            <a:r>
              <a:rPr sz="1300" b="0" i="0">
                <a:solidFill>
                  <a:srgbClr val="14171C"/>
                </a:solidFill>
                <a:latin typeface="Calibri"/>
              </a:rPr>
              <a:t>Below 80 %NGc Figure A1 has only the 65 % line: the model interpolates across a 15-point gap.</a:t>
            </a:r>
          </a:p>
          <a:p>
            <a:pPr marL="201168" indent="-201168">
              <a:lnSpc>
                <a:spcPct val="105000"/>
              </a:lnSpc>
              <a:spcBef>
                <a:spcPts val="600"/>
              </a:spcBef>
              <a:buFont typeface="Arial"/>
              <a:buChar char="•"/>
            </a:pPr>
            <a:r>
              <a:rPr sz="1300" b="0" i="0">
                <a:solidFill>
                  <a:srgbClr val="14171C"/>
                </a:solidFill>
                <a:latin typeface="Calibri"/>
              </a:rPr>
              <a:t>No surge line: “No modeling of compressor surge … was attempted” in the NASA Lewis model the report builds on [pdf p.20], and Figure A1 draws none.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Figures 11–15: the choices made where the report is silent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Decision log #81; pdf pp.47–52, 81, 90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44</a:t>
            </a:r>
          </a:p>
        </p:txBody>
      </p:sp>
      <p:graphicFrame>
        <p:nvGraphicFramePr>
          <p:cNvPr id="8" name="Table 7"/>
          <p:cNvGraphicFramePr>
            <a:graphicFrameLocks noGrp="1"/>
          </p:cNvGraphicFramePr>
          <p:nvPr/>
        </p:nvGraphicFramePr>
        <p:xfrm>
          <a:off x="502920" y="1325880"/>
          <a:ext cx="11185854" cy="3867912"/>
        </p:xfrm>
        <a:graphic>
          <a:graphicData uri="http://schemas.openxmlformats.org/drawingml/2006/table">
            <a:tbl>
              <a:tblPr firstRow="1">
                <a:tableStyleId>{5C22544A-7EE6-4342-B048-85BDC9FD1C3A}</a:tableStyleId>
              </a:tblPr>
              <a:tblGrid>
                <a:gridCol w="3025682"/>
                <a:gridCol w="3300744"/>
                <a:gridCol w="4859428"/>
              </a:tblGrid>
              <a:tr h="429768">
                <a:tc>
                  <a:txBody>
                    <a:bodyPr wrap="square"/>
                    <a:lstStyle/>
                    <a:p>
                      <a:pPr algn="l"/>
                      <a:r>
                        <a:rPr sz="1100" b="1" i="0">
                          <a:solidFill>
                            <a:srgbClr val="FFFFFF"/>
                          </a:solidFill>
                          <a:latin typeface="Calibri"/>
                        </a:rPr>
                        <a:t>Question (the report is silent)</a:t>
                      </a:r>
                    </a:p>
                  </a:txBody>
                  <a:tcPr marL="54864" marR="54864" marT="22860" marB="22860" anchor="ctr">
                    <a:solidFill>
                      <a:srgbClr val="4D5563"/>
                    </a:solidFill>
                  </a:tcPr>
                </a:tc>
                <a:tc>
                  <a:txBody>
                    <a:bodyPr wrap="square"/>
                    <a:lstStyle/>
                    <a:p>
                      <a:pPr algn="l"/>
                      <a:r>
                        <a:rPr sz="1100" b="1" i="0">
                          <a:solidFill>
                            <a:srgbClr val="FFFFFF"/>
                          </a:solidFill>
                          <a:latin typeface="Calibri"/>
                        </a:rPr>
                        <a:t>Our choice, confirmed</a:t>
                      </a:r>
                    </a:p>
                  </a:txBody>
                  <a:tcPr marL="54864" marR="54864" marT="22860" marB="22860" anchor="ctr">
                    <a:solidFill>
                      <a:srgbClr val="4D5563"/>
                    </a:solidFill>
                  </a:tcPr>
                </a:tc>
                <a:tc>
                  <a:txBody>
                    <a:bodyPr wrap="square"/>
                    <a:lstStyle/>
                    <a:p>
                      <a:pPr algn="l"/>
                      <a:r>
                        <a:rPr sz="1100" b="1" i="0">
                          <a:solidFill>
                            <a:srgbClr val="FFFFFF"/>
                          </a:solidFill>
                          <a:latin typeface="Calibri"/>
                        </a:rPr>
                        <a:t>Why</a:t>
                      </a:r>
                    </a:p>
                  </a:txBody>
                  <a:tcPr marL="54864" marR="54864" marT="22860" marB="22860" anchor="ctr">
                    <a:solidFill>
                      <a:srgbClr val="4D5563"/>
                    </a:solidFill>
                  </a:tcPr>
                </a:tc>
              </a:tr>
              <a:tr h="429768">
                <a:tc>
                  <a:txBody>
                    <a:bodyPr wrap="square"/>
                    <a:lstStyle/>
                    <a:p>
                      <a:pPr algn="l"/>
                      <a:r>
                        <a:rPr sz="1100" b="1" i="0">
                          <a:solidFill>
                            <a:srgbClr val="14171C"/>
                          </a:solidFill>
                          <a:latin typeface="Calibri"/>
                        </a:rPr>
                        <a:t>How to run without Gen Hel</a:t>
                      </a:r>
                    </a:p>
                  </a:txBody>
                  <a:tcPr marL="54864" marR="54864" marT="22860" marB="22860" anchor="ctr">
                    <a:solidFill>
                      <a:srgbClr val="FFFFFF"/>
                    </a:solidFill>
                  </a:tcPr>
                </a:tc>
                <a:tc>
                  <a:txBody>
                    <a:bodyPr wrap="square"/>
                    <a:lstStyle/>
                    <a:p>
                      <a:pPr algn="l"/>
                      <a:r>
                        <a:rPr sz="1100" b="0" i="0">
                          <a:solidFill>
                            <a:srgbClr val="14171C"/>
                          </a:solidFill>
                          <a:latin typeface="Calibri"/>
                        </a:rPr>
                        <a:t>two tests: his rotor speed imposed as our NP, or our rotor free under his torque</a:t>
                      </a:r>
                    </a:p>
                  </a:txBody>
                  <a:tcPr marL="54864" marR="54864" marT="22860" marB="22860" anchor="ctr">
                    <a:solidFill>
                      <a:srgbClr val="FFFFFF"/>
                    </a:solidFill>
                  </a:tcPr>
                </a:tc>
                <a:tc>
                  <a:txBody>
                    <a:bodyPr wrap="square"/>
                    <a:lstStyle/>
                    <a:p>
                      <a:pPr algn="l"/>
                      <a:r>
                        <a:rPr sz="1100" b="0" i="0">
                          <a:solidFill>
                            <a:srgbClr val="14171C"/>
                          </a:solidFill>
                          <a:latin typeface="Calibri"/>
                        </a:rPr>
                        <a:t>“a rigid-shaft drive train model” [pdf p.47]: everything the airframe does reaches the engine through it, except the collective</a:t>
                      </a:r>
                    </a:p>
                  </a:txBody>
                  <a:tcPr marL="54864" marR="54864" marT="22860" marB="22860" anchor="ctr">
                    <a:solidFill>
                      <a:srgbClr val="FFFFFF"/>
                    </a:solidFill>
                  </a:tcPr>
                </a:tc>
              </a:tr>
              <a:tr h="429768">
                <a:tc>
                  <a:txBody>
                    <a:bodyPr wrap="square"/>
                    <a:lstStyle/>
                    <a:p>
                      <a:pPr algn="l"/>
                      <a:r>
                        <a:rPr sz="1100" b="1" i="0">
                          <a:solidFill>
                            <a:srgbClr val="14171C"/>
                          </a:solidFill>
                          <a:latin typeface="Calibri"/>
                        </a:rPr>
                        <a:t>The flight-test day</a:t>
                      </a:r>
                    </a:p>
                  </a:txBody>
                  <a:tcPr marL="54864" marR="54864" marT="22860" marB="22860" anchor="ctr">
                    <a:solidFill>
                      <a:srgbClr val="F2F3F5"/>
                    </a:solidFill>
                  </a:tcPr>
                </a:tc>
                <a:tc>
                  <a:txBody>
                    <a:bodyPr wrap="square"/>
                    <a:lstStyle/>
                    <a:p>
                      <a:pPr algn="l"/>
                      <a:r>
                        <a:rPr sz="1100" b="0" i="0">
                          <a:solidFill>
                            <a:srgbClr val="14171C"/>
                          </a:solidFill>
                          <a:latin typeface="Calibri"/>
                        </a:rPr>
                        <a:t>a standard day</a:t>
                      </a:r>
                    </a:p>
                  </a:txBody>
                  <a:tcPr marL="54864" marR="54864" marT="22860" marB="22860" anchor="ctr">
                    <a:solidFill>
                      <a:srgbClr val="F2F3F5"/>
                    </a:solidFill>
                  </a:tcPr>
                </a:tc>
                <a:tc>
                  <a:txBody>
                    <a:bodyPr wrap="square"/>
                    <a:lstStyle/>
                    <a:p>
                      <a:pPr algn="l"/>
                      <a:r>
                        <a:rPr sz="1100" b="0" i="0">
                          <a:solidFill>
                            <a:srgbClr val="14171C"/>
                          </a:solidFill>
                          <a:latin typeface="Calibri"/>
                        </a:rPr>
                        <a:t>at his NG our engine burns 1.18–1.23× his fuel, so his day was not standard: fuel and torque are compared in % of trim</a:t>
                      </a:r>
                    </a:p>
                  </a:txBody>
                  <a:tcPr marL="54864" marR="54864" marT="22860" marB="22860" anchor="ctr">
                    <a:solidFill>
                      <a:srgbClr val="F2F3F5"/>
                    </a:solidFill>
                  </a:tcPr>
                </a:tc>
              </a:tr>
              <a:tr h="429768">
                <a:tc>
                  <a:txBody>
                    <a:bodyPr wrap="square"/>
                    <a:lstStyle/>
                    <a:p>
                      <a:pPr algn="l"/>
                      <a:r>
                        <a:rPr sz="1100" b="1" i="0">
                          <a:solidFill>
                            <a:srgbClr val="14171C"/>
                          </a:solidFill>
                          <a:latin typeface="Calibri"/>
                        </a:rPr>
                        <a:t>Where each run starts</a:t>
                      </a:r>
                    </a:p>
                  </a:txBody>
                  <a:tcPr marL="54864" marR="54864" marT="22860" marB="22860" anchor="ctr">
                    <a:solidFill>
                      <a:srgbClr val="FFFFFF"/>
                    </a:solidFill>
                  </a:tcPr>
                </a:tc>
                <a:tc>
                  <a:txBody>
                    <a:bodyPr wrap="square"/>
                    <a:lstStyle/>
                    <a:p>
                      <a:pPr algn="l"/>
                      <a:r>
                        <a:rPr sz="1100" b="0" i="0">
                          <a:solidFill>
                            <a:srgbClr val="14171C"/>
                          </a:solidFill>
                          <a:latin typeface="Calibri"/>
                        </a:rPr>
                        <a:t>his printed NG and rotor speed</a:t>
                      </a:r>
                    </a:p>
                  </a:txBody>
                  <a:tcPr marL="54864" marR="54864" marT="22860" marB="22860" anchor="ctr">
                    <a:solidFill>
                      <a:srgbClr val="FFFFFF"/>
                    </a:solidFill>
                  </a:tcPr>
                </a:tc>
                <a:tc>
                  <a:txBody>
                    <a:bodyPr wrap="square"/>
                    <a:lstStyle/>
                    <a:p>
                      <a:pPr algn="l"/>
                      <a:r>
                        <a:rPr sz="1100" b="0" i="0">
                          <a:solidFill>
                            <a:srgbClr val="14171C"/>
                          </a:solidFill>
                          <a:latin typeface="Calibri"/>
                        </a:rPr>
                        <a:t>the two engine states his panels print directly</a:t>
                      </a:r>
                    </a:p>
                  </a:txBody>
                  <a:tcPr marL="54864" marR="54864" marT="22860" marB="22860" anchor="ctr">
                    <a:solidFill>
                      <a:srgbClr val="FFFFFF"/>
                    </a:solidFill>
                  </a:tcPr>
                </a:tc>
              </a:tr>
              <a:tr h="429768">
                <a:tc>
                  <a:txBody>
                    <a:bodyPr wrap="square"/>
                    <a:lstStyle/>
                    <a:p>
                      <a:pPr algn="l"/>
                      <a:r>
                        <a:rPr sz="1100" b="1" i="0">
                          <a:solidFill>
                            <a:srgbClr val="14171C"/>
                          </a:solidFill>
                          <a:latin typeface="Calibri"/>
                        </a:rPr>
                        <a:t>The starting collective</a:t>
                      </a:r>
                    </a:p>
                  </a:txBody>
                  <a:tcPr marL="54864" marR="54864" marT="22860" marB="22860" anchor="ctr">
                    <a:solidFill>
                      <a:srgbClr val="F2F3F5"/>
                    </a:solidFill>
                  </a:tcPr>
                </a:tc>
                <a:tc>
                  <a:txBody>
                    <a:bodyPr wrap="square"/>
                    <a:lstStyle/>
                    <a:p>
                      <a:pPr algn="l"/>
                      <a:r>
                        <a:rPr sz="1100" b="0" i="0">
                          <a:solidFill>
                            <a:srgbClr val="14171C"/>
                          </a:solidFill>
                          <a:latin typeface="Calibri"/>
                        </a:rPr>
                        <a:t>what our fuel control needs to burn our trim fuel</a:t>
                      </a:r>
                    </a:p>
                  </a:txBody>
                  <a:tcPr marL="54864" marR="54864" marT="22860" marB="22860" anchor="ctr">
                    <a:solidFill>
                      <a:srgbClr val="F2F3F5"/>
                    </a:solidFill>
                  </a:tcPr>
                </a:tc>
                <a:tc>
                  <a:txBody>
                    <a:bodyPr wrap="square"/>
                    <a:lstStyle/>
                    <a:p>
                      <a:pPr algn="l"/>
                      <a:r>
                        <a:rPr sz="1100" b="0" i="0">
                          <a:solidFill>
                            <a:srgbClr val="14171C"/>
                          </a:solidFill>
                          <a:latin typeface="Calibri"/>
                        </a:rPr>
                        <a:t>the report prints no collective in our control's unit</a:t>
                      </a:r>
                    </a:p>
                  </a:txBody>
                  <a:tcPr marL="54864" marR="54864" marT="22860" marB="22860" anchor="ctr">
                    <a:solidFill>
                      <a:srgbClr val="F2F3F5"/>
                    </a:solidFill>
                  </a:tcPr>
                </a:tc>
              </a:tr>
              <a:tr h="429768">
                <a:tc>
                  <a:txBody>
                    <a:bodyPr wrap="square"/>
                    <a:lstStyle/>
                    <a:p>
                      <a:pPr algn="l"/>
                      <a:r>
                        <a:rPr sz="1100" b="1" i="0">
                          <a:solidFill>
                            <a:srgbClr val="14171C"/>
                          </a:solidFill>
                          <a:latin typeface="Calibri"/>
                        </a:rPr>
                        <a:t>Collective, inches to % of maximum (Figures 11, 13)</a:t>
                      </a:r>
                    </a:p>
                  </a:txBody>
                  <a:tcPr marL="54864" marR="54864" marT="22860" marB="22860" anchor="ctr">
                    <a:solidFill>
                      <a:srgbClr val="FFFFFF"/>
                    </a:solidFill>
                  </a:tcPr>
                </a:tc>
                <a:tc>
                  <a:txBody>
                    <a:bodyPr wrap="square"/>
                    <a:lstStyle/>
                    <a:p>
                      <a:pPr algn="l"/>
                      <a:r>
                        <a:rPr sz="1100" b="0" i="0">
                          <a:solidFill>
                            <a:srgbClr val="14171C"/>
                          </a:solidFill>
                          <a:latin typeface="Calibri"/>
                        </a:rPr>
                        <a:t>proportional, 0 in. = 0 %: 8.8 and 9.6 % per inch</a:t>
                      </a:r>
                    </a:p>
                  </a:txBody>
                  <a:tcPr marL="54864" marR="54864" marT="22860" marB="22860" anchor="ctr">
                    <a:solidFill>
                      <a:srgbClr val="FFFFFF"/>
                    </a:solidFill>
                  </a:tcPr>
                </a:tc>
                <a:tc>
                  <a:txBody>
                    <a:bodyPr wrap="square"/>
                    <a:lstStyle/>
                    <a:p>
                      <a:pPr algn="l"/>
                      <a:r>
                        <a:rPr sz="1100" b="0" i="0">
                          <a:solidFill>
                            <a:srgbClr val="14171C"/>
                          </a:solidFill>
                          <a:latin typeface="Calibri"/>
                        </a:rPr>
                        <a:t>our control reads “percent of maximum” [pdf p.81] and his axis starts at 0 in.; the line through both trims would give 13.5 % per inch, and across that range Figure 13's torque rms moves from 1.7 to 10.0 % of trim</a:t>
                      </a:r>
                    </a:p>
                  </a:txBody>
                  <a:tcPr marL="54864" marR="54864" marT="22860" marB="22860" anchor="ctr">
                    <a:solidFill>
                      <a:srgbClr val="FFFFFF"/>
                    </a:solidFill>
                  </a:tcPr>
                </a:tc>
              </a:tr>
              <a:tr h="429768">
                <a:tc>
                  <a:txBody>
                    <a:bodyPr wrap="square"/>
                    <a:lstStyle/>
                    <a:p>
                      <a:pPr algn="l"/>
                      <a:r>
                        <a:rPr sz="1100" b="1" i="0">
                          <a:solidFill>
                            <a:srgbClr val="14171C"/>
                          </a:solidFill>
                          <a:latin typeface="Calibri"/>
                        </a:rPr>
                        <a:t>Load slope at 55, 87, 90 kt</a:t>
                      </a:r>
                    </a:p>
                  </a:txBody>
                  <a:tcPr marL="54864" marR="54864" marT="22860" marB="22860" anchor="ctr">
                    <a:solidFill>
                      <a:srgbClr val="F2F3F5"/>
                    </a:solidFill>
                  </a:tcPr>
                </a:tc>
                <a:tc>
                  <a:txBody>
                    <a:bodyPr wrap="square"/>
                    <a:lstStyle/>
                    <a:p>
                      <a:pPr algn="l"/>
                      <a:r>
                        <a:rPr sz="1100" b="0" i="0">
                          <a:solidFill>
                            <a:srgbClr val="14171C"/>
                          </a:solidFill>
                          <a:latin typeface="Calibri"/>
                        </a:rPr>
                        <a:t>Appendix B's level 80 kt slope</a:t>
                      </a:r>
                    </a:p>
                  </a:txBody>
                  <a:tcPr marL="54864" marR="54864" marT="22860" marB="22860" anchor="ctr">
                    <a:solidFill>
                      <a:srgbClr val="F2F3F5"/>
                    </a:solidFill>
                  </a:tcPr>
                </a:tc>
                <a:tc>
                  <a:txBody>
                    <a:bodyPr wrap="square"/>
                    <a:lstStyle/>
                    <a:p>
                      <a:pPr algn="l"/>
                      <a:r>
                        <a:rPr sz="1100" b="0" i="0">
                          <a:solidFill>
                            <a:srgbClr val="14171C"/>
                          </a:solidFill>
                          <a:latin typeface="Calibri"/>
                        </a:rPr>
                        <a:t>the nearest printed trim; hover cases take the hover slope</a:t>
                      </a:r>
                    </a:p>
                  </a:txBody>
                  <a:tcPr marL="54864" marR="54864" marT="22860" marB="22860" anchor="ctr">
                    <a:solidFill>
                      <a:srgbClr val="F2F3F5"/>
                    </a:solidFill>
                  </a:tcPr>
                </a:tc>
              </a:tr>
              <a:tr h="429768">
                <a:tc>
                  <a:txBody>
                    <a:bodyPr wrap="square"/>
                    <a:lstStyle/>
                    <a:p>
                      <a:pPr algn="l"/>
                      <a:r>
                        <a:rPr sz="1100" b="1" i="0">
                          <a:solidFill>
                            <a:srgbClr val="14171C"/>
                          </a:solidFill>
                          <a:latin typeface="Calibri"/>
                        </a:rPr>
                        <a:t>Figure 15's trim power (no NG printed)</a:t>
                      </a:r>
                    </a:p>
                  </a:txBody>
                  <a:tcPr marL="54864" marR="54864" marT="22860" marB="22860" anchor="ctr">
                    <a:solidFill>
                      <a:srgbClr val="FFFFFF"/>
                    </a:solidFill>
                  </a:tcPr>
                </a:tc>
                <a:tc>
                  <a:txBody>
                    <a:bodyPr wrap="square"/>
                    <a:lstStyle/>
                    <a:p>
                      <a:pPr algn="l"/>
                      <a:r>
                        <a:rPr sz="1100" b="0" i="0">
                          <a:solidFill>
                            <a:srgbClr val="14171C"/>
                          </a:solidFill>
                          <a:latin typeface="Calibri"/>
                        </a:rPr>
                        <a:t>his main-rotor torque on our scale</a:t>
                      </a:r>
                    </a:p>
                  </a:txBody>
                  <a:tcPr marL="54864" marR="54864" marT="22860" marB="22860" anchor="ctr">
                    <a:solidFill>
                      <a:srgbClr val="FFFFFF"/>
                    </a:solidFill>
                  </a:tcPr>
                </a:tc>
                <a:tc>
                  <a:txBody>
                    <a:bodyPr wrap="square"/>
                    <a:lstStyle/>
                    <a:p>
                      <a:pPr algn="l"/>
                      <a:r>
                        <a:rPr sz="1100" b="0" i="0">
                          <a:solidFill>
                            <a:srgbClr val="14171C"/>
                          </a:solidFill>
                          <a:latin typeface="Calibri"/>
                        </a:rPr>
                        <a:t>the mean ratio of his torque to ours at Figures 11–14's trims; tail rotor and accessories in proportion</a:t>
                      </a:r>
                    </a:p>
                  </a:txBody>
                  <a:tcPr marL="54864" marR="54864" marT="22860" marB="22860" anchor="ctr">
                    <a:solidFill>
                      <a:srgbClr val="FFFFFF"/>
                    </a:solidFill>
                  </a:tcPr>
                </a:tc>
              </a:tr>
              <a:tr h="429768">
                <a:tc>
                  <a:txBody>
                    <a:bodyPr wrap="square"/>
                    <a:lstStyle/>
                    <a:p>
                      <a:pPr algn="l"/>
                      <a:r>
                        <a:rPr sz="1100" b="1" i="0">
                          <a:solidFill>
                            <a:srgbClr val="14171C"/>
                          </a:solidFill>
                          <a:latin typeface="Calibri"/>
                        </a:rPr>
                        <a:t>Figure 15's full-down collective</a:t>
                      </a:r>
                    </a:p>
                  </a:txBody>
                  <a:tcPr marL="54864" marR="54864" marT="22860" marB="22860" anchor="ctr">
                    <a:solidFill>
                      <a:srgbClr val="F2F3F5"/>
                    </a:solidFill>
                  </a:tcPr>
                </a:tc>
                <a:tc>
                  <a:txBody>
                    <a:bodyPr wrap="square"/>
                    <a:lstStyle/>
                    <a:p>
                      <a:pPr algn="l"/>
                      <a:r>
                        <a:rPr sz="1100" b="0" i="0">
                          <a:solidFill>
                            <a:srgbClr val="14171C"/>
                          </a:solidFill>
                          <a:latin typeface="Calibri"/>
                        </a:rPr>
                        <a:t>0 % of maximum</a:t>
                      </a:r>
                    </a:p>
                  </a:txBody>
                  <a:tcPr marL="54864" marR="54864" marT="22860" marB="22860" anchor="ctr">
                    <a:solidFill>
                      <a:srgbClr val="F2F3F5"/>
                    </a:solidFill>
                  </a:tcPr>
                </a:tc>
                <a:tc>
                  <a:txBody>
                    <a:bodyPr wrap="square"/>
                    <a:lstStyle/>
                    <a:p>
                      <a:pPr algn="l"/>
                      <a:r>
                        <a:rPr sz="1100" b="0" i="0">
                          <a:solidFill>
                            <a:srgbClr val="14171C"/>
                          </a:solidFill>
                          <a:latin typeface="Calibri"/>
                        </a:rPr>
                        <a:t>“the full-down position” [pdf p.50]; his trace's floor, where it runs on the frame</a:t>
                      </a:r>
                    </a:p>
                  </a:txBody>
                  <a:tcPr marL="54864" marR="54864" marT="22860" marB="22860" anchor="ctr">
                    <a:solidFill>
                      <a:srgbClr val="F2F3F5"/>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11: collective input at 90 kt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11, pdf p.48; drive train pdf p.47; decision log #81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45</a:t>
            </a:r>
          </a:p>
        </p:txBody>
      </p:sp>
      <p:pic>
        <p:nvPicPr>
          <p:cNvPr id="8" name="Picture 7" descr="figure-11-rotor-imposed.png"/>
          <p:cNvPicPr>
            <a:picLocks noChangeAspect="1"/>
          </p:cNvPicPr>
          <p:nvPr/>
        </p:nvPicPr>
        <p:blipFill>
          <a:blip r:embed="rId2"/>
          <a:stretch>
            <a:fillRect/>
          </a:stretch>
        </p:blipFill>
        <p:spPr>
          <a:xfrm>
            <a:off x="502920" y="1272394"/>
            <a:ext cx="3154680" cy="4852706"/>
          </a:xfrm>
          <a:prstGeom prst="rect">
            <a:avLst/>
          </a:prstGeom>
        </p:spPr>
      </p:pic>
      <p:pic>
        <p:nvPicPr>
          <p:cNvPr id="9" name="Picture 8" descr="figure-11-rotor-free.png"/>
          <p:cNvPicPr>
            <a:picLocks noChangeAspect="1"/>
          </p:cNvPicPr>
          <p:nvPr/>
        </p:nvPicPr>
        <p:blipFill>
          <a:blip r:embed="rId3"/>
          <a:stretch>
            <a:fillRect/>
          </a:stretch>
        </p:blipFill>
        <p:spPr>
          <a:xfrm>
            <a:off x="3749039" y="1272394"/>
            <a:ext cx="3154680" cy="4852706"/>
          </a:xfrm>
          <a:prstGeom prst="rect">
            <a:avLst/>
          </a:prstGeom>
        </p:spPr>
      </p:pic>
      <p:sp>
        <p:nvSpPr>
          <p:cNvPr id="10" name="TextBox 9"/>
          <p:cNvSpPr txBox="1"/>
          <p:nvPr/>
        </p:nvSpPr>
        <p:spPr>
          <a:xfrm>
            <a:off x="7086600" y="1234439"/>
            <a:ext cx="460217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Left, rotor speed imposed: his rotor speed is ours; we predict torque, NG and fuel. Right, rotor free: his torque is our rotor's load; we predict the rotor speed too.</a:t>
            </a:r>
          </a:p>
        </p:txBody>
      </p:sp>
      <p:sp>
        <p:nvSpPr>
          <p:cNvPr id="11" name="TextBox 10"/>
          <p:cNvSpPr txBox="1"/>
          <p:nvPr/>
        </p:nvSpPr>
        <p:spPr>
          <a:xfrm>
            <a:off x="7086600" y="2103120"/>
            <a:ext cx="460217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ours misses his, and why</a:t>
            </a:r>
          </a:p>
        </p:txBody>
      </p:sp>
      <p:sp>
        <p:nvSpPr>
          <p:cNvPr id="12" name="TextBox 11"/>
          <p:cNvSpPr txBox="1"/>
          <p:nvPr/>
        </p:nvSpPr>
        <p:spPr>
          <a:xfrm>
            <a:off x="7086600" y="2514600"/>
            <a:ext cx="460217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Our fuel turns back sooner.</a:t>
            </a:r>
            <a:r>
              <a:rPr sz="1150" b="0" i="0">
                <a:solidFill>
                  <a:srgbClr val="14171C"/>
                </a:solidFill>
                <a:latin typeface="Calibri"/>
              </a:rPr>
              <a:t> It peaks at 121 % of trim at 3.84 s, his at 124 % at 3.92 s, and is back under 110 % at 4.09 s against his 4.23 s. Why: in our control his collective reaches the fuel through the HMU's load-demand path (Fig. C17, pdf p.91), so ours follows his collective back down at once. NG and torque follow our fuel.</a:t>
            </a:r>
          </a:p>
          <a:p>
            <a:pPr marL="201168" indent="-201168">
              <a:lnSpc>
                <a:spcPct val="105000"/>
              </a:lnSpc>
              <a:spcBef>
                <a:spcPts val="600"/>
              </a:spcBef>
              <a:buFont typeface="Arial"/>
              <a:buChar char="•"/>
            </a:pPr>
            <a:r>
              <a:rPr sz="1150" b="1" i="0">
                <a:solidFill>
                  <a:srgbClr val="14171C"/>
                </a:solidFill>
                <a:latin typeface="Calibri"/>
              </a:rPr>
              <a:t>Rotor free:</a:t>
            </a:r>
            <a:r>
              <a:rPr sz="1150" b="0" i="0">
                <a:solidFill>
                  <a:srgbClr val="14171C"/>
                </a:solidFill>
                <a:latin typeface="Calibri"/>
              </a:rPr>
              <a:t> with less torque as the collective comes back, our rotor overspeeds less, 100.46 % against his 100.77 %. Overspeeding less, our governor then cuts less, so our rotor ends a little above his.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11: the two tests side by side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11, pdf p.48; decision log #81.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46</a:t>
            </a:r>
          </a:p>
        </p:txBody>
      </p:sp>
      <p:pic>
        <p:nvPicPr>
          <p:cNvPr id="8" name="Picture 7" descr="figure-11-both-tests.png"/>
          <p:cNvPicPr>
            <a:picLocks noChangeAspect="1"/>
          </p:cNvPicPr>
          <p:nvPr/>
        </p:nvPicPr>
        <p:blipFill>
          <a:blip r:embed="rId2"/>
          <a:stretch>
            <a:fillRect/>
          </a:stretch>
        </p:blipFill>
        <p:spPr>
          <a:xfrm>
            <a:off x="612205" y="1261872"/>
            <a:ext cx="3896228" cy="4873752"/>
          </a:xfrm>
          <a:prstGeom prst="rect">
            <a:avLst/>
          </a:prstGeom>
        </p:spPr>
      </p:pic>
      <p:sp>
        <p:nvSpPr>
          <p:cNvPr id="9" name="TextBox 8"/>
          <p:cNvSpPr txBox="1"/>
          <p:nvPr/>
        </p:nvSpPr>
        <p:spPr>
          <a:xfrm>
            <a:off x="4846320" y="1234439"/>
            <a:ext cx="684245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Rotor speed imposed pins his rotor speed, so a miss shows in our torque and fuel. Rotor free pins his load instead: once settled our torque must carry it, and the miss moves into our rotor speed.</a:t>
            </a:r>
          </a:p>
        </p:txBody>
      </p:sp>
      <p:sp>
        <p:nvSpPr>
          <p:cNvPr id="10" name="TextBox 9"/>
          <p:cNvSpPr txBox="1"/>
          <p:nvPr/>
        </p:nvSpPr>
        <p:spPr>
          <a:xfrm>
            <a:off x="4846320" y="2103120"/>
            <a:ext cx="684245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the two methods agree, where they part, and why</a:t>
            </a:r>
          </a:p>
        </p:txBody>
      </p:sp>
      <p:sp>
        <p:nvSpPr>
          <p:cNvPr id="11" name="TextBox 10"/>
          <p:cNvSpPr txBox="1"/>
          <p:nvPr/>
        </p:nvSpPr>
        <p:spPr>
          <a:xfrm>
            <a:off x="4846320" y="2514600"/>
            <a:ext cx="684245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The pulse itself:</a:t>
            </a:r>
            <a:r>
              <a:rPr sz="1150" b="0" i="0">
                <a:solidFill>
                  <a:srgbClr val="14171C"/>
                </a:solidFill>
                <a:latin typeface="Calibri"/>
              </a:rPr>
              <a:t> both follow the collective up and back together.</a:t>
            </a:r>
          </a:p>
          <a:p>
            <a:pPr marL="201168" indent="-201168">
              <a:lnSpc>
                <a:spcPct val="105000"/>
              </a:lnSpc>
              <a:spcBef>
                <a:spcPts val="600"/>
              </a:spcBef>
              <a:buFont typeface="Arial"/>
              <a:buChar char="•"/>
            </a:pPr>
            <a:r>
              <a:rPr sz="1150" b="1" i="0">
                <a:solidFill>
                  <a:srgbClr val="14171C"/>
                </a:solidFill>
                <a:latin typeface="Calibri"/>
              </a:rPr>
              <a:t>After it:</a:t>
            </a:r>
            <a:r>
              <a:rPr sz="1150" b="0" i="0">
                <a:solidFill>
                  <a:srgbClr val="14171C"/>
                </a:solidFill>
                <a:latin typeface="Calibri"/>
              </a:rPr>
              <a:t> they part most at 5.5 s, rotor free 5.5 % of trim above in torque. With his rotor speed imposed, our governor sees his overspeed and cuts; free, our rotor overspeeds less and the governor cuts less. His line lies between.</a:t>
            </a:r>
          </a:p>
          <a:p>
            <a:pPr marL="201168" indent="-201168">
              <a:lnSpc>
                <a:spcPct val="105000"/>
              </a:lnSpc>
              <a:spcBef>
                <a:spcPts val="600"/>
              </a:spcBef>
              <a:buFont typeface="Arial"/>
              <a:buChar char="•"/>
            </a:pPr>
            <a:r>
              <a:rPr sz="1150" b="1" i="0">
                <a:solidFill>
                  <a:srgbClr val="14171C"/>
                </a:solidFill>
                <a:latin typeface="Calibri"/>
              </a:rPr>
              <a:t>Settled</a:t>
            </a:r>
            <a:r>
              <a:rPr sz="1150" b="0" i="0">
                <a:solidFill>
                  <a:srgbClr val="14171C"/>
                </a:solidFill>
                <a:latin typeface="Calibri"/>
              </a:rPr>
              <a:t> at 7.6 s: torque 97.5 and 97.4 % of trim against his 98.2.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12: lateral cyclic input at 55 kt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12, pdf p.49; drive train pdf p.47; decision log #81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47</a:t>
            </a:r>
          </a:p>
        </p:txBody>
      </p:sp>
      <p:pic>
        <p:nvPicPr>
          <p:cNvPr id="8" name="Picture 7" descr="figure-12-rotor-imposed.png"/>
          <p:cNvPicPr>
            <a:picLocks noChangeAspect="1"/>
          </p:cNvPicPr>
          <p:nvPr/>
        </p:nvPicPr>
        <p:blipFill>
          <a:blip r:embed="rId2"/>
          <a:stretch>
            <a:fillRect/>
          </a:stretch>
        </p:blipFill>
        <p:spPr>
          <a:xfrm>
            <a:off x="502920" y="1272394"/>
            <a:ext cx="3154680" cy="4852706"/>
          </a:xfrm>
          <a:prstGeom prst="rect">
            <a:avLst/>
          </a:prstGeom>
        </p:spPr>
      </p:pic>
      <p:pic>
        <p:nvPicPr>
          <p:cNvPr id="9" name="Picture 8" descr="figure-12-rotor-free.png"/>
          <p:cNvPicPr>
            <a:picLocks noChangeAspect="1"/>
          </p:cNvPicPr>
          <p:nvPr/>
        </p:nvPicPr>
        <p:blipFill>
          <a:blip r:embed="rId3"/>
          <a:stretch>
            <a:fillRect/>
          </a:stretch>
        </p:blipFill>
        <p:spPr>
          <a:xfrm>
            <a:off x="3749039" y="1272394"/>
            <a:ext cx="3154680" cy="4852706"/>
          </a:xfrm>
          <a:prstGeom prst="rect">
            <a:avLst/>
          </a:prstGeom>
        </p:spPr>
      </p:pic>
      <p:sp>
        <p:nvSpPr>
          <p:cNvPr id="10" name="TextBox 9"/>
          <p:cNvSpPr txBox="1"/>
          <p:nvPr/>
        </p:nvSpPr>
        <p:spPr>
          <a:xfrm>
            <a:off x="7086600" y="1234439"/>
            <a:ext cx="460217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Left, rotor speed imposed: his rotor speed is ours; we predict torque, NG and fuel. Right, rotor free: his torque is our rotor's load; we predict the rotor speed too.</a:t>
            </a:r>
          </a:p>
        </p:txBody>
      </p:sp>
      <p:sp>
        <p:nvSpPr>
          <p:cNvPr id="11" name="TextBox 10"/>
          <p:cNvSpPr txBox="1"/>
          <p:nvPr/>
        </p:nvSpPr>
        <p:spPr>
          <a:xfrm>
            <a:off x="7086600" y="2103120"/>
            <a:ext cx="460217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ours misses his, and why</a:t>
            </a:r>
          </a:p>
        </p:txBody>
      </p:sp>
      <p:sp>
        <p:nvSpPr>
          <p:cNvPr id="12" name="TextBox 11"/>
          <p:cNvSpPr txBox="1"/>
          <p:nvPr/>
        </p:nvSpPr>
        <p:spPr>
          <a:xfrm>
            <a:off x="7086600" y="2514600"/>
            <a:ext cx="460217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No miss beyond a few tenths.</a:t>
            </a:r>
            <a:r>
              <a:rPr sz="1150" b="0" i="0">
                <a:solidFill>
                  <a:srgbClr val="14171C"/>
                </a:solidFill>
                <a:latin typeface="Calibri"/>
              </a:rPr>
              <a:t> Rotor speed within 0.024 % rms; fuel within 0.4 % of trim (rotor speed imposed) and 0.7 % (rotor free).</a:t>
            </a:r>
          </a:p>
          <a:p>
            <a:pPr marL="201168" indent="-201168">
              <a:lnSpc>
                <a:spcPct val="105000"/>
              </a:lnSpc>
              <a:spcBef>
                <a:spcPts val="600"/>
              </a:spcBef>
              <a:buFont typeface="Arial"/>
              <a:buChar char="•"/>
            </a:pPr>
            <a:r>
              <a:rPr sz="1150" b="0" i="0">
                <a:solidFill>
                  <a:srgbClr val="14171C"/>
                </a:solidFill>
                <a:latin typeface="Calibri"/>
              </a:rPr>
              <a:t>His lateral cyclic reaches the engine only through the rotor: the flight-test inputs are “single-axis” [pdf p.47], so the collective stays put.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12: the two tests side by side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12, pdf p.49; decision log #81.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48</a:t>
            </a:r>
          </a:p>
        </p:txBody>
      </p:sp>
      <p:pic>
        <p:nvPicPr>
          <p:cNvPr id="8" name="Picture 7" descr="figure-12-both-tests.png"/>
          <p:cNvPicPr>
            <a:picLocks noChangeAspect="1"/>
          </p:cNvPicPr>
          <p:nvPr/>
        </p:nvPicPr>
        <p:blipFill>
          <a:blip r:embed="rId2"/>
          <a:stretch>
            <a:fillRect/>
          </a:stretch>
        </p:blipFill>
        <p:spPr>
          <a:xfrm>
            <a:off x="612205" y="1261872"/>
            <a:ext cx="3896228" cy="4873752"/>
          </a:xfrm>
          <a:prstGeom prst="rect">
            <a:avLst/>
          </a:prstGeom>
        </p:spPr>
      </p:pic>
      <p:sp>
        <p:nvSpPr>
          <p:cNvPr id="9" name="TextBox 8"/>
          <p:cNvSpPr txBox="1"/>
          <p:nvPr/>
        </p:nvSpPr>
        <p:spPr>
          <a:xfrm>
            <a:off x="4846320" y="1234439"/>
            <a:ext cx="684245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Rotor speed imposed pins his rotor speed, so a miss shows in our torque and fuel. Rotor free pins his load instead: once settled our torque must carry it, and the miss moves into our rotor speed.</a:t>
            </a:r>
          </a:p>
        </p:txBody>
      </p:sp>
      <p:sp>
        <p:nvSpPr>
          <p:cNvPr id="10" name="TextBox 9"/>
          <p:cNvSpPr txBox="1"/>
          <p:nvPr/>
        </p:nvSpPr>
        <p:spPr>
          <a:xfrm>
            <a:off x="4846320" y="2103120"/>
            <a:ext cx="684245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the two methods agree, where they part, and why</a:t>
            </a:r>
          </a:p>
        </p:txBody>
      </p:sp>
      <p:sp>
        <p:nvSpPr>
          <p:cNvPr id="11" name="TextBox 10"/>
          <p:cNvSpPr txBox="1"/>
          <p:nvPr/>
        </p:nvSpPr>
        <p:spPr>
          <a:xfrm>
            <a:off x="4846320" y="2514600"/>
            <a:ext cx="684245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The two agree:</a:t>
            </a:r>
            <a:r>
              <a:rPr sz="1150" b="0" i="0">
                <a:solidFill>
                  <a:srgbClr val="14171C"/>
                </a:solidFill>
                <a:latin typeface="Calibri"/>
              </a:rPr>
              <a:t> 0.44 % of trim apart in torque, 0.03 % in NG, rms. A lateral cyclic input barely loads the engine, and either way our engine and fuel control answer as his do.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13: collective input at hover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13, pdf p.51; drive train pdf p.47; decision log #81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49</a:t>
            </a:r>
          </a:p>
        </p:txBody>
      </p:sp>
      <p:pic>
        <p:nvPicPr>
          <p:cNvPr id="8" name="Picture 7" descr="figure-13-rotor-imposed.png"/>
          <p:cNvPicPr>
            <a:picLocks noChangeAspect="1"/>
          </p:cNvPicPr>
          <p:nvPr/>
        </p:nvPicPr>
        <p:blipFill>
          <a:blip r:embed="rId2"/>
          <a:stretch>
            <a:fillRect/>
          </a:stretch>
        </p:blipFill>
        <p:spPr>
          <a:xfrm>
            <a:off x="502920" y="1272394"/>
            <a:ext cx="3154680" cy="4852706"/>
          </a:xfrm>
          <a:prstGeom prst="rect">
            <a:avLst/>
          </a:prstGeom>
        </p:spPr>
      </p:pic>
      <p:pic>
        <p:nvPicPr>
          <p:cNvPr id="9" name="Picture 8" descr="figure-13-rotor-free.png"/>
          <p:cNvPicPr>
            <a:picLocks noChangeAspect="1"/>
          </p:cNvPicPr>
          <p:nvPr/>
        </p:nvPicPr>
        <p:blipFill>
          <a:blip r:embed="rId3"/>
          <a:stretch>
            <a:fillRect/>
          </a:stretch>
        </p:blipFill>
        <p:spPr>
          <a:xfrm>
            <a:off x="3749039" y="1272394"/>
            <a:ext cx="3154680" cy="4852706"/>
          </a:xfrm>
          <a:prstGeom prst="rect">
            <a:avLst/>
          </a:prstGeom>
        </p:spPr>
      </p:pic>
      <p:sp>
        <p:nvSpPr>
          <p:cNvPr id="10" name="TextBox 9"/>
          <p:cNvSpPr txBox="1"/>
          <p:nvPr/>
        </p:nvSpPr>
        <p:spPr>
          <a:xfrm>
            <a:off x="7086600" y="1234439"/>
            <a:ext cx="460217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Left, rotor speed imposed: his rotor speed is ours; we predict torque, NG and fuel. Right, rotor free: his torque is our rotor's load; we predict the rotor speed too.</a:t>
            </a:r>
          </a:p>
        </p:txBody>
      </p:sp>
      <p:sp>
        <p:nvSpPr>
          <p:cNvPr id="11" name="TextBox 10"/>
          <p:cNvSpPr txBox="1"/>
          <p:nvPr/>
        </p:nvSpPr>
        <p:spPr>
          <a:xfrm>
            <a:off x="7086600" y="2103120"/>
            <a:ext cx="460217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ours misses his, and why</a:t>
            </a:r>
          </a:p>
        </p:txBody>
      </p:sp>
      <p:sp>
        <p:nvSpPr>
          <p:cNvPr id="12" name="TextBox 11"/>
          <p:cNvSpPr txBox="1"/>
          <p:nvPr/>
        </p:nvSpPr>
        <p:spPr>
          <a:xfrm>
            <a:off x="7086600" y="2514600"/>
            <a:ext cx="460217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Our fuel falls sooner</a:t>
            </a:r>
            <a:r>
              <a:rPr sz="1150" b="0" i="0">
                <a:solidFill>
                  <a:srgbClr val="14171C"/>
                </a:solidFill>
                <a:latin typeface="Calibri"/>
              </a:rPr>
              <a:t>, under 97 % of trim at 1.41 s against his 1.48 s, through the same load-demand path as on Figure 11.</a:t>
            </a:r>
          </a:p>
          <a:p>
            <a:pPr marL="201168" indent="-201168">
              <a:lnSpc>
                <a:spcPct val="105000"/>
              </a:lnSpc>
              <a:spcBef>
                <a:spcPts val="600"/>
              </a:spcBef>
              <a:buFont typeface="Arial"/>
              <a:buChar char="•"/>
            </a:pPr>
            <a:r>
              <a:rPr sz="1150" b="1" i="0">
                <a:solidFill>
                  <a:srgbClr val="14171C"/>
                </a:solidFill>
                <a:latin typeface="Calibri"/>
              </a:rPr>
              <a:t>Rotor speed imposed: our torque settles 3 % of trim low</a:t>
            </a:r>
            <a:r>
              <a:rPr sz="1150" b="0" i="0">
                <a:solidFill>
                  <a:srgbClr val="14171C"/>
                </a:solidFill>
                <a:latin typeface="Calibri"/>
              </a:rPr>
              <a:t>: at 6 s, 80.3 % against his 83.2. Why: the collective's inch-to-percent scale is not printed. At our proportional reading, 9.6 % per inch, our collective cuts too much; at 8.0 % per inch ours reads 84.0 %. His lies between, so the scale that matches is a little below 8.8 % per inch, the bottom of the range our readings span.</a:t>
            </a:r>
          </a:p>
          <a:p>
            <a:pPr marL="201168" indent="-201168">
              <a:lnSpc>
                <a:spcPct val="105000"/>
              </a:lnSpc>
              <a:spcBef>
                <a:spcPts val="600"/>
              </a:spcBef>
              <a:buFont typeface="Arial"/>
              <a:buChar char="•"/>
            </a:pPr>
            <a:r>
              <a:rPr sz="1150" b="1" i="0">
                <a:solidFill>
                  <a:srgbClr val="14171C"/>
                </a:solidFill>
                <a:latin typeface="Calibri"/>
              </a:rPr>
              <a:t>Rotor free:</a:t>
            </a:r>
            <a:r>
              <a:rPr sz="1150" b="0" i="0">
                <a:solidFill>
                  <a:srgbClr val="14171C"/>
                </a:solidFill>
                <a:latin typeface="Calibri"/>
              </a:rPr>
              <a:t> our rotor overspeeds less, 99.96 % against his 100.23 %, because our fuel falls sooner.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13: the two tests side by side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13, pdf p.51; decision log #81.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50</a:t>
            </a:r>
          </a:p>
        </p:txBody>
      </p:sp>
      <p:pic>
        <p:nvPicPr>
          <p:cNvPr id="8" name="Picture 7" descr="figure-13-both-tests.png"/>
          <p:cNvPicPr>
            <a:picLocks noChangeAspect="1"/>
          </p:cNvPicPr>
          <p:nvPr/>
        </p:nvPicPr>
        <p:blipFill>
          <a:blip r:embed="rId2"/>
          <a:stretch>
            <a:fillRect/>
          </a:stretch>
        </p:blipFill>
        <p:spPr>
          <a:xfrm>
            <a:off x="612205" y="1261872"/>
            <a:ext cx="3896228" cy="4873752"/>
          </a:xfrm>
          <a:prstGeom prst="rect">
            <a:avLst/>
          </a:prstGeom>
        </p:spPr>
      </p:pic>
      <p:sp>
        <p:nvSpPr>
          <p:cNvPr id="9" name="TextBox 8"/>
          <p:cNvSpPr txBox="1"/>
          <p:nvPr/>
        </p:nvSpPr>
        <p:spPr>
          <a:xfrm>
            <a:off x="4846320" y="1234439"/>
            <a:ext cx="684245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Rotor speed imposed pins his rotor speed, so a miss shows in our torque and fuel. Rotor free pins his load instead: once settled our torque must carry it, and the miss moves into our rotor speed.</a:t>
            </a:r>
          </a:p>
        </p:txBody>
      </p:sp>
      <p:sp>
        <p:nvSpPr>
          <p:cNvPr id="10" name="TextBox 9"/>
          <p:cNvSpPr txBox="1"/>
          <p:nvPr/>
        </p:nvSpPr>
        <p:spPr>
          <a:xfrm>
            <a:off x="4846320" y="2103120"/>
            <a:ext cx="684245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the two methods agree, where they part, and why</a:t>
            </a:r>
          </a:p>
        </p:txBody>
      </p:sp>
      <p:sp>
        <p:nvSpPr>
          <p:cNvPr id="11" name="TextBox 10"/>
          <p:cNvSpPr txBox="1"/>
          <p:nvPr/>
        </p:nvSpPr>
        <p:spPr>
          <a:xfrm>
            <a:off x="4846320" y="2514600"/>
            <a:ext cx="684245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Just after the input:</a:t>
            </a:r>
            <a:r>
              <a:rPr sz="1150" b="0" i="0">
                <a:solidFill>
                  <a:srgbClr val="14171C"/>
                </a:solidFill>
                <a:latin typeface="Calibri"/>
              </a:rPr>
              <a:t> they part most at 2.7 s, rotor free 5.9 % of trim above in torque. Free, our rotor overspeeds less, because our fuel falls sooner, so the governor cuts less.</a:t>
            </a:r>
          </a:p>
          <a:p>
            <a:pPr marL="201168" indent="-201168">
              <a:lnSpc>
                <a:spcPct val="105000"/>
              </a:lnSpc>
              <a:spcBef>
                <a:spcPts val="600"/>
              </a:spcBef>
              <a:buFont typeface="Arial"/>
              <a:buChar char="•"/>
            </a:pPr>
            <a:r>
              <a:rPr sz="1150" b="1" i="0">
                <a:solidFill>
                  <a:srgbClr val="14171C"/>
                </a:solidFill>
                <a:latin typeface="Calibri"/>
              </a:rPr>
              <a:t>Settled</a:t>
            </a:r>
            <a:r>
              <a:rPr sz="1150" b="0" i="0">
                <a:solidFill>
                  <a:srgbClr val="14171C"/>
                </a:solidFill>
                <a:latin typeface="Calibri"/>
              </a:rPr>
              <a:t> at 6.6 s: rotor free carries his torque, 84.1 % of trim against his 84.0, because his load sets it. With rotor speed imposed it is 81.4: there the collective's unprinted scale sets it (previous slide).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14: pedal input at hover</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14, pdf p.52; drive train pdf p.47; decision log #81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51</a:t>
            </a:r>
          </a:p>
        </p:txBody>
      </p:sp>
      <p:pic>
        <p:nvPicPr>
          <p:cNvPr id="8" name="Picture 7" descr="figure-14-rotor-imposed.png"/>
          <p:cNvPicPr>
            <a:picLocks noChangeAspect="1"/>
          </p:cNvPicPr>
          <p:nvPr/>
        </p:nvPicPr>
        <p:blipFill>
          <a:blip r:embed="rId2"/>
          <a:stretch>
            <a:fillRect/>
          </a:stretch>
        </p:blipFill>
        <p:spPr>
          <a:xfrm>
            <a:off x="502920" y="1272394"/>
            <a:ext cx="3154680" cy="4852706"/>
          </a:xfrm>
          <a:prstGeom prst="rect">
            <a:avLst/>
          </a:prstGeom>
        </p:spPr>
      </p:pic>
      <p:pic>
        <p:nvPicPr>
          <p:cNvPr id="9" name="Picture 8" descr="figure-14-rotor-free.png"/>
          <p:cNvPicPr>
            <a:picLocks noChangeAspect="1"/>
          </p:cNvPicPr>
          <p:nvPr/>
        </p:nvPicPr>
        <p:blipFill>
          <a:blip r:embed="rId3"/>
          <a:stretch>
            <a:fillRect/>
          </a:stretch>
        </p:blipFill>
        <p:spPr>
          <a:xfrm>
            <a:off x="3749039" y="1272394"/>
            <a:ext cx="3154680" cy="4852706"/>
          </a:xfrm>
          <a:prstGeom prst="rect">
            <a:avLst/>
          </a:prstGeom>
        </p:spPr>
      </p:pic>
      <p:sp>
        <p:nvSpPr>
          <p:cNvPr id="10" name="TextBox 9"/>
          <p:cNvSpPr txBox="1"/>
          <p:nvPr/>
        </p:nvSpPr>
        <p:spPr>
          <a:xfrm>
            <a:off x="7086600" y="1234439"/>
            <a:ext cx="460217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Left, rotor speed imposed: his rotor speed is ours; we predict torque, NG and fuel. Right, rotor free: his torque is our rotor's load; we predict the rotor speed too.</a:t>
            </a:r>
          </a:p>
        </p:txBody>
      </p:sp>
      <p:sp>
        <p:nvSpPr>
          <p:cNvPr id="11" name="TextBox 10"/>
          <p:cNvSpPr txBox="1"/>
          <p:nvPr/>
        </p:nvSpPr>
        <p:spPr>
          <a:xfrm>
            <a:off x="7086600" y="2103120"/>
            <a:ext cx="460217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ours misses his, and why</a:t>
            </a:r>
          </a:p>
        </p:txBody>
      </p:sp>
      <p:sp>
        <p:nvSpPr>
          <p:cNvPr id="12" name="TextBox 11"/>
          <p:cNvSpPr txBox="1"/>
          <p:nvPr/>
        </p:nvSpPr>
        <p:spPr>
          <a:xfrm>
            <a:off x="7086600" y="2514600"/>
            <a:ext cx="460217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Both tests follow him closely until the end.</a:t>
            </a:r>
          </a:p>
          <a:p>
            <a:pPr marL="201168" indent="-201168">
              <a:lnSpc>
                <a:spcPct val="105000"/>
              </a:lnSpc>
              <a:spcBef>
                <a:spcPts val="600"/>
              </a:spcBef>
              <a:buFont typeface="Arial"/>
              <a:buChar char="•"/>
            </a:pPr>
            <a:r>
              <a:rPr sz="1150" b="1" i="0">
                <a:solidFill>
                  <a:srgbClr val="14171C"/>
                </a:solidFill>
                <a:latin typeface="Calibri"/>
              </a:rPr>
              <a:t>At the end his fuel bottoms at 76 % of trim, ours at 81 %</a:t>
            </a:r>
            <a:r>
              <a:rPr sz="1150" b="0" i="0">
                <a:solidFill>
                  <a:srgbClr val="14171C"/>
                </a:solidFill>
                <a:latin typeface="Calibri"/>
              </a:rPr>
              <a:t> (rotor speed imposed). As his rotor overshoots, our ECU cuts fuel, but as NG falls the HMU's droop gives part of it back. His deeper cut cannot be traced: his control's internals are not printed.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14: the two tests side by side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14, pdf p.52; decision log #81. 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52</a:t>
            </a:r>
          </a:p>
        </p:txBody>
      </p:sp>
      <p:pic>
        <p:nvPicPr>
          <p:cNvPr id="8" name="Picture 7" descr="figure-14-both-tests.png"/>
          <p:cNvPicPr>
            <a:picLocks noChangeAspect="1"/>
          </p:cNvPicPr>
          <p:nvPr/>
        </p:nvPicPr>
        <p:blipFill>
          <a:blip r:embed="rId2"/>
          <a:stretch>
            <a:fillRect/>
          </a:stretch>
        </p:blipFill>
        <p:spPr>
          <a:xfrm>
            <a:off x="612205" y="1261872"/>
            <a:ext cx="3896228" cy="4873752"/>
          </a:xfrm>
          <a:prstGeom prst="rect">
            <a:avLst/>
          </a:prstGeom>
        </p:spPr>
      </p:pic>
      <p:sp>
        <p:nvSpPr>
          <p:cNvPr id="9" name="TextBox 8"/>
          <p:cNvSpPr txBox="1"/>
          <p:nvPr/>
        </p:nvSpPr>
        <p:spPr>
          <a:xfrm>
            <a:off x="4846320" y="1234439"/>
            <a:ext cx="684245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Rotor speed imposed pins his rotor speed, so a miss shows in our torque and fuel. Rotor free pins his load instead: once settled our torque must carry it, and the miss moves into our rotor speed.</a:t>
            </a:r>
          </a:p>
        </p:txBody>
      </p:sp>
      <p:sp>
        <p:nvSpPr>
          <p:cNvPr id="10" name="TextBox 9"/>
          <p:cNvSpPr txBox="1"/>
          <p:nvPr/>
        </p:nvSpPr>
        <p:spPr>
          <a:xfrm>
            <a:off x="4846320" y="2103120"/>
            <a:ext cx="684245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the two methods agree, where they part, and why</a:t>
            </a:r>
          </a:p>
        </p:txBody>
      </p:sp>
      <p:sp>
        <p:nvSpPr>
          <p:cNvPr id="11" name="TextBox 10"/>
          <p:cNvSpPr txBox="1"/>
          <p:nvPr/>
        </p:nvSpPr>
        <p:spPr>
          <a:xfrm>
            <a:off x="4846320" y="2514600"/>
            <a:ext cx="684245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As the pedals go in:</a:t>
            </a:r>
            <a:r>
              <a:rPr sz="1150" b="0" i="0">
                <a:solidFill>
                  <a:srgbClr val="14171C"/>
                </a:solidFill>
                <a:latin typeface="Calibri"/>
              </a:rPr>
              <a:t> they part most at 3.9 s, rotor free 4.0 % of trim below in torque. Free, our rotor dips less than his, so the governor asks for less.</a:t>
            </a:r>
          </a:p>
          <a:p>
            <a:pPr marL="201168" indent="-201168">
              <a:lnSpc>
                <a:spcPct val="105000"/>
              </a:lnSpc>
              <a:spcBef>
                <a:spcPts val="600"/>
              </a:spcBef>
              <a:buFont typeface="Arial"/>
              <a:buChar char="•"/>
            </a:pPr>
            <a:r>
              <a:rPr sz="1150" b="1" i="0">
                <a:solidFill>
                  <a:srgbClr val="14171C"/>
                </a:solidFill>
                <a:latin typeface="Calibri"/>
              </a:rPr>
              <a:t>At 9.6 s</a:t>
            </a:r>
            <a:r>
              <a:rPr sz="1150" b="0" i="0">
                <a:solidFill>
                  <a:srgbClr val="14171C"/>
                </a:solidFill>
                <a:latin typeface="Calibri"/>
              </a:rPr>
              <a:t>, the last reading, both sit above his fuel: 81.5 and 83.4 % of trim against his 76.1.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 15: large collective input at 87 kt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 15, pdf p.53; drive train pdf p.47; decision log #81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53</a:t>
            </a:r>
          </a:p>
        </p:txBody>
      </p:sp>
      <p:pic>
        <p:nvPicPr>
          <p:cNvPr id="8" name="Picture 7" descr="figure-15-rotor-free.png"/>
          <p:cNvPicPr>
            <a:picLocks noChangeAspect="1"/>
          </p:cNvPicPr>
          <p:nvPr/>
        </p:nvPicPr>
        <p:blipFill>
          <a:blip r:embed="rId2"/>
          <a:stretch>
            <a:fillRect/>
          </a:stretch>
        </p:blipFill>
        <p:spPr>
          <a:xfrm>
            <a:off x="577491" y="1261872"/>
            <a:ext cx="5062936" cy="4873752"/>
          </a:xfrm>
          <a:prstGeom prst="rect">
            <a:avLst/>
          </a:prstGeom>
        </p:spPr>
      </p:pic>
      <p:sp>
        <p:nvSpPr>
          <p:cNvPr id="9" name="TextBox 8"/>
          <p:cNvSpPr txBox="1"/>
          <p:nvPr/>
        </p:nvSpPr>
        <p:spPr>
          <a:xfrm>
            <a:off x="5943600" y="1234439"/>
            <a:ext cx="5745175" cy="822960"/>
          </a:xfrm>
          <a:prstGeom prst="rect">
            <a:avLst/>
          </a:prstGeom>
          <a:noFill/>
        </p:spPr>
        <p:txBody>
          <a:bodyPr wrap="square" anchor="t" lIns="36576" rIns="36576" tIns="27432" bIns="27432">
            <a:noAutofit/>
          </a:bodyPr>
          <a:lstStyle/>
          <a:p>
            <a:pPr>
              <a:lnSpc>
                <a:spcPct val="105000"/>
              </a:lnSpc>
              <a:spcBef>
                <a:spcPts val="0"/>
              </a:spcBef>
            </a:pPr>
            <a:r>
              <a:rPr sz="1150" b="0" i="0">
                <a:solidFill>
                  <a:srgbClr val="4D5563"/>
                </a:solidFill>
                <a:latin typeface="Calibri"/>
              </a:rPr>
              <a:t>Rotor free: his main-rotor torque is our rotor's load and his collective drives ours; our rotor makes its own speed.</a:t>
            </a:r>
          </a:p>
        </p:txBody>
      </p:sp>
      <p:sp>
        <p:nvSpPr>
          <p:cNvPr id="10" name="TextBox 9"/>
          <p:cNvSpPr txBox="1"/>
          <p:nvPr/>
        </p:nvSpPr>
        <p:spPr>
          <a:xfrm>
            <a:off x="5943600" y="2103120"/>
            <a:ext cx="5745175" cy="365760"/>
          </a:xfrm>
          <a:prstGeom prst="rect">
            <a:avLst/>
          </a:prstGeom>
          <a:noFill/>
        </p:spPr>
        <p:txBody>
          <a:bodyPr wrap="square" anchor="t" lIns="36576" rIns="36576" tIns="27432" bIns="27432">
            <a:noAutofit/>
          </a:bodyPr>
          <a:lstStyle/>
          <a:p>
            <a:pPr>
              <a:lnSpc>
                <a:spcPct val="105000"/>
              </a:lnSpc>
              <a:spcBef>
                <a:spcPts val="0"/>
              </a:spcBef>
            </a:pPr>
            <a:r>
              <a:rPr sz="1400" b="1" i="0">
                <a:solidFill>
                  <a:srgbClr val="14171C"/>
                </a:solidFill>
                <a:latin typeface="Calibri"/>
              </a:rPr>
              <a:t>Where ours misses his, and why</a:t>
            </a:r>
          </a:p>
        </p:txBody>
      </p:sp>
      <p:sp>
        <p:nvSpPr>
          <p:cNvPr id="11" name="TextBox 10"/>
          <p:cNvSpPr txBox="1"/>
          <p:nvPr/>
        </p:nvSpPr>
        <p:spPr>
          <a:xfrm>
            <a:off x="5943600" y="2514600"/>
            <a:ext cx="5745175" cy="365760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50" b="1" i="0">
                <a:solidFill>
                  <a:srgbClr val="14171C"/>
                </a:solidFill>
                <a:latin typeface="Calibri"/>
              </a:rPr>
              <a:t>Only rotor free:</a:t>
            </a:r>
            <a:r>
              <a:rPr sz="1150" b="0" i="0">
                <a:solidFill>
                  <a:srgbClr val="14171C"/>
                </a:solidFill>
                <a:latin typeface="Calibri"/>
              </a:rPr>
              <a:t> Figure 15 prints no NG, fuel or engine torque, so with his rotor speed imposed there would be nothing of his to compare.</a:t>
            </a:r>
          </a:p>
          <a:p>
            <a:pPr marL="201168" indent="-201168">
              <a:lnSpc>
                <a:spcPct val="105000"/>
              </a:lnSpc>
              <a:spcBef>
                <a:spcPts val="600"/>
              </a:spcBef>
              <a:buFont typeface="Arial"/>
              <a:buChar char="•"/>
            </a:pPr>
            <a:r>
              <a:rPr sz="1150" b="1" i="0">
                <a:solidFill>
                  <a:srgbClr val="14171C"/>
                </a:solidFill>
                <a:latin typeface="Calibri"/>
              </a:rPr>
              <a:t>Ours does not overspeed.</a:t>
            </a:r>
            <a:r>
              <a:rPr sz="1150" b="0" i="0">
                <a:solidFill>
                  <a:srgbClr val="14171C"/>
                </a:solidFill>
                <a:latin typeface="Calibri"/>
              </a:rPr>
              <a:t> His rotor rises to 101.05 % at 1.89 s. Our fuel falls with the collective at once, then sits on the deceleration limit (Fig. C22, pdf p.93) from 1.5 to 2.7 s.</a:t>
            </a:r>
          </a:p>
          <a:p>
            <a:pPr marL="201168" indent="-201168">
              <a:lnSpc>
                <a:spcPct val="105000"/>
              </a:lnSpc>
              <a:spcBef>
                <a:spcPts val="600"/>
              </a:spcBef>
              <a:buFont typeface="Arial"/>
              <a:buChar char="•"/>
            </a:pPr>
            <a:r>
              <a:rPr sz="1150" b="1" i="0">
                <a:solidFill>
                  <a:srgbClr val="14171C"/>
                </a:solidFill>
                <a:latin typeface="Calibri"/>
              </a:rPr>
              <a:t>Our dip comes later.</a:t>
            </a:r>
            <a:r>
              <a:rPr sz="1150" b="0" i="0">
                <a:solidFill>
                  <a:srgbClr val="14171C"/>
                </a:solidFill>
                <a:latin typeface="Calibri"/>
              </a:rPr>
              <a:t> On that limit our engine still gives torque, so our rotor slows at 1.0 %/s against his 3.2 %/s and reaches its low, 97.3 %, at 4.27 s against his 97.3 % at 3.53 s.</a:t>
            </a:r>
          </a:p>
          <a:p>
            <a:pPr marL="201168" indent="-201168">
              <a:lnSpc>
                <a:spcPct val="105000"/>
              </a:lnSpc>
              <a:spcBef>
                <a:spcPts val="600"/>
              </a:spcBef>
              <a:buFont typeface="Arial"/>
              <a:buChar char="•"/>
            </a:pPr>
            <a:r>
              <a:rPr sz="1150" b="1" i="0">
                <a:solidFill>
                  <a:srgbClr val="14171C"/>
                </a:solidFill>
                <a:latin typeface="Calibri"/>
              </a:rPr>
              <a:t>A recorded finding (decision log #81):</a:t>
            </a:r>
            <a:r>
              <a:rPr sz="1150" b="0" i="0">
                <a:solidFill>
                  <a:srgbClr val="14171C"/>
                </a:solidFill>
                <a:latin typeface="Calibri"/>
              </a:rPr>
              <a:t> a flat line at the trim misses his rotor speed by 1.34 %, ours by 0.90 %: 1.49 times better, just short of the 1.5× our check asks to show that his inputs, not the trim, drive the result. Our dip is as deep as his, but 0.74 s late.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Figures 11–14: what day did they fly? Two readings, as evidence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pp.47–52, 67; decision log #82</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54</a:t>
            </a:r>
          </a:p>
        </p:txBody>
      </p:sp>
      <p:graphicFrame>
        <p:nvGraphicFramePr>
          <p:cNvPr id="8" name="Table 7"/>
          <p:cNvGraphicFramePr>
            <a:graphicFrameLocks noGrp="1"/>
          </p:cNvGraphicFramePr>
          <p:nvPr/>
        </p:nvGraphicFramePr>
        <p:xfrm>
          <a:off x="502920" y="1325880"/>
          <a:ext cx="11185853" cy="2743200"/>
        </p:xfrm>
        <a:graphic>
          <a:graphicData uri="http://schemas.openxmlformats.org/drawingml/2006/table">
            <a:tbl>
              <a:tblPr firstRow="1">
                <a:tableStyleId>{5C22544A-7EE6-4342-B048-85BDC9FD1C3A}</a:tableStyleId>
              </a:tblPr>
              <a:tblGrid>
                <a:gridCol w="3300744"/>
                <a:gridCol w="2383870"/>
                <a:gridCol w="2658932"/>
                <a:gridCol w="2842307"/>
              </a:tblGrid>
              <a:tr h="457200">
                <a:tc>
                  <a:txBody>
                    <a:bodyPr wrap="square"/>
                    <a:lstStyle/>
                    <a:p>
                      <a:pPr algn="l"/>
                    </a:p>
                  </a:txBody>
                  <a:tcPr marL="54864" marR="54864" marT="22860" marB="22860" anchor="ctr">
                    <a:solidFill>
                      <a:srgbClr val="4D5563"/>
                    </a:solidFill>
                  </a:tcPr>
                </a:tc>
                <a:tc>
                  <a:txBody>
                    <a:bodyPr wrap="square"/>
                    <a:lstStyle/>
                    <a:p>
                      <a:pPr algn="r"/>
                      <a:r>
                        <a:rPr sz="1150" b="1" i="0">
                          <a:solidFill>
                            <a:srgbClr val="FFFFFF"/>
                          </a:solidFill>
                          <a:latin typeface="Calibri"/>
                        </a:rPr>
                        <a:t>Standard day (used)</a:t>
                      </a:r>
                    </a:p>
                  </a:txBody>
                  <a:tcPr marL="54864" marR="54864" marT="22860" marB="22860" anchor="ctr">
                    <a:solidFill>
                      <a:srgbClr val="4D5563"/>
                    </a:solidFill>
                  </a:tcPr>
                </a:tc>
                <a:tc>
                  <a:txBody>
                    <a:bodyPr wrap="square"/>
                    <a:lstStyle/>
                    <a:p>
                      <a:pPr algn="r"/>
                      <a:r>
                        <a:rPr sz="1150" b="1" i="0">
                          <a:solidFill>
                            <a:srgbClr val="FFFFFF"/>
                          </a:solidFill>
                          <a:latin typeface="Calibri"/>
                        </a:rPr>
                        <a:t>A: 59 °F every day</a:t>
                      </a:r>
                    </a:p>
                  </a:txBody>
                  <a:tcPr marL="54864" marR="54864" marT="22860" marB="22860" anchor="ctr">
                    <a:solidFill>
                      <a:srgbClr val="4D5563"/>
                    </a:solidFill>
                  </a:tcPr>
                </a:tc>
                <a:tc>
                  <a:txBody>
                    <a:bodyPr wrap="square"/>
                    <a:lstStyle/>
                    <a:p>
                      <a:pPr algn="r"/>
                      <a:r>
                        <a:rPr sz="1150" b="1" i="0">
                          <a:solidFill>
                            <a:srgbClr val="FFFFFF"/>
                          </a:solidFill>
                          <a:latin typeface="Calibri"/>
                        </a:rPr>
                        <a:t>B: one common temperature</a:t>
                      </a:r>
                    </a:p>
                  </a:txBody>
                  <a:tcPr marL="54864" marR="54864" marT="22860" marB="22860" anchor="ctr">
                    <a:solidFill>
                      <a:srgbClr val="4D5563"/>
                    </a:solidFill>
                  </a:tcPr>
                </a:tc>
              </a:tr>
              <a:tr h="457200">
                <a:tc>
                  <a:txBody>
                    <a:bodyPr wrap="square"/>
                    <a:lstStyle/>
                    <a:p>
                      <a:pPr algn="l"/>
                      <a:r>
                        <a:rPr sz="1150" b="1" i="0">
                          <a:solidFill>
                            <a:srgbClr val="14171C"/>
                          </a:solidFill>
                          <a:latin typeface="Calibri"/>
                        </a:rPr>
                        <a:t>Temperature</a:t>
                      </a:r>
                    </a:p>
                  </a:txBody>
                  <a:tcPr marL="54864" marR="54864" marT="22860" marB="22860" anchor="ctr">
                    <a:solidFill>
                      <a:srgbClr val="FFFFFF"/>
                    </a:solidFill>
                  </a:tcPr>
                </a:tc>
                <a:tc>
                  <a:txBody>
                    <a:bodyPr wrap="square"/>
                    <a:lstStyle/>
                    <a:p>
                      <a:pPr algn="r"/>
                      <a:r>
                        <a:rPr sz="1150" b="0" i="0">
                          <a:solidFill>
                            <a:srgbClr val="14171C"/>
                          </a:solidFill>
                          <a:latin typeface="Calibri"/>
                        </a:rPr>
                        <a:t>59 °F</a:t>
                      </a:r>
                    </a:p>
                  </a:txBody>
                  <a:tcPr marL="54864" marR="54864" marT="22860" marB="22860" anchor="ctr">
                    <a:solidFill>
                      <a:srgbClr val="FFFFFF"/>
                    </a:solidFill>
                  </a:tcPr>
                </a:tc>
                <a:tc>
                  <a:txBody>
                    <a:bodyPr wrap="square"/>
                    <a:lstStyle/>
                    <a:p>
                      <a:pPr algn="r"/>
                      <a:r>
                        <a:rPr sz="1150" b="0" i="0">
                          <a:solidFill>
                            <a:srgbClr val="14171C"/>
                          </a:solidFill>
                          <a:latin typeface="Calibri"/>
                        </a:rPr>
                        <a:t>59 °F</a:t>
                      </a:r>
                    </a:p>
                  </a:txBody>
                  <a:tcPr marL="54864" marR="54864" marT="22860" marB="22860" anchor="ctr">
                    <a:solidFill>
                      <a:srgbClr val="FFFFFF"/>
                    </a:solidFill>
                  </a:tcPr>
                </a:tc>
                <a:tc>
                  <a:txBody>
                    <a:bodyPr wrap="square"/>
                    <a:lstStyle/>
                    <a:p>
                      <a:pPr algn="r"/>
                      <a:r>
                        <a:rPr sz="1150" b="0" i="0">
                          <a:solidFill>
                            <a:srgbClr val="14171C"/>
                          </a:solidFill>
                          <a:latin typeface="Calibri"/>
                        </a:rPr>
                        <a:t>79 °F</a:t>
                      </a:r>
                    </a:p>
                  </a:txBody>
                  <a:tcPr marL="54864" marR="54864" marT="22860" marB="22860" anchor="ctr">
                    <a:solidFill>
                      <a:srgbClr val="FFFFFF"/>
                    </a:solidFill>
                  </a:tcPr>
                </a:tc>
              </a:tr>
              <a:tr h="457200">
                <a:tc>
                  <a:txBody>
                    <a:bodyPr wrap="square"/>
                    <a:lstStyle/>
                    <a:p>
                      <a:pPr algn="l"/>
                      <a:r>
                        <a:rPr sz="1150" b="1" i="0">
                          <a:solidFill>
                            <a:srgbClr val="14171C"/>
                          </a:solidFill>
                          <a:latin typeface="Calibri"/>
                        </a:rPr>
                        <a:t>Pressure, psia (altitude, 1000 ft)</a:t>
                      </a:r>
                    </a:p>
                  </a:txBody>
                  <a:tcPr marL="54864" marR="54864" marT="22860" marB="22860" anchor="ctr">
                    <a:solidFill>
                      <a:srgbClr val="F2F3F5"/>
                    </a:solidFill>
                  </a:tcPr>
                </a:tc>
                <a:tc>
                  <a:txBody>
                    <a:bodyPr wrap="square"/>
                    <a:lstStyle/>
                    <a:p>
                      <a:pPr algn="r"/>
                      <a:r>
                        <a:rPr sz="1150" b="0" i="0">
                          <a:solidFill>
                            <a:srgbClr val="14171C"/>
                          </a:solidFill>
                          <a:latin typeface="Calibri"/>
                        </a:rPr>
                        <a:t>14.7 (0)</a:t>
                      </a:r>
                    </a:p>
                  </a:txBody>
                  <a:tcPr marL="54864" marR="54864" marT="22860" marB="22860" anchor="ctr">
                    <a:solidFill>
                      <a:srgbClr val="F2F3F5"/>
                    </a:solidFill>
                  </a:tcPr>
                </a:tc>
                <a:tc>
                  <a:txBody>
                    <a:bodyPr wrap="square"/>
                    <a:lstStyle/>
                    <a:p>
                      <a:pPr algn="r"/>
                      <a:r>
                        <a:rPr sz="1150" b="0" i="0">
                          <a:solidFill>
                            <a:srgbClr val="14171C"/>
                          </a:solidFill>
                          <a:latin typeface="Calibri"/>
                        </a:rPr>
                        <a:t>11.9–12.3 (4.8–5.8)</a:t>
                      </a:r>
                    </a:p>
                  </a:txBody>
                  <a:tcPr marL="54864" marR="54864" marT="22860" marB="22860" anchor="ctr">
                    <a:solidFill>
                      <a:srgbClr val="F2F3F5"/>
                    </a:solidFill>
                  </a:tcPr>
                </a:tc>
                <a:tc>
                  <a:txBody>
                    <a:bodyPr wrap="square"/>
                    <a:lstStyle/>
                    <a:p>
                      <a:pPr algn="r"/>
                      <a:r>
                        <a:rPr sz="1150" b="0" i="0">
                          <a:solidFill>
                            <a:srgbClr val="14171C"/>
                          </a:solidFill>
                          <a:latin typeface="Calibri"/>
                        </a:rPr>
                        <a:t>13.0–13.3 (2.7–3.3)</a:t>
                      </a:r>
                    </a:p>
                  </a:txBody>
                  <a:tcPr marL="54864" marR="54864" marT="22860" marB="22860" anchor="ctr">
                    <a:solidFill>
                      <a:srgbClr val="F2F3F5"/>
                    </a:solidFill>
                  </a:tcPr>
                </a:tc>
              </a:tr>
              <a:tr h="457200">
                <a:tc>
                  <a:txBody>
                    <a:bodyPr wrap="square"/>
                    <a:lstStyle/>
                    <a:p>
                      <a:pPr algn="l"/>
                      <a:r>
                        <a:rPr sz="1150" b="1" i="0">
                          <a:solidFill>
                            <a:srgbClr val="14171C"/>
                          </a:solidFill>
                          <a:latin typeface="Calibri"/>
                        </a:rPr>
                        <a:t>Gearbox ratio implied</a:t>
                      </a:r>
                    </a:p>
                  </a:txBody>
                  <a:tcPr marL="54864" marR="54864" marT="22860" marB="22860" anchor="ctr">
                    <a:solidFill>
                      <a:srgbClr val="FFFFFF"/>
                    </a:solidFill>
                  </a:tcPr>
                </a:tc>
                <a:tc>
                  <a:txBody>
                    <a:bodyPr wrap="square"/>
                    <a:lstStyle/>
                    <a:p>
                      <a:pPr algn="r"/>
                      <a:r>
                        <a:rPr sz="1150" b="0" i="0">
                          <a:solidFill>
                            <a:srgbClr val="14171C"/>
                          </a:solidFill>
                          <a:latin typeface="Calibri"/>
                        </a:rPr>
                        <a:t>—</a:t>
                      </a:r>
                    </a:p>
                  </a:txBody>
                  <a:tcPr marL="54864" marR="54864" marT="22860" marB="22860" anchor="ctr">
                    <a:solidFill>
                      <a:srgbClr val="FFFFFF"/>
                    </a:solidFill>
                  </a:tcPr>
                </a:tc>
                <a:tc>
                  <a:txBody>
                    <a:bodyPr wrap="square"/>
                    <a:lstStyle/>
                    <a:p>
                      <a:pPr algn="r"/>
                      <a:r>
                        <a:rPr sz="1150" b="0" i="0">
                          <a:solidFill>
                            <a:srgbClr val="14171C"/>
                          </a:solidFill>
                          <a:latin typeface="Calibri"/>
                        </a:rPr>
                        <a:t>81.7</a:t>
                      </a:r>
                    </a:p>
                  </a:txBody>
                  <a:tcPr marL="54864" marR="54864" marT="22860" marB="22860" anchor="ctr">
                    <a:solidFill>
                      <a:srgbClr val="FFFFFF"/>
                    </a:solidFill>
                  </a:tcPr>
                </a:tc>
                <a:tc>
                  <a:txBody>
                    <a:bodyPr wrap="square"/>
                    <a:lstStyle/>
                    <a:p>
                      <a:pPr algn="r"/>
                      <a:r>
                        <a:rPr sz="1150" b="0" i="0">
                          <a:solidFill>
                            <a:srgbClr val="14171C"/>
                          </a:solidFill>
                          <a:latin typeface="Calibri"/>
                        </a:rPr>
                        <a:t>89.0</a:t>
                      </a:r>
                    </a:p>
                  </a:txBody>
                  <a:tcPr marL="54864" marR="54864" marT="22860" marB="22860" anchor="ctr">
                    <a:solidFill>
                      <a:srgbClr val="FFFFFF"/>
                    </a:solidFill>
                  </a:tcPr>
                </a:tc>
              </a:tr>
              <a:tr h="457200">
                <a:tc>
                  <a:txBody>
                    <a:bodyPr wrap="square"/>
                    <a:lstStyle/>
                    <a:p>
                      <a:pPr algn="l"/>
                      <a:r>
                        <a:rPr sz="1150" b="1" i="0">
                          <a:solidFill>
                            <a:srgbClr val="14171C"/>
                          </a:solidFill>
                          <a:latin typeface="Calibri"/>
                        </a:rPr>
                        <a:t>His 8 trim numbers, rms miss</a:t>
                      </a:r>
                    </a:p>
                  </a:txBody>
                  <a:tcPr marL="54864" marR="54864" marT="22860" marB="22860" anchor="ctr">
                    <a:solidFill>
                      <a:srgbClr val="F2F3F5"/>
                    </a:solidFill>
                  </a:tcPr>
                </a:tc>
                <a:tc>
                  <a:txBody>
                    <a:bodyPr wrap="square"/>
                    <a:lstStyle/>
                    <a:p>
                      <a:pPr algn="r"/>
                      <a:r>
                        <a:rPr sz="1150" b="0" i="0">
                          <a:solidFill>
                            <a:srgbClr val="14171C"/>
                          </a:solidFill>
                          <a:latin typeface="Calibri"/>
                        </a:rPr>
                        <a:t>about 20 %</a:t>
                      </a:r>
                    </a:p>
                  </a:txBody>
                  <a:tcPr marL="54864" marR="54864" marT="22860" marB="22860" anchor="ctr">
                    <a:solidFill>
                      <a:srgbClr val="F2F3F5"/>
                    </a:solidFill>
                  </a:tcPr>
                </a:tc>
                <a:tc>
                  <a:txBody>
                    <a:bodyPr wrap="square"/>
                    <a:lstStyle/>
                    <a:p>
                      <a:pPr algn="r"/>
                      <a:r>
                        <a:rPr sz="1150" b="0" i="0">
                          <a:solidFill>
                            <a:srgbClr val="14171C"/>
                          </a:solidFill>
                          <a:latin typeface="Calibri"/>
                        </a:rPr>
                        <a:t>0.64 %</a:t>
                      </a:r>
                    </a:p>
                  </a:txBody>
                  <a:tcPr marL="54864" marR="54864" marT="22860" marB="22860" anchor="ctr">
                    <a:solidFill>
                      <a:srgbClr val="F2F3F5"/>
                    </a:solidFill>
                  </a:tcPr>
                </a:tc>
                <a:tc>
                  <a:txBody>
                    <a:bodyPr wrap="square"/>
                    <a:lstStyle/>
                    <a:p>
                      <a:pPr algn="r"/>
                      <a:r>
                        <a:rPr sz="1150" b="0" i="0">
                          <a:solidFill>
                            <a:srgbClr val="14171C"/>
                          </a:solidFill>
                          <a:latin typeface="Calibri"/>
                        </a:rPr>
                        <a:t>0.08 %</a:t>
                      </a:r>
                    </a:p>
                  </a:txBody>
                  <a:tcPr marL="54864" marR="54864" marT="22860" marB="22860" anchor="ctr">
                    <a:solidFill>
                      <a:srgbClr val="F2F3F5"/>
                    </a:solidFill>
                  </a:tcPr>
                </a:tc>
              </a:tr>
              <a:tr h="457200">
                <a:tc>
                  <a:txBody>
                    <a:bodyPr wrap="square"/>
                    <a:lstStyle/>
                    <a:p>
                      <a:pPr algn="l"/>
                      <a:r>
                        <a:rPr sz="1150" b="1" i="0">
                          <a:solidFill>
                            <a:srgbClr val="14171C"/>
                          </a:solidFill>
                          <a:latin typeface="Calibri"/>
                        </a:rPr>
                        <a:t>Rotor free, rotor speed rms, Fig 11 / 12 / 13 / 14</a:t>
                      </a:r>
                    </a:p>
                  </a:txBody>
                  <a:tcPr marL="54864" marR="54864" marT="22860" marB="22860" anchor="ctr">
                    <a:solidFill>
                      <a:srgbClr val="FFFFFF"/>
                    </a:solidFill>
                  </a:tcPr>
                </a:tc>
                <a:tc>
                  <a:txBody>
                    <a:bodyPr wrap="square"/>
                    <a:lstStyle/>
                    <a:p>
                      <a:pPr algn="r"/>
                      <a:r>
                        <a:rPr sz="1150" b="0" i="0">
                          <a:solidFill>
                            <a:srgbClr val="14171C"/>
                          </a:solidFill>
                          <a:latin typeface="Calibri"/>
                        </a:rPr>
                        <a:t>0.150 / 0.024 / 0.154 / 0.072</a:t>
                      </a:r>
                    </a:p>
                  </a:txBody>
                  <a:tcPr marL="54864" marR="54864" marT="22860" marB="22860" anchor="ctr">
                    <a:solidFill>
                      <a:srgbClr val="FFFFFF"/>
                    </a:solidFill>
                  </a:tcPr>
                </a:tc>
                <a:tc>
                  <a:txBody>
                    <a:bodyPr wrap="square"/>
                    <a:lstStyle/>
                    <a:p>
                      <a:pPr algn="r"/>
                      <a:r>
                        <a:rPr sz="1150" b="0" i="0">
                          <a:solidFill>
                            <a:srgbClr val="14171C"/>
                          </a:solidFill>
                          <a:latin typeface="Calibri"/>
                        </a:rPr>
                        <a:t>0.119 / 0.018 / 0.126 / 0.059</a:t>
                      </a:r>
                    </a:p>
                  </a:txBody>
                  <a:tcPr marL="54864" marR="54864" marT="22860" marB="22860" anchor="ctr">
                    <a:solidFill>
                      <a:srgbClr val="FFFFFF"/>
                    </a:solidFill>
                  </a:tcPr>
                </a:tc>
                <a:tc>
                  <a:txBody>
                    <a:bodyPr wrap="square"/>
                    <a:lstStyle/>
                    <a:p>
                      <a:pPr algn="r"/>
                      <a:r>
                        <a:rPr sz="1150" b="0" i="0">
                          <a:solidFill>
                            <a:srgbClr val="14171C"/>
                          </a:solidFill>
                          <a:latin typeface="Calibri"/>
                        </a:rPr>
                        <a:t>0.113 / 0.017 / 0.161 / 0.059</a:t>
                      </a:r>
                    </a:p>
                  </a:txBody>
                  <a:tcPr marL="54864" marR="54864" marT="22860" marB="22860" anchor="ctr">
                    <a:solidFill>
                      <a:srgbClr val="FFFFFF"/>
                    </a:solidFill>
                  </a:tcPr>
                </a:tc>
              </a:tr>
            </a:tbl>
          </a:graphicData>
        </a:graphic>
      </p:graphicFrame>
      <p:sp>
        <p:nvSpPr>
          <p:cNvPr id="9" name="TextBox 8"/>
          <p:cNvSpPr txBox="1"/>
          <p:nvPr/>
        </p:nvSpPr>
        <p:spPr>
          <a:xfrm>
            <a:off x="502920" y="4343400"/>
            <a:ext cx="11185855" cy="17373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200" b="0" i="0">
                <a:solidFill>
                  <a:srgbClr val="14171C"/>
                </a:solidFill>
                <a:latin typeface="Calibri"/>
              </a:rPr>
              <a:t>His trims print fuel and torque at his NG. On a standard day our engine needs about a fifth more of both, on every figure: most of the gap is air pressure.</a:t>
            </a:r>
          </a:p>
          <a:p>
            <a:pPr marL="201168" indent="-201168">
              <a:lnSpc>
                <a:spcPct val="105000"/>
              </a:lnSpc>
              <a:spcBef>
                <a:spcPts val="500"/>
              </a:spcBef>
              <a:buFont typeface="Arial"/>
              <a:buChar char="•"/>
            </a:pPr>
            <a:r>
              <a:rPr sz="1200" b="0" i="0">
                <a:solidFill>
                  <a:srgbClr val="14171C"/>
                </a:solidFill>
                <a:latin typeface="Calibri"/>
              </a:rPr>
              <a:t>Eight numbers, nine unknowns (a pressure and a temperature per figure, one gearbox ratio), so one assumption each: A fixes the temperature, B makes it common. B fits the trims eight times closer; A improves the transients a little more.</a:t>
            </a:r>
          </a:p>
          <a:p>
            <a:pPr marL="201168" indent="-201168">
              <a:lnSpc>
                <a:spcPct val="105000"/>
              </a:lnSpc>
              <a:spcBef>
                <a:spcPts val="500"/>
              </a:spcBef>
              <a:buFont typeface="Arial"/>
              <a:buChar char="•"/>
            </a:pPr>
            <a:r>
              <a:rPr sz="1200" b="1" i="0">
                <a:solidFill>
                  <a:srgbClr val="14171C"/>
                </a:solidFill>
                <a:latin typeface="Calibri"/>
              </a:rPr>
              <a:t>Decided:</a:t>
            </a:r>
            <a:r>
              <a:rPr sz="1200" b="0" i="0">
                <a:solidFill>
                  <a:srgbClr val="14171C"/>
                </a:solidFill>
                <a:latin typeface="Calibri"/>
              </a:rPr>
              <a:t> the comparisons stay on a standard day, in % of trim. These two readings are evidence about his boundary conditions, not constants of the model.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Table 1: every printed eigenvalue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1, pdf p.31; Appendix B, pdf pp.68–76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55</a:t>
            </a:r>
          </a:p>
        </p:txBody>
      </p:sp>
      <p:pic>
        <p:nvPicPr>
          <p:cNvPr id="8" name="Picture 7" descr="eigenvalues-all-models.png"/>
          <p:cNvPicPr>
            <a:picLocks noChangeAspect="1"/>
          </p:cNvPicPr>
          <p:nvPr/>
        </p:nvPicPr>
        <p:blipFill>
          <a:blip r:embed="rId2"/>
          <a:stretch>
            <a:fillRect/>
          </a:stretch>
        </p:blipFill>
        <p:spPr>
          <a:xfrm>
            <a:off x="1698746" y="1280160"/>
            <a:ext cx="8794202" cy="3063240"/>
          </a:xfrm>
          <a:prstGeom prst="rect">
            <a:avLst/>
          </a:prstGeom>
        </p:spPr>
      </p:pic>
      <p:sp>
        <p:nvSpPr>
          <p:cNvPr id="9" name="TextBox 8"/>
          <p:cNvSpPr txBox="1"/>
          <p:nvPr/>
        </p:nvSpPr>
        <p:spPr>
          <a:xfrm>
            <a:off x="502920" y="4416552"/>
            <a:ext cx="11185855" cy="17373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250" b="1" i="0">
                <a:solidFill>
                  <a:srgbClr val="14171C"/>
                </a:solidFill>
                <a:latin typeface="Calibri"/>
              </a:rPr>
              <a:t>18 tested eigenvalues</a:t>
            </a:r>
            <a:r>
              <a:rPr sz="1250" b="0" i="0">
                <a:solidFill>
                  <a:srgbClr val="14171C"/>
                </a:solidFill>
                <a:latin typeface="Calibri"/>
              </a:rPr>
              <a:t> (left; NG, P3, P41, P45 modes of the 5-DOF, 2-DOF and reduced 5-DOF): rms 2.37 %, worst +4.7 % (2-DOF NG mode, hover). The 9 NP values are supplied (slide 33) and agree by construction.</a:t>
            </a:r>
          </a:p>
          <a:p>
            <a:pPr marL="201168" indent="-201168">
              <a:lnSpc>
                <a:spcPct val="105000"/>
              </a:lnSpc>
              <a:spcBef>
                <a:spcPts val="400"/>
              </a:spcBef>
              <a:buFont typeface="Arial"/>
              <a:buChar char="•"/>
            </a:pPr>
            <a:r>
              <a:rPr sz="1250" b="1" i="0">
                <a:solidFill>
                  <a:srgbClr val="14171C"/>
                </a:solidFill>
                <a:latin typeface="Calibri"/>
              </a:rPr>
              <a:t>2-DOF and reduced 5-DOF</a:t>
            </a:r>
            <a:r>
              <a:rPr sz="1250" b="0" i="0">
                <a:solidFill>
                  <a:srgbClr val="14171C"/>
                </a:solidFill>
                <a:latin typeface="Calibri"/>
              </a:rPr>
              <a:t> would be one model with exact slopes; at the ±2 % step they part, Ballin's own by up to 4.3 %, ours by up to 3.5 %.</a:t>
            </a:r>
          </a:p>
          <a:p>
            <a:pPr marL="201168" indent="-201168">
              <a:lnSpc>
                <a:spcPct val="105000"/>
              </a:lnSpc>
              <a:spcBef>
                <a:spcPts val="400"/>
              </a:spcBef>
              <a:buFont typeface="Arial"/>
              <a:buChar char="•"/>
            </a:pPr>
            <a:r>
              <a:rPr sz="1250" b="0" i="0">
                <a:solidFill>
                  <a:srgbClr val="14171C"/>
                </a:solidFill>
                <a:latin typeface="Calibri"/>
              </a:rPr>
              <a:t>Right: the 3-DOF and 6-DOF spectra, which Table 1 omits, against Ballin's own printed matrices.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Appendix B: every printed matrix element</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Appendix B, pdf pp.68–76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56</a:t>
            </a:r>
          </a:p>
        </p:txBody>
      </p:sp>
      <p:pic>
        <p:nvPicPr>
          <p:cNvPr id="8" name="Picture 7" descr="appendix-b-elements.png"/>
          <p:cNvPicPr>
            <a:picLocks noChangeAspect="1"/>
          </p:cNvPicPr>
          <p:nvPr/>
        </p:nvPicPr>
        <p:blipFill>
          <a:blip r:embed="rId2"/>
          <a:stretch>
            <a:fillRect/>
          </a:stretch>
        </p:blipFill>
        <p:spPr>
          <a:xfrm>
            <a:off x="502920" y="1315156"/>
            <a:ext cx="7040880" cy="2718926"/>
          </a:xfrm>
          <a:prstGeom prst="rect">
            <a:avLst/>
          </a:prstGeom>
        </p:spPr>
      </p:pic>
      <p:graphicFrame>
        <p:nvGraphicFramePr>
          <p:cNvPr id="9" name="Table 8"/>
          <p:cNvGraphicFramePr>
            <a:graphicFrameLocks noGrp="1"/>
          </p:cNvGraphicFramePr>
          <p:nvPr/>
        </p:nvGraphicFramePr>
        <p:xfrm>
          <a:off x="7726679" y="1325880"/>
          <a:ext cx="3977638" cy="2962656"/>
        </p:xfrm>
        <a:graphic>
          <a:graphicData uri="http://schemas.openxmlformats.org/drawingml/2006/table">
            <a:tbl>
              <a:tblPr firstRow="1">
                <a:tableStyleId>{5C22544A-7EE6-4342-B048-85BDC9FD1C3A}</a:tableStyleId>
              </a:tblPr>
              <a:tblGrid>
                <a:gridCol w="1149096"/>
                <a:gridCol w="530352"/>
                <a:gridCol w="795527"/>
                <a:gridCol w="707136"/>
                <a:gridCol w="795527"/>
              </a:tblGrid>
              <a:tr h="329184">
                <a:tc>
                  <a:txBody>
                    <a:bodyPr wrap="square"/>
                    <a:lstStyle/>
                    <a:p>
                      <a:pPr algn="l"/>
                      <a:r>
                        <a:rPr sz="1100" b="1" i="0">
                          <a:solidFill>
                            <a:srgbClr val="FFFFFF"/>
                          </a:solidFill>
                          <a:latin typeface="Calibri"/>
                        </a:rPr>
                        <a:t>Block</a:t>
                      </a:r>
                    </a:p>
                  </a:txBody>
                  <a:tcPr marL="54864" marR="54864" marT="22860" marB="22860" anchor="ctr">
                    <a:solidFill>
                      <a:srgbClr val="4D5563"/>
                    </a:solidFill>
                  </a:tcPr>
                </a:tc>
                <a:tc>
                  <a:txBody>
                    <a:bodyPr wrap="square"/>
                    <a:lstStyle/>
                    <a:p>
                      <a:pPr algn="r"/>
                      <a:r>
                        <a:rPr sz="1100" b="1" i="0">
                          <a:solidFill>
                            <a:srgbClr val="FFFFFF"/>
                          </a:solidFill>
                          <a:latin typeface="Calibri"/>
                        </a:rPr>
                        <a:t>n</a:t>
                      </a:r>
                    </a:p>
                  </a:txBody>
                  <a:tcPr marL="54864" marR="54864" marT="22860" marB="22860" anchor="ctr">
                    <a:solidFill>
                      <a:srgbClr val="4D5563"/>
                    </a:solidFill>
                  </a:tcPr>
                </a:tc>
                <a:tc>
                  <a:txBody>
                    <a:bodyPr wrap="square"/>
                    <a:lstStyle/>
                    <a:p>
                      <a:pPr algn="r"/>
                      <a:r>
                        <a:rPr sz="1100" b="1" i="0">
                          <a:solidFill>
                            <a:srgbClr val="FFFFFF"/>
                          </a:solidFill>
                          <a:latin typeface="Calibri"/>
                        </a:rPr>
                        <a:t>mean %</a:t>
                      </a:r>
                    </a:p>
                  </a:txBody>
                  <a:tcPr marL="54864" marR="54864" marT="22860" marB="22860" anchor="ctr">
                    <a:solidFill>
                      <a:srgbClr val="4D5563"/>
                    </a:solidFill>
                  </a:tcPr>
                </a:tc>
                <a:tc>
                  <a:txBody>
                    <a:bodyPr wrap="square"/>
                    <a:lstStyle/>
                    <a:p>
                      <a:pPr algn="r"/>
                      <a:r>
                        <a:rPr sz="1100" b="1" i="0">
                          <a:solidFill>
                            <a:srgbClr val="FFFFFF"/>
                          </a:solidFill>
                          <a:latin typeface="Calibri"/>
                        </a:rPr>
                        <a:t>rms %</a:t>
                      </a:r>
                    </a:p>
                  </a:txBody>
                  <a:tcPr marL="54864" marR="54864" marT="22860" marB="22860" anchor="ctr">
                    <a:solidFill>
                      <a:srgbClr val="4D5563"/>
                    </a:solidFill>
                  </a:tcPr>
                </a:tc>
                <a:tc>
                  <a:txBody>
                    <a:bodyPr wrap="square"/>
                    <a:lstStyle/>
                    <a:p>
                      <a:pPr algn="r"/>
                      <a:r>
                        <a:rPr sz="1100" b="1" i="0">
                          <a:solidFill>
                            <a:srgbClr val="FFFFFF"/>
                          </a:solidFill>
                          <a:latin typeface="Calibri"/>
                        </a:rPr>
                        <a:t>worst %</a:t>
                      </a:r>
                    </a:p>
                  </a:txBody>
                  <a:tcPr marL="54864" marR="54864" marT="22860" marB="22860" anchor="ctr">
                    <a:solidFill>
                      <a:srgbClr val="4D5563"/>
                    </a:solidFill>
                  </a:tcPr>
                </a:tc>
              </a:tr>
              <a:tr h="329184">
                <a:tc>
                  <a:txBody>
                    <a:bodyPr wrap="square"/>
                    <a:lstStyle/>
                    <a:p>
                      <a:pPr algn="l"/>
                      <a:r>
                        <a:rPr sz="1100" b="0" i="0">
                          <a:solidFill>
                            <a:srgbClr val="14171C"/>
                          </a:solidFill>
                          <a:latin typeface="Calibri"/>
                        </a:rPr>
                        <a:t>2-DOF A</a:t>
                      </a:r>
                    </a:p>
                  </a:txBody>
                  <a:tcPr marL="54864" marR="54864" marT="22860" marB="22860" anchor="ctr">
                    <a:solidFill>
                      <a:srgbClr val="FFFFFF"/>
                    </a:solidFill>
                  </a:tcPr>
                </a:tc>
                <a:tc>
                  <a:txBody>
                    <a:bodyPr wrap="square"/>
                    <a:lstStyle/>
                    <a:p>
                      <a:pPr algn="r"/>
                      <a:r>
                        <a:rPr sz="1100" b="0" i="0">
                          <a:solidFill>
                            <a:srgbClr val="14171C"/>
                          </a:solidFill>
                          <a:latin typeface="Calibri"/>
                        </a:rPr>
                        <a:t>6</a:t>
                      </a:r>
                    </a:p>
                  </a:txBody>
                  <a:tcPr marL="54864" marR="54864" marT="22860" marB="22860" anchor="ctr">
                    <a:solidFill>
                      <a:srgbClr val="FFFFFF"/>
                    </a:solidFill>
                  </a:tcPr>
                </a:tc>
                <a:tc>
                  <a:txBody>
                    <a:bodyPr wrap="square"/>
                    <a:lstStyle/>
                    <a:p>
                      <a:pPr algn="r"/>
                      <a:r>
                        <a:rPr sz="1100" b="0" i="0">
                          <a:solidFill>
                            <a:srgbClr val="14171C"/>
                          </a:solidFill>
                          <a:latin typeface="Calibri"/>
                        </a:rPr>
                        <a:t>+0.58</a:t>
                      </a:r>
                    </a:p>
                  </a:txBody>
                  <a:tcPr marL="54864" marR="54864" marT="22860" marB="22860" anchor="ctr">
                    <a:solidFill>
                      <a:srgbClr val="FFFFFF"/>
                    </a:solidFill>
                  </a:tcPr>
                </a:tc>
                <a:tc>
                  <a:txBody>
                    <a:bodyPr wrap="square"/>
                    <a:lstStyle/>
                    <a:p>
                      <a:pPr algn="r"/>
                      <a:r>
                        <a:rPr sz="1100" b="0" i="0">
                          <a:solidFill>
                            <a:srgbClr val="14171C"/>
                          </a:solidFill>
                          <a:latin typeface="Calibri"/>
                        </a:rPr>
                        <a:t>3.88</a:t>
                      </a:r>
                    </a:p>
                  </a:txBody>
                  <a:tcPr marL="54864" marR="54864" marT="22860" marB="22860" anchor="ctr">
                    <a:solidFill>
                      <a:srgbClr val="FFFFFF"/>
                    </a:solidFill>
                  </a:tcPr>
                </a:tc>
                <a:tc>
                  <a:txBody>
                    <a:bodyPr wrap="square"/>
                    <a:lstStyle/>
                    <a:p>
                      <a:pPr algn="r"/>
                      <a:r>
                        <a:rPr sz="1100" b="0" i="0">
                          <a:solidFill>
                            <a:srgbClr val="14171C"/>
                          </a:solidFill>
                          <a:latin typeface="Calibri"/>
                        </a:rPr>
                        <a:t>−4.7</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2-DOF b</a:t>
                      </a:r>
                    </a:p>
                  </a:txBody>
                  <a:tcPr marL="54864" marR="54864" marT="22860" marB="22860" anchor="ctr">
                    <a:solidFill>
                      <a:srgbClr val="F2F3F5"/>
                    </a:solidFill>
                  </a:tcPr>
                </a:tc>
                <a:tc>
                  <a:txBody>
                    <a:bodyPr wrap="square"/>
                    <a:lstStyle/>
                    <a:p>
                      <a:pPr algn="r"/>
                      <a:r>
                        <a:rPr sz="1100" b="0" i="0">
                          <a:solidFill>
                            <a:srgbClr val="14171C"/>
                          </a:solidFill>
                          <a:latin typeface="Calibri"/>
                        </a:rPr>
                        <a:t>6</a:t>
                      </a:r>
                    </a:p>
                  </a:txBody>
                  <a:tcPr marL="54864" marR="54864" marT="22860" marB="22860" anchor="ctr">
                    <a:solidFill>
                      <a:srgbClr val="F2F3F5"/>
                    </a:solidFill>
                  </a:tcPr>
                </a:tc>
                <a:tc>
                  <a:txBody>
                    <a:bodyPr wrap="square"/>
                    <a:lstStyle/>
                    <a:p>
                      <a:pPr algn="r"/>
                      <a:r>
                        <a:rPr sz="1100" b="0" i="0">
                          <a:solidFill>
                            <a:srgbClr val="14171C"/>
                          </a:solidFill>
                          <a:latin typeface="Calibri"/>
                        </a:rPr>
                        <a:t>+0.24</a:t>
                      </a:r>
                    </a:p>
                  </a:txBody>
                  <a:tcPr marL="54864" marR="54864" marT="22860" marB="22860" anchor="ctr">
                    <a:solidFill>
                      <a:srgbClr val="F2F3F5"/>
                    </a:solidFill>
                  </a:tcPr>
                </a:tc>
                <a:tc>
                  <a:txBody>
                    <a:bodyPr wrap="square"/>
                    <a:lstStyle/>
                    <a:p>
                      <a:pPr algn="r"/>
                      <a:r>
                        <a:rPr sz="1100" b="0" i="0">
                          <a:solidFill>
                            <a:srgbClr val="14171C"/>
                          </a:solidFill>
                          <a:latin typeface="Calibri"/>
                        </a:rPr>
                        <a:t>2.02</a:t>
                      </a:r>
                    </a:p>
                  </a:txBody>
                  <a:tcPr marL="54864" marR="54864" marT="22860" marB="22860" anchor="ctr">
                    <a:solidFill>
                      <a:srgbClr val="F2F3F5"/>
                    </a:solidFill>
                  </a:tcPr>
                </a:tc>
                <a:tc>
                  <a:txBody>
                    <a:bodyPr wrap="square"/>
                    <a:lstStyle/>
                    <a:p>
                      <a:pPr algn="r"/>
                      <a:r>
                        <a:rPr sz="1100" b="0" i="0">
                          <a:solidFill>
                            <a:srgbClr val="14171C"/>
                          </a:solidFill>
                          <a:latin typeface="Calibri"/>
                        </a:rPr>
                        <a:t>−2.9</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3-DOF A</a:t>
                      </a:r>
                    </a:p>
                  </a:txBody>
                  <a:tcPr marL="54864" marR="54864" marT="22860" marB="22860" anchor="ctr">
                    <a:solidFill>
                      <a:srgbClr val="FFFFFF"/>
                    </a:solidFill>
                  </a:tcPr>
                </a:tc>
                <a:tc>
                  <a:txBody>
                    <a:bodyPr wrap="square"/>
                    <a:lstStyle/>
                    <a:p>
                      <a:pPr algn="r"/>
                      <a:r>
                        <a:rPr sz="1100" b="0" i="0">
                          <a:solidFill>
                            <a:srgbClr val="14171C"/>
                          </a:solidFill>
                          <a:latin typeface="Calibri"/>
                        </a:rPr>
                        <a:t>18</a:t>
                      </a:r>
                    </a:p>
                  </a:txBody>
                  <a:tcPr marL="54864" marR="54864" marT="22860" marB="22860" anchor="ctr">
                    <a:solidFill>
                      <a:srgbClr val="FFFFFF"/>
                    </a:solidFill>
                  </a:tcPr>
                </a:tc>
                <a:tc>
                  <a:txBody>
                    <a:bodyPr wrap="square"/>
                    <a:lstStyle/>
                    <a:p>
                      <a:pPr algn="r"/>
                      <a:r>
                        <a:rPr sz="1100" b="0" i="0">
                          <a:solidFill>
                            <a:srgbClr val="14171C"/>
                          </a:solidFill>
                          <a:latin typeface="Calibri"/>
                        </a:rPr>
                        <a:t>−2.67</a:t>
                      </a:r>
                    </a:p>
                  </a:txBody>
                  <a:tcPr marL="54864" marR="54864" marT="22860" marB="22860" anchor="ctr">
                    <a:solidFill>
                      <a:srgbClr val="FFFFFF"/>
                    </a:solidFill>
                  </a:tcPr>
                </a:tc>
                <a:tc>
                  <a:txBody>
                    <a:bodyPr wrap="square"/>
                    <a:lstStyle/>
                    <a:p>
                      <a:pPr algn="r"/>
                      <a:r>
                        <a:rPr sz="1100" b="0" i="0">
                          <a:solidFill>
                            <a:srgbClr val="14171C"/>
                          </a:solidFill>
                          <a:latin typeface="Calibri"/>
                        </a:rPr>
                        <a:t>9.45</a:t>
                      </a:r>
                    </a:p>
                  </a:txBody>
                  <a:tcPr marL="54864" marR="54864" marT="22860" marB="22860" anchor="ctr">
                    <a:solidFill>
                      <a:srgbClr val="FFFFFF"/>
                    </a:solidFill>
                  </a:tcPr>
                </a:tc>
                <a:tc>
                  <a:txBody>
                    <a:bodyPr wrap="square"/>
                    <a:lstStyle/>
                    <a:p>
                      <a:pPr algn="r"/>
                      <a:r>
                        <a:rPr sz="1100" b="0" i="0">
                          <a:solidFill>
                            <a:srgbClr val="14171C"/>
                          </a:solidFill>
                          <a:latin typeface="Calibri"/>
                        </a:rPr>
                        <a:t>−33.0</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3-DOF b</a:t>
                      </a:r>
                    </a:p>
                  </a:txBody>
                  <a:tcPr marL="54864" marR="54864" marT="22860" marB="22860" anchor="ctr">
                    <a:solidFill>
                      <a:srgbClr val="F2F3F5"/>
                    </a:solidFill>
                  </a:tcPr>
                </a:tc>
                <a:tc>
                  <a:txBody>
                    <a:bodyPr wrap="square"/>
                    <a:lstStyle/>
                    <a:p>
                      <a:pPr algn="r"/>
                      <a:r>
                        <a:rPr sz="1100" b="0" i="0">
                          <a:solidFill>
                            <a:srgbClr val="14171C"/>
                          </a:solidFill>
                          <a:latin typeface="Calibri"/>
                        </a:rPr>
                        <a:t>9</a:t>
                      </a:r>
                    </a:p>
                  </a:txBody>
                  <a:tcPr marL="54864" marR="54864" marT="22860" marB="22860" anchor="ctr">
                    <a:solidFill>
                      <a:srgbClr val="F2F3F5"/>
                    </a:solidFill>
                  </a:tcPr>
                </a:tc>
                <a:tc>
                  <a:txBody>
                    <a:bodyPr wrap="square"/>
                    <a:lstStyle/>
                    <a:p>
                      <a:pPr algn="r"/>
                      <a:r>
                        <a:rPr sz="1100" b="0" i="0">
                          <a:solidFill>
                            <a:srgbClr val="14171C"/>
                          </a:solidFill>
                          <a:latin typeface="Calibri"/>
                        </a:rPr>
                        <a:t>+2.73</a:t>
                      </a:r>
                    </a:p>
                  </a:txBody>
                  <a:tcPr marL="54864" marR="54864" marT="22860" marB="22860" anchor="ctr">
                    <a:solidFill>
                      <a:srgbClr val="F2F3F5"/>
                    </a:solidFill>
                  </a:tcPr>
                </a:tc>
                <a:tc>
                  <a:txBody>
                    <a:bodyPr wrap="square"/>
                    <a:lstStyle/>
                    <a:p>
                      <a:pPr algn="r"/>
                      <a:r>
                        <a:rPr sz="1100" b="0" i="0">
                          <a:solidFill>
                            <a:srgbClr val="14171C"/>
                          </a:solidFill>
                          <a:latin typeface="Calibri"/>
                        </a:rPr>
                        <a:t>11.77</a:t>
                      </a:r>
                    </a:p>
                  </a:txBody>
                  <a:tcPr marL="54864" marR="54864" marT="22860" marB="22860" anchor="ctr">
                    <a:solidFill>
                      <a:srgbClr val="F2F3F5"/>
                    </a:solidFill>
                  </a:tcPr>
                </a:tc>
                <a:tc>
                  <a:txBody>
                    <a:bodyPr wrap="square"/>
                    <a:lstStyle/>
                    <a:p>
                      <a:pPr algn="r"/>
                      <a:r>
                        <a:rPr sz="1100" b="0" i="0">
                          <a:solidFill>
                            <a:srgbClr val="14171C"/>
                          </a:solidFill>
                          <a:latin typeface="Calibri"/>
                        </a:rPr>
                        <a:t>+24.3</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5-DOF A</a:t>
                      </a:r>
                    </a:p>
                  </a:txBody>
                  <a:tcPr marL="54864" marR="54864" marT="22860" marB="22860" anchor="ctr">
                    <a:solidFill>
                      <a:srgbClr val="FFFFFF"/>
                    </a:solidFill>
                  </a:tcPr>
                </a:tc>
                <a:tc>
                  <a:txBody>
                    <a:bodyPr wrap="square"/>
                    <a:lstStyle/>
                    <a:p>
                      <a:pPr algn="r"/>
                      <a:r>
                        <a:rPr sz="1100" b="0" i="0">
                          <a:solidFill>
                            <a:srgbClr val="14171C"/>
                          </a:solidFill>
                          <a:latin typeface="Calibri"/>
                        </a:rPr>
                        <a:t>51</a:t>
                      </a:r>
                    </a:p>
                  </a:txBody>
                  <a:tcPr marL="54864" marR="54864" marT="22860" marB="22860" anchor="ctr">
                    <a:solidFill>
                      <a:srgbClr val="FFFFFF"/>
                    </a:solidFill>
                  </a:tcPr>
                </a:tc>
                <a:tc>
                  <a:txBody>
                    <a:bodyPr wrap="square"/>
                    <a:lstStyle/>
                    <a:p>
                      <a:pPr algn="r"/>
                      <a:r>
                        <a:rPr sz="1100" b="0" i="0">
                          <a:solidFill>
                            <a:srgbClr val="14171C"/>
                          </a:solidFill>
                          <a:latin typeface="Calibri"/>
                        </a:rPr>
                        <a:t>−0.10</a:t>
                      </a:r>
                    </a:p>
                  </a:txBody>
                  <a:tcPr marL="54864" marR="54864" marT="22860" marB="22860" anchor="ctr">
                    <a:solidFill>
                      <a:srgbClr val="FFFFFF"/>
                    </a:solidFill>
                  </a:tcPr>
                </a:tc>
                <a:tc>
                  <a:txBody>
                    <a:bodyPr wrap="square"/>
                    <a:lstStyle/>
                    <a:p>
                      <a:pPr algn="r"/>
                      <a:r>
                        <a:rPr sz="1100" b="0" i="0">
                          <a:solidFill>
                            <a:srgbClr val="14171C"/>
                          </a:solidFill>
                          <a:latin typeface="Calibri"/>
                        </a:rPr>
                        <a:t>5.05</a:t>
                      </a:r>
                    </a:p>
                  </a:txBody>
                  <a:tcPr marL="54864" marR="54864" marT="22860" marB="22860" anchor="ctr">
                    <a:solidFill>
                      <a:srgbClr val="FFFFFF"/>
                    </a:solidFill>
                  </a:tcPr>
                </a:tc>
                <a:tc>
                  <a:txBody>
                    <a:bodyPr wrap="square"/>
                    <a:lstStyle/>
                    <a:p>
                      <a:pPr algn="r"/>
                      <a:r>
                        <a:rPr sz="1100" b="0" i="0">
                          <a:solidFill>
                            <a:srgbClr val="14171C"/>
                          </a:solidFill>
                          <a:latin typeface="Calibri"/>
                        </a:rPr>
                        <a:t>+15.7</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5-DOF b</a:t>
                      </a:r>
                    </a:p>
                  </a:txBody>
                  <a:tcPr marL="54864" marR="54864" marT="22860" marB="22860" anchor="ctr">
                    <a:solidFill>
                      <a:srgbClr val="F2F3F5"/>
                    </a:solidFill>
                  </a:tcPr>
                </a:tc>
                <a:tc>
                  <a:txBody>
                    <a:bodyPr wrap="square"/>
                    <a:lstStyle/>
                    <a:p>
                      <a:pPr algn="r"/>
                      <a:r>
                        <a:rPr sz="1100" b="0" i="0">
                          <a:solidFill>
                            <a:srgbClr val="14171C"/>
                          </a:solidFill>
                          <a:latin typeface="Calibri"/>
                        </a:rPr>
                        <a:t>11</a:t>
                      </a:r>
                    </a:p>
                  </a:txBody>
                  <a:tcPr marL="54864" marR="54864" marT="22860" marB="22860" anchor="ctr">
                    <a:solidFill>
                      <a:srgbClr val="F2F3F5"/>
                    </a:solidFill>
                  </a:tcPr>
                </a:tc>
                <a:tc>
                  <a:txBody>
                    <a:bodyPr wrap="square"/>
                    <a:lstStyle/>
                    <a:p>
                      <a:pPr algn="r"/>
                      <a:r>
                        <a:rPr sz="1100" b="0" i="0">
                          <a:solidFill>
                            <a:srgbClr val="14171C"/>
                          </a:solidFill>
                          <a:latin typeface="Calibri"/>
                        </a:rPr>
                        <a:t>−0.02</a:t>
                      </a:r>
                    </a:p>
                  </a:txBody>
                  <a:tcPr marL="54864" marR="54864" marT="22860" marB="22860" anchor="ctr">
                    <a:solidFill>
                      <a:srgbClr val="F2F3F5"/>
                    </a:solidFill>
                  </a:tcPr>
                </a:tc>
                <a:tc>
                  <a:txBody>
                    <a:bodyPr wrap="square"/>
                    <a:lstStyle/>
                    <a:p>
                      <a:pPr algn="r"/>
                      <a:r>
                        <a:rPr sz="1100" b="0" i="0">
                          <a:solidFill>
                            <a:srgbClr val="14171C"/>
                          </a:solidFill>
                          <a:latin typeface="Calibri"/>
                        </a:rPr>
                        <a:t>0.08</a:t>
                      </a:r>
                    </a:p>
                  </a:txBody>
                  <a:tcPr marL="54864" marR="54864" marT="22860" marB="22860" anchor="ctr">
                    <a:solidFill>
                      <a:srgbClr val="F2F3F5"/>
                    </a:solidFill>
                  </a:tcPr>
                </a:tc>
                <a:tc>
                  <a:txBody>
                    <a:bodyPr wrap="square"/>
                    <a:lstStyle/>
                    <a:p>
                      <a:pPr algn="r"/>
                      <a:r>
                        <a:rPr sz="1100" b="0" i="0">
                          <a:solidFill>
                            <a:srgbClr val="14171C"/>
                          </a:solidFill>
                          <a:latin typeface="Calibri"/>
                        </a:rPr>
                        <a:t>−0.1</a:t>
                      </a:r>
                    </a:p>
                  </a:txBody>
                  <a:tcPr marL="54864" marR="54864" marT="22860" marB="22860" anchor="ctr">
                    <a:solidFill>
                      <a:srgbClr val="F2F3F5"/>
                    </a:solidFill>
                  </a:tcPr>
                </a:tc>
              </a:tr>
              <a:tr h="329184">
                <a:tc>
                  <a:txBody>
                    <a:bodyPr wrap="square"/>
                    <a:lstStyle/>
                    <a:p>
                      <a:pPr algn="l"/>
                      <a:r>
                        <a:rPr sz="1100" b="0" i="0">
                          <a:solidFill>
                            <a:srgbClr val="14171C"/>
                          </a:solidFill>
                          <a:latin typeface="Calibri"/>
                        </a:rPr>
                        <a:t>6-DOF A</a:t>
                      </a:r>
                    </a:p>
                  </a:txBody>
                  <a:tcPr marL="54864" marR="54864" marT="22860" marB="22860" anchor="ctr">
                    <a:solidFill>
                      <a:srgbClr val="FFFFFF"/>
                    </a:solidFill>
                  </a:tcPr>
                </a:tc>
                <a:tc>
                  <a:txBody>
                    <a:bodyPr wrap="square"/>
                    <a:lstStyle/>
                    <a:p>
                      <a:pPr algn="r"/>
                      <a:r>
                        <a:rPr sz="1100" b="0" i="0">
                          <a:solidFill>
                            <a:srgbClr val="14171C"/>
                          </a:solidFill>
                          <a:latin typeface="Calibri"/>
                        </a:rPr>
                        <a:t>71</a:t>
                      </a:r>
                    </a:p>
                  </a:txBody>
                  <a:tcPr marL="54864" marR="54864" marT="22860" marB="22860" anchor="ctr">
                    <a:solidFill>
                      <a:srgbClr val="FFFFFF"/>
                    </a:solidFill>
                  </a:tcPr>
                </a:tc>
                <a:tc>
                  <a:txBody>
                    <a:bodyPr wrap="square"/>
                    <a:lstStyle/>
                    <a:p>
                      <a:pPr algn="r"/>
                      <a:r>
                        <a:rPr sz="1100" b="0" i="0">
                          <a:solidFill>
                            <a:srgbClr val="14171C"/>
                          </a:solidFill>
                          <a:latin typeface="Calibri"/>
                        </a:rPr>
                        <a:t>−0.09</a:t>
                      </a:r>
                    </a:p>
                  </a:txBody>
                  <a:tcPr marL="54864" marR="54864" marT="22860" marB="22860" anchor="ctr">
                    <a:solidFill>
                      <a:srgbClr val="FFFFFF"/>
                    </a:solidFill>
                  </a:tcPr>
                </a:tc>
                <a:tc>
                  <a:txBody>
                    <a:bodyPr wrap="square"/>
                    <a:lstStyle/>
                    <a:p>
                      <a:pPr algn="r"/>
                      <a:r>
                        <a:rPr sz="1100" b="0" i="0">
                          <a:solidFill>
                            <a:srgbClr val="14171C"/>
                          </a:solidFill>
                          <a:latin typeface="Calibri"/>
                        </a:rPr>
                        <a:t>6.71</a:t>
                      </a:r>
                    </a:p>
                  </a:txBody>
                  <a:tcPr marL="54864" marR="54864" marT="22860" marB="22860" anchor="ctr">
                    <a:solidFill>
                      <a:srgbClr val="FFFFFF"/>
                    </a:solidFill>
                  </a:tcPr>
                </a:tc>
                <a:tc>
                  <a:txBody>
                    <a:bodyPr wrap="square"/>
                    <a:lstStyle/>
                    <a:p>
                      <a:pPr algn="r"/>
                      <a:r>
                        <a:rPr sz="1100" b="0" i="0">
                          <a:solidFill>
                            <a:srgbClr val="14171C"/>
                          </a:solidFill>
                          <a:latin typeface="Calibri"/>
                        </a:rPr>
                        <a:t>−33.7</a:t>
                      </a:r>
                    </a:p>
                  </a:txBody>
                  <a:tcPr marL="54864" marR="54864" marT="22860" marB="22860" anchor="ctr">
                    <a:solidFill>
                      <a:srgbClr val="FFFFFF"/>
                    </a:solidFill>
                  </a:tcPr>
                </a:tc>
              </a:tr>
              <a:tr h="329184">
                <a:tc>
                  <a:txBody>
                    <a:bodyPr wrap="square"/>
                    <a:lstStyle/>
                    <a:p>
                      <a:pPr algn="l"/>
                      <a:r>
                        <a:rPr sz="1100" b="0" i="0">
                          <a:solidFill>
                            <a:srgbClr val="14171C"/>
                          </a:solidFill>
                          <a:latin typeface="Calibri"/>
                        </a:rPr>
                        <a:t>6-DOF b</a:t>
                      </a:r>
                    </a:p>
                  </a:txBody>
                  <a:tcPr marL="54864" marR="54864" marT="22860" marB="22860" anchor="ctr">
                    <a:solidFill>
                      <a:srgbClr val="F2F3F5"/>
                    </a:solidFill>
                  </a:tcPr>
                </a:tc>
                <a:tc>
                  <a:txBody>
                    <a:bodyPr wrap="square"/>
                    <a:lstStyle/>
                    <a:p>
                      <a:pPr algn="r"/>
                      <a:r>
                        <a:rPr sz="1100" b="0" i="0">
                          <a:solidFill>
                            <a:srgbClr val="14171C"/>
                          </a:solidFill>
                          <a:latin typeface="Calibri"/>
                        </a:rPr>
                        <a:t>15</a:t>
                      </a:r>
                    </a:p>
                  </a:txBody>
                  <a:tcPr marL="54864" marR="54864" marT="22860" marB="22860" anchor="ctr">
                    <a:solidFill>
                      <a:srgbClr val="F2F3F5"/>
                    </a:solidFill>
                  </a:tcPr>
                </a:tc>
                <a:tc>
                  <a:txBody>
                    <a:bodyPr wrap="square"/>
                    <a:lstStyle/>
                    <a:p>
                      <a:pPr algn="r"/>
                      <a:r>
                        <a:rPr sz="1100" b="0" i="0">
                          <a:solidFill>
                            <a:srgbClr val="14171C"/>
                          </a:solidFill>
                          <a:latin typeface="Calibri"/>
                        </a:rPr>
                        <a:t>−5.44</a:t>
                      </a:r>
                    </a:p>
                  </a:txBody>
                  <a:tcPr marL="54864" marR="54864" marT="22860" marB="22860" anchor="ctr">
                    <a:solidFill>
                      <a:srgbClr val="F2F3F5"/>
                    </a:solidFill>
                  </a:tcPr>
                </a:tc>
                <a:tc>
                  <a:txBody>
                    <a:bodyPr wrap="square"/>
                    <a:lstStyle/>
                    <a:p>
                      <a:pPr algn="r"/>
                      <a:r>
                        <a:rPr sz="1100" b="0" i="0">
                          <a:solidFill>
                            <a:srgbClr val="14171C"/>
                          </a:solidFill>
                          <a:latin typeface="Calibri"/>
                        </a:rPr>
                        <a:t>5.48</a:t>
                      </a:r>
                    </a:p>
                  </a:txBody>
                  <a:tcPr marL="54864" marR="54864" marT="22860" marB="22860" anchor="ctr">
                    <a:solidFill>
                      <a:srgbClr val="F2F3F5"/>
                    </a:solidFill>
                  </a:tcPr>
                </a:tc>
                <a:tc>
                  <a:txBody>
                    <a:bodyPr wrap="square"/>
                    <a:lstStyle/>
                    <a:p>
                      <a:pPr algn="r"/>
                      <a:r>
                        <a:rPr sz="1100" b="0" i="0">
                          <a:solidFill>
                            <a:srgbClr val="14171C"/>
                          </a:solidFill>
                          <a:latin typeface="Calibri"/>
                        </a:rPr>
                        <a:t>−6.4</a:t>
                      </a:r>
                    </a:p>
                  </a:txBody>
                  <a:tcPr marL="54864" marR="54864" marT="22860" marB="22860" anchor="ctr">
                    <a:solidFill>
                      <a:srgbClr val="F2F3F5"/>
                    </a:solidFill>
                  </a:tcPr>
                </a:tc>
              </a:tr>
            </a:tbl>
          </a:graphicData>
        </a:graphic>
      </p:graphicFrame>
      <p:sp>
        <p:nvSpPr>
          <p:cNvPr id="10" name="TextBox 9"/>
          <p:cNvSpPr txBox="1"/>
          <p:nvPr/>
        </p:nvSpPr>
        <p:spPr>
          <a:xfrm>
            <a:off x="502920" y="4251960"/>
            <a:ext cx="7040880" cy="192024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No digitizing, no read error: the linearized model term by term against printed numbers, over eight decades.</a:t>
            </a:r>
          </a:p>
          <a:p>
            <a:pPr marL="201168" indent="-201168">
              <a:lnSpc>
                <a:spcPct val="105000"/>
              </a:lnSpc>
              <a:spcBef>
                <a:spcPts val="600"/>
              </a:spcBef>
              <a:buFont typeface="Arial"/>
              <a:buChar char="•"/>
            </a:pPr>
            <a:r>
              <a:rPr sz="1300" b="1" i="0">
                <a:solidFill>
                  <a:srgbClr val="14171C"/>
                </a:solidFill>
                <a:latin typeface="Calibri"/>
              </a:rPr>
              <a:t>187 elements tested:</a:t>
            </a:r>
            <a:r>
              <a:rPr sz="1300" b="0" i="0">
                <a:solidFill>
                  <a:srgbClr val="14171C"/>
                </a:solidFill>
                <a:latin typeface="Calibri"/>
              </a:rPr>
              <a:t> 79 within 2 %, 128 within 5 %, 9 beyond 10 % (next slide). 13 are supplied, not tested: the NP diagonal and the 5-DOF hover b(NP), which set the load.</a:t>
            </a:r>
          </a:p>
          <a:p>
            <a:pPr marL="201168" indent="-201168">
              <a:lnSpc>
                <a:spcPct val="105000"/>
              </a:lnSpc>
              <a:spcBef>
                <a:spcPts val="600"/>
              </a:spcBef>
              <a:buFont typeface="Arial"/>
              <a:buChar char="•"/>
            </a:pPr>
            <a:r>
              <a:rPr sz="1300" b="0" i="0">
                <a:solidFill>
                  <a:srgbClr val="14171C"/>
                </a:solidFill>
                <a:latin typeface="Calibri"/>
              </a:rPr>
              <a:t>5-DOF fuel column: 0.08 % rms. With the heat sink (6-DOF) the same column runs uniformly low, −5.4 %. Appendix B was generated with a different heat-sink constant (Part 6): with its time constants, the NG, NP, P41 and P45 rows land within 0.2 %, and b(T41) moves to +5.5 to +6.6 %.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The largest Appendix B misses, and their causes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Appendix B, pdf pp.68–76; Table A.1 (TC_T41), pdf p.55; Eqs. 51–53, pdf p.26</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57</a:t>
            </a:r>
          </a:p>
        </p:txBody>
      </p:sp>
      <p:sp>
        <p:nvSpPr>
          <p:cNvPr id="8" name="TextBox 7"/>
          <p:cNvSpPr txBox="1"/>
          <p:nvPr/>
        </p:nvSpPr>
        <p:spPr>
          <a:xfrm>
            <a:off x="502920" y="1307592"/>
            <a:ext cx="11185855" cy="411480"/>
          </a:xfrm>
          <a:prstGeom prst="rect">
            <a:avLst/>
          </a:prstGeom>
          <a:noFill/>
        </p:spPr>
        <p:txBody>
          <a:bodyPr wrap="square" anchor="t" lIns="36576" rIns="36576" tIns="27432" bIns="27432">
            <a:noAutofit/>
          </a:bodyPr>
          <a:lstStyle/>
          <a:p>
            <a:pPr>
              <a:lnSpc>
                <a:spcPct val="105000"/>
              </a:lnSpc>
              <a:spcBef>
                <a:spcPts val="0"/>
              </a:spcBef>
            </a:pPr>
            <a:r>
              <a:rPr sz="1500" b="0" i="0">
                <a:solidFill>
                  <a:srgbClr val="14171C"/>
                </a:solidFill>
                <a:latin typeface="Calibri"/>
              </a:rPr>
              <a:t>Of 187 tested elements, 9 miss by more than 10 %, for three reasons. None of them involves the load.</a:t>
            </a:r>
          </a:p>
        </p:txBody>
      </p:sp>
      <p:graphicFrame>
        <p:nvGraphicFramePr>
          <p:cNvPr id="9" name="Table 8"/>
          <p:cNvGraphicFramePr>
            <a:graphicFrameLocks noGrp="1"/>
          </p:cNvGraphicFramePr>
          <p:nvPr/>
        </p:nvGraphicFramePr>
        <p:xfrm>
          <a:off x="502920" y="1783080"/>
          <a:ext cx="11185854" cy="2935224"/>
        </p:xfrm>
        <a:graphic>
          <a:graphicData uri="http://schemas.openxmlformats.org/drawingml/2006/table">
            <a:tbl>
              <a:tblPr firstRow="1">
                <a:tableStyleId>{5C22544A-7EE6-4342-B048-85BDC9FD1C3A}</a:tableStyleId>
              </a:tblPr>
              <a:tblGrid>
                <a:gridCol w="2750620"/>
                <a:gridCol w="825186"/>
                <a:gridCol w="4309304"/>
                <a:gridCol w="3300744"/>
              </a:tblGrid>
              <a:tr h="329184">
                <a:tc>
                  <a:txBody>
                    <a:bodyPr wrap="square"/>
                    <a:lstStyle/>
                    <a:p>
                      <a:pPr algn="l"/>
                      <a:r>
                        <a:rPr sz="1200" b="1" i="0">
                          <a:solidFill>
                            <a:srgbClr val="FFFFFF"/>
                          </a:solidFill>
                          <a:latin typeface="Calibri"/>
                        </a:rPr>
                        <a:t>Elements</a:t>
                      </a:r>
                    </a:p>
                  </a:txBody>
                  <a:tcPr marL="54864" marR="54864" marT="22860" marB="22860" anchor="ctr">
                    <a:solidFill>
                      <a:srgbClr val="4D5563"/>
                    </a:solidFill>
                  </a:tcPr>
                </a:tc>
                <a:tc>
                  <a:txBody>
                    <a:bodyPr wrap="square"/>
                    <a:lstStyle/>
                    <a:p>
                      <a:pPr algn="r"/>
                      <a:r>
                        <a:rPr sz="1200" b="1" i="0">
                          <a:solidFill>
                            <a:srgbClr val="FFFFFF"/>
                          </a:solidFill>
                          <a:latin typeface="Calibri"/>
                        </a:rPr>
                        <a:t>Miss</a:t>
                      </a:r>
                    </a:p>
                  </a:txBody>
                  <a:tcPr marL="54864" marR="54864" marT="22860" marB="22860" anchor="ctr">
                    <a:solidFill>
                      <a:srgbClr val="4D5563"/>
                    </a:solidFill>
                  </a:tcPr>
                </a:tc>
                <a:tc>
                  <a:txBody>
                    <a:bodyPr wrap="square"/>
                    <a:lstStyle/>
                    <a:p>
                      <a:pPr algn="l"/>
                      <a:r>
                        <a:rPr sz="1200" b="1" i="0">
                          <a:solidFill>
                            <a:srgbClr val="FFFFFF"/>
                          </a:solidFill>
                          <a:latin typeface="Calibri"/>
                        </a:rPr>
                        <a:t>Cause</a:t>
                      </a:r>
                    </a:p>
                  </a:txBody>
                  <a:tcPr marL="54864" marR="54864" marT="22860" marB="22860" anchor="ctr">
                    <a:solidFill>
                      <a:srgbClr val="4D5563"/>
                    </a:solidFill>
                  </a:tcPr>
                </a:tc>
                <a:tc>
                  <a:txBody>
                    <a:bodyPr wrap="square"/>
                    <a:lstStyle/>
                    <a:p>
                      <a:pPr algn="l"/>
                      <a:r>
                        <a:rPr sz="1200" b="1" i="0">
                          <a:solidFill>
                            <a:srgbClr val="FFFFFF"/>
                          </a:solidFill>
                          <a:latin typeface="Calibri"/>
                        </a:rPr>
                        <a:t>Check</a:t>
                      </a:r>
                    </a:p>
                  </a:txBody>
                  <a:tcPr marL="54864" marR="54864" marT="22860" marB="22860" anchor="ctr">
                    <a:solidFill>
                      <a:srgbClr val="4D5563"/>
                    </a:solidFill>
                  </a:tcPr>
                </a:tc>
              </a:tr>
              <a:tr h="868680">
                <a:tc>
                  <a:txBody>
                    <a:bodyPr wrap="square"/>
                    <a:lstStyle/>
                    <a:p>
                      <a:pPr algn="l"/>
                      <a:r>
                        <a:rPr sz="1200" b="0" i="0">
                          <a:solidFill>
                            <a:srgbClr val="14171C"/>
                          </a:solidFill>
                          <a:latin typeface="Calibri"/>
                        </a:rPr>
                        <a:t>3-DOF T41 row: b(T41) at all three trims, A(T41,NG) at level and descent (5)</a:t>
                      </a:r>
                    </a:p>
                  </a:txBody>
                  <a:tcPr marL="54864" marR="54864" marT="22860" marB="22860" anchor="ctr">
                    <a:solidFill>
                      <a:srgbClr val="FFFFFF"/>
                    </a:solidFill>
                  </a:tcPr>
                </a:tc>
                <a:tc>
                  <a:txBody>
                    <a:bodyPr wrap="square"/>
                    <a:lstStyle/>
                    <a:p>
                      <a:pPr algn="r"/>
                      <a:r>
                        <a:rPr sz="1200" b="0" i="0">
                          <a:solidFill>
                            <a:srgbClr val="14171C"/>
                          </a:solidFill>
                          <a:latin typeface="Calibri"/>
                        </a:rPr>
                        <a:t>14–33 %</a:t>
                      </a:r>
                    </a:p>
                  </a:txBody>
                  <a:tcPr marL="54864" marR="54864" marT="22860" marB="22860" anchor="ctr">
                    <a:solidFill>
                      <a:srgbClr val="FFFFFF"/>
                    </a:solidFill>
                  </a:tcPr>
                </a:tc>
                <a:tc>
                  <a:txBody>
                    <a:bodyPr wrap="square"/>
                    <a:lstStyle/>
                    <a:p>
                      <a:pPr algn="l"/>
                      <a:r>
                        <a:rPr sz="1200" b="0" i="0">
                          <a:solidFill>
                            <a:srgbClr val="14171C"/>
                          </a:solidFill>
                          <a:latin typeface="Calibri"/>
                        </a:rPr>
                        <a:t>Appendix B was generated with heat-sink constant TC</a:t>
                      </a:r>
                      <a:r>
                        <a:rPr sz="1200" b="0" i="0" baseline="-25000">
                          <a:solidFill>
                            <a:srgbClr val="14171C"/>
                          </a:solidFill>
                          <a:latin typeface="Calibri"/>
                        </a:rPr>
                        <a:t>T41</a:t>
                      </a:r>
                      <a:r>
                        <a:rPr sz="1200" b="0" i="0">
                          <a:solidFill>
                            <a:srgbClr val="14171C"/>
                          </a:solidFill>
                          <a:latin typeface="Calibri"/>
                        </a:rPr>
                        <a:t> ≈ 0.32; the report prints 0.29, and its transients fit 0.29 (Part 6)</a:t>
                      </a:r>
                    </a:p>
                  </a:txBody>
                  <a:tcPr marL="54864" marR="54864" marT="22860" marB="22860" anchor="ctr">
                    <a:solidFill>
                      <a:srgbClr val="FFFFFF"/>
                    </a:solidFill>
                  </a:tcPr>
                </a:tc>
                <a:tc>
                  <a:txBody>
                    <a:bodyPr wrap="square"/>
                    <a:lstStyle/>
                    <a:p>
                      <a:pPr algn="l"/>
                      <a:r>
                        <a:rPr sz="1200" b="0" i="0">
                          <a:solidFill>
                            <a:srgbClr val="14171C"/>
                          </a:solidFill>
                          <a:latin typeface="Calibri"/>
                        </a:rPr>
                        <a:t>With Appendix B's own time constants: b(T41) 2–6 %, A(T41,NG) 5 and 7 %</a:t>
                      </a:r>
                    </a:p>
                  </a:txBody>
                  <a:tcPr marL="54864" marR="54864" marT="22860" marB="22860" anchor="ctr">
                    <a:solidFill>
                      <a:srgbClr val="FFFFFF"/>
                    </a:solidFill>
                  </a:tcPr>
                </a:tc>
              </a:tr>
              <a:tr h="868680">
                <a:tc>
                  <a:txBody>
                    <a:bodyPr wrap="square"/>
                    <a:lstStyle/>
                    <a:p>
                      <a:pPr algn="l"/>
                      <a:r>
                        <a:rPr sz="1200" b="0" i="0">
                          <a:solidFill>
                            <a:srgbClr val="14171C"/>
                          </a:solidFill>
                          <a:latin typeface="Calibri"/>
                        </a:rPr>
                        <a:t>6-DOF A(P45,P3), level and descent (2)</a:t>
                      </a:r>
                    </a:p>
                  </a:txBody>
                  <a:tcPr marL="54864" marR="54864" marT="22860" marB="22860" anchor="ctr">
                    <a:solidFill>
                      <a:srgbClr val="F2F3F5"/>
                    </a:solidFill>
                  </a:tcPr>
                </a:tc>
                <a:tc>
                  <a:txBody>
                    <a:bodyPr wrap="square"/>
                    <a:lstStyle/>
                    <a:p>
                      <a:pPr algn="r"/>
                      <a:r>
                        <a:rPr sz="1200" b="0" i="0">
                          <a:solidFill>
                            <a:srgbClr val="14171C"/>
                          </a:solidFill>
                          <a:latin typeface="Calibri"/>
                        </a:rPr>
                        <a:t>29–34 %</a:t>
                      </a:r>
                    </a:p>
                  </a:txBody>
                  <a:tcPr marL="54864" marR="54864" marT="22860" marB="22860" anchor="ctr">
                    <a:solidFill>
                      <a:srgbClr val="F2F3F5"/>
                    </a:solidFill>
                  </a:tcPr>
                </a:tc>
                <a:tc>
                  <a:txBody>
                    <a:bodyPr wrap="square"/>
                    <a:lstStyle/>
                    <a:p>
                      <a:pPr algn="l"/>
                      <a:r>
                        <a:rPr sz="1200" b="0" i="0">
                          <a:solidFill>
                            <a:srgbClr val="14171C"/>
                          </a:solidFill>
                          <a:latin typeface="Calibri"/>
                        </a:rPr>
                        <a:t>A small remainder of cancelling terms: B10 and B12 print −4.315 and −7.397, where the 5-DOF prints −255.1 and −261.9</a:t>
                      </a:r>
                    </a:p>
                  </a:txBody>
                  <a:tcPr marL="54864" marR="54864" marT="22860" marB="22860" anchor="ctr">
                    <a:solidFill>
                      <a:srgbClr val="F2F3F5"/>
                    </a:solidFill>
                  </a:tcPr>
                </a:tc>
                <a:tc>
                  <a:txBody>
                    <a:bodyPr wrap="square"/>
                    <a:lstStyle/>
                    <a:p>
                      <a:pPr algn="l"/>
                      <a:r>
                        <a:rPr sz="1200" b="0" i="0">
                          <a:solidFill>
                            <a:srgbClr val="14171C"/>
                          </a:solidFill>
                          <a:latin typeface="Calibri"/>
                        </a:rPr>
                        <a:t>Ours collapses the same way: −3.1 and −9.9</a:t>
                      </a:r>
                    </a:p>
                  </a:txBody>
                  <a:tcPr marL="54864" marR="54864" marT="22860" marB="22860" anchor="ctr">
                    <a:solidFill>
                      <a:srgbClr val="F2F3F5"/>
                    </a:solidFill>
                  </a:tcPr>
                </a:tc>
              </a:tr>
              <a:tr h="868680">
                <a:tc>
                  <a:txBody>
                    <a:bodyPr wrap="square"/>
                    <a:lstStyle/>
                    <a:p>
                      <a:pPr algn="l"/>
                      <a:r>
                        <a:rPr sz="1200" b="0" i="0">
                          <a:solidFill>
                            <a:srgbClr val="14171C"/>
                          </a:solidFill>
                          <a:latin typeface="Calibri"/>
                        </a:rPr>
                        <a:t>A(NP,NG) at hover, one value printed in B2 and B8 (2)</a:t>
                      </a:r>
                    </a:p>
                  </a:txBody>
                  <a:tcPr marL="54864" marR="54864" marT="22860" marB="22860" anchor="ctr">
                    <a:solidFill>
                      <a:srgbClr val="FFFFFF"/>
                    </a:solidFill>
                  </a:tcPr>
                </a:tc>
                <a:tc>
                  <a:txBody>
                    <a:bodyPr wrap="square"/>
                    <a:lstStyle/>
                    <a:p>
                      <a:pPr algn="r"/>
                      <a:r>
                        <a:rPr sz="1200" b="0" i="0">
                          <a:solidFill>
                            <a:srgbClr val="14171C"/>
                          </a:solidFill>
                          <a:latin typeface="Calibri"/>
                        </a:rPr>
                        <a:t>16 %</a:t>
                      </a:r>
                    </a:p>
                  </a:txBody>
                  <a:tcPr marL="54864" marR="54864" marT="22860" marB="22860" anchor="ctr">
                    <a:solidFill>
                      <a:srgbClr val="FFFFFF"/>
                    </a:solidFill>
                  </a:tcPr>
                </a:tc>
                <a:tc>
                  <a:txBody>
                    <a:bodyPr wrap="square"/>
                    <a:lstStyle/>
                    <a:p>
                      <a:pPr algn="l"/>
                      <a:r>
                        <a:rPr sz="1200" b="0" i="0">
                          <a:solidFill>
                            <a:srgbClr val="14171C"/>
                          </a:solidFill>
                          <a:latin typeface="Calibri"/>
                        </a:rPr>
                        <a:t>A tiny element that changes sign across the trims (−0.02444, 0.01283, 0.03555): a small miss is a large percentage</a:t>
                      </a:r>
                    </a:p>
                  </a:txBody>
                  <a:tcPr marL="54864" marR="54864" marT="22860" marB="22860" anchor="ctr">
                    <a:solidFill>
                      <a:srgbClr val="FFFFFF"/>
                    </a:solidFill>
                  </a:tcPr>
                </a:tc>
                <a:tc>
                  <a:txBody>
                    <a:bodyPr wrap="square"/>
                    <a:lstStyle/>
                    <a:p>
                      <a:pPr algn="l"/>
                      <a:r>
                        <a:rPr sz="1200" b="0" i="0">
                          <a:solidFill>
                            <a:srgbClr val="14171C"/>
                          </a:solidFill>
                          <a:latin typeface="Calibri"/>
                        </a:rPr>
                        <a:t>The miss is 0.004 /s, in a row whose pressure terms are tens to hundreds</a:t>
                      </a:r>
                    </a:p>
                  </a:txBody>
                  <a:tcPr marL="54864" marR="54864" marT="22860" marB="22860" anchor="ctr">
                    <a:solidFill>
                      <a:srgbClr val="FFFFFF"/>
                    </a:solidFill>
                  </a:tcPr>
                </a:tc>
              </a:tr>
            </a:tbl>
          </a:graphicData>
        </a:graphic>
      </p:graphicFrame>
      <p:sp>
        <p:nvSpPr>
          <p:cNvPr id="10" name="TextBox 9"/>
          <p:cNvSpPr txBox="1"/>
          <p:nvPr/>
        </p:nvSpPr>
        <p:spPr>
          <a:xfrm>
            <a:off x="502920" y="4937760"/>
            <a:ext cx="11185855" cy="109728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300" b="0" i="0">
                <a:solidFill>
                  <a:srgbClr val="14171C"/>
                </a:solidFill>
                <a:latin typeface="Calibri"/>
              </a:rPr>
              <a:t>The load enters only the NP row, and the one NP-row element here, A(NP,NG), is an engine torque derivative: the load does not depend on NG.</a:t>
            </a:r>
          </a:p>
          <a:p>
            <a:pPr marL="201168" indent="-201168">
              <a:lnSpc>
                <a:spcPct val="105000"/>
              </a:lnSpc>
              <a:spcBef>
                <a:spcPts val="600"/>
              </a:spcBef>
              <a:buFont typeface="Arial"/>
              <a:buChar char="•"/>
            </a:pPr>
            <a:r>
              <a:rPr sz="1300" b="0" i="0">
                <a:solidFill>
                  <a:srgbClr val="14171C"/>
                </a:solidFill>
                <a:latin typeface="Calibri"/>
              </a:rPr>
              <a:t>Supplied, not tested: the 13 elements that set the load (slide 33).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Why slopes agree less well than levels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Method pdf p.28; decision log #43, #56, #60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58</a:t>
            </a:r>
          </a:p>
        </p:txBody>
      </p:sp>
      <p:sp>
        <p:nvSpPr>
          <p:cNvPr id="8" name="TextBox 7"/>
          <p:cNvSpPr txBox="1"/>
          <p:nvPr/>
        </p:nvSpPr>
        <p:spPr>
          <a:xfrm>
            <a:off x="502920" y="1325880"/>
            <a:ext cx="548640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400" b="1" i="0">
                <a:solidFill>
                  <a:srgbClr val="14171C"/>
                </a:solidFill>
                <a:latin typeface="Calibri"/>
              </a:rPr>
              <a:t>Levels:</a:t>
            </a:r>
            <a:r>
              <a:rPr sz="1400" b="0" i="0">
                <a:solidFill>
                  <a:srgbClr val="14171C"/>
                </a:solidFill>
                <a:latin typeface="Calibri"/>
              </a:rPr>
              <a:t> the trims match Table B.1 to 0.22 % rms. </a:t>
            </a:r>
            <a:r>
              <a:rPr sz="1400" b="1" i="0">
                <a:solidFill>
                  <a:srgbClr val="14171C"/>
                </a:solidFill>
                <a:latin typeface="Calibri"/>
              </a:rPr>
              <a:t>Slopes:</a:t>
            </a:r>
            <a:r>
              <a:rPr sz="1400" b="0" i="0">
                <a:solidFill>
                  <a:srgbClr val="14171C"/>
                </a:solidFill>
                <a:latin typeface="Calibri"/>
              </a:rPr>
              <a:t> Table 1 to 2.37 % rms, Appendix B's elements to 6.5 %.</a:t>
            </a:r>
          </a:p>
          <a:p>
            <a:pPr marL="201168" indent="-201168">
              <a:lnSpc>
                <a:spcPct val="105000"/>
              </a:lnSpc>
              <a:spcBef>
                <a:spcPts val="900"/>
              </a:spcBef>
              <a:buFont typeface="Arial"/>
              <a:buChar char="•"/>
            </a:pPr>
            <a:r>
              <a:rPr sz="1400" b="0" i="0">
                <a:solidFill>
                  <a:srgbClr val="14171C"/>
                </a:solidFill>
                <a:latin typeface="Calibri"/>
              </a:rPr>
              <a:t>A linear model is a table of map slopes. Every map is read to about a tenth of a percent of its span, but a slope differences two readings close together, and it jumps at each breakpoint of a piecewise-linear table.</a:t>
            </a:r>
          </a:p>
          <a:p>
            <a:pPr marL="201168" indent="-201168">
              <a:lnSpc>
                <a:spcPct val="105000"/>
              </a:lnSpc>
              <a:spcBef>
                <a:spcPts val="900"/>
              </a:spcBef>
              <a:buFont typeface="Arial"/>
              <a:buChar char="•"/>
            </a:pPr>
            <a:r>
              <a:rPr sz="1400" b="1" i="0">
                <a:solidFill>
                  <a:srgbClr val="14171C"/>
                </a:solidFill>
                <a:latin typeface="Calibri"/>
              </a:rPr>
              <a:t>The step matters most.</a:t>
            </a:r>
            <a:r>
              <a:rPr sz="1400" b="0" i="0">
                <a:solidFill>
                  <a:srgbClr val="14171C"/>
                </a:solidFill>
                <a:latin typeface="Calibri"/>
              </a:rPr>
              <a:t> Ballin's ±2 % is an amplitude: it averages across the tables' kinks. Using it as he did is what brings Table 1 to 2.4 %.</a:t>
            </a:r>
          </a:p>
          <a:p>
            <a:pPr marL="201168" indent="-201168">
              <a:lnSpc>
                <a:spcPct val="105000"/>
              </a:lnSpc>
              <a:spcBef>
                <a:spcPts val="900"/>
              </a:spcBef>
              <a:buFont typeface="Arial"/>
              <a:buChar char="•"/>
            </a:pPr>
            <a:r>
              <a:rPr sz="1400" b="1" i="0">
                <a:solidFill>
                  <a:srgbClr val="14171C"/>
                </a:solidFill>
                <a:latin typeface="Calibri"/>
              </a:rPr>
              <a:t>Which compressor table is used barely matters</a:t>
            </a:r>
            <a:r>
              <a:rPr sz="1400" b="0" i="0">
                <a:solidFill>
                  <a:srgbClr val="14171C"/>
                </a:solidFill>
                <a:latin typeface="Calibri"/>
              </a:rPr>
              <a:t> for Table 1: our traced lines and Ballin's seven-point table agree to a tenth of a point.</a:t>
            </a:r>
          </a:p>
        </p:txBody>
      </p:sp>
      <p:graphicFrame>
        <p:nvGraphicFramePr>
          <p:cNvPr id="9" name="Table 8"/>
          <p:cNvGraphicFramePr>
            <a:graphicFrameLocks noGrp="1"/>
          </p:cNvGraphicFramePr>
          <p:nvPr/>
        </p:nvGraphicFramePr>
        <p:xfrm>
          <a:off x="6263640" y="1325880"/>
          <a:ext cx="5425134" cy="2596896"/>
        </p:xfrm>
        <a:graphic>
          <a:graphicData uri="http://schemas.openxmlformats.org/drawingml/2006/table">
            <a:tbl>
              <a:tblPr firstRow="1">
                <a:tableStyleId>{5C22544A-7EE6-4342-B048-85BDC9FD1C3A}</a:tableStyleId>
              </a:tblPr>
              <a:tblGrid>
                <a:gridCol w="3616756"/>
                <a:gridCol w="904189"/>
                <a:gridCol w="904189"/>
              </a:tblGrid>
              <a:tr h="329184">
                <a:tc>
                  <a:txBody>
                    <a:bodyPr wrap="square"/>
                    <a:lstStyle/>
                    <a:p>
                      <a:pPr algn="l"/>
                      <a:r>
                        <a:rPr sz="1200" b="1" i="0">
                          <a:solidFill>
                            <a:srgbClr val="FFFFFF"/>
                          </a:solidFill>
                          <a:latin typeface="Calibri"/>
                        </a:rPr>
                        <a:t>How the slopes are taken</a:t>
                      </a:r>
                    </a:p>
                  </a:txBody>
                  <a:tcPr marL="54864" marR="54864" marT="22860" marB="22860" anchor="ctr">
                    <a:solidFill>
                      <a:srgbClr val="4D5563"/>
                    </a:solidFill>
                  </a:tcPr>
                </a:tc>
                <a:tc>
                  <a:txBody>
                    <a:bodyPr wrap="square"/>
                    <a:lstStyle/>
                    <a:p>
                      <a:pPr algn="r"/>
                      <a:r>
                        <a:rPr sz="1200" b="1" i="0">
                          <a:solidFill>
                            <a:srgbClr val="FFFFFF"/>
                          </a:solidFill>
                          <a:latin typeface="Calibri"/>
                        </a:rPr>
                        <a:t>rms</a:t>
                      </a:r>
                    </a:p>
                  </a:txBody>
                  <a:tcPr marL="54864" marR="54864" marT="22860" marB="22860" anchor="ctr">
                    <a:solidFill>
                      <a:srgbClr val="4D5563"/>
                    </a:solidFill>
                  </a:tcPr>
                </a:tc>
                <a:tc>
                  <a:txBody>
                    <a:bodyPr wrap="square"/>
                    <a:lstStyle/>
                    <a:p>
                      <a:pPr algn="r"/>
                      <a:r>
                        <a:rPr sz="1200" b="1" i="0">
                          <a:solidFill>
                            <a:srgbClr val="FFFFFF"/>
                          </a:solidFill>
                          <a:latin typeface="Calibri"/>
                        </a:rPr>
                        <a:t>worst</a:t>
                      </a:r>
                    </a:p>
                  </a:txBody>
                  <a:tcPr marL="54864" marR="54864" marT="22860" marB="22860" anchor="ctr">
                    <a:solidFill>
                      <a:srgbClr val="4D5563"/>
                    </a:solidFill>
                  </a:tcPr>
                </a:tc>
              </a:tr>
              <a:tr h="566928">
                <a:tc>
                  <a:txBody>
                    <a:bodyPr wrap="square"/>
                    <a:lstStyle/>
                    <a:p>
                      <a:pPr algn="l"/>
                      <a:r>
                        <a:rPr sz="1200" b="0" i="0">
                          <a:solidFill>
                            <a:srgbClr val="14171C"/>
                          </a:solidFill>
                          <a:latin typeface="Calibri"/>
                        </a:rPr>
                        <a:t>Ballin's ±2 % step, our traced compressor lines (as built)</a:t>
                      </a:r>
                    </a:p>
                  </a:txBody>
                  <a:tcPr marL="54864" marR="54864" marT="22860" marB="22860" anchor="ctr">
                    <a:solidFill>
                      <a:srgbClr val="FFFFFF"/>
                    </a:solidFill>
                  </a:tcPr>
                </a:tc>
                <a:tc>
                  <a:txBody>
                    <a:bodyPr wrap="square"/>
                    <a:lstStyle/>
                    <a:p>
                      <a:pPr algn="r"/>
                      <a:r>
                        <a:rPr sz="1200" b="0" i="0">
                          <a:solidFill>
                            <a:srgbClr val="14171C"/>
                          </a:solidFill>
                          <a:latin typeface="Calibri"/>
                        </a:rPr>
                        <a:t>2.37 %</a:t>
                      </a:r>
                    </a:p>
                  </a:txBody>
                  <a:tcPr marL="54864" marR="54864" marT="22860" marB="22860" anchor="ctr">
                    <a:solidFill>
                      <a:srgbClr val="FFFFFF"/>
                    </a:solidFill>
                  </a:tcPr>
                </a:tc>
                <a:tc>
                  <a:txBody>
                    <a:bodyPr wrap="square"/>
                    <a:lstStyle/>
                    <a:p>
                      <a:pPr algn="r"/>
                      <a:r>
                        <a:rPr sz="1200" b="0" i="0">
                          <a:solidFill>
                            <a:srgbClr val="14171C"/>
                          </a:solidFill>
                          <a:latin typeface="Calibri"/>
                        </a:rPr>
                        <a:t>4.7 %</a:t>
                      </a:r>
                    </a:p>
                  </a:txBody>
                  <a:tcPr marL="54864" marR="54864" marT="22860" marB="22860" anchor="ctr">
                    <a:solidFill>
                      <a:srgbClr val="FFFFFF"/>
                    </a:solidFill>
                  </a:tcPr>
                </a:tc>
              </a:tr>
              <a:tr h="566928">
                <a:tc>
                  <a:txBody>
                    <a:bodyPr wrap="square"/>
                    <a:lstStyle/>
                    <a:p>
                      <a:pPr algn="l"/>
                      <a:r>
                        <a:rPr sz="1200" b="0" i="0">
                          <a:solidFill>
                            <a:srgbClr val="14171C"/>
                          </a:solidFill>
                          <a:latin typeface="Calibri"/>
                        </a:rPr>
                        <a:t>The same, with Ballin's seven-point compressor table</a:t>
                      </a:r>
                    </a:p>
                  </a:txBody>
                  <a:tcPr marL="54864" marR="54864" marT="22860" marB="22860" anchor="ctr">
                    <a:solidFill>
                      <a:srgbClr val="F2F3F5"/>
                    </a:solidFill>
                  </a:tcPr>
                </a:tc>
                <a:tc>
                  <a:txBody>
                    <a:bodyPr wrap="square"/>
                    <a:lstStyle/>
                    <a:p>
                      <a:pPr algn="r"/>
                      <a:r>
                        <a:rPr sz="1200" b="0" i="0">
                          <a:solidFill>
                            <a:srgbClr val="14171C"/>
                          </a:solidFill>
                          <a:latin typeface="Calibri"/>
                        </a:rPr>
                        <a:t>2.34 %</a:t>
                      </a:r>
                    </a:p>
                  </a:txBody>
                  <a:tcPr marL="54864" marR="54864" marT="22860" marB="22860" anchor="ctr">
                    <a:solidFill>
                      <a:srgbClr val="F2F3F5"/>
                    </a:solidFill>
                  </a:tcPr>
                </a:tc>
                <a:tc>
                  <a:txBody>
                    <a:bodyPr wrap="square"/>
                    <a:lstStyle/>
                    <a:p>
                      <a:pPr algn="r"/>
                      <a:r>
                        <a:rPr sz="1200" b="0" i="0">
                          <a:solidFill>
                            <a:srgbClr val="14171C"/>
                          </a:solidFill>
                          <a:latin typeface="Calibri"/>
                        </a:rPr>
                        <a:t>4.4 %</a:t>
                      </a:r>
                    </a:p>
                  </a:txBody>
                  <a:tcPr marL="54864" marR="54864" marT="22860" marB="22860" anchor="ctr">
                    <a:solidFill>
                      <a:srgbClr val="F2F3F5"/>
                    </a:solidFill>
                  </a:tcPr>
                </a:tc>
              </a:tr>
              <a:tr h="566928">
                <a:tc>
                  <a:txBody>
                    <a:bodyPr wrap="square"/>
                    <a:lstStyle/>
                    <a:p>
                      <a:pPr algn="l"/>
                      <a:r>
                        <a:rPr sz="1200" b="0" i="0">
                          <a:solidFill>
                            <a:srgbClr val="14171C"/>
                          </a:solidFill>
                          <a:latin typeface="Calibri"/>
                        </a:rPr>
                        <a:t>A tiny step (10</a:t>
                      </a:r>
                      <a:r>
                        <a:rPr sz="1200" b="0" i="0" baseline="30000">
                          <a:solidFill>
                            <a:srgbClr val="14171C"/>
                          </a:solidFill>
                          <a:latin typeface="Calibri"/>
                        </a:rPr>
                        <a:t>−5</a:t>
                      </a:r>
                      <a:r>
                        <a:rPr sz="1200" b="0" i="0">
                          <a:solidFill>
                            <a:srgbClr val="14171C"/>
                          </a:solidFill>
                          <a:latin typeface="Calibri"/>
                        </a:rPr>
                        <a:t>) instead of ±2 %</a:t>
                      </a:r>
                    </a:p>
                  </a:txBody>
                  <a:tcPr marL="54864" marR="54864" marT="22860" marB="22860" anchor="ctr">
                    <a:solidFill>
                      <a:srgbClr val="FFFFFF"/>
                    </a:solidFill>
                  </a:tcPr>
                </a:tc>
                <a:tc>
                  <a:txBody>
                    <a:bodyPr wrap="square"/>
                    <a:lstStyle/>
                    <a:p>
                      <a:pPr algn="r"/>
                      <a:r>
                        <a:rPr sz="1200" b="0" i="0">
                          <a:solidFill>
                            <a:srgbClr val="14171C"/>
                          </a:solidFill>
                          <a:latin typeface="Calibri"/>
                        </a:rPr>
                        <a:t>6.62 %</a:t>
                      </a:r>
                    </a:p>
                  </a:txBody>
                  <a:tcPr marL="54864" marR="54864" marT="22860" marB="22860" anchor="ctr">
                    <a:solidFill>
                      <a:srgbClr val="FFFFFF"/>
                    </a:solidFill>
                  </a:tcPr>
                </a:tc>
                <a:tc>
                  <a:txBody>
                    <a:bodyPr wrap="square"/>
                    <a:lstStyle/>
                    <a:p>
                      <a:pPr algn="r"/>
                      <a:r>
                        <a:rPr sz="1200" b="0" i="0">
                          <a:solidFill>
                            <a:srgbClr val="14171C"/>
                          </a:solidFill>
                          <a:latin typeface="Calibri"/>
                        </a:rPr>
                        <a:t>14.9 %</a:t>
                      </a:r>
                    </a:p>
                  </a:txBody>
                  <a:tcPr marL="54864" marR="54864" marT="22860" marB="22860" anchor="ctr">
                    <a:solidFill>
                      <a:srgbClr val="FFFFFF"/>
                    </a:solidFill>
                  </a:tcPr>
                </a:tc>
              </a:tr>
              <a:tr h="566928">
                <a:tc>
                  <a:txBody>
                    <a:bodyPr wrap="square"/>
                    <a:lstStyle/>
                    <a:p>
                      <a:pPr algn="l"/>
                      <a:r>
                        <a:rPr sz="1200" b="0" i="0">
                          <a:solidFill>
                            <a:srgbClr val="14171C"/>
                          </a:solidFill>
                          <a:latin typeface="Calibri"/>
                        </a:rPr>
                        <a:t>Smooth curves instead of straight lines between the same printed points*</a:t>
                      </a:r>
                    </a:p>
                  </a:txBody>
                  <a:tcPr marL="54864" marR="54864" marT="22860" marB="22860" anchor="ctr">
                    <a:solidFill>
                      <a:srgbClr val="F2F3F5"/>
                    </a:solidFill>
                  </a:tcPr>
                </a:tc>
                <a:tc>
                  <a:txBody>
                    <a:bodyPr wrap="square"/>
                    <a:lstStyle/>
                    <a:p>
                      <a:pPr algn="r"/>
                      <a:r>
                        <a:rPr sz="1200" b="0" i="0">
                          <a:solidFill>
                            <a:srgbClr val="14171C"/>
                          </a:solidFill>
                          <a:latin typeface="Calibri"/>
                        </a:rPr>
                        <a:t>5.85 %</a:t>
                      </a:r>
                    </a:p>
                  </a:txBody>
                  <a:tcPr marL="54864" marR="54864" marT="22860" marB="22860" anchor="ctr">
                    <a:solidFill>
                      <a:srgbClr val="F2F3F5"/>
                    </a:solidFill>
                  </a:tcPr>
                </a:tc>
                <a:tc>
                  <a:txBody>
                    <a:bodyPr wrap="square"/>
                    <a:lstStyle/>
                    <a:p>
                      <a:pPr algn="r"/>
                      <a:r>
                        <a:rPr sz="1200" b="0" i="0">
                          <a:solidFill>
                            <a:srgbClr val="14171C"/>
                          </a:solidFill>
                          <a:latin typeface="Calibri"/>
                        </a:rPr>
                        <a:t>16.1 %</a:t>
                      </a:r>
                    </a:p>
                  </a:txBody>
                  <a:tcPr marL="54864" marR="54864" marT="22860" marB="22860" anchor="ctr">
                    <a:solidFill>
                      <a:srgbClr val="F2F3F5"/>
                    </a:solidFill>
                  </a:tcPr>
                </a:tc>
              </a:tr>
            </a:tbl>
          </a:graphicData>
        </a:graphic>
      </p:graphicFrame>
      <p:sp>
        <p:nvSpPr>
          <p:cNvPr id="10" name="TextBox 9"/>
          <p:cNvSpPr txBox="1"/>
          <p:nvPr/>
        </p:nvSpPr>
        <p:spPr>
          <a:xfrm>
            <a:off x="6263640" y="4069080"/>
            <a:ext cx="5425135" cy="1097280"/>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The 18 tested Table 1 eigenvalues. *Decision log #43, measured 2026-10-12 over all 27 modes, when straight lines gave 1.75 %.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5 · HOW CLOSELY IT MATCHES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Figures 4–5: Ballin's linear-model curves against ours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4–5, pdf pp.30, 34; text pp.29, 33; Appendix B, pdf pp.68–70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59</a:t>
            </a:r>
          </a:p>
        </p:txBody>
      </p:sp>
      <p:pic>
        <p:nvPicPr>
          <p:cNvPr id="8" name="Picture 7" descr="figures-4-5-overlay.png"/>
          <p:cNvPicPr>
            <a:picLocks noChangeAspect="1"/>
          </p:cNvPicPr>
          <p:nvPr/>
        </p:nvPicPr>
        <p:blipFill>
          <a:blip r:embed="rId2"/>
          <a:stretch>
            <a:fillRect/>
          </a:stretch>
        </p:blipFill>
        <p:spPr>
          <a:xfrm>
            <a:off x="502920" y="1718945"/>
            <a:ext cx="7223760" cy="4014468"/>
          </a:xfrm>
          <a:prstGeom prst="rect">
            <a:avLst/>
          </a:prstGeom>
        </p:spPr>
      </p:pic>
      <p:graphicFrame>
        <p:nvGraphicFramePr>
          <p:cNvPr id="9" name="Table 8"/>
          <p:cNvGraphicFramePr>
            <a:graphicFrameLocks noGrp="1"/>
          </p:cNvGraphicFramePr>
          <p:nvPr/>
        </p:nvGraphicFramePr>
        <p:xfrm>
          <a:off x="7863840" y="1280160"/>
          <a:ext cx="3824934" cy="2176272"/>
        </p:xfrm>
        <a:graphic>
          <a:graphicData uri="http://schemas.openxmlformats.org/drawingml/2006/table">
            <a:tbl>
              <a:tblPr firstRow="1">
                <a:tableStyleId>{5C22544A-7EE6-4342-B048-85BDC9FD1C3A}</a:tableStyleId>
              </a:tblPr>
              <a:tblGrid>
                <a:gridCol w="1440560"/>
                <a:gridCol w="993489"/>
                <a:gridCol w="1390885"/>
              </a:tblGrid>
              <a:tr h="310896">
                <a:tc>
                  <a:txBody>
                    <a:bodyPr wrap="square"/>
                    <a:lstStyle/>
                    <a:p>
                      <a:pPr algn="l"/>
                      <a:r>
                        <a:rPr sz="1100" b="1" i="0">
                          <a:solidFill>
                            <a:srgbClr val="FFFFFF"/>
                          </a:solidFill>
                          <a:latin typeface="Calibri"/>
                        </a:rPr>
                        <a:t>Ballin's curve</a:t>
                      </a:r>
                    </a:p>
                  </a:txBody>
                  <a:tcPr marL="54864" marR="54864" marT="22860" marB="22860" anchor="ctr">
                    <a:solidFill>
                      <a:srgbClr val="4D5563"/>
                    </a:solidFill>
                  </a:tcPr>
                </a:tc>
                <a:tc>
                  <a:txBody>
                    <a:bodyPr wrap="square"/>
                    <a:lstStyle/>
                    <a:p>
                      <a:pPr algn="l"/>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NG / NP</a:t>
                      </a:r>
                    </a:p>
                  </a:txBody>
                  <a:tcPr marL="54864" marR="54864" marT="22860" marB="22860" anchor="ctr">
                    <a:solidFill>
                      <a:srgbClr val="4D5563"/>
                    </a:solidFill>
                  </a:tcPr>
                </a:tc>
              </a:tr>
              <a:tr h="310896">
                <a:tc>
                  <a:txBody>
                    <a:bodyPr wrap="square"/>
                    <a:lstStyle/>
                    <a:p>
                      <a:pPr algn="l"/>
                      <a:r>
                        <a:rPr sz="1100" b="0" i="0">
                          <a:solidFill>
                            <a:srgbClr val="14171C"/>
                          </a:solidFill>
                          <a:latin typeface="Calibri"/>
                        </a:rPr>
                        <a:t>Fig 5: 5-DOF</a:t>
                      </a:r>
                    </a:p>
                  </a:txBody>
                  <a:tcPr marL="54864" marR="54864" marT="22860" marB="22860" anchor="ctr">
                    <a:solidFill>
                      <a:srgbClr val="FFFFFF"/>
                    </a:solidFill>
                  </a:tcPr>
                </a:tc>
                <a:tc>
                  <a:txBody>
                    <a:bodyPr wrap="square"/>
                    <a:lstStyle/>
                    <a:p>
                      <a:pPr algn="l"/>
                      <a:r>
                        <a:rPr sz="1100" b="0" i="0">
                          <a:solidFill>
                            <a:srgbClr val="14171C"/>
                          </a:solidFill>
                          <a:latin typeface="Calibri"/>
                        </a:rPr>
                        <a:t>5-DOF</a:t>
                      </a:r>
                    </a:p>
                  </a:txBody>
                  <a:tcPr marL="54864" marR="54864" marT="22860" marB="22860" anchor="ctr">
                    <a:solidFill>
                      <a:srgbClr val="FFFFFF"/>
                    </a:solidFill>
                  </a:tcPr>
                </a:tc>
                <a:tc>
                  <a:txBody>
                    <a:bodyPr wrap="square"/>
                    <a:lstStyle/>
                    <a:p>
                      <a:pPr algn="r"/>
                      <a:r>
                        <a:rPr sz="1100" b="0" i="0">
                          <a:solidFill>
                            <a:srgbClr val="14171C"/>
                          </a:solidFill>
                          <a:latin typeface="Calibri"/>
                        </a:rPr>
                        <a:t>0.005 / 0.028</a:t>
                      </a:r>
                    </a:p>
                  </a:txBody>
                  <a:tcPr marL="54864" marR="54864" marT="22860" marB="22860" anchor="ctr">
                    <a:solidFill>
                      <a:srgbClr val="FFFFFF"/>
                    </a:solidFill>
                  </a:tcPr>
                </a:tc>
              </a:tr>
              <a:tr h="310896">
                <a:tc>
                  <a:txBody>
                    <a:bodyPr wrap="square"/>
                    <a:lstStyle/>
                    <a:p>
                      <a:pPr algn="l"/>
                      <a:r>
                        <a:rPr sz="1100" b="0" i="0">
                          <a:solidFill>
                            <a:srgbClr val="14171C"/>
                          </a:solidFill>
                          <a:latin typeface="Calibri"/>
                        </a:rPr>
                        <a:t>Fig 5: 6-DOF</a:t>
                      </a:r>
                    </a:p>
                  </a:txBody>
                  <a:tcPr marL="54864" marR="54864" marT="22860" marB="22860" anchor="ctr">
                    <a:solidFill>
                      <a:srgbClr val="F2F3F5"/>
                    </a:solidFill>
                  </a:tcPr>
                </a:tc>
                <a:tc>
                  <a:txBody>
                    <a:bodyPr wrap="square"/>
                    <a:lstStyle/>
                    <a:p>
                      <a:pPr algn="l"/>
                      <a:r>
                        <a:rPr sz="1100" b="0" i="0">
                          <a:solidFill>
                            <a:srgbClr val="14171C"/>
                          </a:solidFill>
                          <a:latin typeface="Calibri"/>
                        </a:rPr>
                        <a:t>6-DOF</a:t>
                      </a:r>
                    </a:p>
                  </a:txBody>
                  <a:tcPr marL="54864" marR="54864" marT="22860" marB="22860" anchor="ctr">
                    <a:solidFill>
                      <a:srgbClr val="F2F3F5"/>
                    </a:solidFill>
                  </a:tcPr>
                </a:tc>
                <a:tc>
                  <a:txBody>
                    <a:bodyPr wrap="square"/>
                    <a:lstStyle/>
                    <a:p>
                      <a:pPr algn="r"/>
                      <a:r>
                        <a:rPr sz="1100" b="0" i="0">
                          <a:solidFill>
                            <a:srgbClr val="14171C"/>
                          </a:solidFill>
                          <a:latin typeface="Calibri"/>
                        </a:rPr>
                        <a:t>0.030 / 0.033</a:t>
                      </a:r>
                    </a:p>
                  </a:txBody>
                  <a:tcPr marL="54864" marR="54864" marT="22860" marB="22860" anchor="ctr">
                    <a:solidFill>
                      <a:srgbClr val="F2F3F5"/>
                    </a:solidFill>
                  </a:tcPr>
                </a:tc>
              </a:tr>
              <a:tr h="310896">
                <a:tc>
                  <a:txBody>
                    <a:bodyPr wrap="square"/>
                    <a:lstStyle/>
                    <a:p>
                      <a:pPr algn="l"/>
                      <a:r>
                        <a:rPr sz="1100" b="0" i="0">
                          <a:solidFill>
                            <a:srgbClr val="14171C"/>
                          </a:solidFill>
                          <a:latin typeface="Calibri"/>
                        </a:rPr>
                        <a:t>Fig 4: Gen Hel</a:t>
                      </a:r>
                    </a:p>
                  </a:txBody>
                  <a:tcPr marL="54864" marR="54864" marT="22860" marB="22860" anchor="ctr">
                    <a:solidFill>
                      <a:srgbClr val="FFFFFF"/>
                    </a:solidFill>
                  </a:tcPr>
                </a:tc>
                <a:tc>
                  <a:txBody>
                    <a:bodyPr wrap="square"/>
                    <a:lstStyle/>
                    <a:p>
                      <a:pPr algn="l"/>
                      <a:r>
                        <a:rPr sz="1100" b="0" i="0">
                          <a:solidFill>
                            <a:srgbClr val="14171C"/>
                          </a:solidFill>
                          <a:latin typeface="Calibri"/>
                        </a:rPr>
                        <a:t>nonlinear</a:t>
                      </a:r>
                    </a:p>
                  </a:txBody>
                  <a:tcPr marL="54864" marR="54864" marT="22860" marB="22860" anchor="ctr">
                    <a:solidFill>
                      <a:srgbClr val="FFFFFF"/>
                    </a:solidFill>
                  </a:tcPr>
                </a:tc>
                <a:tc>
                  <a:txBody>
                    <a:bodyPr wrap="square"/>
                    <a:lstStyle/>
                    <a:p>
                      <a:pPr algn="r"/>
                      <a:r>
                        <a:rPr sz="1100" b="0" i="0">
                          <a:solidFill>
                            <a:srgbClr val="14171C"/>
                          </a:solidFill>
                          <a:latin typeface="Calibri"/>
                        </a:rPr>
                        <a:t>0.008 / 0.045</a:t>
                      </a:r>
                    </a:p>
                  </a:txBody>
                  <a:tcPr marL="54864" marR="54864" marT="22860" marB="22860" anchor="ctr">
                    <a:solidFill>
                      <a:srgbClr val="FFFFFF"/>
                    </a:solidFill>
                  </a:tcPr>
                </a:tc>
              </a:tr>
              <a:tr h="310896">
                <a:tc>
                  <a:txBody>
                    <a:bodyPr wrap="square"/>
                    <a:lstStyle/>
                    <a:p>
                      <a:pPr algn="l"/>
                      <a:r>
                        <a:rPr sz="1100" b="0" i="0">
                          <a:solidFill>
                            <a:srgbClr val="14171C"/>
                          </a:solidFill>
                          <a:latin typeface="Calibri"/>
                        </a:rPr>
                        <a:t>Fig 4: linear</a:t>
                      </a:r>
                    </a:p>
                  </a:txBody>
                  <a:tcPr marL="54864" marR="54864" marT="22860" marB="22860" anchor="ctr">
                    <a:solidFill>
                      <a:srgbClr val="F2F3F5"/>
                    </a:solidFill>
                  </a:tcPr>
                </a:tc>
                <a:tc>
                  <a:txBody>
                    <a:bodyPr wrap="square"/>
                    <a:lstStyle/>
                    <a:p>
                      <a:pPr algn="l"/>
                      <a:r>
                        <a:rPr sz="1100" b="0" i="0">
                          <a:solidFill>
                            <a:srgbClr val="14171C"/>
                          </a:solidFill>
                          <a:latin typeface="Calibri"/>
                        </a:rPr>
                        <a:t>5-DOF</a:t>
                      </a:r>
                    </a:p>
                  </a:txBody>
                  <a:tcPr marL="54864" marR="54864" marT="22860" marB="22860" anchor="ctr">
                    <a:solidFill>
                      <a:srgbClr val="F2F3F5"/>
                    </a:solidFill>
                  </a:tcPr>
                </a:tc>
                <a:tc>
                  <a:txBody>
                    <a:bodyPr wrap="square"/>
                    <a:lstStyle/>
                    <a:p>
                      <a:pPr algn="r"/>
                      <a:r>
                        <a:rPr sz="1100" b="0" i="0">
                          <a:solidFill>
                            <a:srgbClr val="14171C"/>
                          </a:solidFill>
                          <a:latin typeface="Calibri"/>
                        </a:rPr>
                        <a:t>0.005 / 0.025</a:t>
                      </a:r>
                    </a:p>
                  </a:txBody>
                  <a:tcPr marL="54864" marR="54864" marT="22860" marB="22860" anchor="ctr">
                    <a:solidFill>
                      <a:srgbClr val="F2F3F5"/>
                    </a:solidFill>
                  </a:tcPr>
                </a:tc>
              </a:tr>
              <a:tr h="310896">
                <a:tc>
                  <a:txBody>
                    <a:bodyPr wrap="square"/>
                    <a:lstStyle/>
                    <a:p>
                      <a:pPr algn="l"/>
                      <a:r>
                        <a:rPr sz="1100" b="0" i="0">
                          <a:solidFill>
                            <a:srgbClr val="14171C"/>
                          </a:solidFill>
                          <a:latin typeface="Calibri"/>
                        </a:rPr>
                        <a:t>Fig 4: linear</a:t>
                      </a:r>
                    </a:p>
                  </a:txBody>
                  <a:tcPr marL="54864" marR="54864" marT="22860" marB="22860" anchor="ctr">
                    <a:solidFill>
                      <a:srgbClr val="FFFFFF"/>
                    </a:solidFill>
                  </a:tcPr>
                </a:tc>
                <a:tc>
                  <a:txBody>
                    <a:bodyPr wrap="square"/>
                    <a:lstStyle/>
                    <a:p>
                      <a:pPr algn="l"/>
                      <a:r>
                        <a:rPr sz="1100" b="0" i="0">
                          <a:solidFill>
                            <a:srgbClr val="14171C"/>
                          </a:solidFill>
                          <a:latin typeface="Calibri"/>
                        </a:rPr>
                        <a:t>2-DOF</a:t>
                      </a:r>
                    </a:p>
                  </a:txBody>
                  <a:tcPr marL="54864" marR="54864" marT="22860" marB="22860" anchor="ctr">
                    <a:solidFill>
                      <a:srgbClr val="FFFFFF"/>
                    </a:solidFill>
                  </a:tcPr>
                </a:tc>
                <a:tc>
                  <a:txBody>
                    <a:bodyPr wrap="square"/>
                    <a:lstStyle/>
                    <a:p>
                      <a:pPr algn="r"/>
                      <a:r>
                        <a:rPr sz="1100" b="0" i="0">
                          <a:solidFill>
                            <a:srgbClr val="14171C"/>
                          </a:solidFill>
                          <a:latin typeface="Calibri"/>
                        </a:rPr>
                        <a:t>0.012 / 0.011</a:t>
                      </a:r>
                    </a:p>
                  </a:txBody>
                  <a:tcPr marL="54864" marR="54864" marT="22860" marB="22860" anchor="ctr">
                    <a:solidFill>
                      <a:srgbClr val="FFFFFF"/>
                    </a:solidFill>
                  </a:tcPr>
                </a:tc>
              </a:tr>
              <a:tr h="310896">
                <a:tc>
                  <a:txBody>
                    <a:bodyPr wrap="square"/>
                    <a:lstStyle/>
                    <a:p>
                      <a:pPr algn="l"/>
                      <a:r>
                        <a:rPr sz="1100" b="0" i="0">
                          <a:solidFill>
                            <a:srgbClr val="14171C"/>
                          </a:solidFill>
                          <a:latin typeface="Calibri"/>
                        </a:rPr>
                        <a:t>Fig 4: linear</a:t>
                      </a:r>
                    </a:p>
                  </a:txBody>
                  <a:tcPr marL="54864" marR="54864" marT="22860" marB="22860" anchor="ctr">
                    <a:solidFill>
                      <a:srgbClr val="F2F3F5"/>
                    </a:solidFill>
                  </a:tcPr>
                </a:tc>
                <a:tc>
                  <a:txBody>
                    <a:bodyPr wrap="square"/>
                    <a:lstStyle/>
                    <a:p>
                      <a:pPr algn="l"/>
                      <a:r>
                        <a:rPr sz="1100" b="0" i="0">
                          <a:solidFill>
                            <a:srgbClr val="14171C"/>
                          </a:solidFill>
                          <a:latin typeface="Calibri"/>
                        </a:rPr>
                        <a:t>reduced</a:t>
                      </a:r>
                    </a:p>
                  </a:txBody>
                  <a:tcPr marL="54864" marR="54864" marT="22860" marB="22860" anchor="ctr">
                    <a:solidFill>
                      <a:srgbClr val="F2F3F5"/>
                    </a:solidFill>
                  </a:tcPr>
                </a:tc>
                <a:tc>
                  <a:txBody>
                    <a:bodyPr wrap="square"/>
                    <a:lstStyle/>
                    <a:p>
                      <a:pPr algn="r"/>
                      <a:r>
                        <a:rPr sz="1100" b="0" i="0">
                          <a:solidFill>
                            <a:srgbClr val="14171C"/>
                          </a:solidFill>
                          <a:latin typeface="Calibri"/>
                        </a:rPr>
                        <a:t>0.005 / 0.026</a:t>
                      </a:r>
                    </a:p>
                  </a:txBody>
                  <a:tcPr marL="54864" marR="54864" marT="22860" marB="22860" anchor="ctr">
                    <a:solidFill>
                      <a:srgbClr val="F2F3F5"/>
                    </a:solidFill>
                  </a:tcPr>
                </a:tc>
              </a:tr>
            </a:tbl>
          </a:graphicData>
        </a:graphic>
      </p:graphicFrame>
      <p:sp>
        <p:nvSpPr>
          <p:cNvPr id="10" name="TextBox 9"/>
          <p:cNvSpPr txBox="1"/>
          <p:nvPr/>
        </p:nvSpPr>
        <p:spPr>
          <a:xfrm>
            <a:off x="7863840" y="3657600"/>
            <a:ext cx="3824935" cy="32004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rms difference, % of trim</a:t>
            </a:r>
          </a:p>
        </p:txBody>
      </p:sp>
      <p:sp>
        <p:nvSpPr>
          <p:cNvPr id="11" name="TextBox 10"/>
          <p:cNvSpPr txBox="1"/>
          <p:nvPr/>
        </p:nvSpPr>
        <p:spPr>
          <a:xfrm>
            <a:off x="7863840" y="4023360"/>
            <a:ext cx="3824935" cy="21945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100" b="1" i="0">
                <a:solidFill>
                  <a:srgbClr val="14171C"/>
                </a:solidFill>
                <a:latin typeface="Calibri"/>
              </a:rPr>
              <a:t>Figure 5:</a:t>
            </a:r>
            <a:r>
              <a:rPr sz="1100" b="0" i="0">
                <a:solidFill>
                  <a:srgbClr val="14171C"/>
                </a:solidFill>
                <a:latin typeface="Calibri"/>
              </a:rPr>
              <a:t> our 5-DOF lies on his 5-DOF; our 6-DOF follows his 6-DOF, slightly more damped.</a:t>
            </a:r>
          </a:p>
          <a:p>
            <a:pPr marL="201168" indent="-201168">
              <a:lnSpc>
                <a:spcPct val="105000"/>
              </a:lnSpc>
              <a:spcBef>
                <a:spcPts val="500"/>
              </a:spcBef>
              <a:buFont typeface="Arial"/>
              <a:buChar char="•"/>
            </a:pPr>
            <a:r>
              <a:rPr sz="1100" b="1" i="0">
                <a:solidFill>
                  <a:srgbClr val="14171C"/>
                </a:solidFill>
                <a:latin typeface="Calibri"/>
              </a:rPr>
              <a:t>Figure 4:</a:t>
            </a:r>
            <a:r>
              <a:rPr sz="1100" b="0" i="0">
                <a:solidFill>
                  <a:srgbClr val="14171C"/>
                </a:solidFill>
                <a:latin typeface="Calibri"/>
              </a:rPr>
              <a:t> his three linear models lie on one another; his Gen Hel line parts from them. Our linear models follow his linear line.</a:t>
            </a:r>
          </a:p>
          <a:p>
            <a:pPr marL="201168" indent="-201168">
              <a:lnSpc>
                <a:spcPct val="105000"/>
              </a:lnSpc>
              <a:spcBef>
                <a:spcPts val="500"/>
              </a:spcBef>
              <a:buFont typeface="Arial"/>
              <a:buChar char="•"/>
            </a:pPr>
            <a:r>
              <a:rPr sz="1100" b="0" i="0">
                <a:solidFill>
                  <a:srgbClr val="14171C"/>
                </a:solidFill>
                <a:latin typeface="Calibri"/>
              </a:rPr>
              <a:t>In NP his Gen Hel line leads and dips at each fuel step: rotor-blade lag, which the linear rotor load leaves out (pdf p.29). Our nonlinear engine carries the same linear rotor load, so in NP it follows his linear line (0.012 %).</a:t>
            </a:r>
          </a:p>
          <a:p>
            <a:pPr marL="201168" indent="-201168">
              <a:lnSpc>
                <a:spcPct val="105000"/>
              </a:lnSpc>
              <a:spcBef>
                <a:spcPts val="500"/>
              </a:spcBef>
              <a:buFont typeface="Arial"/>
              <a:buChar char="•"/>
            </a:pPr>
            <a:r>
              <a:rPr sz="1100" b="0" i="0">
                <a:solidFill>
                  <a:srgbClr val="14171C"/>
                </a:solidFill>
                <a:latin typeface="Calibri"/>
              </a:rPr>
              <a:t>His own printed hover matrices draw his curves (0.003 % on Figure 5's 5-DOF): the trim is hover.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Values the report never prints, recovered from its own numbers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 63, pdf p.31; Appendix B, pdf pp.68–76; Table A.1, pdf p.55</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60</a:t>
            </a:r>
          </a:p>
        </p:txBody>
      </p:sp>
      <p:sp>
        <p:nvSpPr>
          <p:cNvPr id="8" name="TextBox 7"/>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600" b="1" i="0">
                <a:solidFill>
                  <a:srgbClr val="14171C"/>
                </a:solidFill>
                <a:latin typeface="Calibri"/>
              </a:rPr>
              <a:t>Heat-sink time constants</a:t>
            </a:r>
            <a:r>
              <a:rPr sz="1600" b="0" i="0">
                <a:solidFill>
                  <a:srgbClr val="14171C"/>
                </a:solidFill>
                <a:latin typeface="Calibri"/>
              </a:rPr>
              <a:t> τ</a:t>
            </a:r>
            <a:r>
              <a:rPr sz="1600" b="0" i="0" baseline="-25000">
                <a:solidFill>
                  <a:srgbClr val="14171C"/>
                </a:solidFill>
                <a:latin typeface="Calibri"/>
              </a:rPr>
              <a:t>1</a:t>
            </a:r>
            <a:r>
              <a:rPr sz="1600" b="0" i="0">
                <a:solidFill>
                  <a:srgbClr val="14171C"/>
                </a:solidFill>
                <a:latin typeface="Calibri"/>
              </a:rPr>
              <a:t>, τ</a:t>
            </a:r>
            <a:r>
              <a:rPr sz="1600" b="0" i="0" baseline="-25000">
                <a:solidFill>
                  <a:srgbClr val="14171C"/>
                </a:solidFill>
                <a:latin typeface="Calibri"/>
              </a:rPr>
              <a:t>2</a:t>
            </a:r>
            <a:r>
              <a:rPr sz="1600" b="0" i="0">
                <a:solidFill>
                  <a:srgbClr val="14171C"/>
                </a:solidFill>
                <a:latin typeface="Calibri"/>
              </a:rPr>
              <a:t> (Eq. 63): printed nowhere. Each 3-DOF block of Appendix B fixes both: 2.080 / 3.099 s (hover), 2.200 / 3.413 s (level), 2.390 / 3.854 s (descent).</a:t>
            </a:r>
          </a:p>
          <a:p>
            <a:pPr marL="512064" indent="-237744">
              <a:lnSpc>
                <a:spcPct val="105000"/>
              </a:lnSpc>
              <a:spcBef>
                <a:spcPts val="900"/>
              </a:spcBef>
              <a:buFont typeface="Arial"/>
              <a:buChar char="–"/>
            </a:pPr>
            <a:r>
              <a:rPr sz="1400" b="0" i="0">
                <a:solidFill>
                  <a:srgbClr val="14171C"/>
                </a:solidFill>
                <a:latin typeface="Calibri"/>
              </a:rPr>
              <a:t>They need TC</a:t>
            </a:r>
            <a:r>
              <a:rPr sz="1400" b="0" i="0" baseline="-25000">
                <a:solidFill>
                  <a:srgbClr val="14171C"/>
                </a:solidFill>
                <a:latin typeface="Calibri"/>
              </a:rPr>
              <a:t>T41</a:t>
            </a:r>
            <a:r>
              <a:rPr sz="1400" b="0" i="0">
                <a:solidFill>
                  <a:srgbClr val="14171C"/>
                </a:solidFill>
                <a:latin typeface="Calibri"/>
              </a:rPr>
              <a:t> ≈ 0.32, not the printed 0.29: </a:t>
            </a:r>
            <a:r>
              <a:rPr sz="1400" b="1" i="0">
                <a:solidFill>
                  <a:srgbClr val="14171C"/>
                </a:solidFill>
                <a:latin typeface="Calibri"/>
              </a:rPr>
              <a:t>Appendix B was generated with a different constant than the transient simulations.</a:t>
            </a:r>
            <a:r>
              <a:rPr sz="1400" b="0" i="0">
                <a:solidFill>
                  <a:srgbClr val="14171C"/>
                </a:solidFill>
                <a:latin typeface="Calibri"/>
              </a:rPr>
              <a:t> We keep the printed 0.29; the report's transients fit it better.</a:t>
            </a:r>
          </a:p>
          <a:p>
            <a:pPr marL="201168" indent="-201168">
              <a:lnSpc>
                <a:spcPct val="105000"/>
              </a:lnSpc>
              <a:spcBef>
                <a:spcPts val="900"/>
              </a:spcBef>
              <a:buFont typeface="Arial"/>
              <a:buChar char="•"/>
            </a:pPr>
            <a:r>
              <a:rPr sz="1600" b="1" i="0">
                <a:solidFill>
                  <a:srgbClr val="14171C"/>
                </a:solidFill>
                <a:latin typeface="Calibri"/>
              </a:rPr>
              <a:t>Load inertia and load slope</a:t>
            </a:r>
            <a:r>
              <a:rPr sz="1600" b="0" i="0">
                <a:solidFill>
                  <a:srgbClr val="14171C"/>
                </a:solidFill>
                <a:latin typeface="Calibri"/>
              </a:rPr>
              <a:t> (Eqs. 46–47): owned by the helicopter model. Recovered from Appendix B's NP rows: J</a:t>
            </a:r>
            <a:r>
              <a:rPr sz="1600" b="0" i="0" baseline="-25000">
                <a:solidFill>
                  <a:srgbClr val="14171C"/>
                </a:solidFill>
                <a:latin typeface="Calibri"/>
              </a:rPr>
              <a:t>load</a:t>
            </a:r>
            <a:r>
              <a:rPr sz="1600" b="0" i="0">
                <a:solidFill>
                  <a:srgbClr val="14171C"/>
                </a:solidFill>
                <a:latin typeface="Calibri"/>
              </a:rPr>
              <a:t> = 9.25 × J</a:t>
            </a:r>
            <a:r>
              <a:rPr sz="1600" b="0" i="0" baseline="-25000">
                <a:solidFill>
                  <a:srgbClr val="14171C"/>
                </a:solidFill>
                <a:latin typeface="Calibri"/>
              </a:rPr>
              <a:t>PT</a:t>
            </a:r>
            <a:r>
              <a:rPr sz="1600" b="0" i="0">
                <a:solidFill>
                  <a:srgbClr val="14171C"/>
                </a:solidFill>
                <a:latin typeface="Calibri"/>
              </a:rPr>
              <a:t>.</a:t>
            </a:r>
          </a:p>
          <a:p>
            <a:pPr marL="201168" indent="-201168">
              <a:lnSpc>
                <a:spcPct val="105000"/>
              </a:lnSpc>
              <a:spcBef>
                <a:spcPts val="900"/>
              </a:spcBef>
              <a:buFont typeface="Arial"/>
              <a:buChar char="•"/>
            </a:pPr>
            <a:r>
              <a:rPr sz="1600" b="1" i="0">
                <a:solidFill>
                  <a:srgbClr val="14171C"/>
                </a:solidFill>
                <a:latin typeface="Calibri"/>
              </a:rPr>
              <a:t>Standard day</a:t>
            </a:r>
            <a:r>
              <a:rPr sz="1600" b="0" i="0">
                <a:solidFill>
                  <a:srgbClr val="14171C"/>
                </a:solidFill>
                <a:latin typeface="Calibri"/>
              </a:rPr>
              <a:t> (Eqs. 5, 8): T</a:t>
            </a:r>
            <a:r>
              <a:rPr sz="1600" b="0" i="0" baseline="-25000">
                <a:solidFill>
                  <a:srgbClr val="14171C"/>
                </a:solidFill>
                <a:latin typeface="Calibri"/>
              </a:rPr>
              <a:t>std</a:t>
            </a:r>
            <a:r>
              <a:rPr sz="1600" b="0" i="0">
                <a:solidFill>
                  <a:srgbClr val="14171C"/>
                </a:solidFill>
                <a:latin typeface="Calibri"/>
              </a:rPr>
              <a:t>, P</a:t>
            </a:r>
            <a:r>
              <a:rPr sz="1600" b="0" i="0" baseline="-25000">
                <a:solidFill>
                  <a:srgbClr val="14171C"/>
                </a:solidFill>
                <a:latin typeface="Calibri"/>
              </a:rPr>
              <a:t>std</a:t>
            </a:r>
            <a:r>
              <a:rPr sz="1600" b="0" i="0">
                <a:solidFill>
                  <a:srgbClr val="14171C"/>
                </a:solidFill>
                <a:latin typeface="Calibri"/>
              </a:rPr>
              <a:t> never printed; 518.67 °R and 14.696 psia, consistent with Table B.1.</a:t>
            </a:r>
          </a:p>
          <a:p>
            <a:pPr marL="201168" indent="-201168">
              <a:lnSpc>
                <a:spcPct val="105000"/>
              </a:lnSpc>
              <a:spcBef>
                <a:spcPts val="900"/>
              </a:spcBef>
              <a:buFont typeface="Arial"/>
              <a:buChar char="•"/>
            </a:pPr>
            <a:r>
              <a:rPr sz="1600" b="1" i="0">
                <a:solidFill>
                  <a:srgbClr val="14171C"/>
                </a:solidFill>
                <a:latin typeface="Calibri"/>
              </a:rPr>
              <a:t>Power-turbine speed for each comparison:</a:t>
            </a:r>
            <a:r>
              <a:rPr sz="1600" b="0" i="0">
                <a:solidFill>
                  <a:srgbClr val="14171C"/>
                </a:solidFill>
                <a:latin typeface="Calibri"/>
              </a:rPr>
              <a:t> design speed, 20,900 rpm, for Figures 6–10; 20,895 rpm for Table B.1, Table 1 and Appendix B, as Table B.1 prints.</a:t>
            </a:r>
          </a:p>
          <a:p>
            <a:pPr marL="201168" indent="-201168">
              <a:lnSpc>
                <a:spcPct val="105000"/>
              </a:lnSpc>
              <a:spcBef>
                <a:spcPts val="900"/>
              </a:spcBef>
              <a:buFont typeface="Arial"/>
              <a:buChar char="•"/>
            </a:pPr>
            <a:r>
              <a:rPr sz="1600" b="1" i="0">
                <a:solidFill>
                  <a:srgbClr val="14171C"/>
                </a:solidFill>
                <a:latin typeface="Calibri"/>
              </a:rPr>
              <a:t>The fuel-step instants</a:t>
            </a:r>
            <a:r>
              <a:rPr sz="1600" b="0" i="0">
                <a:solidFill>
                  <a:srgbClr val="14171C"/>
                </a:solidFill>
                <a:latin typeface="Calibri"/>
              </a:rPr>
              <a:t> of Figures 9–10, read off the figures' own fuel panels.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Problems in the printed method, found and handled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Eq. 80, pdf p.37; Eqs. 48–53, pdf pp.25–26; pdf p.28; Eq. 29, pdf p.24</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61</a:t>
            </a:r>
          </a:p>
        </p:txBody>
      </p:sp>
      <p:sp>
        <p:nvSpPr>
          <p:cNvPr id="8" name="TextBox 7"/>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600" b="1" i="0">
                <a:solidFill>
                  <a:srgbClr val="14171C"/>
                </a:solidFill>
                <a:latin typeface="Calibri"/>
              </a:rPr>
              <a:t>Eq. 80's P45 iteration cannot converge in a fuel chop.</a:t>
            </a:r>
            <a:r>
              <a:rPr sz="1600" b="0" i="0">
                <a:solidFill>
                  <a:srgbClr val="14171C"/>
                </a:solidFill>
                <a:latin typeface="Calibri"/>
              </a:rPr>
              <a:t> Its fixed point repels where f9's slope (in log terms) is steeper than −1. Below flight idle the frame then sat on false equilibria up to 7 %NG away from the true ones. We solve the same equation exactly, which takes one division.</a:t>
            </a:r>
          </a:p>
          <a:p>
            <a:pPr marL="201168" indent="-201168">
              <a:lnSpc>
                <a:spcPct val="105000"/>
              </a:lnSpc>
              <a:spcBef>
                <a:spcPts val="1000"/>
              </a:spcBef>
              <a:buFont typeface="Arial"/>
              <a:buChar char="•"/>
            </a:pPr>
            <a:r>
              <a:rPr sz="1600" b="1" i="0">
                <a:solidFill>
                  <a:srgbClr val="14171C"/>
                </a:solidFill>
                <a:latin typeface="Calibri"/>
              </a:rPr>
              <a:t>The heat sink is what fixed the transient.</a:t>
            </a:r>
            <a:r>
              <a:rPr sz="1600" b="0" i="0">
                <a:solidFill>
                  <a:srgbClr val="14171C"/>
                </a:solidFill>
                <a:latin typeface="Calibri"/>
              </a:rPr>
              <a:t> Without it our T41 spike overshot 3.3 times as far as Ballin's. With the heat sink integrated as the metal temperature (Eqs. 48–49) it sits at 0.6–1.2 times his.</a:t>
            </a:r>
          </a:p>
          <a:p>
            <a:pPr marL="201168" indent="-201168">
              <a:lnSpc>
                <a:spcPct val="105000"/>
              </a:lnSpc>
              <a:spcBef>
                <a:spcPts val="1000"/>
              </a:spcBef>
              <a:buFont typeface="Arial"/>
              <a:buChar char="•"/>
            </a:pPr>
            <a:r>
              <a:rPr sz="1600" b="1" i="0">
                <a:solidFill>
                  <a:srgbClr val="14171C"/>
                </a:solidFill>
                <a:latin typeface="Calibri"/>
              </a:rPr>
              <a:t>“±2 %” is an amplitude, not a derivative step.</a:t>
            </a:r>
            <a:r>
              <a:rPr sz="1600" b="0" i="0">
                <a:solidFill>
                  <a:srgbClr val="14171C"/>
                </a:solidFill>
                <a:latin typeface="Calibri"/>
              </a:rPr>
              <a:t> Using it as Ballin did took Table 1 from 6.6 % to 2.4 % rms.</a:t>
            </a:r>
          </a:p>
          <a:p>
            <a:pPr marL="201168" indent="-201168">
              <a:lnSpc>
                <a:spcPct val="105000"/>
              </a:lnSpc>
              <a:spcBef>
                <a:spcPts val="1000"/>
              </a:spcBef>
              <a:buFont typeface="Arial"/>
              <a:buChar char="•"/>
            </a:pPr>
            <a:r>
              <a:rPr sz="1600" b="1" i="0">
                <a:solidFill>
                  <a:srgbClr val="14171C"/>
                </a:solidFill>
                <a:latin typeface="Calibri"/>
              </a:rPr>
              <a:t>Station 4.5 mixing does not conserve energy</a:t>
            </a:r>
            <a:r>
              <a:rPr sz="1600" b="0" i="0">
                <a:solidFill>
                  <a:srgbClr val="14171C"/>
                </a:solidFill>
                <a:latin typeface="Calibri"/>
              </a:rPr>
              <a:t>: Eq. 29 makes the mixed enthalpy a fixed fraction of H44 [pdf p.24]. The printed coefficient sits 1.1–1.7 % below an energy-conserving mix. Reproduced as printed.</a:t>
            </a:r>
          </a:p>
          <a:p>
            <a:pPr marL="201168" indent="-201168">
              <a:lnSpc>
                <a:spcPct val="105000"/>
              </a:lnSpc>
              <a:spcBef>
                <a:spcPts val="1000"/>
              </a:spcBef>
              <a:buFont typeface="Arial"/>
              <a:buChar char="•"/>
            </a:pPr>
            <a:r>
              <a:rPr sz="1600" b="1" i="0">
                <a:solidFill>
                  <a:srgbClr val="14171C"/>
                </a:solidFill>
                <a:latin typeface="Calibri"/>
              </a:rPr>
              <a:t>The closed-loop limit cycle</a:t>
            </a:r>
            <a:r>
              <a:rPr sz="1600" b="0" i="0">
                <a:solidFill>
                  <a:srgbClr val="14171C"/>
                </a:solidFill>
                <a:latin typeface="Calibri"/>
              </a:rPr>
              <a:t> is the printed NG-sensor hysteresis, not a numerical artifact.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Misprints, and how the report settles them</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pp.25–26, 31–32, 36–37, 55, 58, 65, 70</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62</a:t>
            </a:r>
          </a:p>
        </p:txBody>
      </p:sp>
      <p:graphicFrame>
        <p:nvGraphicFramePr>
          <p:cNvPr id="8" name="Table 7"/>
          <p:cNvGraphicFramePr>
            <a:graphicFrameLocks noGrp="1"/>
          </p:cNvGraphicFramePr>
          <p:nvPr/>
        </p:nvGraphicFramePr>
        <p:xfrm>
          <a:off x="502920" y="1325880"/>
          <a:ext cx="11185853" cy="3867912"/>
        </p:xfrm>
        <a:graphic>
          <a:graphicData uri="http://schemas.openxmlformats.org/drawingml/2006/table">
            <a:tbl>
              <a:tblPr firstRow="1">
                <a:tableStyleId>{5C22544A-7EE6-4342-B048-85BDC9FD1C3A}</a:tableStyleId>
              </a:tblPr>
              <a:tblGrid>
                <a:gridCol w="1466997"/>
                <a:gridCol w="4034242"/>
                <a:gridCol w="5684614"/>
              </a:tblGrid>
              <a:tr h="429768">
                <a:tc>
                  <a:txBody>
                    <a:bodyPr wrap="square"/>
                    <a:lstStyle/>
                    <a:p>
                      <a:pPr algn="l"/>
                      <a:r>
                        <a:rPr sz="1300" b="1" i="0">
                          <a:solidFill>
                            <a:srgbClr val="FFFFFF"/>
                          </a:solidFill>
                          <a:latin typeface="Calibri"/>
                        </a:rPr>
                        <a:t>Where</a:t>
                      </a:r>
                    </a:p>
                  </a:txBody>
                  <a:tcPr marL="54864" marR="54864" marT="22860" marB="22860" anchor="ctr">
                    <a:solidFill>
                      <a:srgbClr val="4D5563"/>
                    </a:solidFill>
                  </a:tcPr>
                </a:tc>
                <a:tc>
                  <a:txBody>
                    <a:bodyPr wrap="square"/>
                    <a:lstStyle/>
                    <a:p>
                      <a:pPr algn="l"/>
                      <a:r>
                        <a:rPr sz="1300" b="1" i="0">
                          <a:solidFill>
                            <a:srgbClr val="FFFFFF"/>
                          </a:solidFill>
                          <a:latin typeface="Calibri"/>
                        </a:rPr>
                        <a:t>As printed</a:t>
                      </a:r>
                    </a:p>
                  </a:txBody>
                  <a:tcPr marL="54864" marR="54864" marT="22860" marB="22860" anchor="ctr">
                    <a:solidFill>
                      <a:srgbClr val="4D5563"/>
                    </a:solidFill>
                  </a:tcPr>
                </a:tc>
                <a:tc>
                  <a:txBody>
                    <a:bodyPr wrap="square"/>
                    <a:lstStyle/>
                    <a:p>
                      <a:pPr algn="l"/>
                      <a:r>
                        <a:rPr sz="1300" b="1" i="0">
                          <a:solidFill>
                            <a:srgbClr val="FFFFFF"/>
                          </a:solidFill>
                          <a:latin typeface="Calibri"/>
                        </a:rPr>
                        <a:t>What the rest of the report requires</a:t>
                      </a:r>
                    </a:p>
                  </a:txBody>
                  <a:tcPr marL="54864" marR="54864" marT="22860" marB="22860" anchor="ctr">
                    <a:solidFill>
                      <a:srgbClr val="4D5563"/>
                    </a:solidFill>
                  </a:tcPr>
                </a:tc>
              </a:tr>
              <a:tr h="429768">
                <a:tc>
                  <a:txBody>
                    <a:bodyPr wrap="square"/>
                    <a:lstStyle/>
                    <a:p>
                      <a:pPr algn="l"/>
                      <a:r>
                        <a:rPr sz="1300" b="1" i="0">
                          <a:solidFill>
                            <a:srgbClr val="14171C"/>
                          </a:solidFill>
                          <a:latin typeface="Calibri"/>
                        </a:rPr>
                        <a:t>Eq. 43</a:t>
                      </a:r>
                    </a:p>
                  </a:txBody>
                  <a:tcPr marL="54864" marR="54864" marT="22860" marB="22860" anchor="ctr">
                    <a:solidFill>
                      <a:srgbClr val="FFFFFF"/>
                    </a:solidFill>
                  </a:tcPr>
                </a:tc>
                <a:tc>
                  <a:txBody>
                    <a:bodyPr wrap="square"/>
                    <a:lstStyle/>
                    <a:p>
                      <a:pPr algn="l"/>
                      <a:r>
                        <a:rPr sz="1300" b="0" i="0">
                          <a:solidFill>
                            <a:srgbClr val="14171C"/>
                          </a:solidFill>
                          <a:latin typeface="Calibri"/>
                        </a:rPr>
                        <a:t>fuel leaves the 4.1 volume (−W</a:t>
                      </a:r>
                      <a:r>
                        <a:rPr sz="1300" b="0" i="0" baseline="-25000">
                          <a:solidFill>
                            <a:srgbClr val="14171C"/>
                          </a:solidFill>
                          <a:latin typeface="Calibri"/>
                        </a:rPr>
                        <a:t>f</a:t>
                      </a:r>
                      <a:r>
                        <a:rPr sz="1300" b="0" i="0">
                          <a:solidFill>
                            <a:srgbClr val="14171C"/>
                          </a:solidFill>
                          <a:latin typeface="Calibri"/>
                        </a:rPr>
                        <a:t>)</a:t>
                      </a:r>
                    </a:p>
                  </a:txBody>
                  <a:tcPr marL="54864" marR="54864" marT="22860" marB="22860" anchor="ctr">
                    <a:solidFill>
                      <a:srgbClr val="FFFFFF"/>
                    </a:solidFill>
                  </a:tcPr>
                </a:tc>
                <a:tc>
                  <a:txBody>
                    <a:bodyPr wrap="square"/>
                    <a:lstStyle/>
                    <a:p>
                      <a:pPr algn="l"/>
                      <a:r>
                        <a:rPr sz="1300" b="0" i="0">
                          <a:solidFill>
                            <a:srgbClr val="14171C"/>
                          </a:solidFill>
                          <a:latin typeface="Calibri"/>
                        </a:rPr>
                        <a:t>+W</a:t>
                      </a:r>
                      <a:r>
                        <a:rPr sz="1300" b="0" i="0" baseline="-25000">
                          <a:solidFill>
                            <a:srgbClr val="14171C"/>
                          </a:solidFill>
                          <a:latin typeface="Calibri"/>
                        </a:rPr>
                        <a:t>f</a:t>
                      </a:r>
                      <a:r>
                        <a:rPr sz="1300" b="0" i="0">
                          <a:solidFill>
                            <a:srgbClr val="14171C"/>
                          </a:solidFill>
                          <a:latin typeface="Calibri"/>
                        </a:rPr>
                        <a:t>, as Eq. 73 prints the same balance</a:t>
                      </a:r>
                    </a:p>
                  </a:txBody>
                  <a:tcPr marL="54864" marR="54864" marT="22860" marB="22860" anchor="ctr">
                    <a:solidFill>
                      <a:srgbClr val="FFFFFF"/>
                    </a:solidFill>
                  </a:tcPr>
                </a:tc>
              </a:tr>
              <a:tr h="429768">
                <a:tc>
                  <a:txBody>
                    <a:bodyPr wrap="square"/>
                    <a:lstStyle/>
                    <a:p>
                      <a:pPr algn="l"/>
                      <a:r>
                        <a:rPr sz="1300" b="1" i="0">
                          <a:solidFill>
                            <a:srgbClr val="14171C"/>
                          </a:solidFill>
                          <a:latin typeface="Calibri"/>
                        </a:rPr>
                        <a:t>Eqs. 79–80</a:t>
                      </a:r>
                    </a:p>
                  </a:txBody>
                  <a:tcPr marL="54864" marR="54864" marT="22860" marB="22860" anchor="ctr">
                    <a:solidFill>
                      <a:srgbClr val="F2F3F5"/>
                    </a:solidFill>
                  </a:tcPr>
                </a:tc>
                <a:tc>
                  <a:txBody>
                    <a:bodyPr wrap="square"/>
                    <a:lstStyle/>
                    <a:p>
                      <a:pPr algn="l"/>
                      <a:r>
                        <a:rPr sz="1300" b="0" i="0">
                          <a:solidFill>
                            <a:srgbClr val="14171C"/>
                          </a:solidFill>
                          <a:latin typeface="Calibri"/>
                        </a:rPr>
                        <a:t>B</a:t>
                      </a:r>
                      <a:r>
                        <a:rPr sz="1300" b="0" i="0" baseline="-25000">
                          <a:solidFill>
                            <a:srgbClr val="14171C"/>
                          </a:solidFill>
                          <a:latin typeface="Calibri"/>
                        </a:rPr>
                        <a:t>3</a:t>
                      </a:r>
                      <a:r>
                        <a:rPr sz="1300" b="0" i="0">
                          <a:solidFill>
                            <a:srgbClr val="14171C"/>
                          </a:solidFill>
                          <a:latin typeface="Calibri"/>
                        </a:rPr>
                        <a:t>·B</a:t>
                      </a:r>
                      <a:r>
                        <a:rPr sz="1300" b="0" i="0" baseline="-25000">
                          <a:solidFill>
                            <a:srgbClr val="14171C"/>
                          </a:solidFill>
                          <a:latin typeface="Calibri"/>
                        </a:rPr>
                        <a:t>4</a:t>
                      </a:r>
                      <a:r>
                        <a:rPr sz="1300" b="0" i="0">
                          <a:solidFill>
                            <a:srgbClr val="14171C"/>
                          </a:solidFill>
                          <a:latin typeface="Calibri"/>
                        </a:rPr>
                        <a:t>·WA2; the engine model has no B</a:t>
                      </a:r>
                      <a:r>
                        <a:rPr sz="1300" b="0" i="0" baseline="-25000">
                          <a:solidFill>
                            <a:srgbClr val="14171C"/>
                          </a:solidFill>
                          <a:latin typeface="Calibri"/>
                        </a:rPr>
                        <a:t>4</a:t>
                      </a:r>
                    </a:p>
                  </a:txBody>
                  <a:tcPr marL="54864" marR="54864" marT="22860" marB="22860" anchor="ctr">
                    <a:solidFill>
                      <a:srgbClr val="F2F3F5"/>
                    </a:solidFill>
                  </a:tcPr>
                </a:tc>
                <a:tc>
                  <a:txBody>
                    <a:bodyPr wrap="square"/>
                    <a:lstStyle/>
                    <a:p>
                      <a:pPr algn="l"/>
                      <a:r>
                        <a:rPr sz="1300" b="0" i="0">
                          <a:solidFill>
                            <a:srgbClr val="14171C"/>
                          </a:solidFill>
                          <a:latin typeface="Calibri"/>
                        </a:rPr>
                        <a:t>B</a:t>
                      </a:r>
                      <a:r>
                        <a:rPr sz="1300" b="0" i="0" baseline="-25000">
                          <a:solidFill>
                            <a:srgbClr val="14171C"/>
                          </a:solidFill>
                          <a:latin typeface="Calibri"/>
                        </a:rPr>
                        <a:t>3</a:t>
                      </a:r>
                      <a:r>
                        <a:rPr sz="1300" b="0" i="0">
                          <a:solidFill>
                            <a:srgbClr val="14171C"/>
                          </a:solidFill>
                          <a:latin typeface="Calibri"/>
                        </a:rPr>
                        <a:t>·K</a:t>
                      </a:r>
                      <a:r>
                        <a:rPr sz="1300" b="0" i="0" baseline="-25000">
                          <a:solidFill>
                            <a:srgbClr val="14171C"/>
                          </a:solidFill>
                          <a:latin typeface="Calibri"/>
                        </a:rPr>
                        <a:t>bl</a:t>
                      </a:r>
                      <a:r>
                        <a:rPr sz="1300" b="0" i="0">
                          <a:solidFill>
                            <a:srgbClr val="14171C"/>
                          </a:solidFill>
                          <a:latin typeface="Calibri"/>
                        </a:rPr>
                        <a:t>·WA2, as Eq. 44 writes it</a:t>
                      </a:r>
                    </a:p>
                  </a:txBody>
                  <a:tcPr marL="54864" marR="54864" marT="22860" marB="22860" anchor="ctr">
                    <a:solidFill>
                      <a:srgbClr val="F2F3F5"/>
                    </a:solidFill>
                  </a:tcPr>
                </a:tc>
              </a:tr>
              <a:tr h="429768">
                <a:tc>
                  <a:txBody>
                    <a:bodyPr wrap="square"/>
                    <a:lstStyle/>
                    <a:p>
                      <a:pPr algn="l"/>
                      <a:r>
                        <a:rPr sz="1300" b="1" i="0">
                          <a:solidFill>
                            <a:srgbClr val="14171C"/>
                          </a:solidFill>
                          <a:latin typeface="Calibri"/>
                        </a:rPr>
                        <a:t>Eq. 74</a:t>
                      </a:r>
                    </a:p>
                  </a:txBody>
                  <a:tcPr marL="54864" marR="54864" marT="22860" marB="22860" anchor="ctr">
                    <a:solidFill>
                      <a:srgbClr val="FFFFFF"/>
                    </a:solidFill>
                  </a:tcPr>
                </a:tc>
                <a:tc>
                  <a:txBody>
                    <a:bodyPr wrap="square"/>
                    <a:lstStyle/>
                    <a:p>
                      <a:pPr algn="l"/>
                      <a:r>
                        <a:rPr sz="1300" b="0" i="0">
                          <a:solidFill>
                            <a:srgbClr val="14171C"/>
                          </a:solidFill>
                          <a:latin typeface="Calibri"/>
                        </a:rPr>
                        <a:t>lags only the bleed flow</a:t>
                      </a:r>
                    </a:p>
                  </a:txBody>
                  <a:tcPr marL="54864" marR="54864" marT="22860" marB="22860" anchor="ctr">
                    <a:solidFill>
                      <a:srgbClr val="FFFFFF"/>
                    </a:solidFill>
                  </a:tcPr>
                </a:tc>
                <a:tc>
                  <a:txBody>
                    <a:bodyPr wrap="square"/>
                    <a:lstStyle/>
                    <a:p>
                      <a:pPr algn="l"/>
                      <a:r>
                        <a:rPr sz="1300" b="0" i="0">
                          <a:solidFill>
                            <a:srgbClr val="14171C"/>
                          </a:solidFill>
                          <a:latin typeface="Calibri"/>
                        </a:rPr>
                        <a:t>the sentence above it lags the whole compressor flow; both coded, prose used</a:t>
                      </a:r>
                    </a:p>
                  </a:txBody>
                  <a:tcPr marL="54864" marR="54864" marT="22860" marB="22860" anchor="ctr">
                    <a:solidFill>
                      <a:srgbClr val="FFFFFF"/>
                    </a:solidFill>
                  </a:tcPr>
                </a:tc>
              </a:tr>
              <a:tr h="429768">
                <a:tc>
                  <a:txBody>
                    <a:bodyPr wrap="square"/>
                    <a:lstStyle/>
                    <a:p>
                      <a:pPr algn="l"/>
                      <a:r>
                        <a:rPr sz="1300" b="1" i="0">
                          <a:solidFill>
                            <a:srgbClr val="14171C"/>
                          </a:solidFill>
                          <a:latin typeface="Calibri"/>
                        </a:rPr>
                        <a:t>pdf p.32</a:t>
                      </a:r>
                    </a:p>
                  </a:txBody>
                  <a:tcPr marL="54864" marR="54864" marT="22860" marB="22860" anchor="ctr">
                    <a:solidFill>
                      <a:srgbClr val="F2F3F5"/>
                    </a:solidFill>
                  </a:tcPr>
                </a:tc>
                <a:tc>
                  <a:txBody>
                    <a:bodyPr wrap="square"/>
                    <a:lstStyle/>
                    <a:p>
                      <a:pPr algn="l"/>
                      <a:r>
                        <a:rPr sz="1300" b="0" i="0">
                          <a:solidFill>
                            <a:srgbClr val="14171C"/>
                          </a:solidFill>
                          <a:latin typeface="Calibri"/>
                        </a:rPr>
                        <a:t>F2's sixth column labelled as another state</a:t>
                      </a:r>
                    </a:p>
                  </a:txBody>
                  <a:tcPr marL="54864" marR="54864" marT="22860" marB="22860" anchor="ctr">
                    <a:solidFill>
                      <a:srgbClr val="F2F3F5"/>
                    </a:solidFill>
                  </a:tcPr>
                </a:tc>
                <a:tc>
                  <a:txBody>
                    <a:bodyPr wrap="square"/>
                    <a:lstStyle/>
                    <a:p>
                      <a:pPr algn="l"/>
                      <a:r>
                        <a:rPr sz="1300" b="0" i="0">
                          <a:solidFill>
                            <a:srgbClr val="14171C"/>
                          </a:solidFill>
                          <a:latin typeface="Calibri"/>
                        </a:rPr>
                        <a:t>the column is with respect to T41</a:t>
                      </a:r>
                    </a:p>
                  </a:txBody>
                  <a:tcPr marL="54864" marR="54864" marT="22860" marB="22860" anchor="ctr">
                    <a:solidFill>
                      <a:srgbClr val="F2F3F5"/>
                    </a:solidFill>
                  </a:tcPr>
                </a:tc>
              </a:tr>
              <a:tr h="429768">
                <a:tc>
                  <a:txBody>
                    <a:bodyPr wrap="square"/>
                    <a:lstStyle/>
                    <a:p>
                      <a:pPr algn="l"/>
                      <a:r>
                        <a:rPr sz="1300" b="1" i="0">
                          <a:solidFill>
                            <a:srgbClr val="14171C"/>
                          </a:solidFill>
                          <a:latin typeface="Calibri"/>
                        </a:rPr>
                        <a:t>Table A.1</a:t>
                      </a:r>
                    </a:p>
                  </a:txBody>
                  <a:tcPr marL="54864" marR="54864" marT="22860" marB="22860" anchor="ctr">
                    <a:solidFill>
                      <a:srgbClr val="FFFFFF"/>
                    </a:solidFill>
                  </a:tcPr>
                </a:tc>
                <a:tc>
                  <a:txBody>
                    <a:bodyPr wrap="square"/>
                    <a:lstStyle/>
                    <a:p>
                      <a:pPr algn="l"/>
                      <a:r>
                        <a:rPr sz="1300" b="0" i="0">
                          <a:solidFill>
                            <a:srgbClr val="14171C"/>
                          </a:solidFill>
                          <a:latin typeface="Calibri"/>
                        </a:rPr>
                        <a:t>units of TC</a:t>
                      </a:r>
                      <a:r>
                        <a:rPr sz="1300" b="0" i="0" baseline="-25000">
                          <a:solidFill>
                            <a:srgbClr val="14171C"/>
                          </a:solidFill>
                          <a:latin typeface="Calibri"/>
                        </a:rPr>
                        <a:t>T41</a:t>
                      </a:r>
                    </a:p>
                  </a:txBody>
                  <a:tcPr marL="54864" marR="54864" marT="22860" marB="22860" anchor="ctr">
                    <a:solidFill>
                      <a:srgbClr val="FFFFFF"/>
                    </a:solidFill>
                  </a:tcPr>
                </a:tc>
                <a:tc>
                  <a:txBody>
                    <a:bodyPr wrap="square"/>
                    <a:lstStyle/>
                    <a:p>
                      <a:pPr algn="l"/>
                      <a:r>
                        <a:rPr sz="1300" b="0" i="0">
                          <a:solidFill>
                            <a:srgbClr val="14171C"/>
                          </a:solidFill>
                          <a:latin typeface="Calibri"/>
                        </a:rPr>
                        <a:t>Eq. 51 is right; the printed units are not</a:t>
                      </a:r>
                    </a:p>
                  </a:txBody>
                  <a:tcPr marL="54864" marR="54864" marT="22860" marB="22860" anchor="ctr">
                    <a:solidFill>
                      <a:srgbClr val="FFFFFF"/>
                    </a:solidFill>
                  </a:tcPr>
                </a:tc>
              </a:tr>
              <a:tr h="429768">
                <a:tc>
                  <a:txBody>
                    <a:bodyPr wrap="square"/>
                    <a:lstStyle/>
                    <a:p>
                      <a:pPr algn="l"/>
                      <a:r>
                        <a:rPr sz="1300" b="1" i="0">
                          <a:solidFill>
                            <a:srgbClr val="14171C"/>
                          </a:solidFill>
                          <a:latin typeface="Calibri"/>
                        </a:rPr>
                        <a:t>Fig. A10</a:t>
                      </a:r>
                    </a:p>
                  </a:txBody>
                  <a:tcPr marL="54864" marR="54864" marT="22860" marB="22860" anchor="ctr">
                    <a:solidFill>
                      <a:srgbClr val="F2F3F5"/>
                    </a:solidFill>
                  </a:tcPr>
                </a:tc>
                <a:tc>
                  <a:txBody>
                    <a:bodyPr wrap="square"/>
                    <a:lstStyle/>
                    <a:p>
                      <a:pPr algn="l"/>
                      <a:r>
                        <a:rPr sz="1300" b="0" i="0">
                          <a:solidFill>
                            <a:srgbClr val="14171C"/>
                          </a:solidFill>
                          <a:latin typeface="Calibri"/>
                        </a:rPr>
                        <a:t>axis labelled PS9/P49</a:t>
                      </a:r>
                    </a:p>
                  </a:txBody>
                  <a:tcPr marL="54864" marR="54864" marT="22860" marB="22860" anchor="ctr">
                    <a:solidFill>
                      <a:srgbClr val="F2F3F5"/>
                    </a:solidFill>
                  </a:tcPr>
                </a:tc>
                <a:tc>
                  <a:txBody>
                    <a:bodyPr wrap="square"/>
                    <a:lstStyle/>
                    <a:p>
                      <a:pPr algn="l"/>
                      <a:r>
                        <a:rPr sz="1300" b="0" i="0">
                          <a:solidFill>
                            <a:srgbClr val="14171C"/>
                          </a:solidFill>
                          <a:latin typeface="Calibri"/>
                        </a:rPr>
                        <a:t>the values are P49/Ps9, as Eq. 38 needs</a:t>
                      </a:r>
                    </a:p>
                  </a:txBody>
                  <a:tcPr marL="54864" marR="54864" marT="22860" marB="22860" anchor="ctr">
                    <a:solidFill>
                      <a:srgbClr val="F2F3F5"/>
                    </a:solidFill>
                  </a:tcPr>
                </a:tc>
              </a:tr>
              <a:tr h="429768">
                <a:tc>
                  <a:txBody>
                    <a:bodyPr wrap="square"/>
                    <a:lstStyle/>
                    <a:p>
                      <a:pPr algn="l"/>
                      <a:r>
                        <a:rPr sz="1300" b="1" i="0">
                          <a:solidFill>
                            <a:srgbClr val="14171C"/>
                          </a:solidFill>
                          <a:latin typeface="Calibri"/>
                        </a:rPr>
                        <a:t>Fig. A3</a:t>
                      </a:r>
                    </a:p>
                  </a:txBody>
                  <a:tcPr marL="54864" marR="54864" marT="22860" marB="22860" anchor="ctr">
                    <a:solidFill>
                      <a:srgbClr val="FFFFFF"/>
                    </a:solidFill>
                  </a:tcPr>
                </a:tc>
                <a:tc>
                  <a:txBody>
                    <a:bodyPr wrap="square"/>
                    <a:lstStyle/>
                    <a:p>
                      <a:pPr algn="l"/>
                      <a:r>
                        <a:rPr sz="1300" b="0" i="0">
                          <a:solidFill>
                            <a:srgbClr val="14171C"/>
                          </a:solidFill>
                          <a:latin typeface="Calibri"/>
                        </a:rPr>
                        <a:t>the 0.11 tick label sits off its tick</a:t>
                      </a:r>
                    </a:p>
                  </a:txBody>
                  <a:tcPr marL="54864" marR="54864" marT="22860" marB="22860" anchor="ctr">
                    <a:solidFill>
                      <a:srgbClr val="FFFFFF"/>
                    </a:solidFill>
                  </a:tcPr>
                </a:tc>
                <a:tc>
                  <a:txBody>
                    <a:bodyPr wrap="square"/>
                    <a:lstStyle/>
                    <a:p>
                      <a:pPr algn="l"/>
                      <a:r>
                        <a:rPr sz="1300" b="0" i="0">
                          <a:solidFill>
                            <a:srgbClr val="14171C"/>
                          </a:solidFill>
                          <a:latin typeface="Calibri"/>
                        </a:rPr>
                        <a:t>the plateau is 0.1091; the label is the defect</a:t>
                      </a:r>
                    </a:p>
                  </a:txBody>
                  <a:tcPr marL="54864" marR="54864" marT="22860" marB="22860" anchor="ctr">
                    <a:solidFill>
                      <a:srgbClr val="FFFFFF"/>
                    </a:solidFill>
                  </a:tcPr>
                </a:tc>
              </a:tr>
              <a:tr h="429768">
                <a:tc>
                  <a:txBody>
                    <a:bodyPr wrap="square"/>
                    <a:lstStyle/>
                    <a:p>
                      <a:pPr algn="l"/>
                      <a:r>
                        <a:rPr sz="1300" b="1" i="0">
                          <a:solidFill>
                            <a:srgbClr val="14171C"/>
                          </a:solidFill>
                          <a:latin typeface="Calibri"/>
                        </a:rPr>
                        <a:t>Table 1</a:t>
                      </a:r>
                    </a:p>
                  </a:txBody>
                  <a:tcPr marL="54864" marR="54864" marT="22860" marB="22860" anchor="ctr">
                    <a:solidFill>
                      <a:srgbClr val="F2F3F5"/>
                    </a:solidFill>
                  </a:tcPr>
                </a:tc>
                <a:tc>
                  <a:txBody>
                    <a:bodyPr wrap="square"/>
                    <a:lstStyle/>
                    <a:p>
                      <a:pPr algn="l"/>
                      <a:r>
                        <a:rPr sz="1300" b="0" i="0">
                          <a:solidFill>
                            <a:srgbClr val="14171C"/>
                          </a:solidFill>
                          <a:latin typeface="Calibri"/>
                        </a:rPr>
                        <a:t>descent modes P41 −4430, P45 −4530</a:t>
                      </a:r>
                    </a:p>
                  </a:txBody>
                  <a:tcPr marL="54864" marR="54864" marT="22860" marB="22860" anchor="ctr">
                    <a:solidFill>
                      <a:srgbClr val="F2F3F5"/>
                    </a:solidFill>
                  </a:tcPr>
                </a:tc>
                <a:tc>
                  <a:txBody>
                    <a:bodyPr wrap="square"/>
                    <a:lstStyle/>
                    <a:p>
                      <a:pPr algn="l"/>
                      <a:r>
                        <a:rPr sz="1300" b="0" i="0">
                          <a:solidFill>
                            <a:srgbClr val="14171C"/>
                          </a:solidFill>
                          <a:latin typeface="Calibri"/>
                        </a:rPr>
                        <a:t>Figure B6, the same model and trim, has them the other way round; scored as printed</a:t>
                      </a:r>
                    </a:p>
                  </a:txBody>
                  <a:tcPr marL="54864" marR="54864" marT="22860" marB="22860" anchor="ctr">
                    <a:solidFill>
                      <a:srgbClr val="F2F3F5"/>
                    </a:solidFill>
                  </a:tcPr>
                </a:tc>
              </a:tr>
            </a:tbl>
          </a:graphicData>
        </a:graphic>
      </p:graphicFrame>
      <p:sp>
        <p:nvSpPr>
          <p:cNvPr id="9" name="TextBox 8"/>
          <p:cNvSpPr txBox="1"/>
          <p:nvPr/>
        </p:nvSpPr>
        <p:spPr>
          <a:xfrm>
            <a:off x="502920" y="5486400"/>
            <a:ext cx="11185855" cy="640080"/>
          </a:xfrm>
          <a:prstGeom prst="rect">
            <a:avLst/>
          </a:prstGeom>
          <a:noFill/>
        </p:spPr>
        <p:txBody>
          <a:bodyPr wrap="square" anchor="t" lIns="36576" rIns="36576" tIns="27432" bIns="27432">
            <a:noAutofit/>
          </a:bodyPr>
          <a:lstStyle/>
          <a:p>
            <a:pPr>
              <a:lnSpc>
                <a:spcPct val="105000"/>
              </a:lnSpc>
              <a:spcBef>
                <a:spcPts val="0"/>
              </a:spcBef>
            </a:pPr>
            <a:r>
              <a:rPr sz="1400" b="0" i="0">
                <a:solidFill>
                  <a:srgbClr val="4D5563"/>
                </a:solidFill>
                <a:latin typeface="Calibri"/>
              </a:rPr>
              <a:t>In each case the report itself decides the question; nothing is corrected from outside knowledge.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Where we differ from the report: four departures</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pdf pp.37, 39, 56, 86–89</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63</a:t>
            </a:r>
          </a:p>
        </p:txBody>
      </p:sp>
      <p:graphicFrame>
        <p:nvGraphicFramePr>
          <p:cNvPr id="8" name="Table 7"/>
          <p:cNvGraphicFramePr>
            <a:graphicFrameLocks noGrp="1"/>
          </p:cNvGraphicFramePr>
          <p:nvPr/>
        </p:nvGraphicFramePr>
        <p:xfrm>
          <a:off x="502920" y="1325880"/>
          <a:ext cx="11185854" cy="3858768"/>
        </p:xfrm>
        <a:graphic>
          <a:graphicData uri="http://schemas.openxmlformats.org/drawingml/2006/table">
            <a:tbl>
              <a:tblPr firstRow="1">
                <a:tableStyleId>{5C22544A-7EE6-4342-B048-85BDC9FD1C3A}</a:tableStyleId>
              </a:tblPr>
              <a:tblGrid>
                <a:gridCol w="2383870"/>
                <a:gridCol w="2475558"/>
                <a:gridCol w="3300744"/>
                <a:gridCol w="3025682"/>
              </a:tblGrid>
              <a:tr h="384048">
                <a:tc>
                  <a:txBody>
                    <a:bodyPr wrap="square"/>
                    <a:lstStyle/>
                    <a:p>
                      <a:pPr algn="l"/>
                      <a:r>
                        <a:rPr sz="1300" b="1" i="0">
                          <a:solidFill>
                            <a:srgbClr val="FFFFFF"/>
                          </a:solidFill>
                          <a:latin typeface="Calibri"/>
                        </a:rPr>
                        <a:t>What</a:t>
                      </a:r>
                    </a:p>
                  </a:txBody>
                  <a:tcPr marL="54864" marR="54864" marT="22860" marB="22860" anchor="ctr">
                    <a:solidFill>
                      <a:srgbClr val="4D5563"/>
                    </a:solidFill>
                  </a:tcPr>
                </a:tc>
                <a:tc>
                  <a:txBody>
                    <a:bodyPr wrap="square"/>
                    <a:lstStyle/>
                    <a:p>
                      <a:pPr algn="l"/>
                      <a:r>
                        <a:rPr sz="1300" b="1" i="0">
                          <a:solidFill>
                            <a:srgbClr val="FFFFFF"/>
                          </a:solidFill>
                          <a:latin typeface="Calibri"/>
                        </a:rPr>
                        <a:t>The report</a:t>
                      </a:r>
                    </a:p>
                  </a:txBody>
                  <a:tcPr marL="54864" marR="54864" marT="22860" marB="22860" anchor="ctr">
                    <a:solidFill>
                      <a:srgbClr val="4D5563"/>
                    </a:solidFill>
                  </a:tcPr>
                </a:tc>
                <a:tc>
                  <a:txBody>
                    <a:bodyPr wrap="square"/>
                    <a:lstStyle/>
                    <a:p>
                      <a:pPr algn="l"/>
                      <a:r>
                        <a:rPr sz="1300" b="1" i="0">
                          <a:solidFill>
                            <a:srgbClr val="FFFFFF"/>
                          </a:solidFill>
                          <a:latin typeface="Calibri"/>
                        </a:rPr>
                        <a:t>We</a:t>
                      </a:r>
                    </a:p>
                  </a:txBody>
                  <a:tcPr marL="54864" marR="54864" marT="22860" marB="22860" anchor="ctr">
                    <a:solidFill>
                      <a:srgbClr val="4D5563"/>
                    </a:solidFill>
                  </a:tcPr>
                </a:tc>
                <a:tc>
                  <a:txBody>
                    <a:bodyPr wrap="square"/>
                    <a:lstStyle/>
                    <a:p>
                      <a:pPr algn="l"/>
                      <a:r>
                        <a:rPr sz="1300" b="1" i="0">
                          <a:solidFill>
                            <a:srgbClr val="FFFFFF"/>
                          </a:solidFill>
                          <a:latin typeface="Calibri"/>
                        </a:rPr>
                        <a:t>What it changes</a:t>
                      </a:r>
                    </a:p>
                  </a:txBody>
                  <a:tcPr marL="54864" marR="54864" marT="22860" marB="22860" anchor="ctr">
                    <a:solidFill>
                      <a:srgbClr val="4D5563"/>
                    </a:solidFill>
                  </a:tcPr>
                </a:tc>
              </a:tr>
              <a:tr h="868680">
                <a:tc>
                  <a:txBody>
                    <a:bodyPr wrap="square"/>
                    <a:lstStyle/>
                    <a:p>
                      <a:pPr algn="l"/>
                      <a:r>
                        <a:rPr sz="1300" b="1" i="0">
                          <a:solidFill>
                            <a:srgbClr val="14171C"/>
                          </a:solidFill>
                          <a:latin typeface="Calibri"/>
                        </a:rPr>
                        <a:t>P45 solve (Eq. 80)</a:t>
                      </a:r>
                    </a:p>
                  </a:txBody>
                  <a:tcPr marL="54864" marR="54864" marT="22860" marB="22860" anchor="ctr">
                    <a:solidFill>
                      <a:srgbClr val="FFFFFF"/>
                    </a:solidFill>
                  </a:tcPr>
                </a:tc>
                <a:tc>
                  <a:txBody>
                    <a:bodyPr wrap="square"/>
                    <a:lstStyle/>
                    <a:p>
                      <a:pPr algn="l"/>
                      <a:r>
                        <a:rPr sz="1300" b="0" i="0">
                          <a:solidFill>
                            <a:srgbClr val="14171C"/>
                          </a:solidFill>
                          <a:latin typeface="Calibri"/>
                        </a:rPr>
                        <a:t>fixed-point iteration</a:t>
                      </a:r>
                    </a:p>
                  </a:txBody>
                  <a:tcPr marL="54864" marR="54864" marT="22860" marB="22860" anchor="ctr">
                    <a:solidFill>
                      <a:srgbClr val="FFFFFF"/>
                    </a:solidFill>
                  </a:tcPr>
                </a:tc>
                <a:tc>
                  <a:txBody>
                    <a:bodyPr wrap="square"/>
                    <a:lstStyle/>
                    <a:p>
                      <a:pPr algn="l"/>
                      <a:r>
                        <a:rPr sz="1300" b="0" i="0">
                          <a:solidFill>
                            <a:srgbClr val="14171C"/>
                          </a:solidFill>
                          <a:latin typeface="Calibri"/>
                        </a:rPr>
                        <a:t>the same iteration first; an exact solve where it cannot converge</a:t>
                      </a:r>
                    </a:p>
                  </a:txBody>
                  <a:tcPr marL="54864" marR="54864" marT="22860" marB="22860" anchor="ctr">
                    <a:solidFill>
                      <a:srgbClr val="FFFFFF"/>
                    </a:solidFill>
                  </a:tcPr>
                </a:tc>
                <a:tc>
                  <a:txBody>
                    <a:bodyPr wrap="square"/>
                    <a:lstStyle/>
                    <a:p>
                      <a:pPr algn="l"/>
                      <a:r>
                        <a:rPr sz="1300" b="0" i="0">
                          <a:solidFill>
                            <a:srgbClr val="14171C"/>
                          </a:solidFill>
                          <a:latin typeface="Calibri"/>
                        </a:rPr>
                        <a:t>only in a chop and below flight idle: removes false equilibria</a:t>
                      </a:r>
                    </a:p>
                  </a:txBody>
                  <a:tcPr marL="54864" marR="54864" marT="22860" marB="22860" anchor="ctr">
                    <a:solidFill>
                      <a:srgbClr val="FFFFFF"/>
                    </a:solidFill>
                  </a:tcPr>
                </a:tc>
              </a:tr>
              <a:tr h="868680">
                <a:tc>
                  <a:txBody>
                    <a:bodyPr wrap="square"/>
                    <a:lstStyle/>
                    <a:p>
                      <a:pPr algn="l"/>
                      <a:r>
                        <a:rPr sz="1300" b="1" i="0">
                          <a:solidFill>
                            <a:srgbClr val="14171C"/>
                          </a:solidFill>
                          <a:latin typeface="Calibri"/>
                        </a:rPr>
                        <a:t>Compressor map interpolation (f1)</a:t>
                      </a:r>
                    </a:p>
                  </a:txBody>
                  <a:tcPr marL="54864" marR="54864" marT="22860" marB="22860" anchor="ctr">
                    <a:solidFill>
                      <a:srgbClr val="F2F3F5"/>
                    </a:solidFill>
                  </a:tcPr>
                </a:tc>
                <a:tc>
                  <a:txBody>
                    <a:bodyPr wrap="square"/>
                    <a:lstStyle/>
                    <a:p>
                      <a:pPr algn="l"/>
                      <a:r>
                        <a:rPr sz="1300" b="0" i="0">
                          <a:solidFill>
                            <a:srgbClr val="14171C"/>
                          </a:solidFill>
                          <a:latin typeface="Calibri"/>
                        </a:rPr>
                        <a:t>seven printed points per speed line</a:t>
                      </a:r>
                    </a:p>
                  </a:txBody>
                  <a:tcPr marL="54864" marR="54864" marT="22860" marB="22860" anchor="ctr">
                    <a:solidFill>
                      <a:srgbClr val="F2F3F5"/>
                    </a:solidFill>
                  </a:tcPr>
                </a:tc>
                <a:tc>
                  <a:txBody>
                    <a:bodyPr wrap="square"/>
                    <a:lstStyle/>
                    <a:p>
                      <a:pPr algn="l"/>
                      <a:r>
                        <a:rPr sz="1300" b="0" i="0">
                          <a:solidFill>
                            <a:srgbClr val="14171C"/>
                          </a:solidFill>
                          <a:latin typeface="Calibri"/>
                        </a:rPr>
                        <a:t>each speed line traced from the drawn line; his table kept beside it</a:t>
                      </a:r>
                    </a:p>
                  </a:txBody>
                  <a:tcPr marL="54864" marR="54864" marT="22860" marB="22860" anchor="ctr">
                    <a:solidFill>
                      <a:srgbClr val="F2F3F5"/>
                    </a:solidFill>
                  </a:tcPr>
                </a:tc>
                <a:tc>
                  <a:txBody>
                    <a:bodyPr wrap="square"/>
                    <a:lstStyle/>
                    <a:p>
                      <a:pPr algn="l"/>
                      <a:r>
                        <a:rPr sz="1300" b="0" i="0">
                          <a:solidFill>
                            <a:srgbClr val="14171C"/>
                          </a:solidFill>
                          <a:latin typeface="Calibri"/>
                        </a:rPr>
                        <a:t>better on some comparisons, worse on others; kept by decision</a:t>
                      </a:r>
                    </a:p>
                  </a:txBody>
                  <a:tcPr marL="54864" marR="54864" marT="22860" marB="22860" anchor="ctr">
                    <a:solidFill>
                      <a:srgbClr val="F2F3F5"/>
                    </a:solidFill>
                  </a:tcPr>
                </a:tc>
              </a:tr>
              <a:tr h="868680">
                <a:tc>
                  <a:txBody>
                    <a:bodyPr wrap="square"/>
                    <a:lstStyle/>
                    <a:p>
                      <a:pPr algn="l"/>
                      <a:r>
                        <a:rPr sz="1300" b="1" i="0">
                          <a:solidFill>
                            <a:srgbClr val="14171C"/>
                          </a:solidFill>
                          <a:latin typeface="Calibri"/>
                        </a:rPr>
                        <a:t>Above the map's top line</a:t>
                      </a:r>
                    </a:p>
                  </a:txBody>
                  <a:tcPr marL="54864" marR="54864" marT="22860" marB="22860" anchor="ctr">
                    <a:solidFill>
                      <a:srgbClr val="FFFFFF"/>
                    </a:solidFill>
                  </a:tcPr>
                </a:tc>
                <a:tc>
                  <a:txBody>
                    <a:bodyPr wrap="square"/>
                    <a:lstStyle/>
                    <a:p>
                      <a:pPr algn="l"/>
                      <a:r>
                        <a:rPr sz="1300" b="0" i="0">
                          <a:solidFill>
                            <a:srgbClr val="14171C"/>
                          </a:solidFill>
                          <a:latin typeface="Calibri"/>
                        </a:rPr>
                        <a:t>the map ends at 100 %NG</a:t>
                      </a:r>
                    </a:p>
                  </a:txBody>
                  <a:tcPr marL="54864" marR="54864" marT="22860" marB="22860" anchor="ctr">
                    <a:solidFill>
                      <a:srgbClr val="FFFFFF"/>
                    </a:solidFill>
                  </a:tcPr>
                </a:tc>
                <a:tc>
                  <a:txBody>
                    <a:bodyPr wrap="square"/>
                    <a:lstStyle/>
                    <a:p>
                      <a:pPr algn="l"/>
                      <a:r>
                        <a:rPr sz="1300" b="0" i="0">
                          <a:solidFill>
                            <a:srgbClr val="14171C"/>
                          </a:solidFill>
                          <a:latin typeface="Calibri"/>
                        </a:rPr>
                        <a:t>f1 extends a tenth of a point above 100 % before it clamps</a:t>
                      </a:r>
                    </a:p>
                  </a:txBody>
                  <a:tcPr marL="54864" marR="54864" marT="22860" marB="22860" anchor="ctr">
                    <a:solidFill>
                      <a:srgbClr val="FFFFFF"/>
                    </a:solidFill>
                  </a:tcPr>
                </a:tc>
                <a:tc>
                  <a:txBody>
                    <a:bodyPr wrap="square"/>
                    <a:lstStyle/>
                    <a:p>
                      <a:pPr algn="l"/>
                      <a:r>
                        <a:rPr sz="1300" b="0" i="0">
                          <a:solidFill>
                            <a:srgbClr val="14171C"/>
                          </a:solidFill>
                          <a:latin typeface="Calibri"/>
                        </a:rPr>
                        <a:t>reaches Ballin's top points of Figures 6–8; nothing else moves</a:t>
                      </a:r>
                    </a:p>
                  </a:txBody>
                  <a:tcPr marL="54864" marR="54864" marT="22860" marB="22860" anchor="ctr">
                    <a:solidFill>
                      <a:srgbClr val="FFFFFF"/>
                    </a:solidFill>
                  </a:tcPr>
                </a:tc>
              </a:tr>
              <a:tr h="868680">
                <a:tc>
                  <a:txBody>
                    <a:bodyPr wrap="square"/>
                    <a:lstStyle/>
                    <a:p>
                      <a:pPr algn="l"/>
                      <a:r>
                        <a:rPr sz="1300" b="1" i="0">
                          <a:solidFill>
                            <a:srgbClr val="14171C"/>
                          </a:solidFill>
                          <a:latin typeface="Calibri"/>
                        </a:rPr>
                        <a:t>Limited integrators (Figs. C3, C7, C10)</a:t>
                      </a:r>
                    </a:p>
                  </a:txBody>
                  <a:tcPr marL="54864" marR="54864" marT="22860" marB="22860" anchor="ctr">
                    <a:solidFill>
                      <a:srgbClr val="F2F3F5"/>
                    </a:solidFill>
                  </a:tcPr>
                </a:tc>
                <a:tc>
                  <a:txBody>
                    <a:bodyPr wrap="square"/>
                    <a:lstStyle/>
                    <a:p>
                      <a:pPr algn="l"/>
                      <a:r>
                        <a:rPr sz="1300" b="0" i="0">
                          <a:solidFill>
                            <a:srgbClr val="14171C"/>
                          </a:solidFill>
                          <a:latin typeface="Calibri"/>
                        </a:rPr>
                        <a:t>an integrator and a separate limiter, which winds up</a:t>
                      </a:r>
                    </a:p>
                  </a:txBody>
                  <a:tcPr marL="54864" marR="54864" marT="22860" marB="22860" anchor="ctr">
                    <a:solidFill>
                      <a:srgbClr val="F2F3F5"/>
                    </a:solidFill>
                  </a:tcPr>
                </a:tc>
                <a:tc>
                  <a:txBody>
                    <a:bodyPr wrap="square"/>
                    <a:lstStyle/>
                    <a:p>
                      <a:pPr algn="l"/>
                      <a:r>
                        <a:rPr sz="1300" b="0" i="0">
                          <a:solidFill>
                            <a:srgbClr val="14171C"/>
                          </a:solidFill>
                          <a:latin typeface="Calibri"/>
                        </a:rPr>
                        <a:t>a clamped integrator, which does not</a:t>
                      </a:r>
                    </a:p>
                  </a:txBody>
                  <a:tcPr marL="54864" marR="54864" marT="22860" marB="22860" anchor="ctr">
                    <a:solidFill>
                      <a:srgbClr val="F2F3F5"/>
                    </a:solidFill>
                  </a:tcPr>
                </a:tc>
                <a:tc>
                  <a:txBody>
                    <a:bodyPr wrap="square"/>
                    <a:lstStyle/>
                    <a:p>
                      <a:pPr algn="l"/>
                      <a:r>
                        <a:rPr sz="1300" b="0" i="0">
                          <a:solidFill>
                            <a:srgbClr val="14171C"/>
                          </a:solidFill>
                          <a:latin typeface="Calibri"/>
                        </a:rPr>
                        <a:t>identical on everything printed; differs only in a sustained load dump</a:t>
                      </a:r>
                    </a:p>
                  </a:txBody>
                  <a:tcPr marL="54864" marR="54864" marT="22860" marB="22860" anchor="ctr">
                    <a:solidFill>
                      <a:srgbClr val="F2F3F5"/>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Where the report is silent or ambiguous, and what we chose</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64</a:t>
            </a:r>
          </a:p>
        </p:txBody>
      </p:sp>
      <p:graphicFrame>
        <p:nvGraphicFramePr>
          <p:cNvPr id="7" name="Table 6"/>
          <p:cNvGraphicFramePr>
            <a:graphicFrameLocks noGrp="1"/>
          </p:cNvGraphicFramePr>
          <p:nvPr/>
        </p:nvGraphicFramePr>
        <p:xfrm>
          <a:off x="502920" y="1325880"/>
          <a:ext cx="11185854" cy="4096512"/>
        </p:xfrm>
        <a:graphic>
          <a:graphicData uri="http://schemas.openxmlformats.org/drawingml/2006/table">
            <a:tbl>
              <a:tblPr firstRow="1">
                <a:tableStyleId>{5C22544A-7EE6-4342-B048-85BDC9FD1C3A}</a:tableStyleId>
              </a:tblPr>
              <a:tblGrid>
                <a:gridCol w="3117369"/>
                <a:gridCol w="3300744"/>
                <a:gridCol w="4767741"/>
              </a:tblGrid>
              <a:tr h="512064">
                <a:tc>
                  <a:txBody>
                    <a:bodyPr wrap="square"/>
                    <a:lstStyle/>
                    <a:p>
                      <a:pPr algn="l"/>
                      <a:r>
                        <a:rPr sz="1300" b="1" i="0">
                          <a:solidFill>
                            <a:srgbClr val="FFFFFF"/>
                          </a:solidFill>
                          <a:latin typeface="Calibri"/>
                        </a:rPr>
                        <a:t>Question</a:t>
                      </a:r>
                    </a:p>
                  </a:txBody>
                  <a:tcPr marL="54864" marR="54864" marT="22860" marB="22860" anchor="ctr">
                    <a:solidFill>
                      <a:srgbClr val="4D5563"/>
                    </a:solidFill>
                  </a:tcPr>
                </a:tc>
                <a:tc>
                  <a:txBody>
                    <a:bodyPr wrap="square"/>
                    <a:lstStyle/>
                    <a:p>
                      <a:pPr algn="l"/>
                      <a:r>
                        <a:rPr sz="1300" b="1" i="0">
                          <a:solidFill>
                            <a:srgbClr val="FFFFFF"/>
                          </a:solidFill>
                          <a:latin typeface="Calibri"/>
                        </a:rPr>
                        <a:t>Our choice</a:t>
                      </a:r>
                    </a:p>
                  </a:txBody>
                  <a:tcPr marL="54864" marR="54864" marT="22860" marB="22860" anchor="ctr">
                    <a:solidFill>
                      <a:srgbClr val="4D5563"/>
                    </a:solidFill>
                  </a:tcPr>
                </a:tc>
                <a:tc>
                  <a:txBody>
                    <a:bodyPr wrap="square"/>
                    <a:lstStyle/>
                    <a:p>
                      <a:pPr algn="l"/>
                      <a:r>
                        <a:rPr sz="1300" b="1" i="0">
                          <a:solidFill>
                            <a:srgbClr val="FFFFFF"/>
                          </a:solidFill>
                          <a:latin typeface="Calibri"/>
                        </a:rPr>
                        <a:t>Why</a:t>
                      </a:r>
                    </a:p>
                  </a:txBody>
                  <a:tcPr marL="54864" marR="54864" marT="22860" marB="22860" anchor="ctr">
                    <a:solidFill>
                      <a:srgbClr val="4D5563"/>
                    </a:solidFill>
                  </a:tcPr>
                </a:tc>
              </a:tr>
              <a:tr h="512064">
                <a:tc>
                  <a:txBody>
                    <a:bodyPr wrap="square"/>
                    <a:lstStyle/>
                    <a:p>
                      <a:pPr algn="l"/>
                      <a:r>
                        <a:rPr sz="1300" b="1" i="0">
                          <a:solidFill>
                            <a:srgbClr val="14171C"/>
                          </a:solidFill>
                          <a:latin typeface="Calibri"/>
                        </a:rPr>
                        <a:t>Which runs used the heat sink</a:t>
                      </a:r>
                    </a:p>
                  </a:txBody>
                  <a:tcPr marL="54864" marR="54864" marT="22860" marB="22860" anchor="ctr">
                    <a:solidFill>
                      <a:srgbClr val="FFFFFF"/>
                    </a:solidFill>
                  </a:tcPr>
                </a:tc>
                <a:tc>
                  <a:txBody>
                    <a:bodyPr wrap="square"/>
                    <a:lstStyle/>
                    <a:p>
                      <a:pPr algn="l"/>
                      <a:r>
                        <a:rPr sz="1300" b="0" i="0">
                          <a:solidFill>
                            <a:srgbClr val="14171C"/>
                          </a:solidFill>
                          <a:latin typeface="Calibri"/>
                        </a:rPr>
                        <a:t>a switch; Figures 9–10 with it</a:t>
                      </a:r>
                    </a:p>
                  </a:txBody>
                  <a:tcPr marL="54864" marR="54864" marT="22860" marB="22860" anchor="ctr">
                    <a:solidFill>
                      <a:srgbClr val="FFFFFF"/>
                    </a:solidFill>
                  </a:tcPr>
                </a:tc>
                <a:tc>
                  <a:txBody>
                    <a:bodyPr wrap="square"/>
                    <a:lstStyle/>
                    <a:p>
                      <a:pPr algn="l"/>
                      <a:r>
                        <a:rPr sz="1300" b="0" i="0">
                          <a:solidFill>
                            <a:srgbClr val="14171C"/>
                          </a:solidFill>
                          <a:latin typeface="Calibri"/>
                        </a:rPr>
                        <a:t>the report says so only for its linear results; for 9–10 it is our inference</a:t>
                      </a:r>
                    </a:p>
                  </a:txBody>
                  <a:tcPr marL="54864" marR="54864" marT="22860" marB="22860" anchor="ctr">
                    <a:solidFill>
                      <a:srgbClr val="FFFFFF"/>
                    </a:solidFill>
                  </a:tcPr>
                </a:tc>
              </a:tr>
              <a:tr h="512064">
                <a:tc>
                  <a:txBody>
                    <a:bodyPr wrap="square"/>
                    <a:lstStyle/>
                    <a:p>
                      <a:pPr algn="l"/>
                      <a:r>
                        <a:rPr sz="1300" b="1" i="0">
                          <a:solidFill>
                            <a:srgbClr val="14171C"/>
                          </a:solidFill>
                          <a:latin typeface="Calibri"/>
                        </a:rPr>
                        <a:t>Order inside a frame (Q</a:t>
                      </a:r>
                      <a:r>
                        <a:rPr sz="1300" b="1" i="0" baseline="-25000">
                          <a:solidFill>
                            <a:srgbClr val="14171C"/>
                          </a:solidFill>
                          <a:latin typeface="Calibri"/>
                        </a:rPr>
                        <a:t>GT</a:t>
                      </a:r>
                      <a:r>
                        <a:rPr sz="1300" b="1" i="0">
                          <a:solidFill>
                            <a:srgbClr val="14171C"/>
                          </a:solidFill>
                          <a:latin typeface="Calibri"/>
                        </a:rPr>
                        <a:t>'s P45)</a:t>
                      </a:r>
                    </a:p>
                  </a:txBody>
                  <a:tcPr marL="54864" marR="54864" marT="22860" marB="22860" anchor="ctr">
                    <a:solidFill>
                      <a:srgbClr val="F2F3F5"/>
                    </a:solidFill>
                  </a:tcPr>
                </a:tc>
                <a:tc>
                  <a:txBody>
                    <a:bodyPr wrap="square"/>
                    <a:lstStyle/>
                    <a:p>
                      <a:pPr algn="l"/>
                      <a:r>
                        <a:rPr sz="1300" b="0" i="0">
                          <a:solidFill>
                            <a:srgbClr val="14171C"/>
                          </a:solidFill>
                          <a:latin typeface="Calibri"/>
                        </a:rPr>
                        <a:t>the previous frame's P45</a:t>
                      </a:r>
                    </a:p>
                  </a:txBody>
                  <a:tcPr marL="54864" marR="54864" marT="22860" marB="22860" anchor="ctr">
                    <a:solidFill>
                      <a:srgbClr val="F2F3F5"/>
                    </a:solidFill>
                  </a:tcPr>
                </a:tc>
                <a:tc>
                  <a:txBody>
                    <a:bodyPr wrap="square"/>
                    <a:lstStyle/>
                    <a:p>
                      <a:pPr algn="l"/>
                      <a:r>
                        <a:rPr sz="1300" b="0" i="0">
                          <a:solidFill>
                            <a:srgbClr val="14171C"/>
                          </a:solidFill>
                          <a:latin typeface="Calibri"/>
                        </a:rPr>
                        <a:t>Ballin's own Figure 9 fits it clearly better</a:t>
                      </a:r>
                    </a:p>
                  </a:txBody>
                  <a:tcPr marL="54864" marR="54864" marT="22860" marB="22860" anchor="ctr">
                    <a:solidFill>
                      <a:srgbClr val="F2F3F5"/>
                    </a:solidFill>
                  </a:tcPr>
                </a:tc>
              </a:tr>
              <a:tr h="512064">
                <a:tc>
                  <a:txBody>
                    <a:bodyPr wrap="square"/>
                    <a:lstStyle/>
                    <a:p>
                      <a:pPr algn="l"/>
                      <a:r>
                        <a:rPr sz="1300" b="1" i="0">
                          <a:solidFill>
                            <a:srgbClr val="14171C"/>
                          </a:solidFill>
                          <a:latin typeface="Calibri"/>
                        </a:rPr>
                        <a:t>Eq. 74's two readings</a:t>
                      </a:r>
                    </a:p>
                  </a:txBody>
                  <a:tcPr marL="54864" marR="54864" marT="22860" marB="22860" anchor="ctr">
                    <a:solidFill>
                      <a:srgbClr val="FFFFFF"/>
                    </a:solidFill>
                  </a:tcPr>
                </a:tc>
                <a:tc>
                  <a:txBody>
                    <a:bodyPr wrap="square"/>
                    <a:lstStyle/>
                    <a:p>
                      <a:pPr algn="l"/>
                      <a:r>
                        <a:rPr sz="1300" b="0" i="0">
                          <a:solidFill>
                            <a:srgbClr val="14171C"/>
                          </a:solidFill>
                          <a:latin typeface="Calibri"/>
                        </a:rPr>
                        <a:t>the prose: whole flow lagged</a:t>
                      </a:r>
                    </a:p>
                  </a:txBody>
                  <a:tcPr marL="54864" marR="54864" marT="22860" marB="22860" anchor="ctr">
                    <a:solidFill>
                      <a:srgbClr val="FFFFFF"/>
                    </a:solidFill>
                  </a:tcPr>
                </a:tc>
                <a:tc>
                  <a:txBody>
                    <a:bodyPr wrap="square"/>
                    <a:lstStyle/>
                    <a:p>
                      <a:pPr algn="l"/>
                      <a:r>
                        <a:rPr sz="1300" b="0" i="0">
                          <a:solidFill>
                            <a:srgbClr val="14171C"/>
                          </a:solidFill>
                          <a:latin typeface="Calibri"/>
                        </a:rPr>
                        <a:t>it is the sentence that describes opening the loop; both converge to the same trim</a:t>
                      </a:r>
                    </a:p>
                  </a:txBody>
                  <a:tcPr marL="54864" marR="54864" marT="22860" marB="22860" anchor="ctr">
                    <a:solidFill>
                      <a:srgbClr val="FFFFFF"/>
                    </a:solidFill>
                  </a:tcPr>
                </a:tc>
              </a:tr>
              <a:tr h="512064">
                <a:tc>
                  <a:txBody>
                    <a:bodyPr wrap="square"/>
                    <a:lstStyle/>
                    <a:p>
                      <a:pPr algn="l"/>
                      <a:r>
                        <a:rPr sz="1300" b="1" i="0">
                          <a:solidFill>
                            <a:srgbClr val="14171C"/>
                          </a:solidFill>
                          <a:latin typeface="Calibri"/>
                        </a:rPr>
                        <a:t>Combustor efficiency f6</a:t>
                      </a:r>
                    </a:p>
                  </a:txBody>
                  <a:tcPr marL="54864" marR="54864" marT="22860" marB="22860" anchor="ctr">
                    <a:solidFill>
                      <a:srgbClr val="F2F3F5"/>
                    </a:solidFill>
                  </a:tcPr>
                </a:tc>
                <a:tc>
                  <a:txBody>
                    <a:bodyPr wrap="square"/>
                    <a:lstStyle/>
                    <a:p>
                      <a:pPr algn="l"/>
                      <a:r>
                        <a:rPr sz="1300" b="0" i="0">
                          <a:solidFill>
                            <a:srgbClr val="14171C"/>
                          </a:solidFill>
                          <a:latin typeface="Calibri"/>
                        </a:rPr>
                        <a:t>a constant</a:t>
                      </a:r>
                    </a:p>
                  </a:txBody>
                  <a:tcPr marL="54864" marR="54864" marT="22860" marB="22860" anchor="ctr">
                    <a:solidFill>
                      <a:srgbClr val="F2F3F5"/>
                    </a:solidFill>
                  </a:tcPr>
                </a:tc>
                <a:tc>
                  <a:txBody>
                    <a:bodyPr wrap="square"/>
                    <a:lstStyle/>
                    <a:p>
                      <a:pPr algn="l"/>
                      <a:r>
                        <a:rPr sz="1300" b="0" i="0">
                          <a:solidFill>
                            <a:srgbClr val="14171C"/>
                          </a:solidFill>
                          <a:latin typeface="Calibri"/>
                        </a:rPr>
                        <a:t>Figure A6 draws one; the slope was the page's tilt</a:t>
                      </a:r>
                    </a:p>
                  </a:txBody>
                  <a:tcPr marL="54864" marR="54864" marT="22860" marB="22860" anchor="ctr">
                    <a:solidFill>
                      <a:srgbClr val="F2F3F5"/>
                    </a:solidFill>
                  </a:tcPr>
                </a:tc>
              </a:tr>
              <a:tr h="512064">
                <a:tc>
                  <a:txBody>
                    <a:bodyPr wrap="square"/>
                    <a:lstStyle/>
                    <a:p>
                      <a:pPr algn="l"/>
                      <a:r>
                        <a:rPr sz="1300" b="1" i="0">
                          <a:solidFill>
                            <a:srgbClr val="14171C"/>
                          </a:solidFill>
                          <a:latin typeface="Calibri"/>
                        </a:rPr>
                        <a:t>Hysteresis constants</a:t>
                      </a:r>
                    </a:p>
                  </a:txBody>
                  <a:tcPr marL="54864" marR="54864" marT="22860" marB="22860" anchor="ctr">
                    <a:solidFill>
                      <a:srgbClr val="FFFFFF"/>
                    </a:solidFill>
                  </a:tcPr>
                </a:tc>
                <a:tc>
                  <a:txBody>
                    <a:bodyPr wrap="square"/>
                    <a:lstStyle/>
                    <a:p>
                      <a:pPr algn="l"/>
                      <a:r>
                        <a:rPr sz="1300" b="0" i="0">
                          <a:solidFill>
                            <a:srgbClr val="14171C"/>
                          </a:solidFill>
                          <a:latin typeface="Calibri"/>
                        </a:rPr>
                        <a:t>the whole band</a:t>
                      </a:r>
                    </a:p>
                  </a:txBody>
                  <a:tcPr marL="54864" marR="54864" marT="22860" marB="22860" anchor="ctr">
                    <a:solidFill>
                      <a:srgbClr val="FFFFFF"/>
                    </a:solidFill>
                  </a:tcPr>
                </a:tc>
                <a:tc>
                  <a:txBody>
                    <a:bodyPr wrap="square"/>
                    <a:lstStyle/>
                    <a:p>
                      <a:pPr algn="l"/>
                      <a:r>
                        <a:rPr sz="1300" b="0" i="0">
                          <a:solidFill>
                            <a:srgbClr val="14171C"/>
                          </a:solidFill>
                          <a:latin typeface="Calibri"/>
                        </a:rPr>
                        <a:t>the ordinary meaning; no printed response isolates it</a:t>
                      </a:r>
                    </a:p>
                  </a:txBody>
                  <a:tcPr marL="54864" marR="54864" marT="22860" marB="22860" anchor="ctr">
                    <a:solidFill>
                      <a:srgbClr val="FFFFFF"/>
                    </a:solidFill>
                  </a:tcPr>
                </a:tc>
              </a:tr>
              <a:tr h="512064">
                <a:tc>
                  <a:txBody>
                    <a:bodyPr wrap="square"/>
                    <a:lstStyle/>
                    <a:p>
                      <a:pPr algn="l"/>
                      <a:r>
                        <a:rPr sz="1300" b="1" i="0">
                          <a:solidFill>
                            <a:srgbClr val="14171C"/>
                          </a:solidFill>
                          <a:latin typeface="Calibri"/>
                        </a:rPr>
                        <a:t>Integrator; table interpolation</a:t>
                      </a:r>
                    </a:p>
                  </a:txBody>
                  <a:tcPr marL="54864" marR="54864" marT="22860" marB="22860" anchor="ctr">
                    <a:solidFill>
                      <a:srgbClr val="F2F3F5"/>
                    </a:solidFill>
                  </a:tcPr>
                </a:tc>
                <a:tc>
                  <a:txBody>
                    <a:bodyPr wrap="square"/>
                    <a:lstStyle/>
                    <a:p>
                      <a:pPr algn="l"/>
                      <a:r>
                        <a:rPr sz="1300" b="0" i="0">
                          <a:solidFill>
                            <a:srgbClr val="14171C"/>
                          </a:solidFill>
                          <a:latin typeface="Calibri"/>
                        </a:rPr>
                        <a:t>explicit Euler; linear</a:t>
                      </a:r>
                    </a:p>
                  </a:txBody>
                  <a:tcPr marL="54864" marR="54864" marT="22860" marB="22860" anchor="ctr">
                    <a:solidFill>
                      <a:srgbClr val="F2F3F5"/>
                    </a:solidFill>
                  </a:tcPr>
                </a:tc>
                <a:tc>
                  <a:txBody>
                    <a:bodyPr wrap="square"/>
                    <a:lstStyle/>
                    <a:p>
                      <a:pPr algn="l"/>
                      <a:r>
                        <a:rPr sz="1300" b="0" i="0">
                          <a:solidFill>
                            <a:srgbClr val="14171C"/>
                          </a:solidFill>
                          <a:latin typeface="Calibri"/>
                        </a:rPr>
                        <a:t>neither is named; linear is what the report's own numbers show</a:t>
                      </a:r>
                    </a:p>
                  </a:txBody>
                  <a:tcPr marL="54864" marR="54864" marT="22860" marB="22860" anchor="ctr">
                    <a:solidFill>
                      <a:srgbClr val="F2F3F5"/>
                    </a:solidFill>
                  </a:tcPr>
                </a:tc>
              </a:tr>
              <a:tr h="512064">
                <a:tc>
                  <a:txBody>
                    <a:bodyPr wrap="square"/>
                    <a:lstStyle/>
                    <a:p>
                      <a:pPr algn="l"/>
                      <a:r>
                        <a:rPr sz="1300" b="1" i="0">
                          <a:solidFill>
                            <a:srgbClr val="14171C"/>
                          </a:solidFill>
                          <a:latin typeface="Calibri"/>
                        </a:rPr>
                        <a:t>Initial state of the fuel control</a:t>
                      </a:r>
                    </a:p>
                  </a:txBody>
                  <a:tcPr marL="54864" marR="54864" marT="22860" marB="22860" anchor="ctr">
                    <a:solidFill>
                      <a:srgbClr val="FFFFFF"/>
                    </a:solidFill>
                  </a:tcPr>
                </a:tc>
                <a:tc>
                  <a:txBody>
                    <a:bodyPr wrap="square"/>
                    <a:lstStyle/>
                    <a:p>
                      <a:pPr algn="l"/>
                      <a:r>
                        <a:rPr sz="1300" b="0" i="0">
                          <a:solidFill>
                            <a:srgbClr val="14171C"/>
                          </a:solidFill>
                          <a:latin typeface="Calibri"/>
                        </a:rPr>
                        <a:t>every block in equilibrium</a:t>
                      </a:r>
                    </a:p>
                  </a:txBody>
                  <a:tcPr marL="54864" marR="54864" marT="22860" marB="22860" anchor="ctr">
                    <a:solidFill>
                      <a:srgbClr val="FFFFFF"/>
                    </a:solidFill>
                  </a:tcPr>
                </a:tc>
                <a:tc>
                  <a:txBody>
                    <a:bodyPr wrap="square"/>
                    <a:lstStyle/>
                    <a:p>
                      <a:pPr algn="l"/>
                      <a:r>
                        <a:rPr sz="1300" b="0" i="0">
                          <a:solidFill>
                            <a:srgbClr val="14171C"/>
                          </a:solidFill>
                          <a:latin typeface="Calibri"/>
                        </a:rPr>
                        <a:t>a trimmed engine then sits still</a:t>
                      </a:r>
                    </a:p>
                  </a:txBody>
                  <a:tcPr marL="54864" marR="54864" marT="22860" marB="22860" anchor="ctr">
                    <a:solidFill>
                      <a:srgbClr val="FFFF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Limits of the source data, and how questions were tracked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Backup slide, hidden in the show</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65</a:t>
            </a:r>
          </a:p>
        </p:txBody>
      </p:sp>
      <p:sp>
        <p:nvSpPr>
          <p:cNvPr id="8" name="TextBox 7"/>
          <p:cNvSpPr txBox="1"/>
          <p:nvPr/>
        </p:nvSpPr>
        <p:spPr>
          <a:xfrm>
            <a:off x="502920" y="1325880"/>
            <a:ext cx="11155680" cy="265176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600" b="1" i="0">
                <a:solidFill>
                  <a:srgbClr val="14171C"/>
                </a:solidFill>
                <a:latin typeface="Calibri"/>
              </a:rPr>
              <a:t>Two questions stay open on purpose.</a:t>
            </a:r>
            <a:r>
              <a:rPr sz="1600" b="0" i="0">
                <a:solidFill>
                  <a:srgbClr val="14171C"/>
                </a:solidFill>
                <a:latin typeface="Calibri"/>
              </a:rPr>
              <a:t> Neither blocks a result; both concern the compressor map, which sits under every comparison:</a:t>
            </a:r>
          </a:p>
          <a:p>
            <a:pPr marL="512064" indent="-237744">
              <a:lnSpc>
                <a:spcPct val="105000"/>
              </a:lnSpc>
              <a:spcBef>
                <a:spcPts val="800"/>
              </a:spcBef>
              <a:buFont typeface="Arial"/>
              <a:buChar char="–"/>
            </a:pPr>
            <a:r>
              <a:rPr sz="1400" b="1" i="0">
                <a:solidFill>
                  <a:srgbClr val="14171C"/>
                </a:solidFill>
                <a:latin typeface="Calibri"/>
              </a:rPr>
              <a:t>How to interpolate the map.</a:t>
            </a:r>
            <a:r>
              <a:rPr sz="1400" b="0" i="0">
                <a:solidFill>
                  <a:srgbClr val="14171C"/>
                </a:solidFill>
                <a:latin typeface="Calibri"/>
              </a:rPr>
              <a:t> Ballin's seven-point table and our traced lines each win on some comparisons; the choice is recorded as a judgement.</a:t>
            </a:r>
          </a:p>
          <a:p>
            <a:pPr marL="512064" indent="-237744">
              <a:lnSpc>
                <a:spcPct val="105000"/>
              </a:lnSpc>
              <a:spcBef>
                <a:spcPts val="800"/>
              </a:spcBef>
              <a:buFont typeface="Arial"/>
              <a:buChar char="–"/>
            </a:pPr>
            <a:r>
              <a:rPr sz="1400" b="1" i="0">
                <a:solidFill>
                  <a:srgbClr val="14171C"/>
                </a:solidFill>
                <a:latin typeface="Calibri"/>
              </a:rPr>
              <a:t>Figure A1's eleven speed lines do not form one smooth family</a:t>
            </a:r>
            <a:r>
              <a:rPr sz="1400" b="0" i="0">
                <a:solidFill>
                  <a:srgbClr val="14171C"/>
                </a:solidFill>
                <a:latin typeface="Calibri"/>
              </a:rPr>
              <a:t> within our measured read error. Either the read error is understated across lines, or the printed lines are not one smooth family. Nothing in the report can settle it.</a:t>
            </a:r>
          </a:p>
        </p:txBody>
      </p:sp>
      <p:sp>
        <p:nvSpPr>
          <p:cNvPr id="9" name="Rounded Rectangle 8"/>
          <p:cNvSpPr/>
          <p:nvPr/>
        </p:nvSpPr>
        <p:spPr>
          <a:xfrm>
            <a:off x="502920" y="3703320"/>
            <a:ext cx="11185855" cy="1463040"/>
          </a:xfrm>
          <a:prstGeom prst="roundRect">
            <a:avLst>
              <a:gd name="adj" fmla="val 12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noAutofit/>
          </a:bodyPr>
          <a:lstStyle/>
          <a:p>
            <a:pPr algn="ctr"/>
            <a:r>
              <a:rPr sz="1800" b="1" i="0">
                <a:solidFill>
                  <a:srgbClr val="14171C"/>
                </a:solidFill>
                <a:latin typeface="Calibri"/>
              </a:rPr>
              <a:t>The decision log:</a:t>
            </a:r>
            <a:r>
              <a:rPr sz="1800" b="0" i="0">
                <a:solidFill>
                  <a:srgbClr val="14171C"/>
                </a:solidFill>
                <a:latin typeface="Calibri"/>
              </a:rPr>
              <a:t> every question the report raised was written down with its evidence and its outcome.</a:t>
            </a:r>
          </a:p>
          <a:p>
            <a:pPr algn="ctr"/>
            <a:r>
              <a:rPr sz="1800" b="0" i="0">
                <a:solidFill>
                  <a:srgbClr val="14171C"/>
                </a:solidFill>
                <a:latin typeface="Calibri"/>
              </a:rPr>
              <a:t>79 logged  ·  77 settled  ·  2 kept open on purpose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6 · FINDINGS, DECISIONS AND LIMITS</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Summary</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6" name="TextBox 5"/>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66</a:t>
            </a:r>
          </a:p>
        </p:txBody>
      </p:sp>
      <p:sp>
        <p:nvSpPr>
          <p:cNvPr id="7" name="TextBox 6"/>
          <p:cNvSpPr txBox="1"/>
          <p:nvPr/>
        </p:nvSpPr>
        <p:spPr>
          <a:xfrm>
            <a:off x="502920" y="1325880"/>
            <a:ext cx="11155680" cy="4846320"/>
          </a:xfrm>
          <a:prstGeom prst="rect">
            <a:avLst/>
          </a:prstGeom>
          <a:noFill/>
        </p:spPr>
        <p:txBody>
          <a:bodyPr wrap="square" anchor="t" lIns="36576" rIns="36576" tIns="27432" bIns="27432">
            <a:noAutofit/>
          </a:bodyPr>
          <a:lstStyle/>
          <a:p>
            <a:pPr marL="201168" indent="-201168">
              <a:lnSpc>
                <a:spcPct val="105000"/>
              </a:lnSpc>
              <a:spcBef>
                <a:spcPts val="0"/>
              </a:spcBef>
              <a:buFont typeface="Arial"/>
              <a:buChar char="•"/>
            </a:pPr>
            <a:r>
              <a:rPr sz="1900" b="0" i="0">
                <a:solidFill>
                  <a:srgbClr val="14171C"/>
                </a:solidFill>
                <a:latin typeface="Calibri"/>
              </a:rPr>
              <a:t>A real-time engine model is a </a:t>
            </a:r>
            <a:r>
              <a:rPr sz="1900" b="1" i="0">
                <a:solidFill>
                  <a:srgbClr val="14171C"/>
                </a:solidFill>
                <a:latin typeface="Calibri"/>
              </a:rPr>
              <a:t>deliberate approximation</a:t>
            </a:r>
            <a:r>
              <a:rPr sz="1900" b="0" i="0">
                <a:solidFill>
                  <a:srgbClr val="14171C"/>
                </a:solidFill>
                <a:latin typeface="Calibri"/>
              </a:rPr>
              <a:t> of the nonlinear one: the slow dynamics (spools, heat soakage, controls, sensors) are integrated; the fast gas-volume dynamics are solved inside each 7 ms frame.</a:t>
            </a:r>
          </a:p>
          <a:p>
            <a:pPr marL="201168" indent="-201168">
              <a:lnSpc>
                <a:spcPct val="105000"/>
              </a:lnSpc>
              <a:spcBef>
                <a:spcPts val="1400"/>
              </a:spcBef>
              <a:buFont typeface="Arial"/>
              <a:buChar char="•"/>
            </a:pPr>
            <a:r>
              <a:rPr sz="1900" b="0" i="0">
                <a:solidFill>
                  <a:srgbClr val="14171C"/>
                </a:solidFill>
                <a:latin typeface="Calibri"/>
              </a:rPr>
              <a:t>The replication reproduces every comparison the report's printed data allows: trims to 0.22 % rms, eigenvalues to 2.4 % over the 18 tested modes, steady sweeps and transients close to Ballin's own lines.</a:t>
            </a:r>
          </a:p>
          <a:p>
            <a:pPr marL="201168" indent="-201168">
              <a:lnSpc>
                <a:spcPct val="105000"/>
              </a:lnSpc>
              <a:spcBef>
                <a:spcPts val="1400"/>
              </a:spcBef>
              <a:buFont typeface="Arial"/>
              <a:buChar char="•"/>
            </a:pPr>
            <a:r>
              <a:rPr sz="1900" b="0" i="0">
                <a:solidFill>
                  <a:srgbClr val="14171C"/>
                </a:solidFill>
                <a:latin typeface="Calibri"/>
              </a:rPr>
              <a:t>With the fuel control closed, the engine finds Table B.1's printed state on its own (worst 0.25 %) and follows Ballin's Figures 11–15 manoeuvres; where it parts from his line, the cause is measured in our control.</a:t>
            </a:r>
          </a:p>
          <a:p>
            <a:pPr marL="201168" indent="-201168">
              <a:lnSpc>
                <a:spcPct val="105000"/>
              </a:lnSpc>
              <a:spcBef>
                <a:spcPts val="1400"/>
              </a:spcBef>
              <a:buFont typeface="Arial"/>
              <a:buChar char="•"/>
            </a:pPr>
            <a:r>
              <a:rPr sz="1900" b="0" i="0">
                <a:solidFill>
                  <a:srgbClr val="14171C"/>
                </a:solidFill>
                <a:latin typeface="Calibri"/>
              </a:rPr>
              <a:t>Values the report never prints were recovered </a:t>
            </a:r>
            <a:r>
              <a:rPr sz="1900" b="1" i="0">
                <a:solidFill>
                  <a:srgbClr val="14171C"/>
                </a:solidFill>
                <a:latin typeface="Calibri"/>
              </a:rPr>
              <a:t>from its own numbers</a:t>
            </a:r>
            <a:r>
              <a:rPr sz="1900" b="0" i="0">
                <a:solidFill>
                  <a:srgbClr val="14171C"/>
                </a:solidFill>
                <a:latin typeface="Calibri"/>
              </a:rPr>
              <a:t>, never from outside knowledge, and some of them show where the report disagrees with itself.</a:t>
            </a:r>
          </a:p>
          <a:p>
            <a:pPr marL="201168" indent="-201168">
              <a:lnSpc>
                <a:spcPct val="105000"/>
              </a:lnSpc>
              <a:spcBef>
                <a:spcPts val="1400"/>
              </a:spcBef>
              <a:buFont typeface="Arial"/>
              <a:buChar char="•"/>
            </a:pPr>
            <a:r>
              <a:rPr sz="1900" b="0" i="0">
                <a:solidFill>
                  <a:srgbClr val="14171C"/>
                </a:solidFill>
                <a:latin typeface="Calibri"/>
              </a:rPr>
              <a:t>Four departures, each measured; everything else follows the report, including its known biases.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BACKUP</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Appendix C's eight schedules, as digitized</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Figures C23–C30, pdf pp.94–101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67</a:t>
            </a:r>
          </a:p>
        </p:txBody>
      </p:sp>
      <p:pic>
        <p:nvPicPr>
          <p:cNvPr id="8" name="Picture 7" descr="control-schedules.png"/>
          <p:cNvPicPr>
            <a:picLocks noChangeAspect="1"/>
          </p:cNvPicPr>
          <p:nvPr/>
        </p:nvPicPr>
        <p:blipFill>
          <a:blip r:embed="rId2"/>
          <a:stretch>
            <a:fillRect/>
          </a:stretch>
        </p:blipFill>
        <p:spPr>
          <a:xfrm>
            <a:off x="826703" y="1280160"/>
            <a:ext cx="10538288" cy="470916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BACKUP</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Table B.1 in full</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B.1, pdf p.67</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68</a:t>
            </a:r>
          </a:p>
        </p:txBody>
      </p:sp>
      <p:graphicFrame>
        <p:nvGraphicFramePr>
          <p:cNvPr id="8" name="Table 7"/>
          <p:cNvGraphicFramePr>
            <a:graphicFrameLocks noGrp="1"/>
          </p:cNvGraphicFramePr>
          <p:nvPr/>
        </p:nvGraphicFramePr>
        <p:xfrm>
          <a:off x="502920" y="1325880"/>
          <a:ext cx="5394957" cy="4389120"/>
        </p:xfrm>
        <a:graphic>
          <a:graphicData uri="http://schemas.openxmlformats.org/drawingml/2006/table">
            <a:tbl>
              <a:tblPr firstRow="1">
                <a:tableStyleId>{5C22544A-7EE6-4342-B048-85BDC9FD1C3A}</a:tableStyleId>
              </a:tblPr>
              <a:tblGrid>
                <a:gridCol w="1591955"/>
                <a:gridCol w="972861"/>
                <a:gridCol w="972861"/>
                <a:gridCol w="972861"/>
                <a:gridCol w="884419"/>
              </a:tblGrid>
              <a:tr h="365760">
                <a:tc>
                  <a:txBody>
                    <a:bodyPr wrap="square"/>
                    <a:lstStyle/>
                    <a:p>
                      <a:pPr algn="l"/>
                      <a:r>
                        <a:rPr sz="1100" b="1" i="0">
                          <a:solidFill>
                            <a:srgbClr val="FFFFFF"/>
                          </a:solidFill>
                          <a:latin typeface="Calibri"/>
                        </a:rPr>
                        <a:t>Trim</a:t>
                      </a:r>
                    </a:p>
                  </a:txBody>
                  <a:tcPr marL="54864" marR="54864" marT="22860" marB="22860" anchor="ctr">
                    <a:solidFill>
                      <a:srgbClr val="4D5563"/>
                    </a:solidFill>
                  </a:tcPr>
                </a:tc>
                <a:tc>
                  <a:txBody>
                    <a:bodyPr wrap="square"/>
                    <a:lstStyle/>
                    <a:p>
                      <a:pPr algn="r"/>
                      <a:r>
                        <a:rPr sz="1100" b="1" i="0">
                          <a:solidFill>
                            <a:srgbClr val="FFFFFF"/>
                          </a:solidFill>
                          <a:latin typeface="Calibri"/>
                        </a:rPr>
                        <a:t>Quantity</a:t>
                      </a:r>
                    </a:p>
                  </a:txBody>
                  <a:tcPr marL="54864" marR="54864" marT="22860" marB="22860" anchor="ctr">
                    <a:solidFill>
                      <a:srgbClr val="4D5563"/>
                    </a:solidFill>
                  </a:tcPr>
                </a:tc>
                <a:tc>
                  <a:txBody>
                    <a:bodyPr wrap="square"/>
                    <a:lstStyle/>
                    <a:p>
                      <a:pPr algn="r"/>
                      <a:r>
                        <a:rPr sz="1100" b="1" i="0">
                          <a:solidFill>
                            <a:srgbClr val="FFFFFF"/>
                          </a:solidFill>
                          <a:latin typeface="Calibri"/>
                        </a:rPr>
                        <a:t>Printed</a:t>
                      </a:r>
                    </a:p>
                  </a:txBody>
                  <a:tcPr marL="54864" marR="54864" marT="22860" marB="22860" anchor="ctr">
                    <a:solidFill>
                      <a:srgbClr val="4D5563"/>
                    </a:solidFill>
                  </a:tcPr>
                </a:tc>
                <a:tc>
                  <a:txBody>
                    <a:bodyPr wrap="square"/>
                    <a:lstStyle/>
                    <a:p>
                      <a:pPr algn="r"/>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Dev. %</a:t>
                      </a:r>
                    </a:p>
                  </a:txBody>
                  <a:tcPr marL="54864" marR="54864" marT="22860" marB="22860" anchor="ctr">
                    <a:solidFill>
                      <a:srgbClr val="4D5563"/>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NG</a:t>
                      </a:r>
                    </a:p>
                  </a:txBody>
                  <a:tcPr marL="54864" marR="54864" marT="22860" marB="22860" anchor="ctr">
                    <a:solidFill>
                      <a:srgbClr val="FFFFFF"/>
                    </a:solidFill>
                  </a:tcPr>
                </a:tc>
                <a:tc>
                  <a:txBody>
                    <a:bodyPr wrap="square"/>
                    <a:lstStyle/>
                    <a:p>
                      <a:pPr algn="r"/>
                      <a:r>
                        <a:rPr sz="1100" b="0" i="0">
                          <a:solidFill>
                            <a:srgbClr val="14171C"/>
                          </a:solidFill>
                          <a:latin typeface="Calibri"/>
                        </a:rPr>
                        <a:t>41,638</a:t>
                      </a:r>
                    </a:p>
                  </a:txBody>
                  <a:tcPr marL="54864" marR="54864" marT="22860" marB="22860" anchor="ctr">
                    <a:solidFill>
                      <a:srgbClr val="FFFFFF"/>
                    </a:solidFill>
                  </a:tcPr>
                </a:tc>
                <a:tc>
                  <a:txBody>
                    <a:bodyPr wrap="square"/>
                    <a:lstStyle/>
                    <a:p>
                      <a:pPr algn="r"/>
                      <a:r>
                        <a:rPr sz="1100" b="0" i="0">
                          <a:solidFill>
                            <a:srgbClr val="14171C"/>
                          </a:solidFill>
                          <a:latin typeface="Calibri"/>
                        </a:rPr>
                        <a:t>41,638</a:t>
                      </a:r>
                    </a:p>
                  </a:txBody>
                  <a:tcPr marL="54864" marR="54864" marT="22860" marB="22860" anchor="ctr">
                    <a:solidFill>
                      <a:srgbClr val="FFFFFF"/>
                    </a:solidFill>
                  </a:tcPr>
                </a:tc>
                <a:tc>
                  <a:txBody>
                    <a:bodyPr wrap="square"/>
                    <a:lstStyle/>
                    <a:p>
                      <a:pPr algn="r"/>
                      <a:r>
                        <a:rPr sz="1100" b="0" i="0">
                          <a:solidFill>
                            <a:srgbClr val="14171C"/>
                          </a:solidFill>
                          <a:latin typeface="Calibri"/>
                        </a:rPr>
                        <a:t>+0.000</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2F3F5"/>
                    </a:solidFill>
                  </a:tcPr>
                </a:tc>
                <a:tc>
                  <a:txBody>
                    <a:bodyPr wrap="square"/>
                    <a:lstStyle/>
                    <a:p>
                      <a:pPr algn="r"/>
                      <a:r>
                        <a:rPr sz="1100" b="0" i="0">
                          <a:solidFill>
                            <a:srgbClr val="14171C"/>
                          </a:solidFill>
                          <a:latin typeface="Calibri"/>
                        </a:rPr>
                        <a:t>PS3</a:t>
                      </a:r>
                    </a:p>
                  </a:txBody>
                  <a:tcPr marL="54864" marR="54864" marT="22860" marB="22860" anchor="ctr">
                    <a:solidFill>
                      <a:srgbClr val="F2F3F5"/>
                    </a:solidFill>
                  </a:tcPr>
                </a:tc>
                <a:tc>
                  <a:txBody>
                    <a:bodyPr wrap="square"/>
                    <a:lstStyle/>
                    <a:p>
                      <a:pPr algn="r"/>
                      <a:r>
                        <a:rPr sz="1100" b="0" i="0">
                          <a:solidFill>
                            <a:srgbClr val="14171C"/>
                          </a:solidFill>
                          <a:latin typeface="Calibri"/>
                        </a:rPr>
                        <a:t>176.34</a:t>
                      </a:r>
                    </a:p>
                  </a:txBody>
                  <a:tcPr marL="54864" marR="54864" marT="22860" marB="22860" anchor="ctr">
                    <a:solidFill>
                      <a:srgbClr val="F2F3F5"/>
                    </a:solidFill>
                  </a:tcPr>
                </a:tc>
                <a:tc>
                  <a:txBody>
                    <a:bodyPr wrap="square"/>
                    <a:lstStyle/>
                    <a:p>
                      <a:pPr algn="r"/>
                      <a:r>
                        <a:rPr sz="1100" b="0" i="0">
                          <a:solidFill>
                            <a:srgbClr val="14171C"/>
                          </a:solidFill>
                          <a:latin typeface="Calibri"/>
                        </a:rPr>
                        <a:t>176.18</a:t>
                      </a:r>
                    </a:p>
                  </a:txBody>
                  <a:tcPr marL="54864" marR="54864" marT="22860" marB="22860" anchor="ctr">
                    <a:solidFill>
                      <a:srgbClr val="F2F3F5"/>
                    </a:solidFill>
                  </a:tcPr>
                </a:tc>
                <a:tc>
                  <a:txBody>
                    <a:bodyPr wrap="square"/>
                    <a:lstStyle/>
                    <a:p>
                      <a:pPr algn="r"/>
                      <a:r>
                        <a:rPr sz="1100" b="0" i="0">
                          <a:solidFill>
                            <a:srgbClr val="14171C"/>
                          </a:solidFill>
                          <a:latin typeface="Calibri"/>
                        </a:rPr>
                        <a:t>−0.089</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P41</a:t>
                      </a:r>
                    </a:p>
                  </a:txBody>
                  <a:tcPr marL="54864" marR="54864" marT="22860" marB="22860" anchor="ctr">
                    <a:solidFill>
                      <a:srgbClr val="FFFFFF"/>
                    </a:solidFill>
                  </a:tcPr>
                </a:tc>
                <a:tc>
                  <a:txBody>
                    <a:bodyPr wrap="square"/>
                    <a:lstStyle/>
                    <a:p>
                      <a:pPr algn="r"/>
                      <a:r>
                        <a:rPr sz="1100" b="0" i="0">
                          <a:solidFill>
                            <a:srgbClr val="14171C"/>
                          </a:solidFill>
                          <a:latin typeface="Calibri"/>
                        </a:rPr>
                        <a:t>174.28</a:t>
                      </a:r>
                    </a:p>
                  </a:txBody>
                  <a:tcPr marL="54864" marR="54864" marT="22860" marB="22860" anchor="ctr">
                    <a:solidFill>
                      <a:srgbClr val="FFFFFF"/>
                    </a:solidFill>
                  </a:tcPr>
                </a:tc>
                <a:tc>
                  <a:txBody>
                    <a:bodyPr wrap="square"/>
                    <a:lstStyle/>
                    <a:p>
                      <a:pPr algn="r"/>
                      <a:r>
                        <a:rPr sz="1100" b="0" i="0">
                          <a:solidFill>
                            <a:srgbClr val="14171C"/>
                          </a:solidFill>
                          <a:latin typeface="Calibri"/>
                        </a:rPr>
                        <a:t>174.14</a:t>
                      </a:r>
                    </a:p>
                  </a:txBody>
                  <a:tcPr marL="54864" marR="54864" marT="22860" marB="22860" anchor="ctr">
                    <a:solidFill>
                      <a:srgbClr val="FFFFFF"/>
                    </a:solidFill>
                  </a:tcPr>
                </a:tc>
                <a:tc>
                  <a:txBody>
                    <a:bodyPr wrap="square"/>
                    <a:lstStyle/>
                    <a:p>
                      <a:pPr algn="r"/>
                      <a:r>
                        <a:rPr sz="1100" b="0" i="0">
                          <a:solidFill>
                            <a:srgbClr val="14171C"/>
                          </a:solidFill>
                          <a:latin typeface="Calibri"/>
                        </a:rPr>
                        <a:t>−0.081</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2F3F5"/>
                    </a:solidFill>
                  </a:tcPr>
                </a:tc>
                <a:tc>
                  <a:txBody>
                    <a:bodyPr wrap="square"/>
                    <a:lstStyle/>
                    <a:p>
                      <a:pPr algn="r"/>
                      <a:r>
                        <a:rPr sz="1100" b="0" i="0">
                          <a:solidFill>
                            <a:srgbClr val="14171C"/>
                          </a:solidFill>
                          <a:latin typeface="Calibri"/>
                        </a:rPr>
                        <a:t>T41</a:t>
                      </a:r>
                    </a:p>
                  </a:txBody>
                  <a:tcPr marL="54864" marR="54864" marT="22860" marB="22860" anchor="ctr">
                    <a:solidFill>
                      <a:srgbClr val="F2F3F5"/>
                    </a:solidFill>
                  </a:tcPr>
                </a:tc>
                <a:tc>
                  <a:txBody>
                    <a:bodyPr wrap="square"/>
                    <a:lstStyle/>
                    <a:p>
                      <a:pPr algn="r"/>
                      <a:r>
                        <a:rPr sz="1100" b="0" i="0">
                          <a:solidFill>
                            <a:srgbClr val="14171C"/>
                          </a:solidFill>
                          <a:latin typeface="Calibri"/>
                        </a:rPr>
                        <a:t>2,292</a:t>
                      </a:r>
                    </a:p>
                  </a:txBody>
                  <a:tcPr marL="54864" marR="54864" marT="22860" marB="22860" anchor="ctr">
                    <a:solidFill>
                      <a:srgbClr val="F2F3F5"/>
                    </a:solidFill>
                  </a:tcPr>
                </a:tc>
                <a:tc>
                  <a:txBody>
                    <a:bodyPr wrap="square"/>
                    <a:lstStyle/>
                    <a:p>
                      <a:pPr algn="r"/>
                      <a:r>
                        <a:rPr sz="1100" b="0" i="0">
                          <a:solidFill>
                            <a:srgbClr val="14171C"/>
                          </a:solidFill>
                          <a:latin typeface="Calibri"/>
                        </a:rPr>
                        <a:t>2,292</a:t>
                      </a:r>
                    </a:p>
                  </a:txBody>
                  <a:tcPr marL="54864" marR="54864" marT="22860" marB="22860" anchor="ctr">
                    <a:solidFill>
                      <a:srgbClr val="F2F3F5"/>
                    </a:solidFill>
                  </a:tcPr>
                </a:tc>
                <a:tc>
                  <a:txBody>
                    <a:bodyPr wrap="square"/>
                    <a:lstStyle/>
                    <a:p>
                      <a:pPr algn="r"/>
                      <a:r>
                        <a:rPr sz="1100" b="0" i="0">
                          <a:solidFill>
                            <a:srgbClr val="14171C"/>
                          </a:solidFill>
                          <a:latin typeface="Calibri"/>
                        </a:rPr>
                        <a:t>+0.007</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P45</a:t>
                      </a:r>
                    </a:p>
                  </a:txBody>
                  <a:tcPr marL="54864" marR="54864" marT="22860" marB="22860" anchor="ctr">
                    <a:solidFill>
                      <a:srgbClr val="FFFFFF"/>
                    </a:solidFill>
                  </a:tcPr>
                </a:tc>
                <a:tc>
                  <a:txBody>
                    <a:bodyPr wrap="square"/>
                    <a:lstStyle/>
                    <a:p>
                      <a:pPr algn="r"/>
                      <a:r>
                        <a:rPr sz="1100" b="0" i="0">
                          <a:solidFill>
                            <a:srgbClr val="14171C"/>
                          </a:solidFill>
                          <a:latin typeface="Calibri"/>
                        </a:rPr>
                        <a:t>37.42</a:t>
                      </a:r>
                    </a:p>
                  </a:txBody>
                  <a:tcPr marL="54864" marR="54864" marT="22860" marB="22860" anchor="ctr">
                    <a:solidFill>
                      <a:srgbClr val="FFFFFF"/>
                    </a:solidFill>
                  </a:tcPr>
                </a:tc>
                <a:tc>
                  <a:txBody>
                    <a:bodyPr wrap="square"/>
                    <a:lstStyle/>
                    <a:p>
                      <a:pPr algn="r"/>
                      <a:r>
                        <a:rPr sz="1100" b="0" i="0">
                          <a:solidFill>
                            <a:srgbClr val="14171C"/>
                          </a:solidFill>
                          <a:latin typeface="Calibri"/>
                        </a:rPr>
                        <a:t>37.40</a:t>
                      </a:r>
                    </a:p>
                  </a:txBody>
                  <a:tcPr marL="54864" marR="54864" marT="22860" marB="22860" anchor="ctr">
                    <a:solidFill>
                      <a:srgbClr val="FFFFFF"/>
                    </a:solidFill>
                  </a:tcPr>
                </a:tc>
                <a:tc>
                  <a:txBody>
                    <a:bodyPr wrap="square"/>
                    <a:lstStyle/>
                    <a:p>
                      <a:pPr algn="r"/>
                      <a:r>
                        <a:rPr sz="1100" b="0" i="0">
                          <a:solidFill>
                            <a:srgbClr val="14171C"/>
                          </a:solidFill>
                          <a:latin typeface="Calibri"/>
                        </a:rPr>
                        <a:t>−0.061</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2F3F5"/>
                    </a:solidFill>
                  </a:tcPr>
                </a:tc>
                <a:tc>
                  <a:txBody>
                    <a:bodyPr wrap="square"/>
                    <a:lstStyle/>
                    <a:p>
                      <a:pPr algn="r"/>
                      <a:r>
                        <a:rPr sz="1100" b="0" i="0">
                          <a:solidFill>
                            <a:srgbClr val="14171C"/>
                          </a:solidFill>
                          <a:latin typeface="Calibri"/>
                        </a:rPr>
                        <a:t>T45</a:t>
                      </a:r>
                    </a:p>
                  </a:txBody>
                  <a:tcPr marL="54864" marR="54864" marT="22860" marB="22860" anchor="ctr">
                    <a:solidFill>
                      <a:srgbClr val="F2F3F5"/>
                    </a:solidFill>
                  </a:tcPr>
                </a:tc>
                <a:tc>
                  <a:txBody>
                    <a:bodyPr wrap="square"/>
                    <a:lstStyle/>
                    <a:p>
                      <a:pPr algn="r"/>
                      <a:r>
                        <a:rPr sz="1100" b="0" i="0">
                          <a:solidFill>
                            <a:srgbClr val="14171C"/>
                          </a:solidFill>
                          <a:latin typeface="Calibri"/>
                        </a:rPr>
                        <a:t>1,632</a:t>
                      </a:r>
                    </a:p>
                  </a:txBody>
                  <a:tcPr marL="54864" marR="54864" marT="22860" marB="22860" anchor="ctr">
                    <a:solidFill>
                      <a:srgbClr val="F2F3F5"/>
                    </a:solidFill>
                  </a:tcPr>
                </a:tc>
                <a:tc>
                  <a:txBody>
                    <a:bodyPr wrap="square"/>
                    <a:lstStyle/>
                    <a:p>
                      <a:pPr algn="r"/>
                      <a:r>
                        <a:rPr sz="1100" b="0" i="0">
                          <a:solidFill>
                            <a:srgbClr val="14171C"/>
                          </a:solidFill>
                          <a:latin typeface="Calibri"/>
                        </a:rPr>
                        <a:t>1,633</a:t>
                      </a:r>
                    </a:p>
                  </a:txBody>
                  <a:tcPr marL="54864" marR="54864" marT="22860" marB="22860" anchor="ctr">
                    <a:solidFill>
                      <a:srgbClr val="F2F3F5"/>
                    </a:solidFill>
                  </a:tcPr>
                </a:tc>
                <a:tc>
                  <a:txBody>
                    <a:bodyPr wrap="square"/>
                    <a:lstStyle/>
                    <a:p>
                      <a:pPr algn="r"/>
                      <a:r>
                        <a:rPr sz="1100" b="0" i="0">
                          <a:solidFill>
                            <a:srgbClr val="14171C"/>
                          </a:solidFill>
                          <a:latin typeface="Calibri"/>
                        </a:rPr>
                        <a:t>+0.069</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hover</a:t>
                      </a:r>
                    </a:p>
                  </a:txBody>
                  <a:tcPr marL="54864" marR="54864" marT="22860" marB="22860" anchor="ctr">
                    <a:solidFill>
                      <a:srgbClr val="FFFFFF"/>
                    </a:solidFill>
                  </a:tcPr>
                </a:tc>
                <a:tc>
                  <a:txBody>
                    <a:bodyPr wrap="square"/>
                    <a:lstStyle/>
                    <a:p>
                      <a:pPr algn="r"/>
                      <a:r>
                        <a:rPr sz="1100" b="0" i="0">
                          <a:solidFill>
                            <a:srgbClr val="14171C"/>
                          </a:solidFill>
                          <a:latin typeface="Calibri"/>
                        </a:rPr>
                        <a:t>SHP</a:t>
                      </a:r>
                    </a:p>
                  </a:txBody>
                  <a:tcPr marL="54864" marR="54864" marT="22860" marB="22860" anchor="ctr">
                    <a:solidFill>
                      <a:srgbClr val="FFFFFF"/>
                    </a:solidFill>
                  </a:tcPr>
                </a:tc>
                <a:tc>
                  <a:txBody>
                    <a:bodyPr wrap="square"/>
                    <a:lstStyle/>
                    <a:p>
                      <a:pPr algn="r"/>
                      <a:r>
                        <a:rPr sz="1100" b="0" i="0">
                          <a:solidFill>
                            <a:srgbClr val="14171C"/>
                          </a:solidFill>
                          <a:latin typeface="Calibri"/>
                        </a:rPr>
                        <a:t>911.1</a:t>
                      </a:r>
                    </a:p>
                  </a:txBody>
                  <a:tcPr marL="54864" marR="54864" marT="22860" marB="22860" anchor="ctr">
                    <a:solidFill>
                      <a:srgbClr val="FFFFFF"/>
                    </a:solidFill>
                  </a:tcPr>
                </a:tc>
                <a:tc>
                  <a:txBody>
                    <a:bodyPr wrap="square"/>
                    <a:lstStyle/>
                    <a:p>
                      <a:pPr algn="r"/>
                      <a:r>
                        <a:rPr sz="1100" b="0" i="0">
                          <a:solidFill>
                            <a:srgbClr val="14171C"/>
                          </a:solidFill>
                          <a:latin typeface="Calibri"/>
                        </a:rPr>
                        <a:t>910.6</a:t>
                      </a:r>
                    </a:p>
                  </a:txBody>
                  <a:tcPr marL="54864" marR="54864" marT="22860" marB="22860" anchor="ctr">
                    <a:solidFill>
                      <a:srgbClr val="FFFFFF"/>
                    </a:solidFill>
                  </a:tcPr>
                </a:tc>
                <a:tc>
                  <a:txBody>
                    <a:bodyPr wrap="square"/>
                    <a:lstStyle/>
                    <a:p>
                      <a:pPr algn="r"/>
                      <a:r>
                        <a:rPr sz="1100" b="0" i="0">
                          <a:solidFill>
                            <a:srgbClr val="14171C"/>
                          </a:solidFill>
                          <a:latin typeface="Calibri"/>
                        </a:rPr>
                        <a:t>−0.060</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2F3F5"/>
                    </a:solidFill>
                  </a:tcPr>
                </a:tc>
                <a:tc>
                  <a:txBody>
                    <a:bodyPr wrap="square"/>
                    <a:lstStyle/>
                    <a:p>
                      <a:pPr algn="r"/>
                      <a:r>
                        <a:rPr sz="1100" b="0" i="0">
                          <a:solidFill>
                            <a:srgbClr val="14171C"/>
                          </a:solidFill>
                          <a:latin typeface="Calibri"/>
                        </a:rPr>
                        <a:t>NG</a:t>
                      </a:r>
                    </a:p>
                  </a:txBody>
                  <a:tcPr marL="54864" marR="54864" marT="22860" marB="22860" anchor="ctr">
                    <a:solidFill>
                      <a:srgbClr val="F2F3F5"/>
                    </a:solidFill>
                  </a:tcPr>
                </a:tc>
                <a:tc>
                  <a:txBody>
                    <a:bodyPr wrap="square"/>
                    <a:lstStyle/>
                    <a:p>
                      <a:pPr algn="r"/>
                      <a:r>
                        <a:rPr sz="1100" b="0" i="0">
                          <a:solidFill>
                            <a:srgbClr val="14171C"/>
                          </a:solidFill>
                          <a:latin typeface="Calibri"/>
                        </a:rPr>
                        <a:t>39,768</a:t>
                      </a:r>
                    </a:p>
                  </a:txBody>
                  <a:tcPr marL="54864" marR="54864" marT="22860" marB="22860" anchor="ctr">
                    <a:solidFill>
                      <a:srgbClr val="F2F3F5"/>
                    </a:solidFill>
                  </a:tcPr>
                </a:tc>
                <a:tc>
                  <a:txBody>
                    <a:bodyPr wrap="square"/>
                    <a:lstStyle/>
                    <a:p>
                      <a:pPr algn="r"/>
                      <a:r>
                        <a:rPr sz="1100" b="0" i="0">
                          <a:solidFill>
                            <a:srgbClr val="14171C"/>
                          </a:solidFill>
                          <a:latin typeface="Calibri"/>
                        </a:rPr>
                        <a:t>39,816</a:t>
                      </a:r>
                    </a:p>
                  </a:txBody>
                  <a:tcPr marL="54864" marR="54864" marT="22860" marB="22860" anchor="ctr">
                    <a:solidFill>
                      <a:srgbClr val="F2F3F5"/>
                    </a:solidFill>
                  </a:tcPr>
                </a:tc>
                <a:tc>
                  <a:txBody>
                    <a:bodyPr wrap="square"/>
                    <a:lstStyle/>
                    <a:p>
                      <a:pPr algn="r"/>
                      <a:r>
                        <a:rPr sz="1100" b="0" i="0">
                          <a:solidFill>
                            <a:srgbClr val="14171C"/>
                          </a:solidFill>
                          <a:latin typeface="Calibri"/>
                        </a:rPr>
                        <a:t>+0.120</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FFFFF"/>
                    </a:solidFill>
                  </a:tcPr>
                </a:tc>
                <a:tc>
                  <a:txBody>
                    <a:bodyPr wrap="square"/>
                    <a:lstStyle/>
                    <a:p>
                      <a:pPr algn="r"/>
                      <a:r>
                        <a:rPr sz="1100" b="0" i="0">
                          <a:solidFill>
                            <a:srgbClr val="14171C"/>
                          </a:solidFill>
                          <a:latin typeface="Calibri"/>
                        </a:rPr>
                        <a:t>PS3</a:t>
                      </a:r>
                    </a:p>
                  </a:txBody>
                  <a:tcPr marL="54864" marR="54864" marT="22860" marB="22860" anchor="ctr">
                    <a:solidFill>
                      <a:srgbClr val="FFFFFF"/>
                    </a:solidFill>
                  </a:tcPr>
                </a:tc>
                <a:tc>
                  <a:txBody>
                    <a:bodyPr wrap="square"/>
                    <a:lstStyle/>
                    <a:p>
                      <a:pPr algn="r"/>
                      <a:r>
                        <a:rPr sz="1100" b="0" i="0">
                          <a:solidFill>
                            <a:srgbClr val="14171C"/>
                          </a:solidFill>
                          <a:latin typeface="Calibri"/>
                        </a:rPr>
                        <a:t>142.13</a:t>
                      </a:r>
                    </a:p>
                  </a:txBody>
                  <a:tcPr marL="54864" marR="54864" marT="22860" marB="22860" anchor="ctr">
                    <a:solidFill>
                      <a:srgbClr val="FFFFFF"/>
                    </a:solidFill>
                  </a:tcPr>
                </a:tc>
                <a:tc>
                  <a:txBody>
                    <a:bodyPr wrap="square"/>
                    <a:lstStyle/>
                    <a:p>
                      <a:pPr algn="r"/>
                      <a:r>
                        <a:rPr sz="1100" b="0" i="0">
                          <a:solidFill>
                            <a:srgbClr val="14171C"/>
                          </a:solidFill>
                          <a:latin typeface="Calibri"/>
                        </a:rPr>
                        <a:t>142.11</a:t>
                      </a:r>
                    </a:p>
                  </a:txBody>
                  <a:tcPr marL="54864" marR="54864" marT="22860" marB="22860" anchor="ctr">
                    <a:solidFill>
                      <a:srgbClr val="FFFFFF"/>
                    </a:solidFill>
                  </a:tcPr>
                </a:tc>
                <a:tc>
                  <a:txBody>
                    <a:bodyPr wrap="square"/>
                    <a:lstStyle/>
                    <a:p>
                      <a:pPr algn="r"/>
                      <a:r>
                        <a:rPr sz="1100" b="0" i="0">
                          <a:solidFill>
                            <a:srgbClr val="14171C"/>
                          </a:solidFill>
                          <a:latin typeface="Calibri"/>
                        </a:rPr>
                        <a:t>−0.013</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2F3F5"/>
                    </a:solidFill>
                  </a:tcPr>
                </a:tc>
                <a:tc>
                  <a:txBody>
                    <a:bodyPr wrap="square"/>
                    <a:lstStyle/>
                    <a:p>
                      <a:pPr algn="r"/>
                      <a:r>
                        <a:rPr sz="1100" b="0" i="0">
                          <a:solidFill>
                            <a:srgbClr val="14171C"/>
                          </a:solidFill>
                          <a:latin typeface="Calibri"/>
                        </a:rPr>
                        <a:t>P41</a:t>
                      </a:r>
                    </a:p>
                  </a:txBody>
                  <a:tcPr marL="54864" marR="54864" marT="22860" marB="22860" anchor="ctr">
                    <a:solidFill>
                      <a:srgbClr val="F2F3F5"/>
                    </a:solidFill>
                  </a:tcPr>
                </a:tc>
                <a:tc>
                  <a:txBody>
                    <a:bodyPr wrap="square"/>
                    <a:lstStyle/>
                    <a:p>
                      <a:pPr algn="r"/>
                      <a:r>
                        <a:rPr sz="1100" b="0" i="0">
                          <a:solidFill>
                            <a:srgbClr val="14171C"/>
                          </a:solidFill>
                          <a:latin typeface="Calibri"/>
                        </a:rPr>
                        <a:t>140.26</a:t>
                      </a:r>
                    </a:p>
                  </a:txBody>
                  <a:tcPr marL="54864" marR="54864" marT="22860" marB="22860" anchor="ctr">
                    <a:solidFill>
                      <a:srgbClr val="F2F3F5"/>
                    </a:solidFill>
                  </a:tcPr>
                </a:tc>
                <a:tc>
                  <a:txBody>
                    <a:bodyPr wrap="square"/>
                    <a:lstStyle/>
                    <a:p>
                      <a:pPr algn="r"/>
                      <a:r>
                        <a:rPr sz="1100" b="0" i="0">
                          <a:solidFill>
                            <a:srgbClr val="14171C"/>
                          </a:solidFill>
                          <a:latin typeface="Calibri"/>
                        </a:rPr>
                        <a:t>140.24</a:t>
                      </a:r>
                    </a:p>
                  </a:txBody>
                  <a:tcPr marL="54864" marR="54864" marT="22860" marB="22860" anchor="ctr">
                    <a:solidFill>
                      <a:srgbClr val="F2F3F5"/>
                    </a:solidFill>
                  </a:tcPr>
                </a:tc>
                <a:tc>
                  <a:txBody>
                    <a:bodyPr wrap="square"/>
                    <a:lstStyle/>
                    <a:p>
                      <a:pPr algn="r"/>
                      <a:r>
                        <a:rPr sz="1100" b="0" i="0">
                          <a:solidFill>
                            <a:srgbClr val="14171C"/>
                          </a:solidFill>
                          <a:latin typeface="Calibri"/>
                        </a:rPr>
                        <a:t>−0.011</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FFFFF"/>
                    </a:solidFill>
                  </a:tcPr>
                </a:tc>
                <a:tc>
                  <a:txBody>
                    <a:bodyPr wrap="square"/>
                    <a:lstStyle/>
                    <a:p>
                      <a:pPr algn="r"/>
                      <a:r>
                        <a:rPr sz="1100" b="0" i="0">
                          <a:solidFill>
                            <a:srgbClr val="14171C"/>
                          </a:solidFill>
                          <a:latin typeface="Calibri"/>
                        </a:rPr>
                        <a:t>T41</a:t>
                      </a:r>
                    </a:p>
                  </a:txBody>
                  <a:tcPr marL="54864" marR="54864" marT="22860" marB="22860" anchor="ctr">
                    <a:solidFill>
                      <a:srgbClr val="FFFFFF"/>
                    </a:solidFill>
                  </a:tcPr>
                </a:tc>
                <a:tc>
                  <a:txBody>
                    <a:bodyPr wrap="square"/>
                    <a:lstStyle/>
                    <a:p>
                      <a:pPr algn="r"/>
                      <a:r>
                        <a:rPr sz="1100" b="0" i="0">
                          <a:solidFill>
                            <a:srgbClr val="14171C"/>
                          </a:solidFill>
                          <a:latin typeface="Calibri"/>
                        </a:rPr>
                        <a:t>2,102</a:t>
                      </a:r>
                    </a:p>
                  </a:txBody>
                  <a:tcPr marL="54864" marR="54864" marT="22860" marB="22860" anchor="ctr">
                    <a:solidFill>
                      <a:srgbClr val="FFFFFF"/>
                    </a:solidFill>
                  </a:tcPr>
                </a:tc>
                <a:tc>
                  <a:txBody>
                    <a:bodyPr wrap="square"/>
                    <a:lstStyle/>
                    <a:p>
                      <a:pPr algn="r"/>
                      <a:r>
                        <a:rPr sz="1100" b="0" i="0">
                          <a:solidFill>
                            <a:srgbClr val="14171C"/>
                          </a:solidFill>
                          <a:latin typeface="Calibri"/>
                        </a:rPr>
                        <a:t>2,101</a:t>
                      </a:r>
                    </a:p>
                  </a:txBody>
                  <a:tcPr marL="54864" marR="54864" marT="22860" marB="22860" anchor="ctr">
                    <a:solidFill>
                      <a:srgbClr val="FFFFFF"/>
                    </a:solidFill>
                  </a:tcPr>
                </a:tc>
                <a:tc>
                  <a:txBody>
                    <a:bodyPr wrap="square"/>
                    <a:lstStyle/>
                    <a:p>
                      <a:pPr algn="r"/>
                      <a:r>
                        <a:rPr sz="1100" b="0" i="0">
                          <a:solidFill>
                            <a:srgbClr val="14171C"/>
                          </a:solidFill>
                          <a:latin typeface="Calibri"/>
                        </a:rPr>
                        <a:t>−0.024</a:t>
                      </a:r>
                    </a:p>
                  </a:txBody>
                  <a:tcPr marL="54864" marR="54864" marT="22860" marB="22860" anchor="ctr">
                    <a:solidFill>
                      <a:srgbClr val="FFFFFF"/>
                    </a:solidFill>
                  </a:tcPr>
                </a:tc>
              </a:tr>
            </a:tbl>
          </a:graphicData>
        </a:graphic>
      </p:graphicFrame>
      <p:graphicFrame>
        <p:nvGraphicFramePr>
          <p:cNvPr id="9" name="Table 8"/>
          <p:cNvGraphicFramePr>
            <a:graphicFrameLocks noGrp="1"/>
          </p:cNvGraphicFramePr>
          <p:nvPr/>
        </p:nvGraphicFramePr>
        <p:xfrm>
          <a:off x="6263640" y="1325880"/>
          <a:ext cx="5394957" cy="4023360"/>
        </p:xfrm>
        <a:graphic>
          <a:graphicData uri="http://schemas.openxmlformats.org/drawingml/2006/table">
            <a:tbl>
              <a:tblPr firstRow="1">
                <a:tableStyleId>{5C22544A-7EE6-4342-B048-85BDC9FD1C3A}</a:tableStyleId>
              </a:tblPr>
              <a:tblGrid>
                <a:gridCol w="1591955"/>
                <a:gridCol w="972861"/>
                <a:gridCol w="972861"/>
                <a:gridCol w="972861"/>
                <a:gridCol w="884419"/>
              </a:tblGrid>
              <a:tr h="365760">
                <a:tc>
                  <a:txBody>
                    <a:bodyPr wrap="square"/>
                    <a:lstStyle/>
                    <a:p>
                      <a:pPr algn="l"/>
                      <a:r>
                        <a:rPr sz="1100" b="1" i="0">
                          <a:solidFill>
                            <a:srgbClr val="FFFFFF"/>
                          </a:solidFill>
                          <a:latin typeface="Calibri"/>
                        </a:rPr>
                        <a:t>Trim</a:t>
                      </a:r>
                    </a:p>
                  </a:txBody>
                  <a:tcPr marL="54864" marR="54864" marT="22860" marB="22860" anchor="ctr">
                    <a:solidFill>
                      <a:srgbClr val="4D5563"/>
                    </a:solidFill>
                  </a:tcPr>
                </a:tc>
                <a:tc>
                  <a:txBody>
                    <a:bodyPr wrap="square"/>
                    <a:lstStyle/>
                    <a:p>
                      <a:pPr algn="r"/>
                      <a:r>
                        <a:rPr sz="1100" b="1" i="0">
                          <a:solidFill>
                            <a:srgbClr val="FFFFFF"/>
                          </a:solidFill>
                          <a:latin typeface="Calibri"/>
                        </a:rPr>
                        <a:t>Quantity</a:t>
                      </a:r>
                    </a:p>
                  </a:txBody>
                  <a:tcPr marL="54864" marR="54864" marT="22860" marB="22860" anchor="ctr">
                    <a:solidFill>
                      <a:srgbClr val="4D5563"/>
                    </a:solidFill>
                  </a:tcPr>
                </a:tc>
                <a:tc>
                  <a:txBody>
                    <a:bodyPr wrap="square"/>
                    <a:lstStyle/>
                    <a:p>
                      <a:pPr algn="r"/>
                      <a:r>
                        <a:rPr sz="1100" b="1" i="0">
                          <a:solidFill>
                            <a:srgbClr val="FFFFFF"/>
                          </a:solidFill>
                          <a:latin typeface="Calibri"/>
                        </a:rPr>
                        <a:t>Printed</a:t>
                      </a:r>
                    </a:p>
                  </a:txBody>
                  <a:tcPr marL="54864" marR="54864" marT="22860" marB="22860" anchor="ctr">
                    <a:solidFill>
                      <a:srgbClr val="4D5563"/>
                    </a:solidFill>
                  </a:tcPr>
                </a:tc>
                <a:tc>
                  <a:txBody>
                    <a:bodyPr wrap="square"/>
                    <a:lstStyle/>
                    <a:p>
                      <a:pPr algn="r"/>
                      <a:r>
                        <a:rPr sz="1100" b="1" i="0">
                          <a:solidFill>
                            <a:srgbClr val="FFFFFF"/>
                          </a:solidFill>
                          <a:latin typeface="Calibri"/>
                        </a:rPr>
                        <a:t>Ours</a:t>
                      </a:r>
                    </a:p>
                  </a:txBody>
                  <a:tcPr marL="54864" marR="54864" marT="22860" marB="22860" anchor="ctr">
                    <a:solidFill>
                      <a:srgbClr val="4D5563"/>
                    </a:solidFill>
                  </a:tcPr>
                </a:tc>
                <a:tc>
                  <a:txBody>
                    <a:bodyPr wrap="square"/>
                    <a:lstStyle/>
                    <a:p>
                      <a:pPr algn="r"/>
                      <a:r>
                        <a:rPr sz="1100" b="1" i="0">
                          <a:solidFill>
                            <a:srgbClr val="FFFFFF"/>
                          </a:solidFill>
                          <a:latin typeface="Calibri"/>
                        </a:rPr>
                        <a:t>Dev. %</a:t>
                      </a:r>
                    </a:p>
                  </a:txBody>
                  <a:tcPr marL="54864" marR="54864" marT="22860" marB="22860" anchor="ctr">
                    <a:solidFill>
                      <a:srgbClr val="4D5563"/>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FFFFF"/>
                    </a:solidFill>
                  </a:tcPr>
                </a:tc>
                <a:tc>
                  <a:txBody>
                    <a:bodyPr wrap="square"/>
                    <a:lstStyle/>
                    <a:p>
                      <a:pPr algn="r"/>
                      <a:r>
                        <a:rPr sz="1100" b="0" i="0">
                          <a:solidFill>
                            <a:srgbClr val="14171C"/>
                          </a:solidFill>
                          <a:latin typeface="Calibri"/>
                        </a:rPr>
                        <a:t>P45</a:t>
                      </a:r>
                    </a:p>
                  </a:txBody>
                  <a:tcPr marL="54864" marR="54864" marT="22860" marB="22860" anchor="ctr">
                    <a:solidFill>
                      <a:srgbClr val="FFFFFF"/>
                    </a:solidFill>
                  </a:tcPr>
                </a:tc>
                <a:tc>
                  <a:txBody>
                    <a:bodyPr wrap="square"/>
                    <a:lstStyle/>
                    <a:p>
                      <a:pPr algn="r"/>
                      <a:r>
                        <a:rPr sz="1100" b="0" i="0">
                          <a:solidFill>
                            <a:srgbClr val="14171C"/>
                          </a:solidFill>
                          <a:latin typeface="Calibri"/>
                        </a:rPr>
                        <a:t>30.66</a:t>
                      </a:r>
                    </a:p>
                  </a:txBody>
                  <a:tcPr marL="54864" marR="54864" marT="22860" marB="22860" anchor="ctr">
                    <a:solidFill>
                      <a:srgbClr val="FFFFFF"/>
                    </a:solidFill>
                  </a:tcPr>
                </a:tc>
                <a:tc>
                  <a:txBody>
                    <a:bodyPr wrap="square"/>
                    <a:lstStyle/>
                    <a:p>
                      <a:pPr algn="r"/>
                      <a:r>
                        <a:rPr sz="1100" b="0" i="0">
                          <a:solidFill>
                            <a:srgbClr val="14171C"/>
                          </a:solidFill>
                          <a:latin typeface="Calibri"/>
                        </a:rPr>
                        <a:t>30.65</a:t>
                      </a:r>
                    </a:p>
                  </a:txBody>
                  <a:tcPr marL="54864" marR="54864" marT="22860" marB="22860" anchor="ctr">
                    <a:solidFill>
                      <a:srgbClr val="FFFFFF"/>
                    </a:solidFill>
                  </a:tcPr>
                </a:tc>
                <a:tc>
                  <a:txBody>
                    <a:bodyPr wrap="square"/>
                    <a:lstStyle/>
                    <a:p>
                      <a:pPr algn="r"/>
                      <a:r>
                        <a:rPr sz="1100" b="0" i="0">
                          <a:solidFill>
                            <a:srgbClr val="14171C"/>
                          </a:solidFill>
                          <a:latin typeface="Calibri"/>
                        </a:rPr>
                        <a:t>−0.039</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2F3F5"/>
                    </a:solidFill>
                  </a:tcPr>
                </a:tc>
                <a:tc>
                  <a:txBody>
                    <a:bodyPr wrap="square"/>
                    <a:lstStyle/>
                    <a:p>
                      <a:pPr algn="r"/>
                      <a:r>
                        <a:rPr sz="1100" b="0" i="0">
                          <a:solidFill>
                            <a:srgbClr val="14171C"/>
                          </a:solidFill>
                          <a:latin typeface="Calibri"/>
                        </a:rPr>
                        <a:t>T45</a:t>
                      </a:r>
                    </a:p>
                  </a:txBody>
                  <a:tcPr marL="54864" marR="54864" marT="22860" marB="22860" anchor="ctr">
                    <a:solidFill>
                      <a:srgbClr val="F2F3F5"/>
                    </a:solidFill>
                  </a:tcPr>
                </a:tc>
                <a:tc>
                  <a:txBody>
                    <a:bodyPr wrap="square"/>
                    <a:lstStyle/>
                    <a:p>
                      <a:pPr algn="r"/>
                      <a:r>
                        <a:rPr sz="1100" b="0" i="0">
                          <a:solidFill>
                            <a:srgbClr val="14171C"/>
                          </a:solidFill>
                          <a:latin typeface="Calibri"/>
                        </a:rPr>
                        <a:t>1,501</a:t>
                      </a:r>
                    </a:p>
                  </a:txBody>
                  <a:tcPr marL="54864" marR="54864" marT="22860" marB="22860" anchor="ctr">
                    <a:solidFill>
                      <a:srgbClr val="F2F3F5"/>
                    </a:solidFill>
                  </a:tcPr>
                </a:tc>
                <a:tc>
                  <a:txBody>
                    <a:bodyPr wrap="square"/>
                    <a:lstStyle/>
                    <a:p>
                      <a:pPr algn="r"/>
                      <a:r>
                        <a:rPr sz="1100" b="0" i="0">
                          <a:solidFill>
                            <a:srgbClr val="14171C"/>
                          </a:solidFill>
                          <a:latin typeface="Calibri"/>
                        </a:rPr>
                        <a:t>1,500</a:t>
                      </a:r>
                    </a:p>
                  </a:txBody>
                  <a:tcPr marL="54864" marR="54864" marT="22860" marB="22860" anchor="ctr">
                    <a:solidFill>
                      <a:srgbClr val="F2F3F5"/>
                    </a:solidFill>
                  </a:tcPr>
                </a:tc>
                <a:tc>
                  <a:txBody>
                    <a:bodyPr wrap="square"/>
                    <a:lstStyle/>
                    <a:p>
                      <a:pPr algn="r"/>
                      <a:r>
                        <a:rPr sz="1100" b="0" i="0">
                          <a:solidFill>
                            <a:srgbClr val="14171C"/>
                          </a:solidFill>
                          <a:latin typeface="Calibri"/>
                        </a:rPr>
                        <a:t>−0.049</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level 80 kt</a:t>
                      </a:r>
                    </a:p>
                  </a:txBody>
                  <a:tcPr marL="54864" marR="54864" marT="22860" marB="22860" anchor="ctr">
                    <a:solidFill>
                      <a:srgbClr val="FFFFFF"/>
                    </a:solidFill>
                  </a:tcPr>
                </a:tc>
                <a:tc>
                  <a:txBody>
                    <a:bodyPr wrap="square"/>
                    <a:lstStyle/>
                    <a:p>
                      <a:pPr algn="r"/>
                      <a:r>
                        <a:rPr sz="1100" b="0" i="0">
                          <a:solidFill>
                            <a:srgbClr val="14171C"/>
                          </a:solidFill>
                          <a:latin typeface="Calibri"/>
                        </a:rPr>
                        <a:t>SHP</a:t>
                      </a:r>
                    </a:p>
                  </a:txBody>
                  <a:tcPr marL="54864" marR="54864" marT="22860" marB="22860" anchor="ctr">
                    <a:solidFill>
                      <a:srgbClr val="FFFFFF"/>
                    </a:solidFill>
                  </a:tcPr>
                </a:tc>
                <a:tc>
                  <a:txBody>
                    <a:bodyPr wrap="square"/>
                    <a:lstStyle/>
                    <a:p>
                      <a:pPr algn="r"/>
                      <a:r>
                        <a:rPr sz="1100" b="0" i="0">
                          <a:solidFill>
                            <a:srgbClr val="14171C"/>
                          </a:solidFill>
                          <a:latin typeface="Calibri"/>
                        </a:rPr>
                        <a:t>552.6</a:t>
                      </a:r>
                    </a:p>
                  </a:txBody>
                  <a:tcPr marL="54864" marR="54864" marT="22860" marB="22860" anchor="ctr">
                    <a:solidFill>
                      <a:srgbClr val="FFFFFF"/>
                    </a:solidFill>
                  </a:tcPr>
                </a:tc>
                <a:tc>
                  <a:txBody>
                    <a:bodyPr wrap="square"/>
                    <a:lstStyle/>
                    <a:p>
                      <a:pPr algn="r"/>
                      <a:r>
                        <a:rPr sz="1100" b="0" i="0">
                          <a:solidFill>
                            <a:srgbClr val="14171C"/>
                          </a:solidFill>
                          <a:latin typeface="Calibri"/>
                        </a:rPr>
                        <a:t>552.2</a:t>
                      </a:r>
                    </a:p>
                  </a:txBody>
                  <a:tcPr marL="54864" marR="54864" marT="22860" marB="22860" anchor="ctr">
                    <a:solidFill>
                      <a:srgbClr val="FFFFFF"/>
                    </a:solidFill>
                  </a:tcPr>
                </a:tc>
                <a:tc>
                  <a:txBody>
                    <a:bodyPr wrap="square"/>
                    <a:lstStyle/>
                    <a:p>
                      <a:pPr algn="r"/>
                      <a:r>
                        <a:rPr sz="1100" b="0" i="0">
                          <a:solidFill>
                            <a:srgbClr val="14171C"/>
                          </a:solidFill>
                          <a:latin typeface="Calibri"/>
                        </a:rPr>
                        <a:t>−0.077</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2F3F5"/>
                    </a:solidFill>
                  </a:tcPr>
                </a:tc>
                <a:tc>
                  <a:txBody>
                    <a:bodyPr wrap="square"/>
                    <a:lstStyle/>
                    <a:p>
                      <a:pPr algn="r"/>
                      <a:r>
                        <a:rPr sz="1100" b="0" i="0">
                          <a:solidFill>
                            <a:srgbClr val="14171C"/>
                          </a:solidFill>
                          <a:latin typeface="Calibri"/>
                        </a:rPr>
                        <a:t>NG</a:t>
                      </a:r>
                    </a:p>
                  </a:txBody>
                  <a:tcPr marL="54864" marR="54864" marT="22860" marB="22860" anchor="ctr">
                    <a:solidFill>
                      <a:srgbClr val="F2F3F5"/>
                    </a:solidFill>
                  </a:tcPr>
                </a:tc>
                <a:tc>
                  <a:txBody>
                    <a:bodyPr wrap="square"/>
                    <a:lstStyle/>
                    <a:p>
                      <a:pPr algn="r"/>
                      <a:r>
                        <a:rPr sz="1100" b="0" i="0">
                          <a:solidFill>
                            <a:srgbClr val="14171C"/>
                          </a:solidFill>
                          <a:latin typeface="Calibri"/>
                        </a:rPr>
                        <a:t>38,072</a:t>
                      </a:r>
                    </a:p>
                  </a:txBody>
                  <a:tcPr marL="54864" marR="54864" marT="22860" marB="22860" anchor="ctr">
                    <a:solidFill>
                      <a:srgbClr val="F2F3F5"/>
                    </a:solidFill>
                  </a:tcPr>
                </a:tc>
                <a:tc>
                  <a:txBody>
                    <a:bodyPr wrap="square"/>
                    <a:lstStyle/>
                    <a:p>
                      <a:pPr algn="r"/>
                      <a:r>
                        <a:rPr sz="1100" b="0" i="0">
                          <a:solidFill>
                            <a:srgbClr val="14171C"/>
                          </a:solidFill>
                          <a:latin typeface="Calibri"/>
                        </a:rPr>
                        <a:t>38,054</a:t>
                      </a:r>
                    </a:p>
                  </a:txBody>
                  <a:tcPr marL="54864" marR="54864" marT="22860" marB="22860" anchor="ctr">
                    <a:solidFill>
                      <a:srgbClr val="F2F3F5"/>
                    </a:solidFill>
                  </a:tcPr>
                </a:tc>
                <a:tc>
                  <a:txBody>
                    <a:bodyPr wrap="square"/>
                    <a:lstStyle/>
                    <a:p>
                      <a:pPr algn="r"/>
                      <a:r>
                        <a:rPr sz="1100" b="0" i="0">
                          <a:solidFill>
                            <a:srgbClr val="14171C"/>
                          </a:solidFill>
                          <a:latin typeface="Calibri"/>
                        </a:rPr>
                        <a:t>−0.048</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FFFFF"/>
                    </a:solidFill>
                  </a:tcPr>
                </a:tc>
                <a:tc>
                  <a:txBody>
                    <a:bodyPr wrap="square"/>
                    <a:lstStyle/>
                    <a:p>
                      <a:pPr algn="r"/>
                      <a:r>
                        <a:rPr sz="1100" b="0" i="0">
                          <a:solidFill>
                            <a:srgbClr val="14171C"/>
                          </a:solidFill>
                          <a:latin typeface="Calibri"/>
                        </a:rPr>
                        <a:t>PS3</a:t>
                      </a:r>
                    </a:p>
                  </a:txBody>
                  <a:tcPr marL="54864" marR="54864" marT="22860" marB="22860" anchor="ctr">
                    <a:solidFill>
                      <a:srgbClr val="FFFFFF"/>
                    </a:solidFill>
                  </a:tcPr>
                </a:tc>
                <a:tc>
                  <a:txBody>
                    <a:bodyPr wrap="square"/>
                    <a:lstStyle/>
                    <a:p>
                      <a:pPr algn="r"/>
                      <a:r>
                        <a:rPr sz="1100" b="0" i="0">
                          <a:solidFill>
                            <a:srgbClr val="14171C"/>
                          </a:solidFill>
                          <a:latin typeface="Calibri"/>
                        </a:rPr>
                        <a:t>114.27</a:t>
                      </a:r>
                    </a:p>
                  </a:txBody>
                  <a:tcPr marL="54864" marR="54864" marT="22860" marB="22860" anchor="ctr">
                    <a:solidFill>
                      <a:srgbClr val="FFFFFF"/>
                    </a:solidFill>
                  </a:tcPr>
                </a:tc>
                <a:tc>
                  <a:txBody>
                    <a:bodyPr wrap="square"/>
                    <a:lstStyle/>
                    <a:p>
                      <a:pPr algn="r"/>
                      <a:r>
                        <a:rPr sz="1100" b="0" i="0">
                          <a:solidFill>
                            <a:srgbClr val="14171C"/>
                          </a:solidFill>
                          <a:latin typeface="Calibri"/>
                        </a:rPr>
                        <a:t>113.88</a:t>
                      </a:r>
                    </a:p>
                  </a:txBody>
                  <a:tcPr marL="54864" marR="54864" marT="22860" marB="22860" anchor="ctr">
                    <a:solidFill>
                      <a:srgbClr val="FFFFFF"/>
                    </a:solidFill>
                  </a:tcPr>
                </a:tc>
                <a:tc>
                  <a:txBody>
                    <a:bodyPr wrap="square"/>
                    <a:lstStyle/>
                    <a:p>
                      <a:pPr algn="r"/>
                      <a:r>
                        <a:rPr sz="1100" b="0" i="0">
                          <a:solidFill>
                            <a:srgbClr val="14171C"/>
                          </a:solidFill>
                          <a:latin typeface="Calibri"/>
                        </a:rPr>
                        <a:t>−0.338</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2F3F5"/>
                    </a:solidFill>
                  </a:tcPr>
                </a:tc>
                <a:tc>
                  <a:txBody>
                    <a:bodyPr wrap="square"/>
                    <a:lstStyle/>
                    <a:p>
                      <a:pPr algn="r"/>
                      <a:r>
                        <a:rPr sz="1100" b="0" i="0">
                          <a:solidFill>
                            <a:srgbClr val="14171C"/>
                          </a:solidFill>
                          <a:latin typeface="Calibri"/>
                        </a:rPr>
                        <a:t>P41</a:t>
                      </a:r>
                    </a:p>
                  </a:txBody>
                  <a:tcPr marL="54864" marR="54864" marT="22860" marB="22860" anchor="ctr">
                    <a:solidFill>
                      <a:srgbClr val="F2F3F5"/>
                    </a:solidFill>
                  </a:tcPr>
                </a:tc>
                <a:tc>
                  <a:txBody>
                    <a:bodyPr wrap="square"/>
                    <a:lstStyle/>
                    <a:p>
                      <a:pPr algn="r"/>
                      <a:r>
                        <a:rPr sz="1100" b="0" i="0">
                          <a:solidFill>
                            <a:srgbClr val="14171C"/>
                          </a:solidFill>
                          <a:latin typeface="Calibri"/>
                        </a:rPr>
                        <a:t>112.77</a:t>
                      </a:r>
                    </a:p>
                  </a:txBody>
                  <a:tcPr marL="54864" marR="54864" marT="22860" marB="22860" anchor="ctr">
                    <a:solidFill>
                      <a:srgbClr val="F2F3F5"/>
                    </a:solidFill>
                  </a:tcPr>
                </a:tc>
                <a:tc>
                  <a:txBody>
                    <a:bodyPr wrap="square"/>
                    <a:lstStyle/>
                    <a:p>
                      <a:pPr algn="r"/>
                      <a:r>
                        <a:rPr sz="1100" b="0" i="0">
                          <a:solidFill>
                            <a:srgbClr val="14171C"/>
                          </a:solidFill>
                          <a:latin typeface="Calibri"/>
                        </a:rPr>
                        <a:t>112.40</a:t>
                      </a:r>
                    </a:p>
                  </a:txBody>
                  <a:tcPr marL="54864" marR="54864" marT="22860" marB="22860" anchor="ctr">
                    <a:solidFill>
                      <a:srgbClr val="F2F3F5"/>
                    </a:solidFill>
                  </a:tcPr>
                </a:tc>
                <a:tc>
                  <a:txBody>
                    <a:bodyPr wrap="square"/>
                    <a:lstStyle/>
                    <a:p>
                      <a:pPr algn="r"/>
                      <a:r>
                        <a:rPr sz="1100" b="0" i="0">
                          <a:solidFill>
                            <a:srgbClr val="14171C"/>
                          </a:solidFill>
                          <a:latin typeface="Calibri"/>
                        </a:rPr>
                        <a:t>−0.331</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FFFFF"/>
                    </a:solidFill>
                  </a:tcPr>
                </a:tc>
                <a:tc>
                  <a:txBody>
                    <a:bodyPr wrap="square"/>
                    <a:lstStyle/>
                    <a:p>
                      <a:pPr algn="r"/>
                      <a:r>
                        <a:rPr sz="1100" b="0" i="0">
                          <a:solidFill>
                            <a:srgbClr val="14171C"/>
                          </a:solidFill>
                          <a:latin typeface="Calibri"/>
                        </a:rPr>
                        <a:t>T41</a:t>
                      </a:r>
                    </a:p>
                  </a:txBody>
                  <a:tcPr marL="54864" marR="54864" marT="22860" marB="22860" anchor="ctr">
                    <a:solidFill>
                      <a:srgbClr val="FFFFFF"/>
                    </a:solidFill>
                  </a:tcPr>
                </a:tc>
                <a:tc>
                  <a:txBody>
                    <a:bodyPr wrap="square"/>
                    <a:lstStyle/>
                    <a:p>
                      <a:pPr algn="r"/>
                      <a:r>
                        <a:rPr sz="1100" b="0" i="0">
                          <a:solidFill>
                            <a:srgbClr val="14171C"/>
                          </a:solidFill>
                          <a:latin typeface="Calibri"/>
                        </a:rPr>
                        <a:t>1,982</a:t>
                      </a:r>
                    </a:p>
                  </a:txBody>
                  <a:tcPr marL="54864" marR="54864" marT="22860" marB="22860" anchor="ctr">
                    <a:solidFill>
                      <a:srgbClr val="FFFFFF"/>
                    </a:solidFill>
                  </a:tcPr>
                </a:tc>
                <a:tc>
                  <a:txBody>
                    <a:bodyPr wrap="square"/>
                    <a:lstStyle/>
                    <a:p>
                      <a:pPr algn="r"/>
                      <a:r>
                        <a:rPr sz="1100" b="0" i="0">
                          <a:solidFill>
                            <a:srgbClr val="14171C"/>
                          </a:solidFill>
                          <a:latin typeface="Calibri"/>
                        </a:rPr>
                        <a:t>1,984</a:t>
                      </a:r>
                    </a:p>
                  </a:txBody>
                  <a:tcPr marL="54864" marR="54864" marT="22860" marB="22860" anchor="ctr">
                    <a:solidFill>
                      <a:srgbClr val="FFFFFF"/>
                    </a:solidFill>
                  </a:tcPr>
                </a:tc>
                <a:tc>
                  <a:txBody>
                    <a:bodyPr wrap="square"/>
                    <a:lstStyle/>
                    <a:p>
                      <a:pPr algn="r"/>
                      <a:r>
                        <a:rPr sz="1100" b="0" i="0">
                          <a:solidFill>
                            <a:srgbClr val="14171C"/>
                          </a:solidFill>
                          <a:latin typeface="Calibri"/>
                        </a:rPr>
                        <a:t>+0.087</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2F3F5"/>
                    </a:solidFill>
                  </a:tcPr>
                </a:tc>
                <a:tc>
                  <a:txBody>
                    <a:bodyPr wrap="square"/>
                    <a:lstStyle/>
                    <a:p>
                      <a:pPr algn="r"/>
                      <a:r>
                        <a:rPr sz="1100" b="0" i="0">
                          <a:solidFill>
                            <a:srgbClr val="14171C"/>
                          </a:solidFill>
                          <a:latin typeface="Calibri"/>
                        </a:rPr>
                        <a:t>P45</a:t>
                      </a:r>
                    </a:p>
                  </a:txBody>
                  <a:tcPr marL="54864" marR="54864" marT="22860" marB="22860" anchor="ctr">
                    <a:solidFill>
                      <a:srgbClr val="F2F3F5"/>
                    </a:solidFill>
                  </a:tcPr>
                </a:tc>
                <a:tc>
                  <a:txBody>
                    <a:bodyPr wrap="square"/>
                    <a:lstStyle/>
                    <a:p>
                      <a:pPr algn="r"/>
                      <a:r>
                        <a:rPr sz="1100" b="0" i="0">
                          <a:solidFill>
                            <a:srgbClr val="14171C"/>
                          </a:solidFill>
                          <a:latin typeface="Calibri"/>
                        </a:rPr>
                        <a:t>25.54</a:t>
                      </a:r>
                    </a:p>
                  </a:txBody>
                  <a:tcPr marL="54864" marR="54864" marT="22860" marB="22860" anchor="ctr">
                    <a:solidFill>
                      <a:srgbClr val="F2F3F5"/>
                    </a:solidFill>
                  </a:tcPr>
                </a:tc>
                <a:tc>
                  <a:txBody>
                    <a:bodyPr wrap="square"/>
                    <a:lstStyle/>
                    <a:p>
                      <a:pPr algn="r"/>
                      <a:r>
                        <a:rPr sz="1100" b="0" i="0">
                          <a:solidFill>
                            <a:srgbClr val="14171C"/>
                          </a:solidFill>
                          <a:latin typeface="Calibri"/>
                        </a:rPr>
                        <a:t>25.47</a:t>
                      </a:r>
                    </a:p>
                  </a:txBody>
                  <a:tcPr marL="54864" marR="54864" marT="22860" marB="22860" anchor="ctr">
                    <a:solidFill>
                      <a:srgbClr val="F2F3F5"/>
                    </a:solidFill>
                  </a:tcPr>
                </a:tc>
                <a:tc>
                  <a:txBody>
                    <a:bodyPr wrap="square"/>
                    <a:lstStyle/>
                    <a:p>
                      <a:pPr algn="r"/>
                      <a:r>
                        <a:rPr sz="1100" b="0" i="0">
                          <a:solidFill>
                            <a:srgbClr val="14171C"/>
                          </a:solidFill>
                          <a:latin typeface="Calibri"/>
                        </a:rPr>
                        <a:t>−0.265</a:t>
                      </a:r>
                    </a:p>
                  </a:txBody>
                  <a:tcPr marL="54864" marR="54864" marT="22860" marB="22860" anchor="ctr">
                    <a:solidFill>
                      <a:srgbClr val="F2F3F5"/>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FFFFF"/>
                    </a:solidFill>
                  </a:tcPr>
                </a:tc>
                <a:tc>
                  <a:txBody>
                    <a:bodyPr wrap="square"/>
                    <a:lstStyle/>
                    <a:p>
                      <a:pPr algn="r"/>
                      <a:r>
                        <a:rPr sz="1100" b="0" i="0">
                          <a:solidFill>
                            <a:srgbClr val="14171C"/>
                          </a:solidFill>
                          <a:latin typeface="Calibri"/>
                        </a:rPr>
                        <a:t>T45</a:t>
                      </a:r>
                    </a:p>
                  </a:txBody>
                  <a:tcPr marL="54864" marR="54864" marT="22860" marB="22860" anchor="ctr">
                    <a:solidFill>
                      <a:srgbClr val="FFFFFF"/>
                    </a:solidFill>
                  </a:tcPr>
                </a:tc>
                <a:tc>
                  <a:txBody>
                    <a:bodyPr wrap="square"/>
                    <a:lstStyle/>
                    <a:p>
                      <a:pPr algn="r"/>
                      <a:r>
                        <a:rPr sz="1100" b="0" i="0">
                          <a:solidFill>
                            <a:srgbClr val="14171C"/>
                          </a:solidFill>
                          <a:latin typeface="Calibri"/>
                        </a:rPr>
                        <a:t>1,424</a:t>
                      </a:r>
                    </a:p>
                  </a:txBody>
                  <a:tcPr marL="54864" marR="54864" marT="22860" marB="22860" anchor="ctr">
                    <a:solidFill>
                      <a:srgbClr val="FFFFFF"/>
                    </a:solidFill>
                  </a:tcPr>
                </a:tc>
                <a:tc>
                  <a:txBody>
                    <a:bodyPr wrap="square"/>
                    <a:lstStyle/>
                    <a:p>
                      <a:pPr algn="r"/>
                      <a:r>
                        <a:rPr sz="1100" b="0" i="0">
                          <a:solidFill>
                            <a:srgbClr val="14171C"/>
                          </a:solidFill>
                          <a:latin typeface="Calibri"/>
                        </a:rPr>
                        <a:t>1,426</a:t>
                      </a:r>
                    </a:p>
                  </a:txBody>
                  <a:tcPr marL="54864" marR="54864" marT="22860" marB="22860" anchor="ctr">
                    <a:solidFill>
                      <a:srgbClr val="FFFFFF"/>
                    </a:solidFill>
                  </a:tcPr>
                </a:tc>
                <a:tc>
                  <a:txBody>
                    <a:bodyPr wrap="square"/>
                    <a:lstStyle/>
                    <a:p>
                      <a:pPr algn="r"/>
                      <a:r>
                        <a:rPr sz="1100" b="0" i="0">
                          <a:solidFill>
                            <a:srgbClr val="14171C"/>
                          </a:solidFill>
                          <a:latin typeface="Calibri"/>
                        </a:rPr>
                        <a:t>+0.172</a:t>
                      </a:r>
                    </a:p>
                  </a:txBody>
                  <a:tcPr marL="54864" marR="54864" marT="22860" marB="22860" anchor="ctr">
                    <a:solidFill>
                      <a:srgbClr val="FFFFFF"/>
                    </a:solidFill>
                  </a:tcPr>
                </a:tc>
              </a:tr>
              <a:tr h="365760">
                <a:tc>
                  <a:txBody>
                    <a:bodyPr wrap="square"/>
                    <a:lstStyle/>
                    <a:p>
                      <a:pPr algn="l"/>
                      <a:r>
                        <a:rPr sz="1100" b="0" i="0">
                          <a:solidFill>
                            <a:srgbClr val="14171C"/>
                          </a:solidFill>
                          <a:latin typeface="Calibri"/>
                        </a:rPr>
                        <a:t>descent 80 kt</a:t>
                      </a:r>
                    </a:p>
                  </a:txBody>
                  <a:tcPr marL="54864" marR="54864" marT="22860" marB="22860" anchor="ctr">
                    <a:solidFill>
                      <a:srgbClr val="F2F3F5"/>
                    </a:solidFill>
                  </a:tcPr>
                </a:tc>
                <a:tc>
                  <a:txBody>
                    <a:bodyPr wrap="square"/>
                    <a:lstStyle/>
                    <a:p>
                      <a:pPr algn="r"/>
                      <a:r>
                        <a:rPr sz="1100" b="0" i="0">
                          <a:solidFill>
                            <a:srgbClr val="14171C"/>
                          </a:solidFill>
                          <a:latin typeface="Calibri"/>
                        </a:rPr>
                        <a:t>SHP</a:t>
                      </a:r>
                    </a:p>
                  </a:txBody>
                  <a:tcPr marL="54864" marR="54864" marT="22860" marB="22860" anchor="ctr">
                    <a:solidFill>
                      <a:srgbClr val="F2F3F5"/>
                    </a:solidFill>
                  </a:tcPr>
                </a:tc>
                <a:tc>
                  <a:txBody>
                    <a:bodyPr wrap="square"/>
                    <a:lstStyle/>
                    <a:p>
                      <a:pPr algn="r"/>
                      <a:r>
                        <a:rPr sz="1100" b="0" i="0">
                          <a:solidFill>
                            <a:srgbClr val="14171C"/>
                          </a:solidFill>
                          <a:latin typeface="Calibri"/>
                        </a:rPr>
                        <a:t>302.6</a:t>
                      </a:r>
                    </a:p>
                  </a:txBody>
                  <a:tcPr marL="54864" marR="54864" marT="22860" marB="22860" anchor="ctr">
                    <a:solidFill>
                      <a:srgbClr val="F2F3F5"/>
                    </a:solidFill>
                  </a:tcPr>
                </a:tc>
                <a:tc>
                  <a:txBody>
                    <a:bodyPr wrap="square"/>
                    <a:lstStyle/>
                    <a:p>
                      <a:pPr algn="r"/>
                      <a:r>
                        <a:rPr sz="1100" b="0" i="0">
                          <a:solidFill>
                            <a:srgbClr val="14171C"/>
                          </a:solidFill>
                          <a:latin typeface="Calibri"/>
                        </a:rPr>
                        <a:t>300.2</a:t>
                      </a:r>
                    </a:p>
                  </a:txBody>
                  <a:tcPr marL="54864" marR="54864" marT="22860" marB="22860" anchor="ctr">
                    <a:solidFill>
                      <a:srgbClr val="F2F3F5"/>
                    </a:solidFill>
                  </a:tcPr>
                </a:tc>
                <a:tc>
                  <a:txBody>
                    <a:bodyPr wrap="square"/>
                    <a:lstStyle/>
                    <a:p>
                      <a:pPr algn="r"/>
                      <a:r>
                        <a:rPr sz="1100" b="0" i="0">
                          <a:solidFill>
                            <a:srgbClr val="14171C"/>
                          </a:solidFill>
                          <a:latin typeface="Calibri"/>
                        </a:rPr>
                        <a:t>−0.806</a:t>
                      </a:r>
                    </a:p>
                  </a:txBody>
                  <a:tcPr marL="54864" marR="54864" marT="22860" marB="22860" anchor="ctr">
                    <a:solidFill>
                      <a:srgbClr val="F2F3F5"/>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BACKUP</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Table 1 in full</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Table 1, pdf p.31</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69</a:t>
            </a:r>
          </a:p>
        </p:txBody>
      </p:sp>
      <p:graphicFrame>
        <p:nvGraphicFramePr>
          <p:cNvPr id="8" name="Table 7"/>
          <p:cNvGraphicFramePr>
            <a:graphicFrameLocks noGrp="1"/>
          </p:cNvGraphicFramePr>
          <p:nvPr/>
        </p:nvGraphicFramePr>
        <p:xfrm>
          <a:off x="502920" y="1325880"/>
          <a:ext cx="5394956" cy="4594860"/>
        </p:xfrm>
        <a:graphic>
          <a:graphicData uri="http://schemas.openxmlformats.org/drawingml/2006/table">
            <a:tbl>
              <a:tblPr firstRow="1">
                <a:tableStyleId>{5C22544A-7EE6-4342-B048-85BDC9FD1C3A}</a:tableStyleId>
              </a:tblPr>
              <a:tblGrid>
                <a:gridCol w="1392247"/>
                <a:gridCol w="870154"/>
                <a:gridCol w="609108"/>
                <a:gridCol w="870154"/>
                <a:gridCol w="870154"/>
                <a:gridCol w="783139"/>
              </a:tblGrid>
              <a:tr h="306324">
                <a:tc>
                  <a:txBody>
                    <a:bodyPr wrap="square"/>
                    <a:lstStyle/>
                    <a:p>
                      <a:pPr algn="l"/>
                      <a:r>
                        <a:rPr sz="1000" b="1" i="0">
                          <a:solidFill>
                            <a:srgbClr val="FFFFFF"/>
                          </a:solidFill>
                          <a:latin typeface="Calibri"/>
                        </a:rPr>
                        <a:t>Model</a:t>
                      </a:r>
                    </a:p>
                  </a:txBody>
                  <a:tcPr marL="54864" marR="54864" marT="22860" marB="22860" anchor="ctr">
                    <a:solidFill>
                      <a:srgbClr val="4D5563"/>
                    </a:solidFill>
                  </a:tcPr>
                </a:tc>
                <a:tc>
                  <a:txBody>
                    <a:bodyPr wrap="square"/>
                    <a:lstStyle/>
                    <a:p>
                      <a:pPr algn="r"/>
                      <a:r>
                        <a:rPr sz="1000" b="1" i="0">
                          <a:solidFill>
                            <a:srgbClr val="FFFFFF"/>
                          </a:solidFill>
                          <a:latin typeface="Calibri"/>
                        </a:rPr>
                        <a:t>Trim</a:t>
                      </a:r>
                    </a:p>
                  </a:txBody>
                  <a:tcPr marL="54864" marR="54864" marT="22860" marB="22860" anchor="ctr">
                    <a:solidFill>
                      <a:srgbClr val="4D5563"/>
                    </a:solidFill>
                  </a:tcPr>
                </a:tc>
                <a:tc>
                  <a:txBody>
                    <a:bodyPr wrap="square"/>
                    <a:lstStyle/>
                    <a:p>
                      <a:pPr algn="r"/>
                      <a:r>
                        <a:rPr sz="1000" b="1" i="0">
                          <a:solidFill>
                            <a:srgbClr val="FFFFFF"/>
                          </a:solidFill>
                          <a:latin typeface="Calibri"/>
                        </a:rPr>
                        <a:t>Mode</a:t>
                      </a:r>
                    </a:p>
                  </a:txBody>
                  <a:tcPr marL="54864" marR="54864" marT="22860" marB="22860" anchor="ctr">
                    <a:solidFill>
                      <a:srgbClr val="4D5563"/>
                    </a:solidFill>
                  </a:tcPr>
                </a:tc>
                <a:tc>
                  <a:txBody>
                    <a:bodyPr wrap="square"/>
                    <a:lstStyle/>
                    <a:p>
                      <a:pPr algn="r"/>
                      <a:r>
                        <a:rPr sz="1000" b="1" i="0">
                          <a:solidFill>
                            <a:srgbClr val="FFFFFF"/>
                          </a:solidFill>
                          <a:latin typeface="Calibri"/>
                        </a:rPr>
                        <a:t>Printed</a:t>
                      </a:r>
                    </a:p>
                  </a:txBody>
                  <a:tcPr marL="54864" marR="54864" marT="22860" marB="22860" anchor="ctr">
                    <a:solidFill>
                      <a:srgbClr val="4D5563"/>
                    </a:solidFill>
                  </a:tcPr>
                </a:tc>
                <a:tc>
                  <a:txBody>
                    <a:bodyPr wrap="square"/>
                    <a:lstStyle/>
                    <a:p>
                      <a:pPr algn="r"/>
                      <a:r>
                        <a:rPr sz="1000" b="1" i="0">
                          <a:solidFill>
                            <a:srgbClr val="FFFFFF"/>
                          </a:solidFill>
                          <a:latin typeface="Calibri"/>
                        </a:rPr>
                        <a:t>Ours</a:t>
                      </a:r>
                    </a:p>
                  </a:txBody>
                  <a:tcPr marL="54864" marR="54864" marT="22860" marB="22860" anchor="ctr">
                    <a:solidFill>
                      <a:srgbClr val="4D5563"/>
                    </a:solidFill>
                  </a:tcPr>
                </a:tc>
                <a:tc>
                  <a:txBody>
                    <a:bodyPr wrap="square"/>
                    <a:lstStyle/>
                    <a:p>
                      <a:pPr algn="r"/>
                      <a:r>
                        <a:rPr sz="1000" b="1" i="0">
                          <a:solidFill>
                            <a:srgbClr val="FFFFFF"/>
                          </a:solidFill>
                          <a:latin typeface="Calibri"/>
                        </a:rPr>
                        <a:t>Dev. %</a:t>
                      </a:r>
                    </a:p>
                  </a:txBody>
                  <a:tcPr marL="54864" marR="54864" marT="22860" marB="22860" anchor="ctr">
                    <a:solidFill>
                      <a:srgbClr val="4D5563"/>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hover</a:t>
                      </a:r>
                    </a:p>
                  </a:txBody>
                  <a:tcPr marL="54864" marR="54864" marT="22860" marB="22860" anchor="ctr">
                    <a:solidFill>
                      <a:srgbClr val="FFFFFF"/>
                    </a:solidFill>
                  </a:tcPr>
                </a:tc>
                <a:tc>
                  <a:txBody>
                    <a:bodyPr wrap="square"/>
                    <a:lstStyle/>
                    <a:p>
                      <a:pPr algn="r"/>
                      <a:r>
                        <a:rPr sz="1000" b="0" i="0">
                          <a:solidFill>
                            <a:srgbClr val="14171C"/>
                          </a:solidFill>
                          <a:latin typeface="Calibri"/>
                        </a:rPr>
                        <a:t>NP</a:t>
                      </a:r>
                    </a:p>
                  </a:txBody>
                  <a:tcPr marL="54864" marR="54864" marT="22860" marB="22860" anchor="ctr">
                    <a:solidFill>
                      <a:srgbClr val="FFFFFF"/>
                    </a:solidFill>
                  </a:tcPr>
                </a:tc>
                <a:tc>
                  <a:txBody>
                    <a:bodyPr wrap="square"/>
                    <a:lstStyle/>
                    <a:p>
                      <a:pPr algn="r"/>
                      <a:r>
                        <a:rPr sz="1000" b="0" i="0">
                          <a:solidFill>
                            <a:srgbClr val="14171C"/>
                          </a:solidFill>
                          <a:latin typeface="Calibri"/>
                        </a:rPr>
                        <a:t>−0.565</a:t>
                      </a:r>
                    </a:p>
                  </a:txBody>
                  <a:tcPr marL="54864" marR="54864" marT="22860" marB="22860" anchor="ctr">
                    <a:solidFill>
                      <a:srgbClr val="FFFFFF"/>
                    </a:solidFill>
                  </a:tcPr>
                </a:tc>
                <a:tc>
                  <a:txBody>
                    <a:bodyPr wrap="square"/>
                    <a:lstStyle/>
                    <a:p>
                      <a:pPr algn="r"/>
                      <a:r>
                        <a:rPr sz="1000" b="0" i="0">
                          <a:solidFill>
                            <a:srgbClr val="14171C"/>
                          </a:solidFill>
                          <a:latin typeface="Calibri"/>
                        </a:rPr>
                        <a:t>−0.565</a:t>
                      </a:r>
                    </a:p>
                  </a:txBody>
                  <a:tcPr marL="54864" marR="54864" marT="22860" marB="22860" anchor="ctr">
                    <a:solidFill>
                      <a:srgbClr val="FFFFFF"/>
                    </a:solidFill>
                  </a:tcPr>
                </a:tc>
                <a:tc>
                  <a:txBody>
                    <a:bodyPr wrap="square"/>
                    <a:lstStyle/>
                    <a:p>
                      <a:pPr algn="r"/>
                      <a:r>
                        <a:rPr sz="1000" b="0" i="0">
                          <a:solidFill>
                            <a:srgbClr val="14171C"/>
                          </a:solidFill>
                          <a:latin typeface="Calibri"/>
                        </a:rPr>
                        <a:t>supplied</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hover</a:t>
                      </a:r>
                    </a:p>
                  </a:txBody>
                  <a:tcPr marL="54864" marR="54864" marT="22860" marB="22860" anchor="ctr">
                    <a:solidFill>
                      <a:srgbClr val="F2F3F5"/>
                    </a:solidFill>
                  </a:tcPr>
                </a:tc>
                <a:tc>
                  <a:txBody>
                    <a:bodyPr wrap="square"/>
                    <a:lstStyle/>
                    <a:p>
                      <a:pPr algn="r"/>
                      <a:r>
                        <a:rPr sz="1000" b="0" i="0">
                          <a:solidFill>
                            <a:srgbClr val="14171C"/>
                          </a:solidFill>
                          <a:latin typeface="Calibri"/>
                        </a:rPr>
                        <a:t>NG</a:t>
                      </a:r>
                    </a:p>
                  </a:txBody>
                  <a:tcPr marL="54864" marR="54864" marT="22860" marB="22860" anchor="ctr">
                    <a:solidFill>
                      <a:srgbClr val="F2F3F5"/>
                    </a:solidFill>
                  </a:tcPr>
                </a:tc>
                <a:tc>
                  <a:txBody>
                    <a:bodyPr wrap="square"/>
                    <a:lstStyle/>
                    <a:p>
                      <a:pPr algn="r"/>
                      <a:r>
                        <a:rPr sz="1000" b="0" i="0">
                          <a:solidFill>
                            <a:srgbClr val="14171C"/>
                          </a:solidFill>
                          <a:latin typeface="Calibri"/>
                        </a:rPr>
                        <a:t>−2.66</a:t>
                      </a:r>
                    </a:p>
                  </a:txBody>
                  <a:tcPr marL="54864" marR="54864" marT="22860" marB="22860" anchor="ctr">
                    <a:solidFill>
                      <a:srgbClr val="F2F3F5"/>
                    </a:solidFill>
                  </a:tcPr>
                </a:tc>
                <a:tc>
                  <a:txBody>
                    <a:bodyPr wrap="square"/>
                    <a:lstStyle/>
                    <a:p>
                      <a:pPr algn="r"/>
                      <a:r>
                        <a:rPr sz="1000" b="0" i="0">
                          <a:solidFill>
                            <a:srgbClr val="14171C"/>
                          </a:solidFill>
                          <a:latin typeface="Calibri"/>
                        </a:rPr>
                        <a:t>−2.69</a:t>
                      </a:r>
                    </a:p>
                  </a:txBody>
                  <a:tcPr marL="54864" marR="54864" marT="22860" marB="22860" anchor="ctr">
                    <a:solidFill>
                      <a:srgbClr val="F2F3F5"/>
                    </a:solidFill>
                  </a:tcPr>
                </a:tc>
                <a:tc>
                  <a:txBody>
                    <a:bodyPr wrap="square"/>
                    <a:lstStyle/>
                    <a:p>
                      <a:pPr algn="r"/>
                      <a:r>
                        <a:rPr sz="1000" b="0" i="0">
                          <a:solidFill>
                            <a:srgbClr val="14171C"/>
                          </a:solidFill>
                          <a:latin typeface="Calibri"/>
                        </a:rPr>
                        <a:t>+1.18</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hover</a:t>
                      </a:r>
                    </a:p>
                  </a:txBody>
                  <a:tcPr marL="54864" marR="54864" marT="22860" marB="22860" anchor="ctr">
                    <a:solidFill>
                      <a:srgbClr val="FFFFFF"/>
                    </a:solidFill>
                  </a:tcPr>
                </a:tc>
                <a:tc>
                  <a:txBody>
                    <a:bodyPr wrap="square"/>
                    <a:lstStyle/>
                    <a:p>
                      <a:pPr algn="r"/>
                      <a:r>
                        <a:rPr sz="1000" b="0" i="0">
                          <a:solidFill>
                            <a:srgbClr val="14171C"/>
                          </a:solidFill>
                          <a:latin typeface="Calibri"/>
                        </a:rPr>
                        <a:t>P3</a:t>
                      </a:r>
                    </a:p>
                  </a:txBody>
                  <a:tcPr marL="54864" marR="54864" marT="22860" marB="22860" anchor="ctr">
                    <a:solidFill>
                      <a:srgbClr val="FFFFFF"/>
                    </a:solidFill>
                  </a:tcPr>
                </a:tc>
                <a:tc>
                  <a:txBody>
                    <a:bodyPr wrap="square"/>
                    <a:lstStyle/>
                    <a:p>
                      <a:pPr algn="r"/>
                      <a:r>
                        <a:rPr sz="1000" b="0" i="0">
                          <a:solidFill>
                            <a:srgbClr val="14171C"/>
                          </a:solidFill>
                          <a:latin typeface="Calibri"/>
                        </a:rPr>
                        <a:t>−51.6</a:t>
                      </a:r>
                    </a:p>
                  </a:txBody>
                  <a:tcPr marL="54864" marR="54864" marT="22860" marB="22860" anchor="ctr">
                    <a:solidFill>
                      <a:srgbClr val="FFFFFF"/>
                    </a:solidFill>
                  </a:tcPr>
                </a:tc>
                <a:tc>
                  <a:txBody>
                    <a:bodyPr wrap="square"/>
                    <a:lstStyle/>
                    <a:p>
                      <a:pPr algn="r"/>
                      <a:r>
                        <a:rPr sz="1000" b="0" i="0">
                          <a:solidFill>
                            <a:srgbClr val="14171C"/>
                          </a:solidFill>
                          <a:latin typeface="Calibri"/>
                        </a:rPr>
                        <a:t>−51.7</a:t>
                      </a:r>
                    </a:p>
                  </a:txBody>
                  <a:tcPr marL="54864" marR="54864" marT="22860" marB="22860" anchor="ctr">
                    <a:solidFill>
                      <a:srgbClr val="FFFFFF"/>
                    </a:solidFill>
                  </a:tcPr>
                </a:tc>
                <a:tc>
                  <a:txBody>
                    <a:bodyPr wrap="square"/>
                    <a:lstStyle/>
                    <a:p>
                      <a:pPr algn="r"/>
                      <a:r>
                        <a:rPr sz="1000" b="0" i="0">
                          <a:solidFill>
                            <a:srgbClr val="14171C"/>
                          </a:solidFill>
                          <a:latin typeface="Calibri"/>
                        </a:rPr>
                        <a:t>+0.19</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hover</a:t>
                      </a:r>
                    </a:p>
                  </a:txBody>
                  <a:tcPr marL="54864" marR="54864" marT="22860" marB="22860" anchor="ctr">
                    <a:solidFill>
                      <a:srgbClr val="F2F3F5"/>
                    </a:solidFill>
                  </a:tcPr>
                </a:tc>
                <a:tc>
                  <a:txBody>
                    <a:bodyPr wrap="square"/>
                    <a:lstStyle/>
                    <a:p>
                      <a:pPr algn="r"/>
                      <a:r>
                        <a:rPr sz="1000" b="0" i="0">
                          <a:solidFill>
                            <a:srgbClr val="14171C"/>
                          </a:solidFill>
                          <a:latin typeface="Calibri"/>
                        </a:rPr>
                        <a:t>P45</a:t>
                      </a:r>
                    </a:p>
                  </a:txBody>
                  <a:tcPr marL="54864" marR="54864" marT="22860" marB="22860" anchor="ctr">
                    <a:solidFill>
                      <a:srgbClr val="F2F3F5"/>
                    </a:solidFill>
                  </a:tcPr>
                </a:tc>
                <a:tc>
                  <a:txBody>
                    <a:bodyPr wrap="square"/>
                    <a:lstStyle/>
                    <a:p>
                      <a:pPr algn="r"/>
                      <a:r>
                        <a:rPr sz="1000" b="0" i="0">
                          <a:solidFill>
                            <a:srgbClr val="14171C"/>
                          </a:solidFill>
                          <a:latin typeface="Calibri"/>
                        </a:rPr>
                        <a:t>−3,060</a:t>
                      </a:r>
                    </a:p>
                  </a:txBody>
                  <a:tcPr marL="54864" marR="54864" marT="22860" marB="22860" anchor="ctr">
                    <a:solidFill>
                      <a:srgbClr val="F2F3F5"/>
                    </a:solidFill>
                  </a:tcPr>
                </a:tc>
                <a:tc>
                  <a:txBody>
                    <a:bodyPr wrap="square"/>
                    <a:lstStyle/>
                    <a:p>
                      <a:pPr algn="r"/>
                      <a:r>
                        <a:rPr sz="1000" b="0" i="0">
                          <a:solidFill>
                            <a:srgbClr val="14171C"/>
                          </a:solidFill>
                          <a:latin typeface="Calibri"/>
                        </a:rPr>
                        <a:t>−3,166</a:t>
                      </a:r>
                    </a:p>
                  </a:txBody>
                  <a:tcPr marL="54864" marR="54864" marT="22860" marB="22860" anchor="ctr">
                    <a:solidFill>
                      <a:srgbClr val="F2F3F5"/>
                    </a:solidFill>
                  </a:tcPr>
                </a:tc>
                <a:tc>
                  <a:txBody>
                    <a:bodyPr wrap="square"/>
                    <a:lstStyle/>
                    <a:p>
                      <a:pPr algn="r"/>
                      <a:r>
                        <a:rPr sz="1000" b="0" i="0">
                          <a:solidFill>
                            <a:srgbClr val="14171C"/>
                          </a:solidFill>
                          <a:latin typeface="Calibri"/>
                        </a:rPr>
                        <a:t>+3.47</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hover</a:t>
                      </a:r>
                    </a:p>
                  </a:txBody>
                  <a:tcPr marL="54864" marR="54864" marT="22860" marB="22860" anchor="ctr">
                    <a:solidFill>
                      <a:srgbClr val="FFFFFF"/>
                    </a:solidFill>
                  </a:tcPr>
                </a:tc>
                <a:tc>
                  <a:txBody>
                    <a:bodyPr wrap="square"/>
                    <a:lstStyle/>
                    <a:p>
                      <a:pPr algn="r"/>
                      <a:r>
                        <a:rPr sz="1000" b="0" i="0">
                          <a:solidFill>
                            <a:srgbClr val="14171C"/>
                          </a:solidFill>
                          <a:latin typeface="Calibri"/>
                        </a:rPr>
                        <a:t>P41</a:t>
                      </a:r>
                    </a:p>
                  </a:txBody>
                  <a:tcPr marL="54864" marR="54864" marT="22860" marB="22860" anchor="ctr">
                    <a:solidFill>
                      <a:srgbClr val="FFFFFF"/>
                    </a:solidFill>
                  </a:tcPr>
                </a:tc>
                <a:tc>
                  <a:txBody>
                    <a:bodyPr wrap="square"/>
                    <a:lstStyle/>
                    <a:p>
                      <a:pPr algn="r"/>
                      <a:r>
                        <a:rPr sz="1000" b="0" i="0">
                          <a:solidFill>
                            <a:srgbClr val="14171C"/>
                          </a:solidFill>
                          <a:latin typeface="Calibri"/>
                        </a:rPr>
                        <a:t>−4,900</a:t>
                      </a:r>
                    </a:p>
                  </a:txBody>
                  <a:tcPr marL="54864" marR="54864" marT="22860" marB="22860" anchor="ctr">
                    <a:solidFill>
                      <a:srgbClr val="FFFFFF"/>
                    </a:solidFill>
                  </a:tcPr>
                </a:tc>
                <a:tc>
                  <a:txBody>
                    <a:bodyPr wrap="square"/>
                    <a:lstStyle/>
                    <a:p>
                      <a:pPr algn="r"/>
                      <a:r>
                        <a:rPr sz="1000" b="0" i="0">
                          <a:solidFill>
                            <a:srgbClr val="14171C"/>
                          </a:solidFill>
                          <a:latin typeface="Calibri"/>
                        </a:rPr>
                        <a:t>−5,007</a:t>
                      </a:r>
                    </a:p>
                  </a:txBody>
                  <a:tcPr marL="54864" marR="54864" marT="22860" marB="22860" anchor="ctr">
                    <a:solidFill>
                      <a:srgbClr val="FFFFFF"/>
                    </a:solidFill>
                  </a:tcPr>
                </a:tc>
                <a:tc>
                  <a:txBody>
                    <a:bodyPr wrap="square"/>
                    <a:lstStyle/>
                    <a:p>
                      <a:pPr algn="r"/>
                      <a:r>
                        <a:rPr sz="1000" b="0" i="0">
                          <a:solidFill>
                            <a:srgbClr val="14171C"/>
                          </a:solidFill>
                          <a:latin typeface="Calibri"/>
                        </a:rPr>
                        <a:t>+2.18</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level</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level</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−2.08</a:t>
                      </a:r>
                    </a:p>
                  </a:txBody>
                  <a:tcPr marL="54864" marR="54864" marT="22860" marB="22860" anchor="ctr">
                    <a:solidFill>
                      <a:srgbClr val="FFFFFF"/>
                    </a:solidFill>
                  </a:tcPr>
                </a:tc>
                <a:tc>
                  <a:txBody>
                    <a:bodyPr wrap="square"/>
                    <a:lstStyle/>
                    <a:p>
                      <a:pPr algn="r"/>
                      <a:r>
                        <a:rPr sz="1000" b="0" i="0">
                          <a:solidFill>
                            <a:srgbClr val="14171C"/>
                          </a:solidFill>
                          <a:latin typeface="Calibri"/>
                        </a:rPr>
                        <a:t>−2.11</a:t>
                      </a:r>
                    </a:p>
                  </a:txBody>
                  <a:tcPr marL="54864" marR="54864" marT="22860" marB="22860" anchor="ctr">
                    <a:solidFill>
                      <a:srgbClr val="FFFFFF"/>
                    </a:solidFill>
                  </a:tcPr>
                </a:tc>
                <a:tc>
                  <a:txBody>
                    <a:bodyPr wrap="square"/>
                    <a:lstStyle/>
                    <a:p>
                      <a:pPr algn="r"/>
                      <a:r>
                        <a:rPr sz="1000" b="0" i="0">
                          <a:solidFill>
                            <a:srgbClr val="14171C"/>
                          </a:solidFill>
                          <a:latin typeface="Calibri"/>
                        </a:rPr>
                        <a:t>+1.51</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level</a:t>
                      </a:r>
                    </a:p>
                  </a:txBody>
                  <a:tcPr marL="54864" marR="54864" marT="22860" marB="22860" anchor="ctr">
                    <a:solidFill>
                      <a:srgbClr val="F2F3F5"/>
                    </a:solidFill>
                  </a:tcPr>
                </a:tc>
                <a:tc>
                  <a:txBody>
                    <a:bodyPr wrap="square"/>
                    <a:lstStyle/>
                    <a:p>
                      <a:pPr algn="r"/>
                      <a:r>
                        <a:rPr sz="1000" b="0" i="0">
                          <a:solidFill>
                            <a:srgbClr val="14171C"/>
                          </a:solidFill>
                          <a:latin typeface="Calibri"/>
                        </a:rPr>
                        <a:t>P3</a:t>
                      </a:r>
                    </a:p>
                  </a:txBody>
                  <a:tcPr marL="54864" marR="54864" marT="22860" marB="22860" anchor="ctr">
                    <a:solidFill>
                      <a:srgbClr val="F2F3F5"/>
                    </a:solidFill>
                  </a:tcPr>
                </a:tc>
                <a:tc>
                  <a:txBody>
                    <a:bodyPr wrap="square"/>
                    <a:lstStyle/>
                    <a:p>
                      <a:pPr algn="r"/>
                      <a:r>
                        <a:rPr sz="1000" b="0" i="0">
                          <a:solidFill>
                            <a:srgbClr val="14171C"/>
                          </a:solidFill>
                          <a:latin typeface="Calibri"/>
                        </a:rPr>
                        <a:t>−52.2</a:t>
                      </a:r>
                    </a:p>
                  </a:txBody>
                  <a:tcPr marL="54864" marR="54864" marT="22860" marB="22860" anchor="ctr">
                    <a:solidFill>
                      <a:srgbClr val="F2F3F5"/>
                    </a:solidFill>
                  </a:tcPr>
                </a:tc>
                <a:tc>
                  <a:txBody>
                    <a:bodyPr wrap="square"/>
                    <a:lstStyle/>
                    <a:p>
                      <a:pPr algn="r"/>
                      <a:r>
                        <a:rPr sz="1000" b="0" i="0">
                          <a:solidFill>
                            <a:srgbClr val="14171C"/>
                          </a:solidFill>
                          <a:latin typeface="Calibri"/>
                        </a:rPr>
                        <a:t>−51.0</a:t>
                      </a:r>
                    </a:p>
                  </a:txBody>
                  <a:tcPr marL="54864" marR="54864" marT="22860" marB="22860" anchor="ctr">
                    <a:solidFill>
                      <a:srgbClr val="F2F3F5"/>
                    </a:solidFill>
                  </a:tcPr>
                </a:tc>
                <a:tc>
                  <a:txBody>
                    <a:bodyPr wrap="square"/>
                    <a:lstStyle/>
                    <a:p>
                      <a:pPr algn="r"/>
                      <a:r>
                        <a:rPr sz="1000" b="0" i="0">
                          <a:solidFill>
                            <a:srgbClr val="14171C"/>
                          </a:solidFill>
                          <a:latin typeface="Calibri"/>
                        </a:rPr>
                        <a:t>−2.35</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level</a:t>
                      </a:r>
                    </a:p>
                  </a:txBody>
                  <a:tcPr marL="54864" marR="54864" marT="22860" marB="22860" anchor="ctr">
                    <a:solidFill>
                      <a:srgbClr val="FFFFFF"/>
                    </a:solidFill>
                  </a:tcPr>
                </a:tc>
                <a:tc>
                  <a:txBody>
                    <a:bodyPr wrap="square"/>
                    <a:lstStyle/>
                    <a:p>
                      <a:pPr algn="r"/>
                      <a:r>
                        <a:rPr sz="1000" b="0" i="0">
                          <a:solidFill>
                            <a:srgbClr val="14171C"/>
                          </a:solidFill>
                          <a:latin typeface="Calibri"/>
                        </a:rPr>
                        <a:t>P45</a:t>
                      </a:r>
                    </a:p>
                  </a:txBody>
                  <a:tcPr marL="54864" marR="54864" marT="22860" marB="22860" anchor="ctr">
                    <a:solidFill>
                      <a:srgbClr val="FFFFFF"/>
                    </a:solidFill>
                  </a:tcPr>
                </a:tc>
                <a:tc>
                  <a:txBody>
                    <a:bodyPr wrap="square"/>
                    <a:lstStyle/>
                    <a:p>
                      <a:pPr algn="r"/>
                      <a:r>
                        <a:rPr sz="1000" b="0" i="0">
                          <a:solidFill>
                            <a:srgbClr val="14171C"/>
                          </a:solidFill>
                          <a:latin typeface="Calibri"/>
                        </a:rPr>
                        <a:t>−4,040</a:t>
                      </a:r>
                    </a:p>
                  </a:txBody>
                  <a:tcPr marL="54864" marR="54864" marT="22860" marB="22860" anchor="ctr">
                    <a:solidFill>
                      <a:srgbClr val="FFFFFF"/>
                    </a:solidFill>
                  </a:tcPr>
                </a:tc>
                <a:tc>
                  <a:txBody>
                    <a:bodyPr wrap="square"/>
                    <a:lstStyle/>
                    <a:p>
                      <a:pPr algn="r"/>
                      <a:r>
                        <a:rPr sz="1000" b="0" i="0">
                          <a:solidFill>
                            <a:srgbClr val="14171C"/>
                          </a:solidFill>
                          <a:latin typeface="Calibri"/>
                        </a:rPr>
                        <a:t>−3,948</a:t>
                      </a:r>
                    </a:p>
                  </a:txBody>
                  <a:tcPr marL="54864" marR="54864" marT="22860" marB="22860" anchor="ctr">
                    <a:solidFill>
                      <a:srgbClr val="FFFFFF"/>
                    </a:solidFill>
                  </a:tcPr>
                </a:tc>
                <a:tc>
                  <a:txBody>
                    <a:bodyPr wrap="square"/>
                    <a:lstStyle/>
                    <a:p>
                      <a:pPr algn="r"/>
                      <a:r>
                        <a:rPr sz="1000" b="0" i="0">
                          <a:solidFill>
                            <a:srgbClr val="14171C"/>
                          </a:solidFill>
                          <a:latin typeface="Calibri"/>
                        </a:rPr>
                        <a:t>−2.28</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level</a:t>
                      </a:r>
                    </a:p>
                  </a:txBody>
                  <a:tcPr marL="54864" marR="54864" marT="22860" marB="22860" anchor="ctr">
                    <a:solidFill>
                      <a:srgbClr val="F2F3F5"/>
                    </a:solidFill>
                  </a:tcPr>
                </a:tc>
                <a:tc>
                  <a:txBody>
                    <a:bodyPr wrap="square"/>
                    <a:lstStyle/>
                    <a:p>
                      <a:pPr algn="r"/>
                      <a:r>
                        <a:rPr sz="1000" b="0" i="0">
                          <a:solidFill>
                            <a:srgbClr val="14171C"/>
                          </a:solidFill>
                          <a:latin typeface="Calibri"/>
                        </a:rPr>
                        <a:t>P41</a:t>
                      </a:r>
                    </a:p>
                  </a:txBody>
                  <a:tcPr marL="54864" marR="54864" marT="22860" marB="22860" anchor="ctr">
                    <a:solidFill>
                      <a:srgbClr val="F2F3F5"/>
                    </a:solidFill>
                  </a:tcPr>
                </a:tc>
                <a:tc>
                  <a:txBody>
                    <a:bodyPr wrap="square"/>
                    <a:lstStyle/>
                    <a:p>
                      <a:pPr algn="r"/>
                      <a:r>
                        <a:rPr sz="1000" b="0" i="0">
                          <a:solidFill>
                            <a:srgbClr val="14171C"/>
                          </a:solidFill>
                          <a:latin typeface="Calibri"/>
                        </a:rPr>
                        <a:t>−4,640</a:t>
                      </a:r>
                    </a:p>
                  </a:txBody>
                  <a:tcPr marL="54864" marR="54864" marT="22860" marB="22860" anchor="ctr">
                    <a:solidFill>
                      <a:srgbClr val="F2F3F5"/>
                    </a:solidFill>
                  </a:tcPr>
                </a:tc>
                <a:tc>
                  <a:txBody>
                    <a:bodyPr wrap="square"/>
                    <a:lstStyle/>
                    <a:p>
                      <a:pPr algn="r"/>
                      <a:r>
                        <a:rPr sz="1000" b="0" i="0">
                          <a:solidFill>
                            <a:srgbClr val="14171C"/>
                          </a:solidFill>
                          <a:latin typeface="Calibri"/>
                        </a:rPr>
                        <a:t>−4,736</a:t>
                      </a:r>
                    </a:p>
                  </a:txBody>
                  <a:tcPr marL="54864" marR="54864" marT="22860" marB="22860" anchor="ctr">
                    <a:solidFill>
                      <a:srgbClr val="F2F3F5"/>
                    </a:solidFill>
                  </a:tcPr>
                </a:tc>
                <a:tc>
                  <a:txBody>
                    <a:bodyPr wrap="square"/>
                    <a:lstStyle/>
                    <a:p>
                      <a:pPr algn="r"/>
                      <a:r>
                        <a:rPr sz="1000" b="0" i="0">
                          <a:solidFill>
                            <a:srgbClr val="14171C"/>
                          </a:solidFill>
                          <a:latin typeface="Calibri"/>
                        </a:rPr>
                        <a:t>+2.08</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descent</a:t>
                      </a:r>
                    </a:p>
                  </a:txBody>
                  <a:tcPr marL="54864" marR="54864" marT="22860" marB="22860" anchor="ctr">
                    <a:solidFill>
                      <a:srgbClr val="FFFFFF"/>
                    </a:solidFill>
                  </a:tcPr>
                </a:tc>
                <a:tc>
                  <a:txBody>
                    <a:bodyPr wrap="square"/>
                    <a:lstStyle/>
                    <a:p>
                      <a:pPr algn="r"/>
                      <a:r>
                        <a:rPr sz="1000" b="0" i="0">
                          <a:solidFill>
                            <a:srgbClr val="14171C"/>
                          </a:solidFill>
                          <a:latin typeface="Calibri"/>
                        </a:rPr>
                        <a:t>NP</a:t>
                      </a:r>
                    </a:p>
                  </a:txBody>
                  <a:tcPr marL="54864" marR="54864" marT="22860" marB="22860" anchor="ctr">
                    <a:solidFill>
                      <a:srgbClr val="FFFFFF"/>
                    </a:solidFill>
                  </a:tcPr>
                </a:tc>
                <a:tc>
                  <a:txBody>
                    <a:bodyPr wrap="square"/>
                    <a:lstStyle/>
                    <a:p>
                      <a:pPr algn="r"/>
                      <a:r>
                        <a:rPr sz="1000" b="0" i="0">
                          <a:solidFill>
                            <a:srgbClr val="14171C"/>
                          </a:solidFill>
                          <a:latin typeface="Calibri"/>
                        </a:rPr>
                        <a:t>−0.357</a:t>
                      </a:r>
                    </a:p>
                  </a:txBody>
                  <a:tcPr marL="54864" marR="54864" marT="22860" marB="22860" anchor="ctr">
                    <a:solidFill>
                      <a:srgbClr val="FFFFFF"/>
                    </a:solidFill>
                  </a:tcPr>
                </a:tc>
                <a:tc>
                  <a:txBody>
                    <a:bodyPr wrap="square"/>
                    <a:lstStyle/>
                    <a:p>
                      <a:pPr algn="r"/>
                      <a:r>
                        <a:rPr sz="1000" b="0" i="0">
                          <a:solidFill>
                            <a:srgbClr val="14171C"/>
                          </a:solidFill>
                          <a:latin typeface="Calibri"/>
                        </a:rPr>
                        <a:t>−0.357</a:t>
                      </a:r>
                    </a:p>
                  </a:txBody>
                  <a:tcPr marL="54864" marR="54864" marT="22860" marB="22860" anchor="ctr">
                    <a:solidFill>
                      <a:srgbClr val="FFFFFF"/>
                    </a:solidFill>
                  </a:tcPr>
                </a:tc>
                <a:tc>
                  <a:txBody>
                    <a:bodyPr wrap="square"/>
                    <a:lstStyle/>
                    <a:p>
                      <a:pPr algn="r"/>
                      <a:r>
                        <a:rPr sz="1000" b="0" i="0">
                          <a:solidFill>
                            <a:srgbClr val="14171C"/>
                          </a:solidFill>
                          <a:latin typeface="Calibri"/>
                        </a:rPr>
                        <a:t>supplied</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descent</a:t>
                      </a:r>
                    </a:p>
                  </a:txBody>
                  <a:tcPr marL="54864" marR="54864" marT="22860" marB="22860" anchor="ctr">
                    <a:solidFill>
                      <a:srgbClr val="F2F3F5"/>
                    </a:solidFill>
                  </a:tcPr>
                </a:tc>
                <a:tc>
                  <a:txBody>
                    <a:bodyPr wrap="square"/>
                    <a:lstStyle/>
                    <a:p>
                      <a:pPr algn="r"/>
                      <a:r>
                        <a:rPr sz="1000" b="0" i="0">
                          <a:solidFill>
                            <a:srgbClr val="14171C"/>
                          </a:solidFill>
                          <a:latin typeface="Calibri"/>
                        </a:rPr>
                        <a:t>NG</a:t>
                      </a:r>
                    </a:p>
                  </a:txBody>
                  <a:tcPr marL="54864" marR="54864" marT="22860" marB="22860" anchor="ctr">
                    <a:solidFill>
                      <a:srgbClr val="F2F3F5"/>
                    </a:solidFill>
                  </a:tcPr>
                </a:tc>
                <a:tc>
                  <a:txBody>
                    <a:bodyPr wrap="square"/>
                    <a:lstStyle/>
                    <a:p>
                      <a:pPr algn="r"/>
                      <a:r>
                        <a:rPr sz="1000" b="0" i="0">
                          <a:solidFill>
                            <a:srgbClr val="14171C"/>
                          </a:solidFill>
                          <a:latin typeface="Calibri"/>
                        </a:rPr>
                        <a:t>−1.75</a:t>
                      </a:r>
                    </a:p>
                  </a:txBody>
                  <a:tcPr marL="54864" marR="54864" marT="22860" marB="22860" anchor="ctr">
                    <a:solidFill>
                      <a:srgbClr val="F2F3F5"/>
                    </a:solidFill>
                  </a:tcPr>
                </a:tc>
                <a:tc>
                  <a:txBody>
                    <a:bodyPr wrap="square"/>
                    <a:lstStyle/>
                    <a:p>
                      <a:pPr algn="r"/>
                      <a:r>
                        <a:rPr sz="1000" b="0" i="0">
                          <a:solidFill>
                            <a:srgbClr val="14171C"/>
                          </a:solidFill>
                          <a:latin typeface="Calibri"/>
                        </a:rPr>
                        <a:t>−1.75</a:t>
                      </a:r>
                    </a:p>
                  </a:txBody>
                  <a:tcPr marL="54864" marR="54864" marT="22860" marB="22860" anchor="ctr">
                    <a:solidFill>
                      <a:srgbClr val="F2F3F5"/>
                    </a:solidFill>
                  </a:tcPr>
                </a:tc>
                <a:tc>
                  <a:txBody>
                    <a:bodyPr wrap="square"/>
                    <a:lstStyle/>
                    <a:p>
                      <a:pPr algn="r"/>
                      <a:r>
                        <a:rPr sz="1000" b="0" i="0">
                          <a:solidFill>
                            <a:srgbClr val="14171C"/>
                          </a:solidFill>
                          <a:latin typeface="Calibri"/>
                        </a:rPr>
                        <a:t>+0.28</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descent</a:t>
                      </a:r>
                    </a:p>
                  </a:txBody>
                  <a:tcPr marL="54864" marR="54864" marT="22860" marB="22860" anchor="ctr">
                    <a:solidFill>
                      <a:srgbClr val="FFFFFF"/>
                    </a:solidFill>
                  </a:tcPr>
                </a:tc>
                <a:tc>
                  <a:txBody>
                    <a:bodyPr wrap="square"/>
                    <a:lstStyle/>
                    <a:p>
                      <a:pPr algn="r"/>
                      <a:r>
                        <a:rPr sz="1000" b="0" i="0">
                          <a:solidFill>
                            <a:srgbClr val="14171C"/>
                          </a:solidFill>
                          <a:latin typeface="Calibri"/>
                        </a:rPr>
                        <a:t>P3</a:t>
                      </a:r>
                    </a:p>
                  </a:txBody>
                  <a:tcPr marL="54864" marR="54864" marT="22860" marB="22860" anchor="ctr">
                    <a:solidFill>
                      <a:srgbClr val="FFFFFF"/>
                    </a:solidFill>
                  </a:tcPr>
                </a:tc>
                <a:tc>
                  <a:txBody>
                    <a:bodyPr wrap="square"/>
                    <a:lstStyle/>
                    <a:p>
                      <a:pPr algn="r"/>
                      <a:r>
                        <a:rPr sz="1000" b="0" i="0">
                          <a:solidFill>
                            <a:srgbClr val="14171C"/>
                          </a:solidFill>
                          <a:latin typeface="Calibri"/>
                        </a:rPr>
                        <a:t>−52.6</a:t>
                      </a:r>
                    </a:p>
                  </a:txBody>
                  <a:tcPr marL="54864" marR="54864" marT="22860" marB="22860" anchor="ctr">
                    <a:solidFill>
                      <a:srgbClr val="FFFFFF"/>
                    </a:solidFill>
                  </a:tcPr>
                </a:tc>
                <a:tc>
                  <a:txBody>
                    <a:bodyPr wrap="square"/>
                    <a:lstStyle/>
                    <a:p>
                      <a:pPr algn="r"/>
                      <a:r>
                        <a:rPr sz="1000" b="0" i="0">
                          <a:solidFill>
                            <a:srgbClr val="14171C"/>
                          </a:solidFill>
                          <a:latin typeface="Calibri"/>
                        </a:rPr>
                        <a:t>−53.6</a:t>
                      </a:r>
                    </a:p>
                  </a:txBody>
                  <a:tcPr marL="54864" marR="54864" marT="22860" marB="22860" anchor="ctr">
                    <a:solidFill>
                      <a:srgbClr val="FFFFFF"/>
                    </a:solidFill>
                  </a:tcPr>
                </a:tc>
                <a:tc>
                  <a:txBody>
                    <a:bodyPr wrap="square"/>
                    <a:lstStyle/>
                    <a:p>
                      <a:pPr algn="r"/>
                      <a:r>
                        <a:rPr sz="1000" b="0" i="0">
                          <a:solidFill>
                            <a:srgbClr val="14171C"/>
                          </a:solidFill>
                          <a:latin typeface="Calibri"/>
                        </a:rPr>
                        <a:t>+1.83</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2F3F5"/>
                    </a:solidFill>
                  </a:tcPr>
                </a:tc>
                <a:tc>
                  <a:txBody>
                    <a:bodyPr wrap="square"/>
                    <a:lstStyle/>
                    <a:p>
                      <a:pPr algn="r"/>
                      <a:r>
                        <a:rPr sz="1000" b="0" i="0">
                          <a:solidFill>
                            <a:srgbClr val="14171C"/>
                          </a:solidFill>
                          <a:latin typeface="Calibri"/>
                        </a:rPr>
                        <a:t>descent</a:t>
                      </a:r>
                    </a:p>
                  </a:txBody>
                  <a:tcPr marL="54864" marR="54864" marT="22860" marB="22860" anchor="ctr">
                    <a:solidFill>
                      <a:srgbClr val="F2F3F5"/>
                    </a:solidFill>
                  </a:tcPr>
                </a:tc>
                <a:tc>
                  <a:txBody>
                    <a:bodyPr wrap="square"/>
                    <a:lstStyle/>
                    <a:p>
                      <a:pPr algn="r"/>
                      <a:r>
                        <a:rPr sz="1000" b="0" i="0">
                          <a:solidFill>
                            <a:srgbClr val="14171C"/>
                          </a:solidFill>
                          <a:latin typeface="Calibri"/>
                        </a:rPr>
                        <a:t>P41</a:t>
                      </a:r>
                    </a:p>
                  </a:txBody>
                  <a:tcPr marL="54864" marR="54864" marT="22860" marB="22860" anchor="ctr">
                    <a:solidFill>
                      <a:srgbClr val="F2F3F5"/>
                    </a:solidFill>
                  </a:tcPr>
                </a:tc>
                <a:tc>
                  <a:txBody>
                    <a:bodyPr wrap="square"/>
                    <a:lstStyle/>
                    <a:p>
                      <a:pPr algn="r"/>
                      <a:r>
                        <a:rPr sz="1000" b="0" i="0">
                          <a:solidFill>
                            <a:srgbClr val="14171C"/>
                          </a:solidFill>
                          <a:latin typeface="Calibri"/>
                        </a:rPr>
                        <a:t>−4,430</a:t>
                      </a:r>
                    </a:p>
                  </a:txBody>
                  <a:tcPr marL="54864" marR="54864" marT="22860" marB="22860" anchor="ctr">
                    <a:solidFill>
                      <a:srgbClr val="F2F3F5"/>
                    </a:solidFill>
                  </a:tcPr>
                </a:tc>
                <a:tc>
                  <a:txBody>
                    <a:bodyPr wrap="square"/>
                    <a:lstStyle/>
                    <a:p>
                      <a:pPr algn="r"/>
                      <a:r>
                        <a:rPr sz="1000" b="0" i="0">
                          <a:solidFill>
                            <a:srgbClr val="14171C"/>
                          </a:solidFill>
                          <a:latin typeface="Calibri"/>
                        </a:rPr>
                        <a:t>−4,624</a:t>
                      </a:r>
                    </a:p>
                  </a:txBody>
                  <a:tcPr marL="54864" marR="54864" marT="22860" marB="22860" anchor="ctr">
                    <a:solidFill>
                      <a:srgbClr val="F2F3F5"/>
                    </a:solidFill>
                  </a:tcPr>
                </a:tc>
                <a:tc>
                  <a:txBody>
                    <a:bodyPr wrap="square"/>
                    <a:lstStyle/>
                    <a:p>
                      <a:pPr algn="r"/>
                      <a:r>
                        <a:rPr sz="1000" b="0" i="0">
                          <a:solidFill>
                            <a:srgbClr val="14171C"/>
                          </a:solidFill>
                          <a:latin typeface="Calibri"/>
                        </a:rPr>
                        <a:t>+4.38</a:t>
                      </a:r>
                    </a:p>
                  </a:txBody>
                  <a:tcPr marL="54864" marR="54864" marT="22860" marB="22860" anchor="ctr">
                    <a:solidFill>
                      <a:srgbClr val="F2F3F5"/>
                    </a:solidFill>
                  </a:tcPr>
                </a:tc>
              </a:tr>
            </a:tbl>
          </a:graphicData>
        </a:graphic>
      </p:graphicFrame>
      <p:graphicFrame>
        <p:nvGraphicFramePr>
          <p:cNvPr id="9" name="Table 8"/>
          <p:cNvGraphicFramePr>
            <a:graphicFrameLocks noGrp="1"/>
          </p:cNvGraphicFramePr>
          <p:nvPr/>
        </p:nvGraphicFramePr>
        <p:xfrm>
          <a:off x="6263640" y="1325880"/>
          <a:ext cx="5394956" cy="4288536"/>
        </p:xfrm>
        <a:graphic>
          <a:graphicData uri="http://schemas.openxmlformats.org/drawingml/2006/table">
            <a:tbl>
              <a:tblPr firstRow="1">
                <a:tableStyleId>{5C22544A-7EE6-4342-B048-85BDC9FD1C3A}</a:tableStyleId>
              </a:tblPr>
              <a:tblGrid>
                <a:gridCol w="1392247"/>
                <a:gridCol w="870154"/>
                <a:gridCol w="609108"/>
                <a:gridCol w="870154"/>
                <a:gridCol w="870154"/>
                <a:gridCol w="783139"/>
              </a:tblGrid>
              <a:tr h="306324">
                <a:tc>
                  <a:txBody>
                    <a:bodyPr wrap="square"/>
                    <a:lstStyle/>
                    <a:p>
                      <a:pPr algn="l"/>
                      <a:r>
                        <a:rPr sz="1000" b="1" i="0">
                          <a:solidFill>
                            <a:srgbClr val="FFFFFF"/>
                          </a:solidFill>
                          <a:latin typeface="Calibri"/>
                        </a:rPr>
                        <a:t>Model</a:t>
                      </a:r>
                    </a:p>
                  </a:txBody>
                  <a:tcPr marL="54864" marR="54864" marT="22860" marB="22860" anchor="ctr">
                    <a:solidFill>
                      <a:srgbClr val="4D5563"/>
                    </a:solidFill>
                  </a:tcPr>
                </a:tc>
                <a:tc>
                  <a:txBody>
                    <a:bodyPr wrap="square"/>
                    <a:lstStyle/>
                    <a:p>
                      <a:pPr algn="r"/>
                      <a:r>
                        <a:rPr sz="1000" b="1" i="0">
                          <a:solidFill>
                            <a:srgbClr val="FFFFFF"/>
                          </a:solidFill>
                          <a:latin typeface="Calibri"/>
                        </a:rPr>
                        <a:t>Trim</a:t>
                      </a:r>
                    </a:p>
                  </a:txBody>
                  <a:tcPr marL="54864" marR="54864" marT="22860" marB="22860" anchor="ctr">
                    <a:solidFill>
                      <a:srgbClr val="4D5563"/>
                    </a:solidFill>
                  </a:tcPr>
                </a:tc>
                <a:tc>
                  <a:txBody>
                    <a:bodyPr wrap="square"/>
                    <a:lstStyle/>
                    <a:p>
                      <a:pPr algn="r"/>
                      <a:r>
                        <a:rPr sz="1000" b="1" i="0">
                          <a:solidFill>
                            <a:srgbClr val="FFFFFF"/>
                          </a:solidFill>
                          <a:latin typeface="Calibri"/>
                        </a:rPr>
                        <a:t>Mode</a:t>
                      </a:r>
                    </a:p>
                  </a:txBody>
                  <a:tcPr marL="54864" marR="54864" marT="22860" marB="22860" anchor="ctr">
                    <a:solidFill>
                      <a:srgbClr val="4D5563"/>
                    </a:solidFill>
                  </a:tcPr>
                </a:tc>
                <a:tc>
                  <a:txBody>
                    <a:bodyPr wrap="square"/>
                    <a:lstStyle/>
                    <a:p>
                      <a:pPr algn="r"/>
                      <a:r>
                        <a:rPr sz="1000" b="1" i="0">
                          <a:solidFill>
                            <a:srgbClr val="FFFFFF"/>
                          </a:solidFill>
                          <a:latin typeface="Calibri"/>
                        </a:rPr>
                        <a:t>Printed</a:t>
                      </a:r>
                    </a:p>
                  </a:txBody>
                  <a:tcPr marL="54864" marR="54864" marT="22860" marB="22860" anchor="ctr">
                    <a:solidFill>
                      <a:srgbClr val="4D5563"/>
                    </a:solidFill>
                  </a:tcPr>
                </a:tc>
                <a:tc>
                  <a:txBody>
                    <a:bodyPr wrap="square"/>
                    <a:lstStyle/>
                    <a:p>
                      <a:pPr algn="r"/>
                      <a:r>
                        <a:rPr sz="1000" b="1" i="0">
                          <a:solidFill>
                            <a:srgbClr val="FFFFFF"/>
                          </a:solidFill>
                          <a:latin typeface="Calibri"/>
                        </a:rPr>
                        <a:t>Ours</a:t>
                      </a:r>
                    </a:p>
                  </a:txBody>
                  <a:tcPr marL="54864" marR="54864" marT="22860" marB="22860" anchor="ctr">
                    <a:solidFill>
                      <a:srgbClr val="4D5563"/>
                    </a:solidFill>
                  </a:tcPr>
                </a:tc>
                <a:tc>
                  <a:txBody>
                    <a:bodyPr wrap="square"/>
                    <a:lstStyle/>
                    <a:p>
                      <a:pPr algn="r"/>
                      <a:r>
                        <a:rPr sz="1000" b="1" i="0">
                          <a:solidFill>
                            <a:srgbClr val="FFFFFF"/>
                          </a:solidFill>
                          <a:latin typeface="Calibri"/>
                        </a:rPr>
                        <a:t>Dev. %</a:t>
                      </a:r>
                    </a:p>
                  </a:txBody>
                  <a:tcPr marL="54864" marR="54864" marT="22860" marB="22860" anchor="ctr">
                    <a:solidFill>
                      <a:srgbClr val="4D5563"/>
                    </a:solidFill>
                  </a:tcPr>
                </a:tc>
              </a:tr>
              <a:tr h="306324">
                <a:tc>
                  <a:txBody>
                    <a:bodyPr wrap="square"/>
                    <a:lstStyle/>
                    <a:p>
                      <a:pPr algn="l"/>
                      <a:r>
                        <a:rPr sz="1000" b="0" i="0">
                          <a:solidFill>
                            <a:srgbClr val="14171C"/>
                          </a:solidFill>
                          <a:latin typeface="Calibri"/>
                        </a:rPr>
                        <a:t>5-DOF</a:t>
                      </a:r>
                    </a:p>
                  </a:txBody>
                  <a:tcPr marL="54864" marR="54864" marT="22860" marB="22860" anchor="ctr">
                    <a:solidFill>
                      <a:srgbClr val="FFFFFF"/>
                    </a:solidFill>
                  </a:tcPr>
                </a:tc>
                <a:tc>
                  <a:txBody>
                    <a:bodyPr wrap="square"/>
                    <a:lstStyle/>
                    <a:p>
                      <a:pPr algn="r"/>
                      <a:r>
                        <a:rPr sz="1000" b="0" i="0">
                          <a:solidFill>
                            <a:srgbClr val="14171C"/>
                          </a:solidFill>
                          <a:latin typeface="Calibri"/>
                        </a:rPr>
                        <a:t>descent</a:t>
                      </a:r>
                    </a:p>
                  </a:txBody>
                  <a:tcPr marL="54864" marR="54864" marT="22860" marB="22860" anchor="ctr">
                    <a:solidFill>
                      <a:srgbClr val="FFFFFF"/>
                    </a:solidFill>
                  </a:tcPr>
                </a:tc>
                <a:tc>
                  <a:txBody>
                    <a:bodyPr wrap="square"/>
                    <a:lstStyle/>
                    <a:p>
                      <a:pPr algn="r"/>
                      <a:r>
                        <a:rPr sz="1000" b="0" i="0">
                          <a:solidFill>
                            <a:srgbClr val="14171C"/>
                          </a:solidFill>
                          <a:latin typeface="Calibri"/>
                        </a:rPr>
                        <a:t>P45</a:t>
                      </a:r>
                    </a:p>
                  </a:txBody>
                  <a:tcPr marL="54864" marR="54864" marT="22860" marB="22860" anchor="ctr">
                    <a:solidFill>
                      <a:srgbClr val="FFFFFF"/>
                    </a:solidFill>
                  </a:tcPr>
                </a:tc>
                <a:tc>
                  <a:txBody>
                    <a:bodyPr wrap="square"/>
                    <a:lstStyle/>
                    <a:p>
                      <a:pPr algn="r"/>
                      <a:r>
                        <a:rPr sz="1000" b="0" i="0">
                          <a:solidFill>
                            <a:srgbClr val="14171C"/>
                          </a:solidFill>
                          <a:latin typeface="Calibri"/>
                        </a:rPr>
                        <a:t>−4,530</a:t>
                      </a:r>
                    </a:p>
                  </a:txBody>
                  <a:tcPr marL="54864" marR="54864" marT="22860" marB="22860" anchor="ctr">
                    <a:solidFill>
                      <a:srgbClr val="FFFFFF"/>
                    </a:solidFill>
                  </a:tcPr>
                </a:tc>
                <a:tc>
                  <a:txBody>
                    <a:bodyPr wrap="square"/>
                    <a:lstStyle/>
                    <a:p>
                      <a:pPr algn="r"/>
                      <a:r>
                        <a:rPr sz="1000" b="0" i="0">
                          <a:solidFill>
                            <a:srgbClr val="14171C"/>
                          </a:solidFill>
                          <a:latin typeface="Calibri"/>
                        </a:rPr>
                        <a:t>−4,445</a:t>
                      </a:r>
                    </a:p>
                  </a:txBody>
                  <a:tcPr marL="54864" marR="54864" marT="22860" marB="22860" anchor="ctr">
                    <a:solidFill>
                      <a:srgbClr val="FFFFFF"/>
                    </a:solidFill>
                  </a:tcPr>
                </a:tc>
                <a:tc>
                  <a:txBody>
                    <a:bodyPr wrap="square"/>
                    <a:lstStyle/>
                    <a:p>
                      <a:pPr algn="r"/>
                      <a:r>
                        <a:rPr sz="1000" b="0" i="0">
                          <a:solidFill>
                            <a:srgbClr val="14171C"/>
                          </a:solidFill>
                          <a:latin typeface="Calibri"/>
                        </a:rPr>
                        <a:t>−1.87</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2F3F5"/>
                    </a:solidFill>
                  </a:tcPr>
                </a:tc>
                <a:tc>
                  <a:txBody>
                    <a:bodyPr wrap="square"/>
                    <a:lstStyle/>
                    <a:p>
                      <a:pPr algn="r"/>
                      <a:r>
                        <a:rPr sz="1000" b="0" i="0">
                          <a:solidFill>
                            <a:srgbClr val="14171C"/>
                          </a:solidFill>
                          <a:latin typeface="Calibri"/>
                        </a:rPr>
                        <a:t>hover</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−0.565</a:t>
                      </a:r>
                    </a:p>
                  </a:txBody>
                  <a:tcPr marL="54864" marR="54864" marT="22860" marB="22860" anchor="ctr">
                    <a:solidFill>
                      <a:srgbClr val="F2F3F5"/>
                    </a:solidFill>
                  </a:tcPr>
                </a:tc>
                <a:tc>
                  <a:txBody>
                    <a:bodyPr wrap="square"/>
                    <a:lstStyle/>
                    <a:p>
                      <a:pPr algn="r"/>
                      <a:r>
                        <a:rPr sz="1000" b="0" i="0">
                          <a:solidFill>
                            <a:srgbClr val="14171C"/>
                          </a:solidFill>
                          <a:latin typeface="Calibri"/>
                        </a:rPr>
                        <a:t>−0.565</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FFFFF"/>
                    </a:solidFill>
                  </a:tcPr>
                </a:tc>
                <a:tc>
                  <a:txBody>
                    <a:bodyPr wrap="square"/>
                    <a:lstStyle/>
                    <a:p>
                      <a:pPr algn="r"/>
                      <a:r>
                        <a:rPr sz="1000" b="0" i="0">
                          <a:solidFill>
                            <a:srgbClr val="14171C"/>
                          </a:solidFill>
                          <a:latin typeface="Calibri"/>
                        </a:rPr>
                        <a:t>hover</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−2.69</a:t>
                      </a:r>
                    </a:p>
                  </a:txBody>
                  <a:tcPr marL="54864" marR="54864" marT="22860" marB="22860" anchor="ctr">
                    <a:solidFill>
                      <a:srgbClr val="FFFFFF"/>
                    </a:solidFill>
                  </a:tcPr>
                </a:tc>
                <a:tc>
                  <a:txBody>
                    <a:bodyPr wrap="square"/>
                    <a:lstStyle/>
                    <a:p>
                      <a:pPr algn="r"/>
                      <a:r>
                        <a:rPr sz="1000" b="0" i="0">
                          <a:solidFill>
                            <a:srgbClr val="14171C"/>
                          </a:solidFill>
                          <a:latin typeface="Calibri"/>
                        </a:rPr>
                        <a:t>−2.82</a:t>
                      </a:r>
                    </a:p>
                  </a:txBody>
                  <a:tcPr marL="54864" marR="54864" marT="22860" marB="22860" anchor="ctr">
                    <a:solidFill>
                      <a:srgbClr val="FFFFFF"/>
                    </a:solidFill>
                  </a:tcPr>
                </a:tc>
                <a:tc>
                  <a:txBody>
                    <a:bodyPr wrap="square"/>
                    <a:lstStyle/>
                    <a:p>
                      <a:pPr algn="r"/>
                      <a:r>
                        <a:rPr sz="1000" b="0" i="0">
                          <a:solidFill>
                            <a:srgbClr val="14171C"/>
                          </a:solidFill>
                          <a:latin typeface="Calibri"/>
                        </a:rPr>
                        <a:t>+4.70</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2F3F5"/>
                    </a:solidFill>
                  </a:tcPr>
                </a:tc>
                <a:tc>
                  <a:txBody>
                    <a:bodyPr wrap="square"/>
                    <a:lstStyle/>
                    <a:p>
                      <a:pPr algn="r"/>
                      <a:r>
                        <a:rPr sz="1000" b="0" i="0">
                          <a:solidFill>
                            <a:srgbClr val="14171C"/>
                          </a:solidFill>
                          <a:latin typeface="Calibri"/>
                        </a:rPr>
                        <a:t>level</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FFFFF"/>
                    </a:solidFill>
                  </a:tcPr>
                </a:tc>
                <a:tc>
                  <a:txBody>
                    <a:bodyPr wrap="square"/>
                    <a:lstStyle/>
                    <a:p>
                      <a:pPr algn="r"/>
                      <a:r>
                        <a:rPr sz="1000" b="0" i="0">
                          <a:solidFill>
                            <a:srgbClr val="14171C"/>
                          </a:solidFill>
                          <a:latin typeface="Calibri"/>
                        </a:rPr>
                        <a:t>level</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−2.23</a:t>
                      </a:r>
                    </a:p>
                  </a:txBody>
                  <a:tcPr marL="54864" marR="54864" marT="22860" marB="22860" anchor="ctr">
                    <a:solidFill>
                      <a:srgbClr val="FFFFFF"/>
                    </a:solidFill>
                  </a:tcPr>
                </a:tc>
                <a:tc>
                  <a:txBody>
                    <a:bodyPr wrap="square"/>
                    <a:lstStyle/>
                    <a:p>
                      <a:pPr algn="r"/>
                      <a:r>
                        <a:rPr sz="1000" b="0" i="0">
                          <a:solidFill>
                            <a:srgbClr val="14171C"/>
                          </a:solidFill>
                          <a:latin typeface="Calibri"/>
                        </a:rPr>
                        <a:t>−2.20</a:t>
                      </a:r>
                    </a:p>
                  </a:txBody>
                  <a:tcPr marL="54864" marR="54864" marT="22860" marB="22860" anchor="ctr">
                    <a:solidFill>
                      <a:srgbClr val="FFFFFF"/>
                    </a:solidFill>
                  </a:tcPr>
                </a:tc>
                <a:tc>
                  <a:txBody>
                    <a:bodyPr wrap="square"/>
                    <a:lstStyle/>
                    <a:p>
                      <a:pPr algn="r"/>
                      <a:r>
                        <a:rPr sz="1000" b="0" i="0">
                          <a:solidFill>
                            <a:srgbClr val="14171C"/>
                          </a:solidFill>
                          <a:latin typeface="Calibri"/>
                        </a:rPr>
                        <a:t>−1.27</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2F3F5"/>
                    </a:solidFill>
                  </a:tcPr>
                </a:tc>
                <a:tc>
                  <a:txBody>
                    <a:bodyPr wrap="square"/>
                    <a:lstStyle/>
                    <a:p>
                      <a:pPr algn="r"/>
                      <a:r>
                        <a:rPr sz="1000" b="0" i="0">
                          <a:solidFill>
                            <a:srgbClr val="14171C"/>
                          </a:solidFill>
                          <a:latin typeface="Calibri"/>
                        </a:rPr>
                        <a:t>descent</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−0.357</a:t>
                      </a:r>
                    </a:p>
                  </a:txBody>
                  <a:tcPr marL="54864" marR="54864" marT="22860" marB="22860" anchor="ctr">
                    <a:solidFill>
                      <a:srgbClr val="F2F3F5"/>
                    </a:solidFill>
                  </a:tcPr>
                </a:tc>
                <a:tc>
                  <a:txBody>
                    <a:bodyPr wrap="square"/>
                    <a:lstStyle/>
                    <a:p>
                      <a:pPr algn="r"/>
                      <a:r>
                        <a:rPr sz="1000" b="0" i="0">
                          <a:solidFill>
                            <a:srgbClr val="14171C"/>
                          </a:solidFill>
                          <a:latin typeface="Calibri"/>
                        </a:rPr>
                        <a:t>−0.357</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2-DOF</a:t>
                      </a:r>
                    </a:p>
                  </a:txBody>
                  <a:tcPr marL="54864" marR="54864" marT="22860" marB="22860" anchor="ctr">
                    <a:solidFill>
                      <a:srgbClr val="FFFFFF"/>
                    </a:solidFill>
                  </a:tcPr>
                </a:tc>
                <a:tc>
                  <a:txBody>
                    <a:bodyPr wrap="square"/>
                    <a:lstStyle/>
                    <a:p>
                      <a:pPr algn="r"/>
                      <a:r>
                        <a:rPr sz="1000" b="0" i="0">
                          <a:solidFill>
                            <a:srgbClr val="14171C"/>
                          </a:solidFill>
                          <a:latin typeface="Calibri"/>
                        </a:rPr>
                        <a:t>descent</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−1.82</a:t>
                      </a:r>
                    </a:p>
                  </a:txBody>
                  <a:tcPr marL="54864" marR="54864" marT="22860" marB="22860" anchor="ctr">
                    <a:solidFill>
                      <a:srgbClr val="FFFFFF"/>
                    </a:solidFill>
                  </a:tcPr>
                </a:tc>
                <a:tc>
                  <a:txBody>
                    <a:bodyPr wrap="square"/>
                    <a:lstStyle/>
                    <a:p>
                      <a:pPr algn="r"/>
                      <a:r>
                        <a:rPr sz="1000" b="0" i="0">
                          <a:solidFill>
                            <a:srgbClr val="14171C"/>
                          </a:solidFill>
                          <a:latin typeface="Calibri"/>
                        </a:rPr>
                        <a:t>−1.77</a:t>
                      </a:r>
                    </a:p>
                  </a:txBody>
                  <a:tcPr marL="54864" marR="54864" marT="22860" marB="22860" anchor="ctr">
                    <a:solidFill>
                      <a:srgbClr val="FFFFFF"/>
                    </a:solidFill>
                  </a:tcPr>
                </a:tc>
                <a:tc>
                  <a:txBody>
                    <a:bodyPr wrap="square"/>
                    <a:lstStyle/>
                    <a:p>
                      <a:pPr algn="r"/>
                      <a:r>
                        <a:rPr sz="1000" b="0" i="0">
                          <a:solidFill>
                            <a:srgbClr val="14171C"/>
                          </a:solidFill>
                          <a:latin typeface="Calibri"/>
                        </a:rPr>
                        <a:t>−2.85</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2F3F5"/>
                    </a:solidFill>
                  </a:tcPr>
                </a:tc>
                <a:tc>
                  <a:txBody>
                    <a:bodyPr wrap="square"/>
                    <a:lstStyle/>
                    <a:p>
                      <a:pPr algn="r"/>
                      <a:r>
                        <a:rPr sz="1000" b="0" i="0">
                          <a:solidFill>
                            <a:srgbClr val="14171C"/>
                          </a:solidFill>
                          <a:latin typeface="Calibri"/>
                        </a:rPr>
                        <a:t>hover</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−0.565</a:t>
                      </a:r>
                    </a:p>
                  </a:txBody>
                  <a:tcPr marL="54864" marR="54864" marT="22860" marB="22860" anchor="ctr">
                    <a:solidFill>
                      <a:srgbClr val="F2F3F5"/>
                    </a:solidFill>
                  </a:tcPr>
                </a:tc>
                <a:tc>
                  <a:txBody>
                    <a:bodyPr wrap="square"/>
                    <a:lstStyle/>
                    <a:p>
                      <a:pPr algn="r"/>
                      <a:r>
                        <a:rPr sz="1000" b="0" i="0">
                          <a:solidFill>
                            <a:srgbClr val="14171C"/>
                          </a:solidFill>
                          <a:latin typeface="Calibri"/>
                        </a:rPr>
                        <a:t>−0.565</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FFFFF"/>
                    </a:solidFill>
                  </a:tcPr>
                </a:tc>
                <a:tc>
                  <a:txBody>
                    <a:bodyPr wrap="square"/>
                    <a:lstStyle/>
                    <a:p>
                      <a:pPr algn="r"/>
                      <a:r>
                        <a:rPr sz="1000" b="0" i="0">
                          <a:solidFill>
                            <a:srgbClr val="14171C"/>
                          </a:solidFill>
                          <a:latin typeface="Calibri"/>
                        </a:rPr>
                        <a:t>hover</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−2.81</a:t>
                      </a:r>
                    </a:p>
                  </a:txBody>
                  <a:tcPr marL="54864" marR="54864" marT="22860" marB="22860" anchor="ctr">
                    <a:solidFill>
                      <a:srgbClr val="FFFFFF"/>
                    </a:solidFill>
                  </a:tcPr>
                </a:tc>
                <a:tc>
                  <a:txBody>
                    <a:bodyPr wrap="square"/>
                    <a:lstStyle/>
                    <a:p>
                      <a:pPr algn="r"/>
                      <a:r>
                        <a:rPr sz="1000" b="0" i="0">
                          <a:solidFill>
                            <a:srgbClr val="14171C"/>
                          </a:solidFill>
                          <a:latin typeface="Calibri"/>
                        </a:rPr>
                        <a:t>−2.86</a:t>
                      </a:r>
                    </a:p>
                  </a:txBody>
                  <a:tcPr marL="54864" marR="54864" marT="22860" marB="22860" anchor="ctr">
                    <a:solidFill>
                      <a:srgbClr val="FFFFFF"/>
                    </a:solidFill>
                  </a:tcPr>
                </a:tc>
                <a:tc>
                  <a:txBody>
                    <a:bodyPr wrap="square"/>
                    <a:lstStyle/>
                    <a:p>
                      <a:pPr algn="r"/>
                      <a:r>
                        <a:rPr sz="1000" b="0" i="0">
                          <a:solidFill>
                            <a:srgbClr val="14171C"/>
                          </a:solidFill>
                          <a:latin typeface="Calibri"/>
                        </a:rPr>
                        <a:t>+1.82</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2F3F5"/>
                    </a:solidFill>
                  </a:tcPr>
                </a:tc>
                <a:tc>
                  <a:txBody>
                    <a:bodyPr wrap="square"/>
                    <a:lstStyle/>
                    <a:p>
                      <a:pPr algn="r"/>
                      <a:r>
                        <a:rPr sz="1000" b="0" i="0">
                          <a:solidFill>
                            <a:srgbClr val="14171C"/>
                          </a:solidFill>
                          <a:latin typeface="Calibri"/>
                        </a:rPr>
                        <a:t>level</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−0.446</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FFFFF"/>
                    </a:solidFill>
                  </a:tcPr>
                </a:tc>
                <a:tc>
                  <a:txBody>
                    <a:bodyPr wrap="square"/>
                    <a:lstStyle/>
                    <a:p>
                      <a:pPr algn="r"/>
                      <a:r>
                        <a:rPr sz="1000" b="0" i="0">
                          <a:solidFill>
                            <a:srgbClr val="14171C"/>
                          </a:solidFill>
                          <a:latin typeface="Calibri"/>
                        </a:rPr>
                        <a:t>level</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−2.16</a:t>
                      </a:r>
                    </a:p>
                  </a:txBody>
                  <a:tcPr marL="54864" marR="54864" marT="22860" marB="22860" anchor="ctr">
                    <a:solidFill>
                      <a:srgbClr val="FFFFFF"/>
                    </a:solidFill>
                  </a:tcPr>
                </a:tc>
                <a:tc>
                  <a:txBody>
                    <a:bodyPr wrap="square"/>
                    <a:lstStyle/>
                    <a:p>
                      <a:pPr algn="r"/>
                      <a:r>
                        <a:rPr sz="1000" b="0" i="0">
                          <a:solidFill>
                            <a:srgbClr val="14171C"/>
                          </a:solidFill>
                          <a:latin typeface="Calibri"/>
                        </a:rPr>
                        <a:t>−2.21</a:t>
                      </a:r>
                    </a:p>
                  </a:txBody>
                  <a:tcPr marL="54864" marR="54864" marT="22860" marB="22860" anchor="ctr">
                    <a:solidFill>
                      <a:srgbClr val="FFFFFF"/>
                    </a:solidFill>
                  </a:tcPr>
                </a:tc>
                <a:tc>
                  <a:txBody>
                    <a:bodyPr wrap="square"/>
                    <a:lstStyle/>
                    <a:p>
                      <a:pPr algn="r"/>
                      <a:r>
                        <a:rPr sz="1000" b="0" i="0">
                          <a:solidFill>
                            <a:srgbClr val="14171C"/>
                          </a:solidFill>
                          <a:latin typeface="Calibri"/>
                        </a:rPr>
                        <a:t>+2.11</a:t>
                      </a:r>
                    </a:p>
                  </a:txBody>
                  <a:tcPr marL="54864" marR="54864" marT="22860" marB="22860" anchor="ctr">
                    <a:solidFill>
                      <a:srgbClr val="FFFFFF"/>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2F3F5"/>
                    </a:solidFill>
                  </a:tcPr>
                </a:tc>
                <a:tc>
                  <a:txBody>
                    <a:bodyPr wrap="square"/>
                    <a:lstStyle/>
                    <a:p>
                      <a:pPr algn="r"/>
                      <a:r>
                        <a:rPr sz="1000" b="0" i="0">
                          <a:solidFill>
                            <a:srgbClr val="14171C"/>
                          </a:solidFill>
                          <a:latin typeface="Calibri"/>
                        </a:rPr>
                        <a:t>descent</a:t>
                      </a:r>
                    </a:p>
                  </a:txBody>
                  <a:tcPr marL="54864" marR="54864" marT="22860" marB="22860" anchor="ctr">
                    <a:solidFill>
                      <a:srgbClr val="F2F3F5"/>
                    </a:solidFill>
                  </a:tcPr>
                </a:tc>
                <a:tc>
                  <a:txBody>
                    <a:bodyPr wrap="square"/>
                    <a:lstStyle/>
                    <a:p>
                      <a:pPr algn="r"/>
                      <a:r>
                        <a:rPr sz="1000" b="0" i="0">
                          <a:solidFill>
                            <a:srgbClr val="14171C"/>
                          </a:solidFill>
                          <a:latin typeface="Calibri"/>
                        </a:rPr>
                        <a:t>NP</a:t>
                      </a:r>
                    </a:p>
                  </a:txBody>
                  <a:tcPr marL="54864" marR="54864" marT="22860" marB="22860" anchor="ctr">
                    <a:solidFill>
                      <a:srgbClr val="F2F3F5"/>
                    </a:solidFill>
                  </a:tcPr>
                </a:tc>
                <a:tc>
                  <a:txBody>
                    <a:bodyPr wrap="square"/>
                    <a:lstStyle/>
                    <a:p>
                      <a:pPr algn="r"/>
                      <a:r>
                        <a:rPr sz="1000" b="0" i="0">
                          <a:solidFill>
                            <a:srgbClr val="14171C"/>
                          </a:solidFill>
                          <a:latin typeface="Calibri"/>
                        </a:rPr>
                        <a:t>−0.357</a:t>
                      </a:r>
                    </a:p>
                  </a:txBody>
                  <a:tcPr marL="54864" marR="54864" marT="22860" marB="22860" anchor="ctr">
                    <a:solidFill>
                      <a:srgbClr val="F2F3F5"/>
                    </a:solidFill>
                  </a:tcPr>
                </a:tc>
                <a:tc>
                  <a:txBody>
                    <a:bodyPr wrap="square"/>
                    <a:lstStyle/>
                    <a:p>
                      <a:pPr algn="r"/>
                      <a:r>
                        <a:rPr sz="1000" b="0" i="0">
                          <a:solidFill>
                            <a:srgbClr val="14171C"/>
                          </a:solidFill>
                          <a:latin typeface="Calibri"/>
                        </a:rPr>
                        <a:t>−0.357</a:t>
                      </a:r>
                    </a:p>
                  </a:txBody>
                  <a:tcPr marL="54864" marR="54864" marT="22860" marB="22860" anchor="ctr">
                    <a:solidFill>
                      <a:srgbClr val="F2F3F5"/>
                    </a:solidFill>
                  </a:tcPr>
                </a:tc>
                <a:tc>
                  <a:txBody>
                    <a:bodyPr wrap="square"/>
                    <a:lstStyle/>
                    <a:p>
                      <a:pPr algn="r"/>
                      <a:r>
                        <a:rPr sz="1000" b="0" i="0">
                          <a:solidFill>
                            <a:srgbClr val="14171C"/>
                          </a:solidFill>
                          <a:latin typeface="Calibri"/>
                        </a:rPr>
                        <a:t>supplied</a:t>
                      </a:r>
                    </a:p>
                  </a:txBody>
                  <a:tcPr marL="54864" marR="54864" marT="22860" marB="22860" anchor="ctr">
                    <a:solidFill>
                      <a:srgbClr val="F2F3F5"/>
                    </a:solidFill>
                  </a:tcPr>
                </a:tc>
              </a:tr>
              <a:tr h="306324">
                <a:tc>
                  <a:txBody>
                    <a:bodyPr wrap="square"/>
                    <a:lstStyle/>
                    <a:p>
                      <a:pPr algn="l"/>
                      <a:r>
                        <a:rPr sz="1000" b="0" i="0">
                          <a:solidFill>
                            <a:srgbClr val="14171C"/>
                          </a:solidFill>
                          <a:latin typeface="Calibri"/>
                        </a:rPr>
                        <a:t>reduced 5-DOF</a:t>
                      </a:r>
                    </a:p>
                  </a:txBody>
                  <a:tcPr marL="54864" marR="54864" marT="22860" marB="22860" anchor="ctr">
                    <a:solidFill>
                      <a:srgbClr val="FFFFFF"/>
                    </a:solidFill>
                  </a:tcPr>
                </a:tc>
                <a:tc>
                  <a:txBody>
                    <a:bodyPr wrap="square"/>
                    <a:lstStyle/>
                    <a:p>
                      <a:pPr algn="r"/>
                      <a:r>
                        <a:rPr sz="1000" b="0" i="0">
                          <a:solidFill>
                            <a:srgbClr val="14171C"/>
                          </a:solidFill>
                          <a:latin typeface="Calibri"/>
                        </a:rPr>
                        <a:t>descent</a:t>
                      </a:r>
                    </a:p>
                  </a:txBody>
                  <a:tcPr marL="54864" marR="54864" marT="22860" marB="22860" anchor="ctr">
                    <a:solidFill>
                      <a:srgbClr val="FFFFFF"/>
                    </a:solidFill>
                  </a:tcPr>
                </a:tc>
                <a:tc>
                  <a:txBody>
                    <a:bodyPr wrap="square"/>
                    <a:lstStyle/>
                    <a:p>
                      <a:pPr algn="r"/>
                      <a:r>
                        <a:rPr sz="1000" b="0" i="0">
                          <a:solidFill>
                            <a:srgbClr val="14171C"/>
                          </a:solidFill>
                          <a:latin typeface="Calibri"/>
                        </a:rPr>
                        <a:t>NG</a:t>
                      </a:r>
                    </a:p>
                  </a:txBody>
                  <a:tcPr marL="54864" marR="54864" marT="22860" marB="22860" anchor="ctr">
                    <a:solidFill>
                      <a:srgbClr val="FFFFFF"/>
                    </a:solidFill>
                  </a:tcPr>
                </a:tc>
                <a:tc>
                  <a:txBody>
                    <a:bodyPr wrap="square"/>
                    <a:lstStyle/>
                    <a:p>
                      <a:pPr algn="r"/>
                      <a:r>
                        <a:rPr sz="1000" b="0" i="0">
                          <a:solidFill>
                            <a:srgbClr val="14171C"/>
                          </a:solidFill>
                          <a:latin typeface="Calibri"/>
                        </a:rPr>
                        <a:t>−1.83</a:t>
                      </a:r>
                    </a:p>
                  </a:txBody>
                  <a:tcPr marL="54864" marR="54864" marT="22860" marB="22860" anchor="ctr">
                    <a:solidFill>
                      <a:srgbClr val="FFFFFF"/>
                    </a:solidFill>
                  </a:tcPr>
                </a:tc>
                <a:tc>
                  <a:txBody>
                    <a:bodyPr wrap="square"/>
                    <a:lstStyle/>
                    <a:p>
                      <a:pPr algn="r"/>
                      <a:r>
                        <a:rPr sz="1000" b="0" i="0">
                          <a:solidFill>
                            <a:srgbClr val="14171C"/>
                          </a:solidFill>
                          <a:latin typeface="Calibri"/>
                        </a:rPr>
                        <a:t>−1.83</a:t>
                      </a:r>
                    </a:p>
                  </a:txBody>
                  <a:tcPr marL="54864" marR="54864" marT="22860" marB="22860" anchor="ctr">
                    <a:solidFill>
                      <a:srgbClr val="FFFFFF"/>
                    </a:solidFill>
                  </a:tcPr>
                </a:tc>
                <a:tc>
                  <a:txBody>
                    <a:bodyPr wrap="square"/>
                    <a:lstStyle/>
                    <a:p>
                      <a:pPr algn="r"/>
                      <a:r>
                        <a:rPr sz="1000" b="0" i="0">
                          <a:solidFill>
                            <a:srgbClr val="14171C"/>
                          </a:solidFill>
                          <a:latin typeface="Calibri"/>
                        </a:rPr>
                        <a:t>+0.14</a:t>
                      </a:r>
                    </a:p>
                  </a:txBody>
                  <a:tcPr marL="54864" marR="54864" marT="22860" marB="22860" anchor="ctr">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56032"/>
            <a:ext cx="11185855" cy="292608"/>
          </a:xfrm>
          <a:prstGeom prst="rect">
            <a:avLst/>
          </a:prstGeom>
          <a:noFill/>
        </p:spPr>
        <p:txBody>
          <a:bodyPr wrap="square" anchor="t" lIns="36576" rIns="36576" tIns="27432" bIns="27432">
            <a:noAutofit/>
          </a:bodyPr>
          <a:lstStyle/>
          <a:p>
            <a:pPr>
              <a:lnSpc>
                <a:spcPct val="105000"/>
              </a:lnSpc>
              <a:spcBef>
                <a:spcPts val="0"/>
              </a:spcBef>
            </a:pPr>
            <a:r>
              <a:rPr sz="1100" b="0" i="0">
                <a:solidFill>
                  <a:srgbClr val="4D5563"/>
                </a:solidFill>
                <a:latin typeface="Calibri"/>
              </a:rPr>
              <a:t>BACKUP</a:t>
            </a:r>
          </a:p>
        </p:txBody>
      </p:sp>
      <p:sp>
        <p:nvSpPr>
          <p:cNvPr id="3" name="TextBox 2"/>
          <p:cNvSpPr txBox="1"/>
          <p:nvPr/>
        </p:nvSpPr>
        <p:spPr>
          <a:xfrm>
            <a:off x="502920" y="502920"/>
            <a:ext cx="11185855" cy="685800"/>
          </a:xfrm>
          <a:prstGeom prst="rect">
            <a:avLst/>
          </a:prstGeom>
          <a:noFill/>
        </p:spPr>
        <p:txBody>
          <a:bodyPr wrap="square" anchor="t" lIns="36576" rIns="36576" tIns="27432" bIns="27432">
            <a:noAutofit/>
          </a:bodyPr>
          <a:lstStyle/>
          <a:p>
            <a:pPr>
              <a:lnSpc>
                <a:spcPct val="105000"/>
              </a:lnSpc>
              <a:spcBef>
                <a:spcPts val="0"/>
              </a:spcBef>
            </a:pPr>
            <a:r>
              <a:rPr sz="2800" b="0" i="0">
                <a:solidFill>
                  <a:srgbClr val="14171C"/>
                </a:solidFill>
                <a:latin typeface="Calibri"/>
              </a:rPr>
              <a:t>Glossary</a:t>
            </a:r>
          </a:p>
        </p:txBody>
      </p:sp>
      <p:sp>
        <p:nvSpPr>
          <p:cNvPr id="4" name="Rectangle 3"/>
          <p:cNvSpPr/>
          <p:nvPr/>
        </p:nvSpPr>
        <p:spPr>
          <a:xfrm>
            <a:off x="502920" y="1161288"/>
            <a:ext cx="822960" cy="45720"/>
          </a:xfrm>
          <a:prstGeom prst="rect">
            <a:avLst/>
          </a:prstGeom>
          <a:solidFill>
            <a:srgbClr val="1417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199632"/>
            <a:ext cx="10637215" cy="274320"/>
          </a:xfrm>
          <a:prstGeom prst="rect">
            <a:avLst/>
          </a:prstGeom>
          <a:noFill/>
        </p:spPr>
        <p:txBody>
          <a:bodyPr wrap="square" anchor="t" lIns="36576" rIns="36576" tIns="27432" bIns="27432">
            <a:noAutofit/>
          </a:bodyPr>
          <a:lstStyle/>
          <a:p>
            <a:pPr>
              <a:lnSpc>
                <a:spcPct val="105000"/>
              </a:lnSpc>
              <a:spcBef>
                <a:spcPts val="0"/>
              </a:spcBef>
            </a:pPr>
            <a:r>
              <a:rPr sz="1000" b="0" i="0">
                <a:solidFill>
                  <a:srgbClr val="4D5563"/>
                </a:solidFill>
                <a:latin typeface="Calibri"/>
              </a:rPr>
              <a:t>Nomenclature, pdf pp.9–13; Appendix C nomenclature, pdf pp.77–82</a:t>
            </a:r>
          </a:p>
        </p:txBody>
      </p:sp>
      <p:sp>
        <p:nvSpPr>
          <p:cNvPr id="6" name="TextBox 5"/>
          <p:cNvSpPr txBox="1"/>
          <p:nvPr/>
        </p:nvSpPr>
        <p:spPr>
          <a:xfrm>
            <a:off x="502920" y="6492240"/>
            <a:ext cx="8229600" cy="256032"/>
          </a:xfrm>
          <a:prstGeom prst="rect">
            <a:avLst/>
          </a:prstGeom>
          <a:noFill/>
        </p:spPr>
        <p:txBody>
          <a:bodyPr wrap="square" anchor="t" lIns="36576" rIns="36576" tIns="27432" bIns="27432">
            <a:noAutofit/>
          </a:bodyPr>
          <a:lstStyle/>
          <a:p>
            <a:pPr>
              <a:lnSpc>
                <a:spcPct val="105000"/>
              </a:lnSpc>
              <a:spcBef>
                <a:spcPts val="0"/>
              </a:spcBef>
            </a:pPr>
            <a:r>
              <a:rPr sz="900" b="0" i="0">
                <a:solidFill>
                  <a:srgbClr val="4D5563"/>
                </a:solidFill>
                <a:latin typeface="Calibri"/>
              </a:rPr>
              <a:t>Replicating NASA TM-100991  ·  T700-GE-700 real-time engine model</a:t>
            </a:r>
          </a:p>
        </p:txBody>
      </p:sp>
      <p:sp>
        <p:nvSpPr>
          <p:cNvPr id="7" name="TextBox 6"/>
          <p:cNvSpPr txBox="1"/>
          <p:nvPr/>
        </p:nvSpPr>
        <p:spPr>
          <a:xfrm>
            <a:off x="10774375" y="6492240"/>
            <a:ext cx="914400" cy="256032"/>
          </a:xfrm>
          <a:prstGeom prst="rect">
            <a:avLst/>
          </a:prstGeom>
          <a:noFill/>
        </p:spPr>
        <p:txBody>
          <a:bodyPr wrap="square" anchor="t" lIns="36576" rIns="36576" tIns="27432" bIns="27432">
            <a:noAutofit/>
          </a:bodyPr>
          <a:lstStyle/>
          <a:p>
            <a:pPr algn="r">
              <a:lnSpc>
                <a:spcPct val="105000"/>
              </a:lnSpc>
              <a:spcBef>
                <a:spcPts val="0"/>
              </a:spcBef>
            </a:pPr>
            <a:r>
              <a:rPr sz="900" b="0" i="0">
                <a:solidFill>
                  <a:srgbClr val="4D5563"/>
                </a:solidFill>
                <a:latin typeface="Calibri"/>
              </a:rPr>
              <a:t>70</a:t>
            </a:r>
          </a:p>
        </p:txBody>
      </p:sp>
      <p:graphicFrame>
        <p:nvGraphicFramePr>
          <p:cNvPr id="8" name="Table 7"/>
          <p:cNvGraphicFramePr>
            <a:graphicFrameLocks noGrp="1"/>
          </p:cNvGraphicFramePr>
          <p:nvPr/>
        </p:nvGraphicFramePr>
        <p:xfrm>
          <a:off x="502920" y="1325880"/>
          <a:ext cx="11185853" cy="4626864"/>
        </p:xfrm>
        <a:graphic>
          <a:graphicData uri="http://schemas.openxmlformats.org/drawingml/2006/table">
            <a:tbl>
              <a:tblPr firstRow="1">
                <a:tableStyleId>{5C22544A-7EE6-4342-B048-85BDC9FD1C3A}</a:tableStyleId>
              </a:tblPr>
              <a:tblGrid>
                <a:gridCol w="2017121"/>
                <a:gridCol w="3667493"/>
                <a:gridCol w="2017121"/>
                <a:gridCol w="3484118"/>
              </a:tblGrid>
              <a:tr h="420624">
                <a:tc>
                  <a:txBody>
                    <a:bodyPr wrap="square"/>
                    <a:lstStyle/>
                    <a:p>
                      <a:pPr algn="l"/>
                      <a:r>
                        <a:rPr sz="1200" b="1" i="0">
                          <a:solidFill>
                            <a:srgbClr val="FFFFFF"/>
                          </a:solidFill>
                          <a:latin typeface="Calibri"/>
                        </a:rPr>
                        <a:t>Symbol</a:t>
                      </a:r>
                    </a:p>
                  </a:txBody>
                  <a:tcPr marL="54864" marR="54864" marT="22860" marB="22860" anchor="ctr">
                    <a:solidFill>
                      <a:srgbClr val="4D5563"/>
                    </a:solidFill>
                  </a:tcPr>
                </a:tc>
                <a:tc>
                  <a:txBody>
                    <a:bodyPr wrap="square"/>
                    <a:lstStyle/>
                    <a:p>
                      <a:pPr algn="l"/>
                      <a:r>
                        <a:rPr sz="1200" b="1" i="0">
                          <a:solidFill>
                            <a:srgbClr val="FFFFFF"/>
                          </a:solidFill>
                          <a:latin typeface="Calibri"/>
                        </a:rPr>
                        <a:t>Meaning</a:t>
                      </a:r>
                    </a:p>
                  </a:txBody>
                  <a:tcPr marL="54864" marR="54864" marT="22860" marB="22860" anchor="ctr">
                    <a:solidFill>
                      <a:srgbClr val="4D5563"/>
                    </a:solidFill>
                  </a:tcPr>
                </a:tc>
                <a:tc>
                  <a:txBody>
                    <a:bodyPr wrap="square"/>
                    <a:lstStyle/>
                    <a:p>
                      <a:pPr algn="l"/>
                      <a:r>
                        <a:rPr sz="1200" b="1" i="0">
                          <a:solidFill>
                            <a:srgbClr val="FFFFFF"/>
                          </a:solidFill>
                          <a:latin typeface="Calibri"/>
                        </a:rPr>
                        <a:t>Symbol</a:t>
                      </a:r>
                    </a:p>
                  </a:txBody>
                  <a:tcPr marL="54864" marR="54864" marT="22860" marB="22860" anchor="ctr">
                    <a:solidFill>
                      <a:srgbClr val="4D5563"/>
                    </a:solidFill>
                  </a:tcPr>
                </a:tc>
                <a:tc>
                  <a:txBody>
                    <a:bodyPr wrap="square"/>
                    <a:lstStyle/>
                    <a:p>
                      <a:pPr algn="l"/>
                      <a:r>
                        <a:rPr sz="1200" b="1" i="0">
                          <a:solidFill>
                            <a:srgbClr val="FFFFFF"/>
                          </a:solidFill>
                          <a:latin typeface="Calibri"/>
                        </a:rPr>
                        <a:t>Meaning</a:t>
                      </a:r>
                    </a:p>
                  </a:txBody>
                  <a:tcPr marL="54864" marR="54864" marT="22860" marB="22860" anchor="ctr">
                    <a:solidFill>
                      <a:srgbClr val="4D5563"/>
                    </a:solidFill>
                  </a:tcPr>
                </a:tc>
              </a:tr>
              <a:tr h="420624">
                <a:tc>
                  <a:txBody>
                    <a:bodyPr wrap="square"/>
                    <a:lstStyle/>
                    <a:p>
                      <a:pPr algn="l"/>
                      <a:r>
                        <a:rPr sz="1200" b="0" i="0">
                          <a:solidFill>
                            <a:srgbClr val="14171C"/>
                          </a:solidFill>
                          <a:latin typeface="Calibri"/>
                        </a:rPr>
                        <a:t>NG, NP</a:t>
                      </a:r>
                    </a:p>
                  </a:txBody>
                  <a:tcPr marL="54864" marR="54864" marT="22860" marB="22860" anchor="ctr">
                    <a:solidFill>
                      <a:srgbClr val="FFFFFF"/>
                    </a:solidFill>
                  </a:tcPr>
                </a:tc>
                <a:tc>
                  <a:txBody>
                    <a:bodyPr wrap="square"/>
                    <a:lstStyle/>
                    <a:p>
                      <a:pPr algn="l"/>
                      <a:r>
                        <a:rPr sz="1200" b="0" i="0">
                          <a:solidFill>
                            <a:srgbClr val="14171C"/>
                          </a:solidFill>
                          <a:latin typeface="Calibri"/>
                        </a:rPr>
                        <a:t>gas-generator, power-turbine speed</a:t>
                      </a:r>
                    </a:p>
                  </a:txBody>
                  <a:tcPr marL="54864" marR="54864" marT="22860" marB="22860" anchor="ctr">
                    <a:solidFill>
                      <a:srgbClr val="FFFFFF"/>
                    </a:solidFill>
                  </a:tcPr>
                </a:tc>
                <a:tc>
                  <a:txBody>
                    <a:bodyPr wrap="square"/>
                    <a:lstStyle/>
                    <a:p>
                      <a:pPr algn="l"/>
                      <a:r>
                        <a:rPr sz="1200" b="0" i="0">
                          <a:solidFill>
                            <a:srgbClr val="14171C"/>
                          </a:solidFill>
                          <a:latin typeface="Calibri"/>
                        </a:rPr>
                        <a:t>Wf, WF</a:t>
                      </a:r>
                    </a:p>
                  </a:txBody>
                  <a:tcPr marL="54864" marR="54864" marT="22860" marB="22860" anchor="ctr">
                    <a:solidFill>
                      <a:srgbClr val="FFFFFF"/>
                    </a:solidFill>
                  </a:tcPr>
                </a:tc>
                <a:tc>
                  <a:txBody>
                    <a:bodyPr wrap="square"/>
                    <a:lstStyle/>
                    <a:p>
                      <a:pPr algn="l"/>
                      <a:r>
                        <a:rPr sz="1200" b="0" i="0">
                          <a:solidFill>
                            <a:srgbClr val="14171C"/>
                          </a:solidFill>
                          <a:latin typeface="Calibri"/>
                        </a:rPr>
                        <a:t>fuel flow</a:t>
                      </a:r>
                    </a:p>
                  </a:txBody>
                  <a:tcPr marL="54864" marR="54864" marT="22860" marB="22860" anchor="ctr">
                    <a:solidFill>
                      <a:srgbClr val="FFFFFF"/>
                    </a:solidFill>
                  </a:tcPr>
                </a:tc>
              </a:tr>
              <a:tr h="420624">
                <a:tc>
                  <a:txBody>
                    <a:bodyPr wrap="square"/>
                    <a:lstStyle/>
                    <a:p>
                      <a:pPr algn="l"/>
                      <a:r>
                        <a:rPr sz="1200" b="0" i="0">
                          <a:solidFill>
                            <a:srgbClr val="14171C"/>
                          </a:solidFill>
                          <a:latin typeface="Calibri"/>
                        </a:rPr>
                        <a:t>%NG</a:t>
                      </a:r>
                    </a:p>
                  </a:txBody>
                  <a:tcPr marL="54864" marR="54864" marT="22860" marB="22860" anchor="ctr">
                    <a:solidFill>
                      <a:srgbClr val="F2F3F5"/>
                    </a:solidFill>
                  </a:tcPr>
                </a:tc>
                <a:tc>
                  <a:txBody>
                    <a:bodyPr wrap="square"/>
                    <a:lstStyle/>
                    <a:p>
                      <a:pPr algn="l"/>
                      <a:r>
                        <a:rPr sz="1200" b="0" i="0">
                          <a:solidFill>
                            <a:srgbClr val="14171C"/>
                          </a:solidFill>
                          <a:latin typeface="Calibri"/>
                        </a:rPr>
                        <a:t>NG as % of design, 44,700 rpm</a:t>
                      </a:r>
                    </a:p>
                  </a:txBody>
                  <a:tcPr marL="54864" marR="54864" marT="22860" marB="22860" anchor="ctr">
                    <a:solidFill>
                      <a:srgbClr val="F2F3F5"/>
                    </a:solidFill>
                  </a:tcPr>
                </a:tc>
                <a:tc>
                  <a:txBody>
                    <a:bodyPr wrap="square"/>
                    <a:lstStyle/>
                    <a:p>
                      <a:pPr algn="l"/>
                      <a:r>
                        <a:rPr sz="1200" b="0" i="0">
                          <a:solidFill>
                            <a:srgbClr val="14171C"/>
                          </a:solidFill>
                          <a:latin typeface="Calibri"/>
                        </a:rPr>
                        <a:t>WA2, WA3</a:t>
                      </a:r>
                    </a:p>
                  </a:txBody>
                  <a:tcPr marL="54864" marR="54864" marT="22860" marB="22860" anchor="ctr">
                    <a:solidFill>
                      <a:srgbClr val="F2F3F5"/>
                    </a:solidFill>
                  </a:tcPr>
                </a:tc>
                <a:tc>
                  <a:txBody>
                    <a:bodyPr wrap="square"/>
                    <a:lstStyle/>
                    <a:p>
                      <a:pPr algn="l"/>
                      <a:r>
                        <a:rPr sz="1200" b="0" i="0">
                          <a:solidFill>
                            <a:srgbClr val="14171C"/>
                          </a:solidFill>
                          <a:latin typeface="Calibri"/>
                        </a:rPr>
                        <a:t>air flow at stations 2, 3</a:t>
                      </a:r>
                    </a:p>
                  </a:txBody>
                  <a:tcPr marL="54864" marR="54864" marT="22860" marB="22860" anchor="ctr">
                    <a:solidFill>
                      <a:srgbClr val="F2F3F5"/>
                    </a:solidFill>
                  </a:tcPr>
                </a:tc>
              </a:tr>
              <a:tr h="420624">
                <a:tc>
                  <a:txBody>
                    <a:bodyPr wrap="square"/>
                    <a:lstStyle/>
                    <a:p>
                      <a:pPr algn="l"/>
                      <a:r>
                        <a:rPr sz="1200" b="0" i="0">
                          <a:solidFill>
                            <a:srgbClr val="14171C"/>
                          </a:solidFill>
                          <a:latin typeface="Calibri"/>
                        </a:rPr>
                        <a:t>NGc</a:t>
                      </a:r>
                    </a:p>
                  </a:txBody>
                  <a:tcPr marL="54864" marR="54864" marT="22860" marB="22860" anchor="ctr">
                    <a:solidFill>
                      <a:srgbClr val="FFFFFF"/>
                    </a:solidFill>
                  </a:tcPr>
                </a:tc>
                <a:tc>
                  <a:txBody>
                    <a:bodyPr wrap="square"/>
                    <a:lstStyle/>
                    <a:p>
                      <a:pPr algn="l"/>
                      <a:r>
                        <a:rPr sz="1200" b="0" i="0">
                          <a:solidFill>
                            <a:srgbClr val="14171C"/>
                          </a:solidFill>
                          <a:latin typeface="Calibri"/>
                        </a:rPr>
                        <a:t>corrected gas-generator speed</a:t>
                      </a:r>
                    </a:p>
                  </a:txBody>
                  <a:tcPr marL="54864" marR="54864" marT="22860" marB="22860" anchor="ctr">
                    <a:solidFill>
                      <a:srgbClr val="FFFFFF"/>
                    </a:solidFill>
                  </a:tcPr>
                </a:tc>
                <a:tc>
                  <a:txBody>
                    <a:bodyPr wrap="square"/>
                    <a:lstStyle/>
                    <a:p>
                      <a:pPr algn="l"/>
                      <a:r>
                        <a:rPr sz="1200" b="0" i="0">
                          <a:solidFill>
                            <a:srgbClr val="14171C"/>
                          </a:solidFill>
                          <a:latin typeface="Calibri"/>
                        </a:rPr>
                        <a:t>W41, W45</a:t>
                      </a:r>
                    </a:p>
                  </a:txBody>
                  <a:tcPr marL="54864" marR="54864" marT="22860" marB="22860" anchor="ctr">
                    <a:solidFill>
                      <a:srgbClr val="FFFFFF"/>
                    </a:solidFill>
                  </a:tcPr>
                </a:tc>
                <a:tc>
                  <a:txBody>
                    <a:bodyPr wrap="square"/>
                    <a:lstStyle/>
                    <a:p>
                      <a:pPr algn="l"/>
                      <a:r>
                        <a:rPr sz="1200" b="0" i="0">
                          <a:solidFill>
                            <a:srgbClr val="14171C"/>
                          </a:solidFill>
                          <a:latin typeface="Calibri"/>
                        </a:rPr>
                        <a:t>gas flow into the turbines</a:t>
                      </a:r>
                    </a:p>
                  </a:txBody>
                  <a:tcPr marL="54864" marR="54864" marT="22860" marB="22860" anchor="ctr">
                    <a:solidFill>
                      <a:srgbClr val="FFFFFF"/>
                    </a:solidFill>
                  </a:tcPr>
                </a:tc>
              </a:tr>
              <a:tr h="420624">
                <a:tc>
                  <a:txBody>
                    <a:bodyPr wrap="square"/>
                    <a:lstStyle/>
                    <a:p>
                      <a:pPr algn="l"/>
                      <a:r>
                        <a:rPr sz="1200" b="0" i="0">
                          <a:solidFill>
                            <a:srgbClr val="14171C"/>
                          </a:solidFill>
                          <a:latin typeface="Calibri"/>
                        </a:rPr>
                        <a:t>P3, P41, P45</a:t>
                      </a:r>
                    </a:p>
                  </a:txBody>
                  <a:tcPr marL="54864" marR="54864" marT="22860" marB="22860" anchor="ctr">
                    <a:solidFill>
                      <a:srgbClr val="F2F3F5"/>
                    </a:solidFill>
                  </a:tcPr>
                </a:tc>
                <a:tc>
                  <a:txBody>
                    <a:bodyPr wrap="square"/>
                    <a:lstStyle/>
                    <a:p>
                      <a:pPr algn="l"/>
                      <a:r>
                        <a:rPr sz="1200" b="0" i="0">
                          <a:solidFill>
                            <a:srgbClr val="14171C"/>
                          </a:solidFill>
                          <a:latin typeface="Calibri"/>
                        </a:rPr>
                        <a:t>total pressures at stations 3, 4.1, 4.5</a:t>
                      </a:r>
                    </a:p>
                  </a:txBody>
                  <a:tcPr marL="54864" marR="54864" marT="22860" marB="22860" anchor="ctr">
                    <a:solidFill>
                      <a:srgbClr val="F2F3F5"/>
                    </a:solidFill>
                  </a:tcPr>
                </a:tc>
                <a:tc>
                  <a:txBody>
                    <a:bodyPr wrap="square"/>
                    <a:lstStyle/>
                    <a:p>
                      <a:pPr algn="l"/>
                      <a:r>
                        <a:rPr sz="1200" b="0" i="0">
                          <a:solidFill>
                            <a:srgbClr val="14171C"/>
                          </a:solidFill>
                          <a:latin typeface="Calibri"/>
                        </a:rPr>
                        <a:t>Ps3</a:t>
                      </a:r>
                    </a:p>
                  </a:txBody>
                  <a:tcPr marL="54864" marR="54864" marT="22860" marB="22860" anchor="ctr">
                    <a:solidFill>
                      <a:srgbClr val="F2F3F5"/>
                    </a:solidFill>
                  </a:tcPr>
                </a:tc>
                <a:tc>
                  <a:txBody>
                    <a:bodyPr wrap="square"/>
                    <a:lstStyle/>
                    <a:p>
                      <a:pPr algn="l"/>
                      <a:r>
                        <a:rPr sz="1200" b="0" i="0">
                          <a:solidFill>
                            <a:srgbClr val="14171C"/>
                          </a:solidFill>
                          <a:latin typeface="Calibri"/>
                        </a:rPr>
                        <a:t>compressor static discharge pressure</a:t>
                      </a:r>
                    </a:p>
                  </a:txBody>
                  <a:tcPr marL="54864" marR="54864" marT="22860" marB="22860" anchor="ctr">
                    <a:solidFill>
                      <a:srgbClr val="F2F3F5"/>
                    </a:solidFill>
                  </a:tcPr>
                </a:tc>
              </a:tr>
              <a:tr h="420624">
                <a:tc>
                  <a:txBody>
                    <a:bodyPr wrap="square"/>
                    <a:lstStyle/>
                    <a:p>
                      <a:pPr algn="l"/>
                      <a:r>
                        <a:rPr sz="1200" b="0" i="0">
                          <a:solidFill>
                            <a:srgbClr val="14171C"/>
                          </a:solidFill>
                          <a:latin typeface="Calibri"/>
                        </a:rPr>
                        <a:t>T41, T45</a:t>
                      </a:r>
                    </a:p>
                  </a:txBody>
                  <a:tcPr marL="54864" marR="54864" marT="22860" marB="22860" anchor="ctr">
                    <a:solidFill>
                      <a:srgbClr val="FFFFFF"/>
                    </a:solidFill>
                  </a:tcPr>
                </a:tc>
                <a:tc>
                  <a:txBody>
                    <a:bodyPr wrap="square"/>
                    <a:lstStyle/>
                    <a:p>
                      <a:pPr algn="l"/>
                      <a:r>
                        <a:rPr sz="1200" b="0" i="0">
                          <a:solidFill>
                            <a:srgbClr val="14171C"/>
                          </a:solidFill>
                          <a:latin typeface="Calibri"/>
                        </a:rPr>
                        <a:t>temperatures at 4.1, 4.5 (T45: PT inlet)</a:t>
                      </a:r>
                    </a:p>
                  </a:txBody>
                  <a:tcPr marL="54864" marR="54864" marT="22860" marB="22860" anchor="ctr">
                    <a:solidFill>
                      <a:srgbClr val="FFFFFF"/>
                    </a:solidFill>
                  </a:tcPr>
                </a:tc>
                <a:tc>
                  <a:txBody>
                    <a:bodyPr wrap="square"/>
                    <a:lstStyle/>
                    <a:p>
                      <a:pPr algn="l"/>
                      <a:r>
                        <a:rPr sz="1200" b="0" i="0">
                          <a:solidFill>
                            <a:srgbClr val="14171C"/>
                          </a:solidFill>
                          <a:latin typeface="Calibri"/>
                        </a:rPr>
                        <a:t>θ</a:t>
                      </a:r>
                      <a:r>
                        <a:rPr sz="1200" b="0" i="0" baseline="-25000">
                          <a:solidFill>
                            <a:srgbClr val="14171C"/>
                          </a:solidFill>
                          <a:latin typeface="Calibri"/>
                        </a:rPr>
                        <a:t>2</a:t>
                      </a:r>
                      <a:r>
                        <a:rPr sz="1200" b="0" i="0">
                          <a:solidFill>
                            <a:srgbClr val="14171C"/>
                          </a:solidFill>
                          <a:latin typeface="Calibri"/>
                        </a:rPr>
                        <a:t>, δ</a:t>
                      </a:r>
                      <a:r>
                        <a:rPr sz="1200" b="0" i="0" baseline="-25000">
                          <a:solidFill>
                            <a:srgbClr val="14171C"/>
                          </a:solidFill>
                          <a:latin typeface="Calibri"/>
                        </a:rPr>
                        <a:t>2</a:t>
                      </a:r>
                    </a:p>
                  </a:txBody>
                  <a:tcPr marL="54864" marR="54864" marT="22860" marB="22860" anchor="ctr">
                    <a:solidFill>
                      <a:srgbClr val="FFFFFF"/>
                    </a:solidFill>
                  </a:tcPr>
                </a:tc>
                <a:tc>
                  <a:txBody>
                    <a:bodyPr wrap="square"/>
                    <a:lstStyle/>
                    <a:p>
                      <a:pPr algn="l"/>
                      <a:r>
                        <a:rPr sz="1200" b="0" i="0">
                          <a:solidFill>
                            <a:srgbClr val="14171C"/>
                          </a:solidFill>
                          <a:latin typeface="Calibri"/>
                        </a:rPr>
                        <a:t>T2, P2 over the standard day</a:t>
                      </a:r>
                    </a:p>
                  </a:txBody>
                  <a:tcPr marL="54864" marR="54864" marT="22860" marB="22860" anchor="ctr">
                    <a:solidFill>
                      <a:srgbClr val="FFFFFF"/>
                    </a:solidFill>
                  </a:tcPr>
                </a:tc>
              </a:tr>
              <a:tr h="420624">
                <a:tc>
                  <a:txBody>
                    <a:bodyPr wrap="square"/>
                    <a:lstStyle/>
                    <a:p>
                      <a:pPr algn="l"/>
                      <a:r>
                        <a:rPr sz="1200" b="0" i="0">
                          <a:solidFill>
                            <a:srgbClr val="14171C"/>
                          </a:solidFill>
                          <a:latin typeface="Calibri"/>
                        </a:rPr>
                        <a:t>Q</a:t>
                      </a:r>
                      <a:r>
                        <a:rPr sz="1200" b="0" i="0" baseline="-25000">
                          <a:solidFill>
                            <a:srgbClr val="14171C"/>
                          </a:solidFill>
                          <a:latin typeface="Calibri"/>
                        </a:rPr>
                        <a:t>GT</a:t>
                      </a:r>
                      <a:r>
                        <a:rPr sz="1200" b="0" i="0">
                          <a:solidFill>
                            <a:srgbClr val="14171C"/>
                          </a:solidFill>
                          <a:latin typeface="Calibri"/>
                        </a:rPr>
                        <a:t>, Q</a:t>
                      </a:r>
                      <a:r>
                        <a:rPr sz="1200" b="0" i="0" baseline="-25000">
                          <a:solidFill>
                            <a:srgbClr val="14171C"/>
                          </a:solidFill>
                          <a:latin typeface="Calibri"/>
                        </a:rPr>
                        <a:t>C</a:t>
                      </a:r>
                      <a:r>
                        <a:rPr sz="1200" b="0" i="0">
                          <a:solidFill>
                            <a:srgbClr val="14171C"/>
                          </a:solidFill>
                          <a:latin typeface="Calibri"/>
                        </a:rPr>
                        <a:t>, Q</a:t>
                      </a:r>
                      <a:r>
                        <a:rPr sz="1200" b="0" i="0" baseline="-25000">
                          <a:solidFill>
                            <a:srgbClr val="14171C"/>
                          </a:solidFill>
                          <a:latin typeface="Calibri"/>
                        </a:rPr>
                        <a:t>PT</a:t>
                      </a:r>
                    </a:p>
                  </a:txBody>
                  <a:tcPr marL="54864" marR="54864" marT="22860" marB="22860" anchor="ctr">
                    <a:solidFill>
                      <a:srgbClr val="F2F3F5"/>
                    </a:solidFill>
                  </a:tcPr>
                </a:tc>
                <a:tc>
                  <a:txBody>
                    <a:bodyPr wrap="square"/>
                    <a:lstStyle/>
                    <a:p>
                      <a:pPr algn="l"/>
                      <a:r>
                        <a:rPr sz="1200" b="0" i="0">
                          <a:solidFill>
                            <a:srgbClr val="14171C"/>
                          </a:solidFill>
                          <a:latin typeface="Calibri"/>
                        </a:rPr>
                        <a:t>turbine, compressor, PT torques</a:t>
                      </a:r>
                    </a:p>
                  </a:txBody>
                  <a:tcPr marL="54864" marR="54864" marT="22860" marB="22860" anchor="ctr">
                    <a:solidFill>
                      <a:srgbClr val="F2F3F5"/>
                    </a:solidFill>
                  </a:tcPr>
                </a:tc>
                <a:tc>
                  <a:txBody>
                    <a:bodyPr wrap="square"/>
                    <a:lstStyle/>
                    <a:p>
                      <a:pPr algn="l"/>
                      <a:r>
                        <a:rPr sz="1200" b="0" i="0">
                          <a:solidFill>
                            <a:srgbClr val="14171C"/>
                          </a:solidFill>
                          <a:latin typeface="Calibri"/>
                        </a:rPr>
                        <a:t>Q</a:t>
                      </a:r>
                      <a:r>
                        <a:rPr sz="1200" b="0" i="0" baseline="-25000">
                          <a:solidFill>
                            <a:srgbClr val="14171C"/>
                          </a:solidFill>
                          <a:latin typeface="Calibri"/>
                        </a:rPr>
                        <a:t>req</a:t>
                      </a:r>
                    </a:p>
                  </a:txBody>
                  <a:tcPr marL="54864" marR="54864" marT="22860" marB="22860" anchor="ctr">
                    <a:solidFill>
                      <a:srgbClr val="F2F3F5"/>
                    </a:solidFill>
                  </a:tcPr>
                </a:tc>
                <a:tc>
                  <a:txBody>
                    <a:bodyPr wrap="square"/>
                    <a:lstStyle/>
                    <a:p>
                      <a:pPr algn="l"/>
                      <a:r>
                        <a:rPr sz="1200" b="0" i="0">
                          <a:solidFill>
                            <a:srgbClr val="14171C"/>
                          </a:solidFill>
                          <a:latin typeface="Calibri"/>
                        </a:rPr>
                        <a:t>load torque (helicopter)</a:t>
                      </a:r>
                    </a:p>
                  </a:txBody>
                  <a:tcPr marL="54864" marR="54864" marT="22860" marB="22860" anchor="ctr">
                    <a:solidFill>
                      <a:srgbClr val="F2F3F5"/>
                    </a:solidFill>
                  </a:tcPr>
                </a:tc>
              </a:tr>
              <a:tr h="420624">
                <a:tc>
                  <a:txBody>
                    <a:bodyPr wrap="square"/>
                    <a:lstStyle/>
                    <a:p>
                      <a:pPr algn="l"/>
                      <a:r>
                        <a:rPr sz="1200" b="0" i="0">
                          <a:solidFill>
                            <a:srgbClr val="14171C"/>
                          </a:solidFill>
                          <a:latin typeface="Calibri"/>
                        </a:rPr>
                        <a:t>J</a:t>
                      </a:r>
                      <a:r>
                        <a:rPr sz="1200" b="0" i="0" baseline="-25000">
                          <a:solidFill>
                            <a:srgbClr val="14171C"/>
                          </a:solidFill>
                          <a:latin typeface="Calibri"/>
                        </a:rPr>
                        <a:t>GT</a:t>
                      </a:r>
                      <a:r>
                        <a:rPr sz="1200" b="0" i="0">
                          <a:solidFill>
                            <a:srgbClr val="14171C"/>
                          </a:solidFill>
                          <a:latin typeface="Calibri"/>
                        </a:rPr>
                        <a:t>, J</a:t>
                      </a:r>
                      <a:r>
                        <a:rPr sz="1200" b="0" i="0" baseline="-25000">
                          <a:solidFill>
                            <a:srgbClr val="14171C"/>
                          </a:solidFill>
                          <a:latin typeface="Calibri"/>
                        </a:rPr>
                        <a:t>PT</a:t>
                      </a:r>
                      <a:r>
                        <a:rPr sz="1200" b="0" i="0">
                          <a:solidFill>
                            <a:srgbClr val="14171C"/>
                          </a:solidFill>
                          <a:latin typeface="Calibri"/>
                        </a:rPr>
                        <a:t>, J</a:t>
                      </a:r>
                      <a:r>
                        <a:rPr sz="1200" b="0" i="0" baseline="-25000">
                          <a:solidFill>
                            <a:srgbClr val="14171C"/>
                          </a:solidFill>
                          <a:latin typeface="Calibri"/>
                        </a:rPr>
                        <a:t>load</a:t>
                      </a:r>
                    </a:p>
                  </a:txBody>
                  <a:tcPr marL="54864" marR="54864" marT="22860" marB="22860" anchor="ctr">
                    <a:solidFill>
                      <a:srgbClr val="FFFFFF"/>
                    </a:solidFill>
                  </a:tcPr>
                </a:tc>
                <a:tc>
                  <a:txBody>
                    <a:bodyPr wrap="square"/>
                    <a:lstStyle/>
                    <a:p>
                      <a:pPr algn="l"/>
                      <a:r>
                        <a:rPr sz="1200" b="0" i="0">
                          <a:solidFill>
                            <a:srgbClr val="14171C"/>
                          </a:solidFill>
                          <a:latin typeface="Calibri"/>
                        </a:rPr>
                        <a:t>inertias</a:t>
                      </a:r>
                    </a:p>
                  </a:txBody>
                  <a:tcPr marL="54864" marR="54864" marT="22860" marB="22860" anchor="ctr">
                    <a:solidFill>
                      <a:srgbClr val="FFFFFF"/>
                    </a:solidFill>
                  </a:tcPr>
                </a:tc>
                <a:tc>
                  <a:txBody>
                    <a:bodyPr wrap="square"/>
                    <a:lstStyle/>
                    <a:p>
                      <a:pPr algn="l"/>
                      <a:r>
                        <a:rPr sz="1200" b="0" i="0">
                          <a:solidFill>
                            <a:srgbClr val="14171C"/>
                          </a:solidFill>
                          <a:latin typeface="Calibri"/>
                        </a:rPr>
                        <a:t>K</a:t>
                      </a:r>
                      <a:r>
                        <a:rPr sz="1200" b="0" i="0" baseline="-25000">
                          <a:solidFill>
                            <a:srgbClr val="14171C"/>
                          </a:solidFill>
                          <a:latin typeface="Calibri"/>
                        </a:rPr>
                        <a:t>V3</a:t>
                      </a:r>
                      <a:r>
                        <a:rPr sz="1200" b="0" i="0">
                          <a:solidFill>
                            <a:srgbClr val="14171C"/>
                          </a:solidFill>
                          <a:latin typeface="Calibri"/>
                        </a:rPr>
                        <a:t>, K</a:t>
                      </a:r>
                      <a:r>
                        <a:rPr sz="1200" b="0" i="0" baseline="-25000">
                          <a:solidFill>
                            <a:srgbClr val="14171C"/>
                          </a:solidFill>
                          <a:latin typeface="Calibri"/>
                        </a:rPr>
                        <a:t>V41</a:t>
                      </a:r>
                      <a:r>
                        <a:rPr sz="1200" b="0" i="0">
                          <a:solidFill>
                            <a:srgbClr val="14171C"/>
                          </a:solidFill>
                          <a:latin typeface="Calibri"/>
                        </a:rPr>
                        <a:t>, K</a:t>
                      </a:r>
                      <a:r>
                        <a:rPr sz="1200" b="0" i="0" baseline="-25000">
                          <a:solidFill>
                            <a:srgbClr val="14171C"/>
                          </a:solidFill>
                          <a:latin typeface="Calibri"/>
                        </a:rPr>
                        <a:t>V45</a:t>
                      </a:r>
                    </a:p>
                  </a:txBody>
                  <a:tcPr marL="54864" marR="54864" marT="22860" marB="22860" anchor="ctr">
                    <a:solidFill>
                      <a:srgbClr val="FFFFFF"/>
                    </a:solidFill>
                  </a:tcPr>
                </a:tc>
                <a:tc>
                  <a:txBody>
                    <a:bodyPr wrap="square"/>
                    <a:lstStyle/>
                    <a:p>
                      <a:pPr algn="l"/>
                      <a:r>
                        <a:rPr sz="1200" b="0" i="0">
                          <a:solidFill>
                            <a:srgbClr val="14171C"/>
                          </a:solidFill>
                          <a:latin typeface="Calibri"/>
                        </a:rPr>
                        <a:t>volume coefficients</a:t>
                      </a:r>
                    </a:p>
                  </a:txBody>
                  <a:tcPr marL="54864" marR="54864" marT="22860" marB="22860" anchor="ctr">
                    <a:solidFill>
                      <a:srgbClr val="FFFFFF"/>
                    </a:solidFill>
                  </a:tcPr>
                </a:tc>
              </a:tr>
              <a:tr h="420624">
                <a:tc>
                  <a:txBody>
                    <a:bodyPr wrap="square"/>
                    <a:lstStyle/>
                    <a:p>
                      <a:pPr algn="l"/>
                      <a:r>
                        <a:rPr sz="1200" b="0" i="0">
                          <a:solidFill>
                            <a:srgbClr val="14171C"/>
                          </a:solidFill>
                          <a:latin typeface="Calibri"/>
                        </a:rPr>
                        <a:t>ECU, HMU</a:t>
                      </a:r>
                    </a:p>
                  </a:txBody>
                  <a:tcPr marL="54864" marR="54864" marT="22860" marB="22860" anchor="ctr">
                    <a:solidFill>
                      <a:srgbClr val="F2F3F5"/>
                    </a:solidFill>
                  </a:tcPr>
                </a:tc>
                <a:tc>
                  <a:txBody>
                    <a:bodyPr wrap="square"/>
                    <a:lstStyle/>
                    <a:p>
                      <a:pPr algn="l"/>
                      <a:r>
                        <a:rPr sz="1200" b="0" i="0">
                          <a:solidFill>
                            <a:srgbClr val="14171C"/>
                          </a:solidFill>
                          <a:latin typeface="Calibri"/>
                        </a:rPr>
                        <a:t>electrical, hydromechanical control units</a:t>
                      </a:r>
                    </a:p>
                  </a:txBody>
                  <a:tcPr marL="54864" marR="54864" marT="22860" marB="22860" anchor="ctr">
                    <a:solidFill>
                      <a:srgbClr val="F2F3F5"/>
                    </a:solidFill>
                  </a:tcPr>
                </a:tc>
                <a:tc>
                  <a:txBody>
                    <a:bodyPr wrap="square"/>
                    <a:lstStyle/>
                    <a:p>
                      <a:pPr algn="l"/>
                      <a:r>
                        <a:rPr sz="1200" b="0" i="0">
                          <a:solidFill>
                            <a:srgbClr val="14171C"/>
                          </a:solidFill>
                          <a:latin typeface="Calibri"/>
                        </a:rPr>
                        <a:t>SPDG</a:t>
                      </a:r>
                    </a:p>
                  </a:txBody>
                  <a:tcPr marL="54864" marR="54864" marT="22860" marB="22860" anchor="ctr">
                    <a:solidFill>
                      <a:srgbClr val="F2F3F5"/>
                    </a:solidFill>
                  </a:tcPr>
                </a:tc>
                <a:tc>
                  <a:txBody>
                    <a:bodyPr wrap="square"/>
                    <a:lstStyle/>
                    <a:p>
                      <a:pPr algn="l"/>
                      <a:r>
                        <a:rPr sz="1200" b="0" i="0">
                          <a:solidFill>
                            <a:srgbClr val="14171C"/>
                          </a:solidFill>
                          <a:latin typeface="Calibri"/>
                        </a:rPr>
                        <a:t>ECU output to the torque motor</a:t>
                      </a:r>
                    </a:p>
                  </a:txBody>
                  <a:tcPr marL="54864" marR="54864" marT="22860" marB="22860" anchor="ctr">
                    <a:solidFill>
                      <a:srgbClr val="F2F3F5"/>
                    </a:solidFill>
                  </a:tcPr>
                </a:tc>
              </a:tr>
              <a:tr h="420624">
                <a:tc>
                  <a:txBody>
                    <a:bodyPr wrap="square"/>
                    <a:lstStyle/>
                    <a:p>
                      <a:pPr algn="l"/>
                      <a:r>
                        <a:rPr sz="1200" b="0" i="0">
                          <a:solidFill>
                            <a:srgbClr val="14171C"/>
                          </a:solidFill>
                          <a:latin typeface="Calibri"/>
                        </a:rPr>
                        <a:t>DOF</a:t>
                      </a:r>
                    </a:p>
                  </a:txBody>
                  <a:tcPr marL="54864" marR="54864" marT="22860" marB="22860" anchor="ctr">
                    <a:solidFill>
                      <a:srgbClr val="FFFFFF"/>
                    </a:solidFill>
                  </a:tcPr>
                </a:tc>
                <a:tc>
                  <a:txBody>
                    <a:bodyPr wrap="square"/>
                    <a:lstStyle/>
                    <a:p>
                      <a:pPr algn="l"/>
                      <a:r>
                        <a:rPr sz="1200" b="0" i="0">
                          <a:solidFill>
                            <a:srgbClr val="14171C"/>
                          </a:solidFill>
                          <a:latin typeface="Calibri"/>
                        </a:rPr>
                        <a:t>degrees of freedom (states) of a linear model</a:t>
                      </a:r>
                    </a:p>
                  </a:txBody>
                  <a:tcPr marL="54864" marR="54864" marT="22860" marB="22860" anchor="ctr">
                    <a:solidFill>
                      <a:srgbClr val="FFFFFF"/>
                    </a:solidFill>
                  </a:tcPr>
                </a:tc>
                <a:tc>
                  <a:txBody>
                    <a:bodyPr wrap="square"/>
                    <a:lstStyle/>
                    <a:p>
                      <a:pPr algn="l"/>
                      <a:r>
                        <a:rPr sz="1200" b="0" i="0">
                          <a:solidFill>
                            <a:srgbClr val="14171C"/>
                          </a:solidFill>
                          <a:latin typeface="Calibri"/>
                        </a:rPr>
                        <a:t>SHP</a:t>
                      </a:r>
                    </a:p>
                  </a:txBody>
                  <a:tcPr marL="54864" marR="54864" marT="22860" marB="22860" anchor="ctr">
                    <a:solidFill>
                      <a:srgbClr val="FFFFFF"/>
                    </a:solidFill>
                  </a:tcPr>
                </a:tc>
                <a:tc>
                  <a:txBody>
                    <a:bodyPr wrap="square"/>
                    <a:lstStyle/>
                    <a:p>
                      <a:pPr algn="l"/>
                      <a:r>
                        <a:rPr sz="1200" b="0" i="0">
                          <a:solidFill>
                            <a:srgbClr val="14171C"/>
                          </a:solidFill>
                          <a:latin typeface="Calibri"/>
                        </a:rPr>
                        <a:t>shaft horsepower</a:t>
                      </a:r>
                    </a:p>
                  </a:txBody>
                  <a:tcPr marL="54864" marR="54864" marT="22860" marB="22860" anchor="ctr">
                    <a:solidFill>
                      <a:srgbClr val="FFFFFF"/>
                    </a:solidFill>
                  </a:tcPr>
                </a:tc>
              </a:tr>
              <a:tr h="420624">
                <a:tc>
                  <a:txBody>
                    <a:bodyPr wrap="square"/>
                    <a:lstStyle/>
                    <a:p>
                      <a:pPr algn="l"/>
                      <a:r>
                        <a:rPr sz="1200" b="0" i="0">
                          <a:solidFill>
                            <a:srgbClr val="14171C"/>
                          </a:solidFill>
                          <a:latin typeface="Calibri"/>
                        </a:rPr>
                        <a:t>H2 … H49</a:t>
                      </a:r>
                    </a:p>
                  </a:txBody>
                  <a:tcPr marL="54864" marR="54864" marT="22860" marB="22860" anchor="ctr">
                    <a:solidFill>
                      <a:srgbClr val="F2F3F5"/>
                    </a:solidFill>
                  </a:tcPr>
                </a:tc>
                <a:tc>
                  <a:txBody>
                    <a:bodyPr wrap="square"/>
                    <a:lstStyle/>
                    <a:p>
                      <a:pPr algn="l"/>
                      <a:r>
                        <a:rPr sz="1200" b="0" i="0">
                          <a:solidFill>
                            <a:srgbClr val="14171C"/>
                          </a:solidFill>
                          <a:latin typeface="Calibri"/>
                        </a:rPr>
                        <a:t>enthalpies at the stations, Btu/lbm</a:t>
                      </a:r>
                    </a:p>
                  </a:txBody>
                  <a:tcPr marL="54864" marR="54864" marT="22860" marB="22860" anchor="ctr">
                    <a:solidFill>
                      <a:srgbClr val="F2F3F5"/>
                    </a:solidFill>
                  </a:tcPr>
                </a:tc>
                <a:tc>
                  <a:txBody>
                    <a:bodyPr wrap="square"/>
                    <a:lstStyle/>
                    <a:p>
                      <a:pPr algn="l"/>
                      <a:r>
                        <a:rPr sz="1200" b="0" i="0">
                          <a:solidFill>
                            <a:srgbClr val="14171C"/>
                          </a:solidFill>
                          <a:latin typeface="Calibri"/>
                        </a:rPr>
                        <a:t>θ</a:t>
                      </a:r>
                      <a:r>
                        <a:rPr sz="1200" b="0" i="0" baseline="-25000">
                          <a:solidFill>
                            <a:srgbClr val="14171C"/>
                          </a:solidFill>
                          <a:latin typeface="Calibri"/>
                        </a:rPr>
                        <a:t>41</a:t>
                      </a:r>
                      <a:r>
                        <a:rPr sz="1200" b="0" i="0">
                          <a:solidFill>
                            <a:srgbClr val="14171C"/>
                          </a:solidFill>
                          <a:latin typeface="Calibri"/>
                        </a:rPr>
                        <a:t>, θ</a:t>
                      </a:r>
                      <a:r>
                        <a:rPr sz="1200" b="0" i="0" baseline="-25000">
                          <a:solidFill>
                            <a:srgbClr val="14171C"/>
                          </a:solidFill>
                          <a:latin typeface="Calibri"/>
                        </a:rPr>
                        <a:t>45</a:t>
                      </a:r>
                    </a:p>
                  </a:txBody>
                  <a:tcPr marL="54864" marR="54864" marT="22860" marB="22860" anchor="ctr">
                    <a:solidFill>
                      <a:srgbClr val="F2F3F5"/>
                    </a:solidFill>
                  </a:tcPr>
                </a:tc>
                <a:tc>
                  <a:txBody>
                    <a:bodyPr wrap="square"/>
                    <a:lstStyle/>
                    <a:p>
                      <a:pPr algn="l"/>
                      <a:r>
                        <a:rPr sz="1200" b="0" i="0">
                          <a:solidFill>
                            <a:srgbClr val="14171C"/>
                          </a:solidFill>
                          <a:latin typeface="Calibri"/>
                        </a:rPr>
                        <a:t>squared critical velocity ratios (Eqs. 25, 31)</a:t>
                      </a:r>
                    </a:p>
                  </a:txBody>
                  <a:tcPr marL="54864" marR="54864" marT="22860" marB="22860" anchor="ctr">
                    <a:solidFill>
                      <a:srgbClr val="F2F3F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Replicating a real-time turboshaft engine model</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